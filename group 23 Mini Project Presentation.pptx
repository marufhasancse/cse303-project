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81" r:id="rId2"/>
    <p:sldId id="283" r:id="rId3"/>
    <p:sldId id="362" r:id="rId4"/>
    <p:sldId id="360" r:id="rId5"/>
    <p:sldId id="361" r:id="rId6"/>
    <p:sldId id="371" r:id="rId7"/>
    <p:sldId id="363" r:id="rId8"/>
    <p:sldId id="365" r:id="rId9"/>
    <p:sldId id="372" r:id="rId10"/>
    <p:sldId id="385" r:id="rId11"/>
    <p:sldId id="386" r:id="rId12"/>
    <p:sldId id="387" r:id="rId13"/>
    <p:sldId id="388" r:id="rId14"/>
    <p:sldId id="389" r:id="rId15"/>
    <p:sldId id="390" r:id="rId16"/>
    <p:sldId id="373" r:id="rId17"/>
    <p:sldId id="391" r:id="rId18"/>
    <p:sldId id="392" r:id="rId19"/>
    <p:sldId id="393" r:id="rId20"/>
    <p:sldId id="400" r:id="rId21"/>
    <p:sldId id="401" r:id="rId22"/>
    <p:sldId id="402" r:id="rId23"/>
    <p:sldId id="403" r:id="rId24"/>
    <p:sldId id="398" r:id="rId25"/>
    <p:sldId id="399" r:id="rId26"/>
    <p:sldId id="374" r:id="rId27"/>
    <p:sldId id="265" r:id="rId28"/>
  </p:sldIdLst>
  <p:sldSz cx="18288000" cy="10287000"/>
  <p:notesSz cx="6858000" cy="9144000"/>
  <p:embeddedFontLst>
    <p:embeddedFont>
      <p:font typeface="Barlow Bold" panose="020B0604020202020204" charset="0"/>
      <p:bold r:id="rId30"/>
    </p:embeddedFont>
    <p:embeddedFont>
      <p:font typeface="DM Sans" pitchFamily="2" charset="0"/>
      <p:regular r:id="rId31"/>
      <p:bold r:id="rId32"/>
      <p:italic r:id="rId33"/>
      <p:boldItalic r:id="rId34"/>
    </p:embeddedFont>
    <p:embeddedFont>
      <p:font typeface="Poppins Bold" panose="00000800000000000000" charset="0"/>
      <p:regular r:id="rId35"/>
      <p:bold r:id="rId36"/>
    </p:embeddedFont>
    <p:embeddedFont>
      <p:font typeface="Poppins ExtraBold" panose="00000900000000000000" pitchFamily="2" charset="0"/>
      <p:bold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8" autoAdjust="0"/>
    <p:restoredTop sz="94622" autoAdjust="0"/>
  </p:normalViewPr>
  <p:slideViewPr>
    <p:cSldViewPr>
      <p:cViewPr varScale="1">
        <p:scale>
          <a:sx n="41" d="100"/>
          <a:sy n="41" d="100"/>
        </p:scale>
        <p:origin x="11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75DC7-6A47-4C11-B7D0-CD27F3A261F6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101FC-43B9-4C53-9137-63A27D5AB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7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1/abalo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openxmlformats.org/officeDocument/2006/relationships/hyperlink" Target="https://www.kaggle.com/datasets/sidhus/crab-age-predic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6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7709-E197-D447-474B-9D32F650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70DF3728-47EF-9653-D478-EB18C051581A}"/>
              </a:ext>
            </a:extLst>
          </p:cNvPr>
          <p:cNvGrpSpPr/>
          <p:nvPr/>
        </p:nvGrpSpPr>
        <p:grpSpPr>
          <a:xfrm>
            <a:off x="2319992" y="-1680508"/>
            <a:ext cx="13648016" cy="13648016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5066C9B-21DE-21D2-9675-1666D445DD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344E0AD-C28F-9AD2-247D-885A6B876BE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EDA9E89-CD42-AB39-D969-897C5D28C564}"/>
              </a:ext>
            </a:extLst>
          </p:cNvPr>
          <p:cNvSpPr/>
          <p:nvPr/>
        </p:nvSpPr>
        <p:spPr>
          <a:xfrm>
            <a:off x="3640768" y="-164456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3A5B0E9-9478-60B5-D36F-E0011853D774}"/>
              </a:ext>
            </a:extLst>
          </p:cNvPr>
          <p:cNvGrpSpPr/>
          <p:nvPr/>
        </p:nvGrpSpPr>
        <p:grpSpPr>
          <a:xfrm>
            <a:off x="3367381" y="-633119"/>
            <a:ext cx="11553237" cy="11553237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427DB87-F61D-C057-C9C3-DA8101AE49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AF737D0-FCC4-EEE3-7DE9-52FE9833CA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F014014-9709-A274-02C4-B5E75C78960F}"/>
              </a:ext>
            </a:extLst>
          </p:cNvPr>
          <p:cNvSpPr/>
          <p:nvPr/>
        </p:nvSpPr>
        <p:spPr>
          <a:xfrm>
            <a:off x="2115342" y="4838700"/>
            <a:ext cx="1313658" cy="969496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896A562-C03C-ED0E-9A32-BD876E5C5A82}"/>
              </a:ext>
            </a:extLst>
          </p:cNvPr>
          <p:cNvGrpSpPr/>
          <p:nvPr/>
        </p:nvGrpSpPr>
        <p:grpSpPr>
          <a:xfrm>
            <a:off x="2286001" y="4907505"/>
            <a:ext cx="959482" cy="1085661"/>
            <a:chOff x="0" y="-410307"/>
            <a:chExt cx="812800" cy="1146907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5D4445-3374-ADA2-5AB7-9D1FB59A1D6C}"/>
                </a:ext>
              </a:extLst>
            </p:cNvPr>
            <p:cNvSpPr/>
            <p:nvPr/>
          </p:nvSpPr>
          <p:spPr>
            <a:xfrm>
              <a:off x="0" y="-410307"/>
              <a:ext cx="812800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EEB858E-EB37-89AF-BA4B-649A628611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4598AF8-564A-741F-B4C5-19E165D05260}"/>
              </a:ext>
            </a:extLst>
          </p:cNvPr>
          <p:cNvSpPr/>
          <p:nvPr/>
        </p:nvSpPr>
        <p:spPr>
          <a:xfrm>
            <a:off x="14859000" y="4805794"/>
            <a:ext cx="1212839" cy="797556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E79233A-244F-7136-B585-71C91C25103D}"/>
              </a:ext>
            </a:extLst>
          </p:cNvPr>
          <p:cNvGrpSpPr/>
          <p:nvPr/>
        </p:nvGrpSpPr>
        <p:grpSpPr>
          <a:xfrm>
            <a:off x="14978285" y="4838700"/>
            <a:ext cx="1006323" cy="663500"/>
            <a:chOff x="-743161" y="563222"/>
            <a:chExt cx="1885501" cy="752714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5472DC7-488F-B4C0-BABE-3046FB7D88E5}"/>
                </a:ext>
              </a:extLst>
            </p:cNvPr>
            <p:cNvSpPr/>
            <p:nvPr/>
          </p:nvSpPr>
          <p:spPr>
            <a:xfrm>
              <a:off x="-743161" y="563222"/>
              <a:ext cx="1885501" cy="752714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3E21930-784D-D394-EB4F-AF7BF17AACA0}"/>
                </a:ext>
              </a:extLst>
            </p:cNvPr>
            <p:cNvSpPr txBox="1"/>
            <p:nvPr/>
          </p:nvSpPr>
          <p:spPr>
            <a:xfrm>
              <a:off x="76200" y="580057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EF859417-B8E4-27B2-0006-E7C79ED0A9E1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46B5D5E-592A-8517-D0E7-652EFC5E3B93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99C95F3E-79A1-F1C5-87C5-2C2AEAA9E137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>
            <a:extLst>
              <a:ext uri="{FF2B5EF4-FFF2-40B4-BE49-F238E27FC236}">
                <a16:creationId xmlns:a16="http://schemas.microsoft.com/office/drawing/2014/main" id="{7391F746-8240-A8BB-3751-706B87A683A2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pic>
        <p:nvPicPr>
          <p:cNvPr id="43" name="Google Shape;369;p26">
            <a:extLst>
              <a:ext uri="{FF2B5EF4-FFF2-40B4-BE49-F238E27FC236}">
                <a16:creationId xmlns:a16="http://schemas.microsoft.com/office/drawing/2014/main" id="{7AA3C547-9607-E5A9-E63C-6C176B9B6CC1}"/>
              </a:ext>
            </a:extLst>
          </p:cNvPr>
          <p:cNvPicPr preferRelativeResize="0"/>
          <p:nvPr/>
        </p:nvPicPr>
        <p:blipFill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6201" y="1104900"/>
            <a:ext cx="10642050" cy="183941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370;p26">
            <a:extLst>
              <a:ext uri="{FF2B5EF4-FFF2-40B4-BE49-F238E27FC236}">
                <a16:creationId xmlns:a16="http://schemas.microsoft.com/office/drawing/2014/main" id="{AE02F1A0-8AEF-EEE4-DB0A-0FB96FD4A725}"/>
              </a:ext>
            </a:extLst>
          </p:cNvPr>
          <p:cNvSpPr txBox="1"/>
          <p:nvPr/>
        </p:nvSpPr>
        <p:spPr>
          <a:xfrm flipH="1">
            <a:off x="1375620" y="2779283"/>
            <a:ext cx="15464580" cy="7609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5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  Semester: Summer 2025     	</a:t>
            </a:r>
            <a:endParaRPr sz="2850" b="1" dirty="0">
              <a:solidFill>
                <a:srgbClr val="002060"/>
              </a:solidFill>
              <a:latin typeface="Poppins Bold" panose="00000800000000000000" charset="0"/>
              <a:ea typeface="Arial Black"/>
              <a:cs typeface="Poppins Bold" panose="00000800000000000000" charset="0"/>
              <a:sym typeface="Arial Black"/>
            </a:endParaRPr>
          </a:p>
          <a:p>
            <a:pPr algn="ctr">
              <a:lnSpc>
                <a:spcPct val="115000"/>
              </a:lnSpc>
            </a:pPr>
            <a:r>
              <a:rPr lang="en-US" sz="285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Course Code : CSE 303</a:t>
            </a:r>
            <a:endParaRPr sz="2850" b="1" dirty="0">
              <a:solidFill>
                <a:srgbClr val="002060"/>
              </a:solidFill>
              <a:latin typeface="Poppins Bold" panose="00000800000000000000" charset="0"/>
              <a:ea typeface="Arial Black"/>
              <a:cs typeface="Poppins Bold" panose="00000800000000000000" charset="0"/>
              <a:sym typeface="Arial Black"/>
            </a:endParaRPr>
          </a:p>
          <a:p>
            <a:pPr algn="ctr">
              <a:lnSpc>
                <a:spcPct val="115000"/>
              </a:lnSpc>
            </a:pPr>
            <a:r>
              <a:rPr lang="en-US" sz="285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Course Title : Statistics for Data Science</a:t>
            </a:r>
          </a:p>
          <a:p>
            <a:pPr algn="ctr">
              <a:lnSpc>
                <a:spcPct val="115000"/>
              </a:lnSpc>
            </a:pPr>
            <a:endParaRPr lang="en-US" sz="1100" b="1" dirty="0">
              <a:solidFill>
                <a:srgbClr val="002060"/>
              </a:solidFill>
              <a:latin typeface="Poppins Bold" panose="00000800000000000000" charset="0"/>
              <a:ea typeface="Arial Black"/>
              <a:cs typeface="Poppins Bold" panose="00000800000000000000" charset="0"/>
              <a:sym typeface="Arial Black"/>
            </a:endParaRPr>
          </a:p>
          <a:p>
            <a:pPr algn="ctr">
              <a:lnSpc>
                <a:spcPct val="115000"/>
              </a:lnSpc>
            </a:pPr>
            <a:r>
              <a:rPr lang="en-US" sz="285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Topic</a:t>
            </a:r>
          </a:p>
          <a:p>
            <a:pPr algn="ctr">
              <a:lnSpc>
                <a:spcPct val="115000"/>
              </a:lnSpc>
            </a:pPr>
            <a:r>
              <a:rPr lang="en-GB" sz="400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Predict the age of marine creatures from physical measurements</a:t>
            </a:r>
          </a:p>
          <a:p>
            <a:pPr algn="ctr">
              <a:lnSpc>
                <a:spcPct val="115000"/>
              </a:lnSpc>
            </a:pPr>
            <a:r>
              <a:rPr lang="en-GB" sz="400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- </a:t>
            </a:r>
            <a:r>
              <a:rPr lang="en-GB" sz="280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Comparative Analysis of Abalone and Crab Age Prediction</a:t>
            </a:r>
          </a:p>
          <a:p>
            <a:pPr algn="ctr">
              <a:lnSpc>
                <a:spcPct val="115000"/>
              </a:lnSpc>
            </a:pPr>
            <a:endParaRPr lang="en-US" sz="2850" b="1" dirty="0">
              <a:solidFill>
                <a:srgbClr val="3A6AD6"/>
              </a:solidFill>
              <a:latin typeface="Poppins Bold" panose="00000800000000000000" charset="0"/>
              <a:ea typeface="Arial Black"/>
              <a:cs typeface="Poppins Bold" panose="00000800000000000000" charset="0"/>
              <a:sym typeface="Arial Black"/>
            </a:endParaRPr>
          </a:p>
          <a:p>
            <a:pPr algn="ctr">
              <a:lnSpc>
                <a:spcPct val="115000"/>
              </a:lnSpc>
            </a:pPr>
            <a:r>
              <a:rPr lang="en-US" sz="2850" b="1" dirty="0">
                <a:solidFill>
                  <a:srgbClr val="002060"/>
                </a:solidFill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Presented to :</a:t>
            </a:r>
            <a:endParaRPr sz="2850" b="1" dirty="0">
              <a:solidFill>
                <a:srgbClr val="002060"/>
              </a:solidFill>
              <a:latin typeface="Poppins Bold" panose="00000800000000000000" charset="0"/>
              <a:ea typeface="Arial Black"/>
              <a:cs typeface="Poppins Bold" panose="00000800000000000000" charset="0"/>
              <a:sym typeface="Arial Black"/>
            </a:endParaRPr>
          </a:p>
          <a:p>
            <a:pPr algn="ctr">
              <a:lnSpc>
                <a:spcPct val="115000"/>
              </a:lnSpc>
            </a:pPr>
            <a:r>
              <a:rPr lang="en-GB" sz="2800" b="1" dirty="0">
                <a:solidFill>
                  <a:srgbClr val="002060"/>
                </a:solidFill>
                <a:highlight>
                  <a:srgbClr val="FFFFFF"/>
                </a:highlight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Dr. Mohammad </a:t>
            </a:r>
            <a:r>
              <a:rPr lang="en-GB" sz="2800" b="1" dirty="0" err="1">
                <a:solidFill>
                  <a:srgbClr val="002060"/>
                </a:solidFill>
                <a:highlight>
                  <a:srgbClr val="FFFFFF"/>
                </a:highlight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Manzurul</a:t>
            </a:r>
            <a:r>
              <a:rPr lang="en-GB" sz="2800" b="1" dirty="0">
                <a:solidFill>
                  <a:srgbClr val="002060"/>
                </a:solidFill>
                <a:highlight>
                  <a:srgbClr val="FFFFFF"/>
                </a:highlight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 Islam</a:t>
            </a:r>
          </a:p>
          <a:p>
            <a:pPr algn="ctr">
              <a:lnSpc>
                <a:spcPct val="115000"/>
              </a:lnSpc>
            </a:pPr>
            <a:r>
              <a:rPr lang="en-GB" sz="2800" b="1" dirty="0">
                <a:solidFill>
                  <a:srgbClr val="002060"/>
                </a:solidFill>
                <a:highlight>
                  <a:srgbClr val="FFFFFF"/>
                </a:highlight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Assistant Professor</a:t>
            </a:r>
          </a:p>
          <a:p>
            <a:pPr algn="ctr">
              <a:lnSpc>
                <a:spcPct val="115000"/>
              </a:lnSpc>
            </a:pPr>
            <a:r>
              <a:rPr lang="en-GB" sz="2800" b="1" dirty="0">
                <a:solidFill>
                  <a:srgbClr val="002060"/>
                </a:solidFill>
                <a:highlight>
                  <a:srgbClr val="FFFFFF"/>
                </a:highlight>
                <a:latin typeface="Poppins Bold" panose="00000800000000000000" charset="0"/>
                <a:ea typeface="Arial Black"/>
                <a:cs typeface="Poppins Bold" panose="00000800000000000000" charset="0"/>
                <a:sym typeface="Arial Black"/>
              </a:rPr>
              <a:t>Department of Computer Science &amp; Engineering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endParaRPr sz="2400" b="1" dirty="0">
              <a:solidFill>
                <a:srgbClr val="3A6A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40C7CF-9477-41F9-82E3-AB6288A1D16F}"/>
              </a:ext>
            </a:extLst>
          </p:cNvPr>
          <p:cNvSpPr txBox="1"/>
          <p:nvPr/>
        </p:nvSpPr>
        <p:spPr>
          <a:xfrm>
            <a:off x="1298137" y="114300"/>
            <a:ext cx="15818178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57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Poppins ExtraBold" panose="00000900000000000000" pitchFamily="2" charset="0"/>
                <a:ea typeface="+mj-ea"/>
                <a:cs typeface="Poppins ExtraBold" panose="00000900000000000000" pitchFamily="2" charset="0"/>
              </a:rPr>
              <a:t>Welcome To </a:t>
            </a:r>
            <a:r>
              <a:rPr lang="en-US" sz="5700" dirty="0">
                <a:solidFill>
                  <a:schemeClr val="tx2">
                    <a:lumMod val="75000"/>
                  </a:schemeClr>
                </a:solidFill>
                <a:latin typeface="Poppins ExtraBold" panose="00000900000000000000" pitchFamily="2" charset="0"/>
                <a:ea typeface="+mj-ea"/>
                <a:cs typeface="Poppins ExtraBold" panose="00000900000000000000" pitchFamily="2" charset="0"/>
              </a:rPr>
              <a:t>Our </a:t>
            </a:r>
            <a:r>
              <a:rPr kumimoji="0" lang="en-US" sz="57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Poppins ExtraBold" panose="00000900000000000000" pitchFamily="2" charset="0"/>
                <a:ea typeface="+mj-ea"/>
                <a:cs typeface="Poppins ExtraBold" panose="00000900000000000000" pitchFamily="2" charset="0"/>
              </a:rPr>
              <a:t>Presentation</a:t>
            </a:r>
            <a:endParaRPr lang="en-US" dirty="0">
              <a:solidFill>
                <a:schemeClr val="tx2">
                  <a:lumMod val="75000"/>
                </a:schemeClr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347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5DEC-9031-7D9E-E77C-F9735B45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9">
            <a:extLst>
              <a:ext uri="{FF2B5EF4-FFF2-40B4-BE49-F238E27FC236}">
                <a16:creationId xmlns:a16="http://schemas.microsoft.com/office/drawing/2014/main" id="{71D2F81B-53A6-1F03-3160-3D79DF7BCBDD}"/>
              </a:ext>
            </a:extLst>
          </p:cNvPr>
          <p:cNvSpPr txBox="1"/>
          <p:nvPr/>
        </p:nvSpPr>
        <p:spPr>
          <a:xfrm>
            <a:off x="6518759" y="6404639"/>
            <a:ext cx="5139841" cy="3006061"/>
          </a:xfrm>
          <a:prstGeom prst="rect">
            <a:avLst/>
          </a:prstGeom>
        </p:spPr>
        <p:txBody>
          <a:bodyPr lIns="47086" tIns="47086" rIns="47086" bIns="47086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B21146A-4B41-D5D7-F4F1-CC6B7275ED68}"/>
              </a:ext>
            </a:extLst>
          </p:cNvPr>
          <p:cNvGrpSpPr/>
          <p:nvPr/>
        </p:nvGrpSpPr>
        <p:grpSpPr>
          <a:xfrm>
            <a:off x="2702224" y="-6441776"/>
            <a:ext cx="12883553" cy="1288355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9E53510-88FA-FC0C-BD81-CC082E4C9C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9313C00-DAFE-1442-92A8-B8BF0238D66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59043B34-25A9-6957-A714-EB95D917814C}"/>
              </a:ext>
            </a:extLst>
          </p:cNvPr>
          <p:cNvSpPr/>
          <p:nvPr/>
        </p:nvSpPr>
        <p:spPr>
          <a:xfrm>
            <a:off x="3124200" y="-4838700"/>
            <a:ext cx="11970147" cy="11415282"/>
          </a:xfrm>
          <a:custGeom>
            <a:avLst/>
            <a:gdLst/>
            <a:ahLst/>
            <a:cxnLst/>
            <a:rect l="l" t="t" r="r" b="b"/>
            <a:pathLst>
              <a:path w="11069128" h="11055291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FDB4EDC-1D44-F830-37D4-C13253E4CB8B}"/>
              </a:ext>
            </a:extLst>
          </p:cNvPr>
          <p:cNvGrpSpPr/>
          <p:nvPr/>
        </p:nvGrpSpPr>
        <p:grpSpPr>
          <a:xfrm>
            <a:off x="3690946" y="-5453054"/>
            <a:ext cx="10906108" cy="109061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D8C62EE-A346-0605-45D4-256CBE1D934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C2F3B4D-C98F-0DD8-34D7-21C240CBE1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0D22B12-7081-D362-4A9A-2D1BE912E7F4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4365B3D-E22B-4D07-F583-3F66B7C15445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591734C-3436-3081-C73E-45EB2A3078D5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25FCE103-1CD5-7A3A-833B-F0C383437F78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BC1DB35-21D6-E899-546D-C44FB0BB5895}"/>
              </a:ext>
            </a:extLst>
          </p:cNvPr>
          <p:cNvSpPr txBox="1"/>
          <p:nvPr/>
        </p:nvSpPr>
        <p:spPr>
          <a:xfrm>
            <a:off x="6852695" y="2879531"/>
            <a:ext cx="4582611" cy="77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4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</a:t>
            </a:r>
          </a:p>
        </p:txBody>
      </p:sp>
      <p:sp>
        <p:nvSpPr>
          <p:cNvPr id="57" name="Freeform 17">
            <a:extLst>
              <a:ext uri="{FF2B5EF4-FFF2-40B4-BE49-F238E27FC236}">
                <a16:creationId xmlns:a16="http://schemas.microsoft.com/office/drawing/2014/main" id="{CF5DEA2D-0FC3-5197-5EAD-D4420F717178}"/>
              </a:ext>
            </a:extLst>
          </p:cNvPr>
          <p:cNvSpPr/>
          <p:nvPr/>
        </p:nvSpPr>
        <p:spPr>
          <a:xfrm>
            <a:off x="6366959" y="5338259"/>
            <a:ext cx="1634041" cy="163404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8" name="Freeform 17">
            <a:extLst>
              <a:ext uri="{FF2B5EF4-FFF2-40B4-BE49-F238E27FC236}">
                <a16:creationId xmlns:a16="http://schemas.microsoft.com/office/drawing/2014/main" id="{CA26D0B7-1FD3-0D76-36E7-FAB4BC6DDCDA}"/>
              </a:ext>
            </a:extLst>
          </p:cNvPr>
          <p:cNvSpPr/>
          <p:nvPr/>
        </p:nvSpPr>
        <p:spPr>
          <a:xfrm>
            <a:off x="10253159" y="5372100"/>
            <a:ext cx="1634041" cy="163404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Box 29">
            <a:extLst>
              <a:ext uri="{FF2B5EF4-FFF2-40B4-BE49-F238E27FC236}">
                <a16:creationId xmlns:a16="http://schemas.microsoft.com/office/drawing/2014/main" id="{4F1DA705-ACAE-0C50-1937-E083C1CA8B95}"/>
              </a:ext>
            </a:extLst>
          </p:cNvPr>
          <p:cNvSpPr txBox="1"/>
          <p:nvPr/>
        </p:nvSpPr>
        <p:spPr>
          <a:xfrm>
            <a:off x="4049439" y="4803055"/>
            <a:ext cx="3052956" cy="4632909"/>
          </a:xfrm>
          <a:prstGeom prst="rect">
            <a:avLst/>
          </a:prstGeom>
        </p:spPr>
        <p:txBody>
          <a:bodyPr lIns="47086" tIns="47086" rIns="47086" bIns="47086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78" name="Group 27">
            <a:extLst>
              <a:ext uri="{FF2B5EF4-FFF2-40B4-BE49-F238E27FC236}">
                <a16:creationId xmlns:a16="http://schemas.microsoft.com/office/drawing/2014/main" id="{16BEDA1E-618C-40DD-43B1-A830EF58C283}"/>
              </a:ext>
            </a:extLst>
          </p:cNvPr>
          <p:cNvGrpSpPr/>
          <p:nvPr/>
        </p:nvGrpSpPr>
        <p:grpSpPr>
          <a:xfrm>
            <a:off x="7063239" y="3924300"/>
            <a:ext cx="4122367" cy="5218395"/>
            <a:chOff x="0" y="0"/>
            <a:chExt cx="1052050" cy="577197"/>
          </a:xfrm>
        </p:grpSpPr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6533C350-4638-F592-5ED3-989B67FB3DE5}"/>
                </a:ext>
              </a:extLst>
            </p:cNvPr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80" name="TextBox 29">
              <a:extLst>
                <a:ext uri="{FF2B5EF4-FFF2-40B4-BE49-F238E27FC236}">
                  <a16:creationId xmlns:a16="http://schemas.microsoft.com/office/drawing/2014/main" id="{00EF7347-7275-C2B9-563A-C0AF523605C7}"/>
                </a:ext>
              </a:extLst>
            </p:cNvPr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1" name="TextBox 34">
            <a:extLst>
              <a:ext uri="{FF2B5EF4-FFF2-40B4-BE49-F238E27FC236}">
                <a16:creationId xmlns:a16="http://schemas.microsoft.com/office/drawing/2014/main" id="{68DA16DE-32E1-AEA8-C9F0-FCBD0C1F11B1}"/>
              </a:ext>
            </a:extLst>
          </p:cNvPr>
          <p:cNvSpPr txBox="1"/>
          <p:nvPr/>
        </p:nvSpPr>
        <p:spPr>
          <a:xfrm>
            <a:off x="6324600" y="8075567"/>
            <a:ext cx="5397356" cy="877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Abdul Muhaimin Ibne Ali</a:t>
            </a:r>
          </a:p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ID-2021-3-60-172</a:t>
            </a:r>
          </a:p>
        </p:txBody>
      </p:sp>
      <p:pic>
        <p:nvPicPr>
          <p:cNvPr id="1030" name="Picture 6" descr="Man in a presentation of business - Free people icons">
            <a:extLst>
              <a:ext uri="{FF2B5EF4-FFF2-40B4-BE49-F238E27FC236}">
                <a16:creationId xmlns:a16="http://schemas.microsoft.com/office/drawing/2014/main" id="{F7B0683C-3465-27AA-0274-0AF9DD52C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441" y="571500"/>
            <a:ext cx="2556359" cy="255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7">
            <a:extLst>
              <a:ext uri="{FF2B5EF4-FFF2-40B4-BE49-F238E27FC236}">
                <a16:creationId xmlns:a16="http://schemas.microsoft.com/office/drawing/2014/main" id="{F2191949-E678-F793-90C8-A9E340F99228}"/>
              </a:ext>
            </a:extLst>
          </p:cNvPr>
          <p:cNvGrpSpPr/>
          <p:nvPr/>
        </p:nvGrpSpPr>
        <p:grpSpPr>
          <a:xfrm>
            <a:off x="12679639" y="3924300"/>
            <a:ext cx="4122367" cy="5218395"/>
            <a:chOff x="0" y="0"/>
            <a:chExt cx="1052050" cy="577197"/>
          </a:xfrm>
        </p:grpSpPr>
        <p:sp>
          <p:nvSpPr>
            <p:cNvPr id="3" name="Freeform 28">
              <a:extLst>
                <a:ext uri="{FF2B5EF4-FFF2-40B4-BE49-F238E27FC236}">
                  <a16:creationId xmlns:a16="http://schemas.microsoft.com/office/drawing/2014/main" id="{BA459CE4-35E3-406F-83C6-32B9F9CB483C}"/>
                </a:ext>
              </a:extLst>
            </p:cNvPr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4" name="TextBox 29">
              <a:extLst>
                <a:ext uri="{FF2B5EF4-FFF2-40B4-BE49-F238E27FC236}">
                  <a16:creationId xmlns:a16="http://schemas.microsoft.com/office/drawing/2014/main" id="{87B993D1-136A-67DB-215A-33D8BE3313DA}"/>
                </a:ext>
              </a:extLst>
            </p:cNvPr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34">
            <a:extLst>
              <a:ext uri="{FF2B5EF4-FFF2-40B4-BE49-F238E27FC236}">
                <a16:creationId xmlns:a16="http://schemas.microsoft.com/office/drawing/2014/main" id="{9A776F04-8B58-1671-7165-BF140C047041}"/>
              </a:ext>
            </a:extLst>
          </p:cNvPr>
          <p:cNvSpPr txBox="1"/>
          <p:nvPr/>
        </p:nvSpPr>
        <p:spPr>
          <a:xfrm>
            <a:off x="12738244" y="7986238"/>
            <a:ext cx="4559156" cy="877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Chinmoy Karmakar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ID-2022-1-60-381 </a:t>
            </a:r>
          </a:p>
        </p:txBody>
      </p:sp>
      <p:grpSp>
        <p:nvGrpSpPr>
          <p:cNvPr id="7" name="Group 27">
            <a:extLst>
              <a:ext uri="{FF2B5EF4-FFF2-40B4-BE49-F238E27FC236}">
                <a16:creationId xmlns:a16="http://schemas.microsoft.com/office/drawing/2014/main" id="{1DF2DB3B-3BC2-7D61-02E7-0C70177DE1CE}"/>
              </a:ext>
            </a:extLst>
          </p:cNvPr>
          <p:cNvGrpSpPr/>
          <p:nvPr/>
        </p:nvGrpSpPr>
        <p:grpSpPr>
          <a:xfrm>
            <a:off x="1447800" y="3887505"/>
            <a:ext cx="4122367" cy="5218395"/>
            <a:chOff x="0" y="0"/>
            <a:chExt cx="1052050" cy="577197"/>
          </a:xfrm>
        </p:grpSpPr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24A8ADE1-D47B-B2FA-3063-6CB6D76CD4C2}"/>
                </a:ext>
              </a:extLst>
            </p:cNvPr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6" name="TextBox 29">
              <a:extLst>
                <a:ext uri="{FF2B5EF4-FFF2-40B4-BE49-F238E27FC236}">
                  <a16:creationId xmlns:a16="http://schemas.microsoft.com/office/drawing/2014/main" id="{D448C7E2-2D81-5D02-4E2F-88F6035376D1}"/>
                </a:ext>
              </a:extLst>
            </p:cNvPr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EFEE8AB5-6101-6D5D-CC6B-38E74A0A118B}"/>
              </a:ext>
            </a:extLst>
          </p:cNvPr>
          <p:cNvSpPr txBox="1"/>
          <p:nvPr/>
        </p:nvSpPr>
        <p:spPr>
          <a:xfrm>
            <a:off x="1700804" y="7949443"/>
            <a:ext cx="3907557" cy="877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Md Maruf Hasan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ID-2021-3-60-101</a:t>
            </a:r>
          </a:p>
        </p:txBody>
      </p:sp>
      <p:pic>
        <p:nvPicPr>
          <p:cNvPr id="18" name="Google Shape;375;p27">
            <a:extLst>
              <a:ext uri="{FF2B5EF4-FFF2-40B4-BE49-F238E27FC236}">
                <a16:creationId xmlns:a16="http://schemas.microsoft.com/office/drawing/2014/main" id="{50BC491B-733C-B5B2-85C4-6329C84A3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274" t="22189" r="24797" b="31745"/>
          <a:stretch/>
        </p:blipFill>
        <p:spPr>
          <a:xfrm>
            <a:off x="1923405" y="4192305"/>
            <a:ext cx="3052956" cy="347293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91114ED3-38C0-F21C-2F06-871C5E657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8" t="18922" r="25660" b="28881"/>
          <a:stretch>
            <a:fillRect/>
          </a:stretch>
        </p:blipFill>
        <p:spPr bwMode="auto">
          <a:xfrm>
            <a:off x="7401678" y="4211963"/>
            <a:ext cx="3389659" cy="35491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n image of 1 person">
            <a:extLst>
              <a:ext uri="{FF2B5EF4-FFF2-40B4-BE49-F238E27FC236}">
                <a16:creationId xmlns:a16="http://schemas.microsoft.com/office/drawing/2014/main" id="{A53B6283-FF53-DF21-7F2E-6F9E475E4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8" t="30845" r="32312" b="32421"/>
          <a:stretch>
            <a:fillRect/>
          </a:stretch>
        </p:blipFill>
        <p:spPr bwMode="auto">
          <a:xfrm>
            <a:off x="13182600" y="4261649"/>
            <a:ext cx="3048471" cy="35488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5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9D69-6129-1D22-63E8-7B606648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C42299EE-7A22-29DB-1A24-E393E5E90CC0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39AACB1-BCD0-03C4-CD4A-5E4C57CCC9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692D6B9-8434-3D6B-86FC-DDBF00AEC08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C8B6EA8-8869-9551-F3EC-A5D94A9BB156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164B10-01EF-036F-62A3-4E9DD70D6B6F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DD3D95A-6C05-402C-BA92-679EAB7B25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BEB1EAC-B92F-E2E2-CCEA-36772894AD8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Google Shape;2572;p34">
            <a:extLst>
              <a:ext uri="{FF2B5EF4-FFF2-40B4-BE49-F238E27FC236}">
                <a16:creationId xmlns:a16="http://schemas.microsoft.com/office/drawing/2014/main" id="{D341F0CC-F028-2E7F-9F03-B1403F731F04}"/>
              </a:ext>
            </a:extLst>
          </p:cNvPr>
          <p:cNvSpPr/>
          <p:nvPr/>
        </p:nvSpPr>
        <p:spPr>
          <a:xfrm rot="21574206">
            <a:off x="9905827" y="2909605"/>
            <a:ext cx="1759250" cy="172744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endParaRPr sz="4800" b="1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Google Shape;2573;p34">
            <a:extLst>
              <a:ext uri="{FF2B5EF4-FFF2-40B4-BE49-F238E27FC236}">
                <a16:creationId xmlns:a16="http://schemas.microsoft.com/office/drawing/2014/main" id="{6BB7BE6E-62CD-652A-E458-AE6D079D3006}"/>
              </a:ext>
            </a:extLst>
          </p:cNvPr>
          <p:cNvSpPr/>
          <p:nvPr/>
        </p:nvSpPr>
        <p:spPr>
          <a:xfrm rot="21574206">
            <a:off x="9753427" y="2764155"/>
            <a:ext cx="1759250" cy="172744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endParaRPr sz="4800" b="1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Google Shape;2574;p34">
            <a:extLst>
              <a:ext uri="{FF2B5EF4-FFF2-40B4-BE49-F238E27FC236}">
                <a16:creationId xmlns:a16="http://schemas.microsoft.com/office/drawing/2014/main" id="{F14CE326-BB98-693F-07B2-B0D03F65FCD0}"/>
              </a:ext>
            </a:extLst>
          </p:cNvPr>
          <p:cNvSpPr/>
          <p:nvPr/>
        </p:nvSpPr>
        <p:spPr>
          <a:xfrm rot="21575174">
            <a:off x="9926886" y="2934661"/>
            <a:ext cx="1412436" cy="1386638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endParaRPr sz="48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Google Shape;2575;p34">
            <a:extLst>
              <a:ext uri="{FF2B5EF4-FFF2-40B4-BE49-F238E27FC236}">
                <a16:creationId xmlns:a16="http://schemas.microsoft.com/office/drawing/2014/main" id="{9028C735-D487-D054-F1A6-1A5470653F0D}"/>
              </a:ext>
            </a:extLst>
          </p:cNvPr>
          <p:cNvSpPr/>
          <p:nvPr/>
        </p:nvSpPr>
        <p:spPr>
          <a:xfrm rot="21287509">
            <a:off x="816705" y="1376849"/>
            <a:ext cx="3846882" cy="377463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8" name="Google Shape;2576;p34">
            <a:extLst>
              <a:ext uri="{FF2B5EF4-FFF2-40B4-BE49-F238E27FC236}">
                <a16:creationId xmlns:a16="http://schemas.microsoft.com/office/drawing/2014/main" id="{A0482B89-FCC3-8003-94E6-5349E2DF9CB0}"/>
              </a:ext>
            </a:extLst>
          </p:cNvPr>
          <p:cNvSpPr/>
          <p:nvPr/>
        </p:nvSpPr>
        <p:spPr>
          <a:xfrm rot="699198">
            <a:off x="4567419" y="3452120"/>
            <a:ext cx="3846074" cy="377487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9" name="Google Shape;2577;p34">
            <a:extLst>
              <a:ext uri="{FF2B5EF4-FFF2-40B4-BE49-F238E27FC236}">
                <a16:creationId xmlns:a16="http://schemas.microsoft.com/office/drawing/2014/main" id="{DF883F92-8E08-6246-7C39-4AF2E091262B}"/>
              </a:ext>
            </a:extLst>
          </p:cNvPr>
          <p:cNvSpPr txBox="1">
            <a:spLocks/>
          </p:cNvSpPr>
          <p:nvPr/>
        </p:nvSpPr>
        <p:spPr>
          <a:xfrm>
            <a:off x="8458200" y="6134100"/>
            <a:ext cx="9563792" cy="2507146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184480"/>
              </a:buClr>
              <a:buNone/>
            </a:pPr>
            <a:r>
              <a:rPr lang="en-GB" sz="3600" dirty="0"/>
              <a:t>We use </a:t>
            </a:r>
            <a:r>
              <a:rPr lang="en-GB" sz="3600" b="1" dirty="0"/>
              <a:t>machine learning </a:t>
            </a:r>
            <a:r>
              <a:rPr lang="en-GB" sz="3600" dirty="0"/>
              <a:t>to </a:t>
            </a:r>
            <a:r>
              <a:rPr lang="en-GB" sz="3600" b="1" dirty="0"/>
              <a:t>predict</a:t>
            </a:r>
            <a:r>
              <a:rPr lang="en-GB" sz="3600" dirty="0"/>
              <a:t> the age of </a:t>
            </a:r>
            <a:r>
              <a:rPr lang="en-GB" sz="3600" b="1" dirty="0"/>
              <a:t>marine creatures</a:t>
            </a:r>
            <a:r>
              <a:rPr lang="en-GB" sz="3600" dirty="0"/>
              <a:t>, such as </a:t>
            </a:r>
            <a:r>
              <a:rPr lang="en-GB" sz="3600" b="1" dirty="0"/>
              <a:t>Abalones</a:t>
            </a:r>
            <a:r>
              <a:rPr lang="en-GB" sz="3600" dirty="0"/>
              <a:t> and </a:t>
            </a:r>
            <a:r>
              <a:rPr lang="en-GB" sz="3600" b="1" dirty="0"/>
              <a:t>Crabs</a:t>
            </a:r>
            <a:r>
              <a:rPr lang="en-GB" sz="3600" dirty="0"/>
              <a:t>, from their physical features.</a:t>
            </a:r>
          </a:p>
        </p:txBody>
      </p:sp>
      <p:sp>
        <p:nvSpPr>
          <p:cNvPr id="11" name="Google Shape;2579;p34">
            <a:extLst>
              <a:ext uri="{FF2B5EF4-FFF2-40B4-BE49-F238E27FC236}">
                <a16:creationId xmlns:a16="http://schemas.microsoft.com/office/drawing/2014/main" id="{F7881E0E-B781-B015-7F54-FC8E0A0662BB}"/>
              </a:ext>
            </a:extLst>
          </p:cNvPr>
          <p:cNvSpPr/>
          <p:nvPr/>
        </p:nvSpPr>
        <p:spPr>
          <a:xfrm rot="21287509">
            <a:off x="650043" y="1190287"/>
            <a:ext cx="3846882" cy="377463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2" name="Google Shape;2580;p34">
            <a:extLst>
              <a:ext uri="{FF2B5EF4-FFF2-40B4-BE49-F238E27FC236}">
                <a16:creationId xmlns:a16="http://schemas.microsoft.com/office/drawing/2014/main" id="{0288DCA7-A29C-B12A-A75C-382905DC94F1}"/>
              </a:ext>
            </a:extLst>
          </p:cNvPr>
          <p:cNvSpPr txBox="1">
            <a:spLocks/>
          </p:cNvSpPr>
          <p:nvPr/>
        </p:nvSpPr>
        <p:spPr>
          <a:xfrm>
            <a:off x="9914250" y="2922550"/>
            <a:ext cx="1437600" cy="13968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"/>
              <a:t>01</a:t>
            </a:r>
            <a:endParaRPr lang="en" dirty="0"/>
          </a:p>
        </p:txBody>
      </p:sp>
      <p:sp>
        <p:nvSpPr>
          <p:cNvPr id="20" name="Google Shape;2582;p34">
            <a:extLst>
              <a:ext uri="{FF2B5EF4-FFF2-40B4-BE49-F238E27FC236}">
                <a16:creationId xmlns:a16="http://schemas.microsoft.com/office/drawing/2014/main" id="{690F62D3-28F0-AF6D-2084-9C7AB92AB349}"/>
              </a:ext>
            </a:extLst>
          </p:cNvPr>
          <p:cNvSpPr/>
          <p:nvPr/>
        </p:nvSpPr>
        <p:spPr>
          <a:xfrm rot="699198">
            <a:off x="4445215" y="3262276"/>
            <a:ext cx="3846074" cy="377487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grpSp>
        <p:nvGrpSpPr>
          <p:cNvPr id="27" name="Group 21">
            <a:extLst>
              <a:ext uri="{FF2B5EF4-FFF2-40B4-BE49-F238E27FC236}">
                <a16:creationId xmlns:a16="http://schemas.microsoft.com/office/drawing/2014/main" id="{64E39463-531D-7B43-A5F2-2E6214B5EE50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6296F35-1B3A-090E-DCD8-1D7F9B6D1655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9" name="TextBox 23">
              <a:extLst>
                <a:ext uri="{FF2B5EF4-FFF2-40B4-BE49-F238E27FC236}">
                  <a16:creationId xmlns:a16="http://schemas.microsoft.com/office/drawing/2014/main" id="{124D22AA-770F-2B47-49DF-682895E6517F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24">
            <a:extLst>
              <a:ext uri="{FF2B5EF4-FFF2-40B4-BE49-F238E27FC236}">
                <a16:creationId xmlns:a16="http://schemas.microsoft.com/office/drawing/2014/main" id="{B727C93F-237F-05DC-41D7-F5EE50098A50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5F2272F-DA1A-3C3B-9A96-92E7C086E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0270">
            <a:off x="758210" y="1258695"/>
            <a:ext cx="3592650" cy="3592650"/>
          </a:xfrm>
          <a:prstGeom prst="rect">
            <a:avLst/>
          </a:prstGeom>
        </p:spPr>
      </p:pic>
      <p:pic>
        <p:nvPicPr>
          <p:cNvPr id="24580" name="Picture 4" descr="The Red Army - Cornwall's kingdom of spider crabs - DIVE Magazine">
            <a:extLst>
              <a:ext uri="{FF2B5EF4-FFF2-40B4-BE49-F238E27FC236}">
                <a16:creationId xmlns:a16="http://schemas.microsoft.com/office/drawing/2014/main" id="{1C6BEBE1-23DD-2610-6973-B6835158D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5608">
            <a:off x="4505407" y="3360514"/>
            <a:ext cx="3693591" cy="344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E6D6BC7-E599-AEC1-C124-9BFDDE8E6A56}"/>
              </a:ext>
            </a:extLst>
          </p:cNvPr>
          <p:cNvSpPr txBox="1"/>
          <p:nvPr/>
        </p:nvSpPr>
        <p:spPr>
          <a:xfrm>
            <a:off x="8771887" y="5084295"/>
            <a:ext cx="116082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54145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A45A-4D1B-A100-00B7-0EA2E896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34B87D73-04FF-AD13-BFF6-A400B5B165A1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8B2FD2-7758-3B38-C090-8CCDDD2037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A6A99B9-BCCF-D92E-BC33-57DDA0C5DCB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7436204B-9788-972D-F3E8-5E825367A41F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FD48A24-7AB6-D769-271A-615F57684931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00438A6-B06F-41D9-72B0-54FD7AC8D93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E6A7E16-2055-16A9-56A0-12913FF10F0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226" name="Google Shape;2588;p35">
            <a:extLst>
              <a:ext uri="{FF2B5EF4-FFF2-40B4-BE49-F238E27FC236}">
                <a16:creationId xmlns:a16="http://schemas.microsoft.com/office/drawing/2014/main" id="{40D8FCF1-BD54-CC85-1C84-050251F50377}"/>
              </a:ext>
            </a:extLst>
          </p:cNvPr>
          <p:cNvSpPr/>
          <p:nvPr/>
        </p:nvSpPr>
        <p:spPr>
          <a:xfrm rot="21287480">
            <a:off x="2867682" y="2124177"/>
            <a:ext cx="3021660" cy="277258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7227" name="Google Shape;2589;p35">
            <a:extLst>
              <a:ext uri="{FF2B5EF4-FFF2-40B4-BE49-F238E27FC236}">
                <a16:creationId xmlns:a16="http://schemas.microsoft.com/office/drawing/2014/main" id="{1F556B16-E3A5-7934-E46C-0CB5A753345B}"/>
              </a:ext>
            </a:extLst>
          </p:cNvPr>
          <p:cNvSpPr/>
          <p:nvPr/>
        </p:nvSpPr>
        <p:spPr>
          <a:xfrm rot="352083">
            <a:off x="11463030" y="1937052"/>
            <a:ext cx="3093584" cy="296455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7229" name="Google Shape;2590;p35">
            <a:extLst>
              <a:ext uri="{FF2B5EF4-FFF2-40B4-BE49-F238E27FC236}">
                <a16:creationId xmlns:a16="http://schemas.microsoft.com/office/drawing/2014/main" id="{5F2A8CA2-1FFA-5761-20C5-222E7FAC74FD}"/>
              </a:ext>
            </a:extLst>
          </p:cNvPr>
          <p:cNvSpPr/>
          <p:nvPr/>
        </p:nvSpPr>
        <p:spPr>
          <a:xfrm rot="21287480">
            <a:off x="2773320" y="1950660"/>
            <a:ext cx="2923688" cy="278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7230" name="Google Shape;2592;p35">
            <a:extLst>
              <a:ext uri="{FF2B5EF4-FFF2-40B4-BE49-F238E27FC236}">
                <a16:creationId xmlns:a16="http://schemas.microsoft.com/office/drawing/2014/main" id="{03C8CCD8-DF53-DAA4-6E4B-DBC44C9B39C5}"/>
              </a:ext>
            </a:extLst>
          </p:cNvPr>
          <p:cNvSpPr txBox="1">
            <a:spLocks/>
          </p:cNvSpPr>
          <p:nvPr/>
        </p:nvSpPr>
        <p:spPr>
          <a:xfrm>
            <a:off x="2043007" y="5264644"/>
            <a:ext cx="6719479" cy="2910185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Traditional methods </a:t>
            </a:r>
            <a:r>
              <a:rPr lang="en-GB" dirty="0"/>
              <a:t>of determining the age of marine species, such as </a:t>
            </a:r>
            <a:r>
              <a:rPr lang="en-GB" b="1" dirty="0"/>
              <a:t>counting shell rings</a:t>
            </a:r>
            <a:r>
              <a:rPr lang="en-GB" dirty="0"/>
              <a:t>, are </a:t>
            </a:r>
            <a:r>
              <a:rPr lang="en-GB" b="1" dirty="0"/>
              <a:t>destructive, slow, and costly</a:t>
            </a:r>
            <a:r>
              <a:rPr lang="en-GB" dirty="0"/>
              <a:t>.</a:t>
            </a:r>
          </a:p>
        </p:txBody>
      </p:sp>
      <p:sp>
        <p:nvSpPr>
          <p:cNvPr id="7231" name="Google Shape;2593;p35">
            <a:extLst>
              <a:ext uri="{FF2B5EF4-FFF2-40B4-BE49-F238E27FC236}">
                <a16:creationId xmlns:a16="http://schemas.microsoft.com/office/drawing/2014/main" id="{2E9AD99F-FDF8-8FDA-328C-6D02AC608C87}"/>
              </a:ext>
            </a:extLst>
          </p:cNvPr>
          <p:cNvSpPr txBox="1">
            <a:spLocks/>
          </p:cNvSpPr>
          <p:nvPr/>
        </p:nvSpPr>
        <p:spPr>
          <a:xfrm>
            <a:off x="2109976" y="4965273"/>
            <a:ext cx="6491040" cy="7416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64" name="Google Shape;2594;p35">
            <a:extLst>
              <a:ext uri="{FF2B5EF4-FFF2-40B4-BE49-F238E27FC236}">
                <a16:creationId xmlns:a16="http://schemas.microsoft.com/office/drawing/2014/main" id="{165C2A86-50BF-84D1-7565-6F0BEE1E7B80}"/>
              </a:ext>
            </a:extLst>
          </p:cNvPr>
          <p:cNvSpPr txBox="1">
            <a:spLocks/>
          </p:cNvSpPr>
          <p:nvPr/>
        </p:nvSpPr>
        <p:spPr>
          <a:xfrm>
            <a:off x="8963630" y="5572150"/>
            <a:ext cx="9153494" cy="338135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We combine </a:t>
            </a:r>
            <a:r>
              <a:rPr lang="en-GB" b="1" dirty="0"/>
              <a:t>machine learning with marine biology </a:t>
            </a:r>
            <a:r>
              <a:rPr lang="en-GB" dirty="0"/>
              <a:t>to predict the age of marine creatures.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To get accurate results, we test multiple algorithms : </a:t>
            </a:r>
            <a:r>
              <a:rPr lang="en-GB" b="1" dirty="0"/>
              <a:t>Linear Regression, Logistic Regression, and Support Vector Regression (SVR) </a:t>
            </a:r>
            <a:r>
              <a:rPr lang="en-GB" dirty="0"/>
              <a:t>and compare their performance.</a:t>
            </a:r>
            <a:endParaRPr lang="en-US" dirty="0"/>
          </a:p>
        </p:txBody>
      </p:sp>
      <p:sp>
        <p:nvSpPr>
          <p:cNvPr id="65" name="Google Shape;2595;p35">
            <a:extLst>
              <a:ext uri="{FF2B5EF4-FFF2-40B4-BE49-F238E27FC236}">
                <a16:creationId xmlns:a16="http://schemas.microsoft.com/office/drawing/2014/main" id="{7259F432-2F77-CA66-388C-54FD7458469B}"/>
              </a:ext>
            </a:extLst>
          </p:cNvPr>
          <p:cNvSpPr txBox="1">
            <a:spLocks/>
          </p:cNvSpPr>
          <p:nvPr/>
        </p:nvSpPr>
        <p:spPr>
          <a:xfrm>
            <a:off x="9128503" y="4997036"/>
            <a:ext cx="7791554" cy="7416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0070C0"/>
                </a:solidFill>
              </a:rPr>
              <a:t>Our Solution Approach</a:t>
            </a:r>
          </a:p>
        </p:txBody>
      </p:sp>
      <p:sp>
        <p:nvSpPr>
          <p:cNvPr id="66" name="Google Shape;2596;p35">
            <a:extLst>
              <a:ext uri="{FF2B5EF4-FFF2-40B4-BE49-F238E27FC236}">
                <a16:creationId xmlns:a16="http://schemas.microsoft.com/office/drawing/2014/main" id="{04317F5D-7331-92EF-231C-7109F9DDF7D2}"/>
              </a:ext>
            </a:extLst>
          </p:cNvPr>
          <p:cNvSpPr/>
          <p:nvPr/>
        </p:nvSpPr>
        <p:spPr>
          <a:xfrm rot="21287543">
            <a:off x="2940936" y="2226011"/>
            <a:ext cx="2464408" cy="2161486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/>
          </a:p>
        </p:txBody>
      </p:sp>
      <p:sp>
        <p:nvSpPr>
          <p:cNvPr id="67" name="Google Shape;2597;p35">
            <a:extLst>
              <a:ext uri="{FF2B5EF4-FFF2-40B4-BE49-F238E27FC236}">
                <a16:creationId xmlns:a16="http://schemas.microsoft.com/office/drawing/2014/main" id="{A768FD27-D812-BA10-10EE-1C1DA44044AC}"/>
              </a:ext>
            </a:extLst>
          </p:cNvPr>
          <p:cNvSpPr/>
          <p:nvPr/>
        </p:nvSpPr>
        <p:spPr>
          <a:xfrm rot="352083">
            <a:off x="11336972" y="1787983"/>
            <a:ext cx="3052348" cy="29687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68" name="Google Shape;2598;p35">
            <a:extLst>
              <a:ext uri="{FF2B5EF4-FFF2-40B4-BE49-F238E27FC236}">
                <a16:creationId xmlns:a16="http://schemas.microsoft.com/office/drawing/2014/main" id="{DDA371F4-CF27-B0E0-313F-F0106D8A67BD}"/>
              </a:ext>
            </a:extLst>
          </p:cNvPr>
          <p:cNvSpPr/>
          <p:nvPr/>
        </p:nvSpPr>
        <p:spPr>
          <a:xfrm rot="351950">
            <a:off x="11536287" y="2032723"/>
            <a:ext cx="2567658" cy="247930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pic>
        <p:nvPicPr>
          <p:cNvPr id="69" name="Picture 4" descr="Problem and critical icon concept | Premium Vector">
            <a:extLst>
              <a:ext uri="{FF2B5EF4-FFF2-40B4-BE49-F238E27FC236}">
                <a16:creationId xmlns:a16="http://schemas.microsoft.com/office/drawing/2014/main" id="{F65EDA6F-0216-AA85-E634-AA27D4470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0973"/>
          <a:stretch>
            <a:fillRect/>
          </a:stretch>
        </p:blipFill>
        <p:spPr bwMode="auto">
          <a:xfrm rot="21242692">
            <a:off x="3440115" y="2632406"/>
            <a:ext cx="1491506" cy="132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" descr="Solution - Free marketing icons">
            <a:extLst>
              <a:ext uri="{FF2B5EF4-FFF2-40B4-BE49-F238E27FC236}">
                <a16:creationId xmlns:a16="http://schemas.microsoft.com/office/drawing/2014/main" id="{6262DFC9-753B-D25A-3F50-E064600EC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1358">
            <a:off x="11972715" y="2347963"/>
            <a:ext cx="1772606" cy="177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F7BD020-9CE7-9D5E-E4A5-78DAEA6CB9AF}"/>
              </a:ext>
            </a:extLst>
          </p:cNvPr>
          <p:cNvCxnSpPr/>
          <p:nvPr/>
        </p:nvCxnSpPr>
        <p:spPr>
          <a:xfrm>
            <a:off x="8762486" y="5211271"/>
            <a:ext cx="0" cy="483904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1" name="Group 21">
            <a:extLst>
              <a:ext uri="{FF2B5EF4-FFF2-40B4-BE49-F238E27FC236}">
                <a16:creationId xmlns:a16="http://schemas.microsoft.com/office/drawing/2014/main" id="{7CDEEF58-CC76-1997-FADA-930A297A6887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5D37884B-E4A2-000B-AEFF-1622150AFF6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84" name="TextBox 23">
              <a:extLst>
                <a:ext uri="{FF2B5EF4-FFF2-40B4-BE49-F238E27FC236}">
                  <a16:creationId xmlns:a16="http://schemas.microsoft.com/office/drawing/2014/main" id="{4C2A7F52-A641-174D-D418-F9475A426E42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5" name="TextBox 24">
            <a:extLst>
              <a:ext uri="{FF2B5EF4-FFF2-40B4-BE49-F238E27FC236}">
                <a16:creationId xmlns:a16="http://schemas.microsoft.com/office/drawing/2014/main" id="{015B205C-2CF1-53AC-737B-73AEC5A56DEC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D0A375-07A8-245D-C856-9D697FDAF499}"/>
              </a:ext>
            </a:extLst>
          </p:cNvPr>
          <p:cNvSpPr txBox="1"/>
          <p:nvPr/>
        </p:nvSpPr>
        <p:spPr>
          <a:xfrm>
            <a:off x="609600" y="330991"/>
            <a:ext cx="18287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Problem Statement &amp; Our Solution Approach</a:t>
            </a:r>
          </a:p>
        </p:txBody>
      </p:sp>
    </p:spTree>
    <p:extLst>
      <p:ext uri="{BB962C8B-B14F-4D97-AF65-F5344CB8AC3E}">
        <p14:creationId xmlns:p14="http://schemas.microsoft.com/office/powerpoint/2010/main" val="38359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F2DC-9211-E771-7B2F-5AB082D3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E70D1665-8900-40D6-D921-0D7E64C5D7EE}"/>
              </a:ext>
            </a:extLst>
          </p:cNvPr>
          <p:cNvGrpSpPr/>
          <p:nvPr/>
        </p:nvGrpSpPr>
        <p:grpSpPr>
          <a:xfrm>
            <a:off x="1555050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510A5A0-1325-C3B9-F2B5-F273CFF2F3B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4BE910-ED93-BFDB-869F-D61D9BAA11F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4925926-2369-7763-AF13-8305C2366430}"/>
              </a:ext>
            </a:extLst>
          </p:cNvPr>
          <p:cNvSpPr/>
          <p:nvPr/>
        </p:nvSpPr>
        <p:spPr>
          <a:xfrm>
            <a:off x="15384324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6C1762-ADD2-B75D-924F-358882975E1B}"/>
              </a:ext>
            </a:extLst>
          </p:cNvPr>
          <p:cNvGrpSpPr/>
          <p:nvPr/>
        </p:nvGrpSpPr>
        <p:grpSpPr>
          <a:xfrm>
            <a:off x="16072863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C625C5A-EC65-0429-E4A2-1BEFC0B88A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6D38220-4435-866A-794D-E72C7F0FA5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614B27B-ED80-56F1-AB87-C658EF891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042593"/>
              </p:ext>
            </p:extLst>
          </p:nvPr>
        </p:nvGraphicFramePr>
        <p:xfrm>
          <a:off x="533400" y="1466736"/>
          <a:ext cx="17221199" cy="7280050"/>
        </p:xfrm>
        <a:graphic>
          <a:graphicData uri="http://schemas.openxmlformats.org/drawingml/2006/table">
            <a:tbl>
              <a:tblPr firstRow="1" firstCol="1" lastCol="1" bandRow="1">
                <a:tableStyleId>{35758FB7-9AC5-4552-8A53-C91805E547FA}</a:tableStyleId>
              </a:tblPr>
              <a:tblGrid>
                <a:gridCol w="3397905">
                  <a:extLst>
                    <a:ext uri="{9D8B030D-6E8A-4147-A177-3AD203B41FA5}">
                      <a16:colId xmlns:a16="http://schemas.microsoft.com/office/drawing/2014/main" val="198925258"/>
                    </a:ext>
                  </a:extLst>
                </a:gridCol>
                <a:gridCol w="6718584">
                  <a:extLst>
                    <a:ext uri="{9D8B030D-6E8A-4147-A177-3AD203B41FA5}">
                      <a16:colId xmlns:a16="http://schemas.microsoft.com/office/drawing/2014/main" val="3961440260"/>
                    </a:ext>
                  </a:extLst>
                </a:gridCol>
                <a:gridCol w="7104710">
                  <a:extLst>
                    <a:ext uri="{9D8B030D-6E8A-4147-A177-3AD203B41FA5}">
                      <a16:colId xmlns:a16="http://schemas.microsoft.com/office/drawing/2014/main" val="2543114041"/>
                    </a:ext>
                  </a:extLst>
                </a:gridCol>
              </a:tblGrid>
              <a:tr h="7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/>
                        <a:t>Abalone Dataset (UCI)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/>
                        <a:t>Crab Age Dataset (Kaggle)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165454"/>
                  </a:ext>
                </a:extLst>
              </a:tr>
              <a:tr h="7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Source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hlinkClick r:id="rId3"/>
                        </a:rPr>
                        <a:t>UCI Repository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hlinkClick r:id="rId4"/>
                        </a:rPr>
                        <a:t>Kaggle</a:t>
                      </a:r>
                      <a:endParaRPr 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762405"/>
                  </a:ext>
                </a:extLst>
              </a:tr>
              <a:tr h="7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Shape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/>
                        <a:t>4,177 rows × 9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/>
                        <a:t>3,893 rows × 9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229954"/>
                  </a:ext>
                </a:extLst>
              </a:tr>
              <a:tr h="7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Data Types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dirty="0"/>
                        <a:t>7 float, 1 int, 1 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/>
                        <a:t>7 float, 1 int, 1 categorical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512633"/>
                  </a:ext>
                </a:extLst>
              </a:tr>
              <a:tr h="1000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Target Variable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b="1" dirty="0"/>
                        <a:t>Rings</a:t>
                      </a:r>
                      <a:r>
                        <a:rPr lang="en-GB" sz="3600" dirty="0"/>
                        <a:t> → Age = Rings + 1.5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Age</a:t>
                      </a:r>
                      <a:r>
                        <a:rPr lang="en-US" sz="3600"/>
                        <a:t> (direct years)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583393"/>
                  </a:ext>
                </a:extLst>
              </a:tr>
              <a:tr h="1000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Sex Categories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600" dirty="0"/>
                        <a:t>M (Male), F (Female), I (Infant)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600"/>
                        <a:t>F (Female), M (Male), I (Infant)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749103"/>
                  </a:ext>
                </a:extLst>
              </a:tr>
              <a:tr h="1000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/>
                        <a:t>Size Features</a:t>
                      </a:r>
                      <a:endParaRPr 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/>
                        <a:t>Length, Diameter, Height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/>
                        <a:t>Length, Diameter, Height (mm)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703082"/>
                  </a:ext>
                </a:extLst>
              </a:tr>
              <a:tr h="142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/>
                        <a:t>Weight Features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dirty="0"/>
                        <a:t>Whole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, Shucked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, Viscera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, Shell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 (grams)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dirty="0"/>
                        <a:t>Weight, Shucked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, Viscera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, Shell </a:t>
                      </a:r>
                      <a:r>
                        <a:rPr lang="en-GB" sz="3600" dirty="0" err="1"/>
                        <a:t>Wt</a:t>
                      </a:r>
                      <a:r>
                        <a:rPr lang="en-GB" sz="3600" dirty="0"/>
                        <a:t> (grams)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98571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1EE4636-E0C6-9F17-AD68-1B133E7A3A4E}"/>
              </a:ext>
            </a:extLst>
          </p:cNvPr>
          <p:cNvSpPr txBox="1"/>
          <p:nvPr/>
        </p:nvSpPr>
        <p:spPr>
          <a:xfrm>
            <a:off x="3339885" y="339886"/>
            <a:ext cx="116082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 Dataset Specifications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DCF9DFC-EFFA-276B-AC40-645A65E9464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  <a14:imgEffect>
                      <a14:saturation sat="3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0" y="8912015"/>
            <a:ext cx="13411200" cy="1184485"/>
          </a:xfrm>
          <a:prstGeom prst="rect">
            <a:avLst/>
          </a:prstGeom>
        </p:spPr>
      </p:pic>
      <p:grpSp>
        <p:nvGrpSpPr>
          <p:cNvPr id="31" name="Group 21">
            <a:extLst>
              <a:ext uri="{FF2B5EF4-FFF2-40B4-BE49-F238E27FC236}">
                <a16:creationId xmlns:a16="http://schemas.microsoft.com/office/drawing/2014/main" id="{FD18A4A2-79BD-C6DF-6078-CD1290C1AC3A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479733F9-AD7F-063F-C35B-7391D1628553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7B497CA3-6866-AB1F-AAC3-1AFCF59E3825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24">
            <a:extLst>
              <a:ext uri="{FF2B5EF4-FFF2-40B4-BE49-F238E27FC236}">
                <a16:creationId xmlns:a16="http://schemas.microsoft.com/office/drawing/2014/main" id="{C7C0D921-8905-344B-12BD-8998C80E91AE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0646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C591-161D-D1DC-7BFC-27676972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005118F2-26EA-41BA-3CDB-C98A4404D757}"/>
              </a:ext>
            </a:extLst>
          </p:cNvPr>
          <p:cNvGrpSpPr/>
          <p:nvPr/>
        </p:nvGrpSpPr>
        <p:grpSpPr>
          <a:xfrm>
            <a:off x="5791200" y="10626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8CA1F7E-0651-0429-6FA1-D26BC44D63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C8765EA-A1D3-1FA7-995B-4347802C259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6865485-D771-51AA-D636-D64619F51B8C}"/>
              </a:ext>
            </a:extLst>
          </p:cNvPr>
          <p:cNvSpPr/>
          <p:nvPr/>
        </p:nvSpPr>
        <p:spPr>
          <a:xfrm>
            <a:off x="5715000" y="1035559"/>
            <a:ext cx="6934200" cy="692734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47A82A6-A3E9-B027-A92D-60A315AD3975}"/>
              </a:ext>
            </a:extLst>
          </p:cNvPr>
          <p:cNvGrpSpPr/>
          <p:nvPr/>
        </p:nvGrpSpPr>
        <p:grpSpPr>
          <a:xfrm>
            <a:off x="6314894" y="15863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43F3747-1EC0-B297-134C-76BFB600C1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E1049D5-8E17-2F59-1C99-DEC4F3EF31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3DD33C1E-CC31-19FE-C56A-C73B195FDA4C}"/>
              </a:ext>
            </a:extLst>
          </p:cNvPr>
          <p:cNvSpPr txBox="1"/>
          <p:nvPr/>
        </p:nvSpPr>
        <p:spPr>
          <a:xfrm>
            <a:off x="5715000" y="4176334"/>
            <a:ext cx="6824008" cy="846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8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Preprocessing</a:t>
            </a:r>
            <a:endParaRPr lang="en-US" sz="4800" dirty="0"/>
          </a:p>
        </p:txBody>
      </p:sp>
      <p:grpSp>
        <p:nvGrpSpPr>
          <p:cNvPr id="75" name="Group 75">
            <a:extLst>
              <a:ext uri="{FF2B5EF4-FFF2-40B4-BE49-F238E27FC236}">
                <a16:creationId xmlns:a16="http://schemas.microsoft.com/office/drawing/2014/main" id="{B66DA2BE-FC96-27D3-6F0B-4F26E350C180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94E0597F-9897-80E2-2EC3-BAB09194147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7BE5EDA1-9A67-6CEE-E887-65BC7685561E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8" name="TextBox 78">
            <a:extLst>
              <a:ext uri="{FF2B5EF4-FFF2-40B4-BE49-F238E27FC236}">
                <a16:creationId xmlns:a16="http://schemas.microsoft.com/office/drawing/2014/main" id="{4B2C87ED-E82E-377A-07E2-56661A87E671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pic>
        <p:nvPicPr>
          <p:cNvPr id="25602" name="Picture 2" descr="Data Preprocessing Monotone Icon In Powerpoint Pptx Png And Editable Eps  Format PPT Example">
            <a:extLst>
              <a:ext uri="{FF2B5EF4-FFF2-40B4-BE49-F238E27FC236}">
                <a16:creationId xmlns:a16="http://schemas.microsoft.com/office/drawing/2014/main" id="{5FC5F74C-708B-7EDE-58E9-7EE23CD3E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6" t="13333" r="23129"/>
          <a:stretch>
            <a:fillRect/>
          </a:stretch>
        </p:blipFill>
        <p:spPr bwMode="auto">
          <a:xfrm>
            <a:off x="8406378" y="2621735"/>
            <a:ext cx="1618116" cy="166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945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AE36-2F8F-4D5A-F9BB-36F7B65D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F0B42C07-8105-3481-620E-C7AB5D039B11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196E62C-A871-6FFC-0376-8F92302AE6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F76722F-3590-5756-6446-8D80F8838D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2119C534-8FA0-C0A0-2D35-906449909CE7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1D47CC3-E048-5C40-E27D-12BC494E85E6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AC9A429-7B27-BAED-A521-FED5AD37A9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B9D896F-1650-F433-FC28-ABCC2AF6D2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CAE6A7-05B5-331A-1272-649286F65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591714"/>
              </p:ext>
            </p:extLst>
          </p:nvPr>
        </p:nvGraphicFramePr>
        <p:xfrm>
          <a:off x="381000" y="1257300"/>
          <a:ext cx="8274139" cy="387096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2898969">
                  <a:extLst>
                    <a:ext uri="{9D8B030D-6E8A-4147-A177-3AD203B41FA5}">
                      <a16:colId xmlns:a16="http://schemas.microsoft.com/office/drawing/2014/main" val="3530966137"/>
                    </a:ext>
                  </a:extLst>
                </a:gridCol>
                <a:gridCol w="5375170">
                  <a:extLst>
                    <a:ext uri="{9D8B030D-6E8A-4147-A177-3AD203B41FA5}">
                      <a16:colId xmlns:a16="http://schemas.microsoft.com/office/drawing/2014/main" val="458421833"/>
                    </a:ext>
                  </a:extLst>
                </a:gridCol>
              </a:tblGrid>
              <a:tr h="530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716419"/>
                  </a:ext>
                </a:extLst>
              </a:tr>
              <a:tr h="976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% 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0%</a:t>
                      </a:r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382302"/>
                  </a:ext>
                </a:extLst>
              </a:tr>
              <a:tr h="530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df.isnull</a:t>
                      </a:r>
                      <a:r>
                        <a:rPr lang="en-US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().sum()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635237"/>
                  </a:ext>
                </a:extLst>
              </a:tr>
              <a:tr h="530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missingno.bar</a:t>
                      </a:r>
                      <a:r>
                        <a:rPr lang="en-US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947827"/>
                  </a:ext>
                </a:extLst>
              </a:tr>
              <a:tr h="106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Conclusion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/>
                        <a:t>Perfect Data Quality: </a:t>
                      </a:r>
                      <a:r>
                        <a:rPr lang="en-GB" sz="3200" b="0" dirty="0"/>
                        <a:t>No missing values in either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4484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A79657F-6B9D-57A2-7111-F1546B3D0D78}"/>
              </a:ext>
            </a:extLst>
          </p:cNvPr>
          <p:cNvSpPr txBox="1"/>
          <p:nvPr/>
        </p:nvSpPr>
        <p:spPr>
          <a:xfrm>
            <a:off x="3339885" y="339886"/>
            <a:ext cx="116082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Missing Value Analysis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2D18B3C-259B-5DFF-67B0-F6391AAAA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992167"/>
            <a:ext cx="9135139" cy="574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A031DE2-91D4-45E3-7A2A-36ED636EC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73" y="5128260"/>
            <a:ext cx="9256288" cy="51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21">
            <a:extLst>
              <a:ext uri="{FF2B5EF4-FFF2-40B4-BE49-F238E27FC236}">
                <a16:creationId xmlns:a16="http://schemas.microsoft.com/office/drawing/2014/main" id="{49DEFB03-8B0B-0B56-8DE7-5F0B612AB77D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D608D73B-D5EC-B901-0E26-BC76041E1608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94D0A468-FDD0-E9F1-1987-5700C073940A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2C1D2543-5A62-628E-D60A-18447C7F8A6F}"/>
              </a:ext>
            </a:extLst>
          </p:cNvPr>
          <p:cNvSpPr txBox="1"/>
          <p:nvPr/>
        </p:nvSpPr>
        <p:spPr>
          <a:xfrm>
            <a:off x="17674380" y="8710688"/>
            <a:ext cx="442747" cy="25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547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427A-9C18-DCEE-2B9D-43E7057B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5882C60A-6EF3-D3A6-A20A-AA998BB95368}"/>
              </a:ext>
            </a:extLst>
          </p:cNvPr>
          <p:cNvGrpSpPr/>
          <p:nvPr/>
        </p:nvGrpSpPr>
        <p:grpSpPr>
          <a:xfrm>
            <a:off x="1555050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760EEB-467E-2E25-8FF0-BDDB9B7A7F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B0961AE-E202-350C-5C01-5499DBCF87F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D0187C0A-6108-8E7E-9AE9-CF6579A94D99}"/>
              </a:ext>
            </a:extLst>
          </p:cNvPr>
          <p:cNvSpPr/>
          <p:nvPr/>
        </p:nvSpPr>
        <p:spPr>
          <a:xfrm>
            <a:off x="15384324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F771424-B45F-37F2-0E66-A935DADEA804}"/>
              </a:ext>
            </a:extLst>
          </p:cNvPr>
          <p:cNvGrpSpPr/>
          <p:nvPr/>
        </p:nvGrpSpPr>
        <p:grpSpPr>
          <a:xfrm>
            <a:off x="16072863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5B69BB2-B3B6-52A7-7C4A-46E4A8A58D8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4646963-A06B-E483-7539-5B545A3BE87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0F27D1-A7AA-4BCC-BAD8-FAD2BA02597C}"/>
              </a:ext>
            </a:extLst>
          </p:cNvPr>
          <p:cNvSpPr txBox="1"/>
          <p:nvPr/>
        </p:nvSpPr>
        <p:spPr>
          <a:xfrm>
            <a:off x="675056" y="161150"/>
            <a:ext cx="169378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Duplicate Detection and Encoding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F12D2-C684-101E-4FDE-E35C26D43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7840" y="1257300"/>
            <a:ext cx="6069205" cy="5435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30539F-F8C7-7539-EDCA-08B9CAD9CE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53041" y="1361479"/>
            <a:ext cx="6069205" cy="5311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FF31B5-48A5-6F98-D1B2-8B11AE1394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8751" y="6976074"/>
            <a:ext cx="14794112" cy="3007931"/>
          </a:xfrm>
          <a:prstGeom prst="rect">
            <a:avLst/>
          </a:prstGeom>
        </p:spPr>
      </p:pic>
      <p:grpSp>
        <p:nvGrpSpPr>
          <p:cNvPr id="11" name="Group 21">
            <a:extLst>
              <a:ext uri="{FF2B5EF4-FFF2-40B4-BE49-F238E27FC236}">
                <a16:creationId xmlns:a16="http://schemas.microsoft.com/office/drawing/2014/main" id="{04E6BA98-1646-070B-9A76-BE2ED62F30AC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57393FD1-BDF2-7971-4CD5-D9AF519F0D93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6EDFFE9F-5A4A-FD65-D9A3-6B2CDA97F95F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4">
            <a:extLst>
              <a:ext uri="{FF2B5EF4-FFF2-40B4-BE49-F238E27FC236}">
                <a16:creationId xmlns:a16="http://schemas.microsoft.com/office/drawing/2014/main" id="{BB8DD5FB-6A42-70F0-BFC2-15259E8CA14A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6450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512B-2B6F-5B7C-A10D-FEF15181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20508144-68FC-3D81-C0BF-F593FF5EB1A9}"/>
              </a:ext>
            </a:extLst>
          </p:cNvPr>
          <p:cNvGrpSpPr/>
          <p:nvPr/>
        </p:nvGrpSpPr>
        <p:grpSpPr>
          <a:xfrm>
            <a:off x="5791200" y="10626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0A02B09-8708-0D41-1440-7B878744CD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F102F33-F468-B1E3-C141-C3CC2518EA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D7845FD-1AD8-7117-E4D0-0A5E0DABF6BB}"/>
              </a:ext>
            </a:extLst>
          </p:cNvPr>
          <p:cNvSpPr/>
          <p:nvPr/>
        </p:nvSpPr>
        <p:spPr>
          <a:xfrm>
            <a:off x="5715000" y="1035559"/>
            <a:ext cx="6934200" cy="692734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1762826-9DAB-9F6C-47E6-8A702F06530B}"/>
              </a:ext>
            </a:extLst>
          </p:cNvPr>
          <p:cNvGrpSpPr/>
          <p:nvPr/>
        </p:nvGrpSpPr>
        <p:grpSpPr>
          <a:xfrm>
            <a:off x="6314894" y="15863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F34370-5AED-2690-37A7-58C166CFCB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AA59391-94D3-AC56-CDD1-7CEC8118A7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F0696737-DCEA-4CE0-330A-3E8F55264EDB}"/>
              </a:ext>
            </a:extLst>
          </p:cNvPr>
          <p:cNvSpPr txBox="1"/>
          <p:nvPr/>
        </p:nvSpPr>
        <p:spPr>
          <a:xfrm>
            <a:off x="5506655" y="4176334"/>
            <a:ext cx="7523545" cy="1725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GB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Exploratory Data Analysis: Visualizations</a:t>
            </a:r>
            <a:endParaRPr lang="en-US" sz="4000" dirty="0"/>
          </a:p>
        </p:txBody>
      </p:sp>
      <p:grpSp>
        <p:nvGrpSpPr>
          <p:cNvPr id="75" name="Group 75">
            <a:extLst>
              <a:ext uri="{FF2B5EF4-FFF2-40B4-BE49-F238E27FC236}">
                <a16:creationId xmlns:a16="http://schemas.microsoft.com/office/drawing/2014/main" id="{3690D05D-A85A-D3C3-A36F-D40B1920622A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D4376252-7578-0815-B9E7-ED3B160A8D0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60FC28E2-C146-A4F0-6BA4-F1E46CAE4495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8" name="TextBox 78">
            <a:extLst>
              <a:ext uri="{FF2B5EF4-FFF2-40B4-BE49-F238E27FC236}">
                <a16:creationId xmlns:a16="http://schemas.microsoft.com/office/drawing/2014/main" id="{83D66EC3-951B-4A37-6FD7-6915FF064558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pic>
        <p:nvPicPr>
          <p:cNvPr id="26626" name="Picture 2" descr="Exploratory analysis - Free computer icons">
            <a:extLst>
              <a:ext uri="{FF2B5EF4-FFF2-40B4-BE49-F238E27FC236}">
                <a16:creationId xmlns:a16="http://schemas.microsoft.com/office/drawing/2014/main" id="{C929A29C-B8C7-2F12-2AD3-9F6A21EEE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6" y="2185131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26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429B-9C82-7F41-54BB-4946F6D1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BF42A7D8-66ED-3238-47ED-7BFFD80DB4FE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C104BFD-4332-CC73-660A-1D07512FA7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D9AC66-1CBB-D757-18B3-4BE3878A4B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4F1AAC64-34F8-593C-5541-560E58AF8ABA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6ACB40A-D840-D036-2992-62CBC788AB98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3546E75-BE35-2BC6-203B-9396F8DAF1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8CDB7E1-67F8-9AA1-F970-492DBD2C82B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CA8DE28-0D31-6787-FF5D-EB3451B52EC1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2B1222-C0BA-2DA0-9818-AC0AA0DEE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6184"/>
              </p:ext>
            </p:extLst>
          </p:nvPr>
        </p:nvGraphicFramePr>
        <p:xfrm>
          <a:off x="1170198" y="1485900"/>
          <a:ext cx="7669002" cy="5486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7669002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Distribution of Target Variable (Age/Rings) abalone: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D89410-DE02-966E-C632-DCAC388AA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5016"/>
              </p:ext>
            </p:extLst>
          </p:nvPr>
        </p:nvGraphicFramePr>
        <p:xfrm>
          <a:off x="1170199" y="2019300"/>
          <a:ext cx="16946928" cy="178308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6946928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Histograms and box plots showed that the </a:t>
                      </a:r>
                      <a:r>
                        <a:rPr lang="en-GB" sz="3600" b="1" dirty="0"/>
                        <a:t>age distribution </a:t>
                      </a:r>
                      <a:r>
                        <a:rPr lang="en-GB" sz="3600" b="0" dirty="0"/>
                        <a:t>in both datasets is </a:t>
                      </a:r>
                      <a:r>
                        <a:rPr lang="en-GB" sz="3600" b="1" dirty="0"/>
                        <a:t>skewed towards younger individuals</a:t>
                      </a:r>
                      <a:r>
                        <a:rPr lang="en-GB" sz="3600" b="0" dirty="0"/>
                        <a:t>.</a:t>
                      </a:r>
                    </a:p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1" dirty="0"/>
                        <a:t>Outliers</a:t>
                      </a:r>
                      <a:r>
                        <a:rPr lang="en-GB" sz="3600" b="0" dirty="0"/>
                        <a:t> with higher ages were observed.</a:t>
                      </a:r>
                      <a:endParaRPr lang="en-GB" sz="30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B622E6D7-AE50-9F92-CCAE-72D1A0682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71900"/>
            <a:ext cx="15841565" cy="651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21">
            <a:extLst>
              <a:ext uri="{FF2B5EF4-FFF2-40B4-BE49-F238E27FC236}">
                <a16:creationId xmlns:a16="http://schemas.microsoft.com/office/drawing/2014/main" id="{9DBE04A1-AD87-D084-8745-D21999E22717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FC89737E-0824-B723-71F5-D2E1A3482EF5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8" name="TextBox 23">
              <a:extLst>
                <a:ext uri="{FF2B5EF4-FFF2-40B4-BE49-F238E27FC236}">
                  <a16:creationId xmlns:a16="http://schemas.microsoft.com/office/drawing/2014/main" id="{8A636B4C-C94E-6713-58CB-E65B8592E817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24">
            <a:extLst>
              <a:ext uri="{FF2B5EF4-FFF2-40B4-BE49-F238E27FC236}">
                <a16:creationId xmlns:a16="http://schemas.microsoft.com/office/drawing/2014/main" id="{B3D21468-B40D-5DCF-3071-9CE0030F9747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7326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31FF-92DE-A139-9811-3BB625D6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99AD37CF-5F27-FFB2-38E3-D5326BE1239A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A95B85C-A26B-E06D-6E64-31E9AE71E9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A1DB774-8AFE-B44A-8871-37B2FA2F77E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E3F4DAB-CFC7-674B-5C9B-0B85D708ED68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8A5A046-0660-2E9F-FF8B-6614F4EC435E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FF2885E-F465-6C15-152F-04A66D180A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CE12A6E-06BE-F1D4-CDAD-3D759A3F00E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CD0D59C-D8B4-666B-B116-0BA3722D6ACD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3A1635-1435-9D06-37E5-8167791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92392"/>
              </p:ext>
            </p:extLst>
          </p:nvPr>
        </p:nvGraphicFramePr>
        <p:xfrm>
          <a:off x="1170198" y="1485900"/>
          <a:ext cx="7669002" cy="5486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7669002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Scatter plot: Abalone Length vs Rings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99B1B-A0D4-3086-942D-2410D375C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68500"/>
              </p:ext>
            </p:extLst>
          </p:nvPr>
        </p:nvGraphicFramePr>
        <p:xfrm>
          <a:off x="1170199" y="2019300"/>
          <a:ext cx="16946928" cy="123444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6946928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We can observe a </a:t>
                      </a:r>
                      <a:r>
                        <a:rPr lang="en-GB" sz="3600" b="1" dirty="0"/>
                        <a:t>general positive trend</a:t>
                      </a:r>
                      <a:r>
                        <a:rPr lang="en-GB" sz="3600" b="0" dirty="0"/>
                        <a:t>, indicating that </a:t>
                      </a:r>
                      <a:r>
                        <a:rPr lang="en-GB" sz="3600" b="1" dirty="0"/>
                        <a:t>as the length</a:t>
                      </a:r>
                      <a:r>
                        <a:rPr lang="en-GB" sz="3600" b="0" dirty="0"/>
                        <a:t> of the abalone </a:t>
                      </a:r>
                      <a:r>
                        <a:rPr lang="en-GB" sz="3600" b="1" dirty="0"/>
                        <a:t>increases</a:t>
                      </a:r>
                      <a:r>
                        <a:rPr lang="en-GB" sz="3600" b="0" dirty="0"/>
                        <a:t>, the number of </a:t>
                      </a:r>
                      <a:r>
                        <a:rPr lang="en-GB" sz="3600" b="1" dirty="0"/>
                        <a:t>rings (and thus age</a:t>
                      </a:r>
                      <a:r>
                        <a:rPr lang="en-GB" sz="3600" b="0" dirty="0"/>
                        <a:t>) also tends to </a:t>
                      </a:r>
                      <a:r>
                        <a:rPr lang="en-GB" sz="3600" b="1" dirty="0"/>
                        <a:t>increase.</a:t>
                      </a:r>
                      <a:endParaRPr lang="en-GB" sz="3000" b="1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8B0D4381-9161-142E-FA55-54043EC1A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53740"/>
            <a:ext cx="10515600" cy="707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565919E2-905E-5FA7-EB46-81CA94702226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0267F6E8-D474-DADA-D514-190D0B9AF80B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38CFCF1B-8BF6-83B3-3FF1-05036107B2E6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C7F9A03A-1471-7CC6-7013-9B747908A617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1312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D6B3-C8B4-D2EE-6668-C2B7CACF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15FCD082-145F-60D3-ECE1-ADCDCE974977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E2E8027-1F3A-3DB5-6509-45131A2251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7436A5A-1833-D7FF-6383-DC7B2D7C8F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F1A4E86B-2BA2-7907-A641-8D9AF0D6F354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46363A2-E171-0A3D-8C72-A8857ADB678A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4208C84-C227-1D61-932B-D425A52765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45ABF3B-B53E-F450-1983-4A807AD063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A2659A-00F4-BC36-71D3-3C5A50B42DEE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5369AE-3FA2-FE05-4497-D4FAC5666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13250"/>
              </p:ext>
            </p:extLst>
          </p:nvPr>
        </p:nvGraphicFramePr>
        <p:xfrm>
          <a:off x="1170197" y="1293933"/>
          <a:ext cx="5761181" cy="785997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5761181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7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DATA VISUALIZATION : CRAB: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51F6F9-4B5A-6539-F4D1-C6EB1D22A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034530"/>
              </p:ext>
            </p:extLst>
          </p:nvPr>
        </p:nvGraphicFramePr>
        <p:xfrm>
          <a:off x="990600" y="2049780"/>
          <a:ext cx="17145000" cy="178308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7145000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Similar to the Abalone dataset, the age distribution is </a:t>
                      </a:r>
                      <a:r>
                        <a:rPr lang="en-GB" sz="3600" b="1" dirty="0"/>
                        <a:t>skewed towards younger crabs</a:t>
                      </a:r>
                      <a:r>
                        <a:rPr lang="en-GB" sz="3600" b="0" dirty="0"/>
                        <a:t>, with fewer older individuals. </a:t>
                      </a:r>
                    </a:p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The box plot also reveals </a:t>
                      </a:r>
                      <a:r>
                        <a:rPr lang="en-GB" sz="3600" b="1" dirty="0"/>
                        <a:t>outliers in the higher age ranges</a:t>
                      </a:r>
                      <a:r>
                        <a:rPr lang="en-GB" sz="3600" b="0" dirty="0"/>
                        <a:t>.</a:t>
                      </a:r>
                      <a:endParaRPr lang="en-GB" sz="30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B2913C6F-7D2E-2806-77F7-4A6C81C7C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32860"/>
            <a:ext cx="14630400" cy="64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A69FF4D9-ADC7-F756-8F0E-DB14EEFAA032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BB09BFDC-D7F6-45F9-BEAD-386E0EDEC00F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E5BCF830-E78D-AF37-7B23-662C5924EC26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3D0D154C-93A1-46FD-A4D9-3252C3A6FE14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97515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51EC-ECEC-396C-7AF9-46ED2468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58ECF96E-BFEB-89D1-3D39-ADE03651FDC5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74BD97D-0A62-6CF3-37A4-9ACF21B854D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6726B7A-B8A3-F583-A5D0-275956E9223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B50EA865-BE5B-C30A-C293-539ED56D8368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CD2B655-59F3-C02C-AEAE-8992951EDA29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D9B38CC-4603-E4DF-F67E-6D6A776DA0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C4B3988-E009-B9EF-CA1F-102BE8CEC2F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153BEEB-2020-05F3-011B-961CAF3332E8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59A690-0F76-8E33-A8C2-A94C2B2B7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417613"/>
              </p:ext>
            </p:extLst>
          </p:nvPr>
        </p:nvGraphicFramePr>
        <p:xfrm>
          <a:off x="1170198" y="1104900"/>
          <a:ext cx="7669002" cy="9296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7669002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Scatter plot : Crab Length vs Age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5FBCC2-89C7-3BD4-47BB-7583F62F2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77513"/>
              </p:ext>
            </p:extLst>
          </p:nvPr>
        </p:nvGraphicFramePr>
        <p:xfrm>
          <a:off x="1170199" y="2019300"/>
          <a:ext cx="13487400" cy="123444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3487400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Similar to the Abalone dataset, there is a </a:t>
                      </a:r>
                      <a:r>
                        <a:rPr lang="en-GB" sz="3600" b="1" dirty="0"/>
                        <a:t>clear positive correlation between length and age</a:t>
                      </a:r>
                      <a:endParaRPr lang="en-GB" sz="3000" b="1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0B06BD3E-9B83-4FAA-C786-3F90F5DC8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88" y="3212734"/>
            <a:ext cx="10547812" cy="707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C4BBA3BC-5D0E-6CD1-E2CF-600D9269A51B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39279640-8F8D-5605-7E5B-92FA4BD8E0E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BA882474-2AA9-AC0C-B7D8-4F448595459A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4395AD26-043B-1CC1-4413-BC3235538C6F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4953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E55C-0896-8FFD-D9F5-82EEFBAB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EFB81AEF-B7F1-4176-B935-60B2D02F1429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14F1323-086A-05EE-D8E5-71CCA9DE50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BDEEAF6-5C00-9BBA-EEAB-6383A63F4BB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7F68C31E-F477-8573-A33B-48AFFA917379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511F832-D5BA-4854-3E58-3CC403A4291D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B1CA288-FB23-44FB-C865-134CF07D84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00E0941-AD3C-FE2C-2935-F03B542F98E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E9DB74-25A1-11C6-A3D2-3262DA79704D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F6B511-CF0E-895C-AEED-3DA96F8F7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56791"/>
              </p:ext>
            </p:extLst>
          </p:nvPr>
        </p:nvGraphicFramePr>
        <p:xfrm>
          <a:off x="1170197" y="1104900"/>
          <a:ext cx="5761181" cy="785997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5761181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7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CORRELATION ANALYSIS: ABALONE :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0AF7DA-6743-FE38-F0AC-3D20093D9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0600"/>
              </p:ext>
            </p:extLst>
          </p:nvPr>
        </p:nvGraphicFramePr>
        <p:xfrm>
          <a:off x="990600" y="1866898"/>
          <a:ext cx="5937019" cy="452628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5937019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3657601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We can observe </a:t>
                      </a:r>
                      <a:r>
                        <a:rPr lang="en-GB" sz="3600" b="1" dirty="0"/>
                        <a:t>strong positive correlations </a:t>
                      </a:r>
                      <a:r>
                        <a:rPr lang="en-GB" sz="3600" b="0" dirty="0"/>
                        <a:t>among </a:t>
                      </a:r>
                      <a:r>
                        <a:rPr lang="en-GB" sz="3600" b="1" dirty="0"/>
                        <a:t>most physical measurements (Length, Diameter, etc.) </a:t>
                      </a:r>
                      <a:r>
                        <a:rPr lang="en-GB" sz="3600" b="0" dirty="0"/>
                        <a:t>and </a:t>
                      </a:r>
                      <a:r>
                        <a:rPr lang="en-GB" sz="3600" b="1" dirty="0"/>
                        <a:t>moderate</a:t>
                      </a:r>
                      <a:r>
                        <a:rPr lang="en-GB" sz="3600" b="0" dirty="0"/>
                        <a:t> positive correlation between these </a:t>
                      </a:r>
                      <a:r>
                        <a:rPr lang="en-GB" sz="3600" b="1" dirty="0"/>
                        <a:t>features and 'Rings' (Age).</a:t>
                      </a:r>
                      <a:endParaRPr lang="en-GB" sz="3000" b="1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27B37661-5C9C-12CB-BDD1-5B2B34B9A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979" y="1092200"/>
            <a:ext cx="11382925" cy="854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D06492AE-2A16-279A-8B23-62605B9B8156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77BB34BA-44CC-EB4D-A221-647DBA44A492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01FEA2C7-4572-04E0-3C76-0996295EAC5E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6618B334-3FB4-FCD4-8150-F33807B7FF37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34580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4BA5-DE41-7F4E-CE85-A38D94BE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FBB522CB-077D-6458-E9CF-C2023598F5CE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0E0F6FE-E193-F676-E638-414E22FFAC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B083B90-5B56-AFC9-67DE-D1FEECE4B4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BACA2051-BCCE-14B9-C3F1-D5EBF390952C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F44E686-DBDF-16D9-828A-8FA70A365A05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A451CA9-4978-3C11-E3DA-575237E988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5B34E11-EF5F-2379-ED47-22C0B5E6EEE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05F9D5-CF74-7939-EB7E-A11FA2531E5A}"/>
              </a:ext>
            </a:extLst>
          </p:cNvPr>
          <p:cNvSpPr txBox="1"/>
          <p:nvPr/>
        </p:nvSpPr>
        <p:spPr>
          <a:xfrm>
            <a:off x="1371600" y="29587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Exploratory Data Analysis: Visualizations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90C05-46D0-686B-28B8-27D015648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16871"/>
              </p:ext>
            </p:extLst>
          </p:nvPr>
        </p:nvGraphicFramePr>
        <p:xfrm>
          <a:off x="1170197" y="1104900"/>
          <a:ext cx="5761181" cy="785997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5761181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785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700" b="1" dirty="0">
                          <a:solidFill>
                            <a:srgbClr val="FFC000"/>
                          </a:solidFill>
                        </a:rPr>
                        <a:t>CORRELATION ANALYSIS: CRAB :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34D50B-15FB-39D9-6C88-42FBE43D5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25224"/>
              </p:ext>
            </p:extLst>
          </p:nvPr>
        </p:nvGraphicFramePr>
        <p:xfrm>
          <a:off x="1170196" y="1866900"/>
          <a:ext cx="5761182" cy="452628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5761182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3657601">
                <a:tc>
                  <a:txBody>
                    <a:bodyPr/>
                    <a:lstStyle/>
                    <a:p>
                      <a:pPr marL="571500" indent="-571500">
                        <a:buClr>
                          <a:srgbClr val="0070C0"/>
                        </a:buClr>
                        <a:buFont typeface="Wingdings" panose="05000000000000000000" pitchFamily="2" charset="2"/>
                        <a:buChar char=""/>
                      </a:pPr>
                      <a:r>
                        <a:rPr lang="en-GB" sz="3600" b="0" dirty="0"/>
                        <a:t>Similar to the Abalone dataset, there are </a:t>
                      </a:r>
                      <a:r>
                        <a:rPr lang="en-GB" sz="3600" b="1" dirty="0"/>
                        <a:t>strong positive correlations </a:t>
                      </a:r>
                      <a:r>
                        <a:rPr lang="en-GB" sz="3600" b="0" dirty="0"/>
                        <a:t>among the </a:t>
                      </a:r>
                      <a:r>
                        <a:rPr lang="en-GB" sz="3600" b="1" dirty="0"/>
                        <a:t>physical and weight measurements</a:t>
                      </a:r>
                      <a:r>
                        <a:rPr lang="en-GB" sz="3600" b="0" dirty="0"/>
                        <a:t>. </a:t>
                      </a:r>
                      <a:r>
                        <a:rPr lang="en-GB" sz="3600" b="1" dirty="0"/>
                        <a:t>'Shell Weight'</a:t>
                      </a:r>
                      <a:r>
                        <a:rPr lang="en-GB" sz="3600" b="0" dirty="0"/>
                        <a:t> shows the </a:t>
                      </a:r>
                      <a:r>
                        <a:rPr lang="en-GB" sz="3600" b="1" dirty="0"/>
                        <a:t>highest positive </a:t>
                      </a:r>
                      <a:r>
                        <a:rPr lang="en-GB" sz="3600" b="0" dirty="0"/>
                        <a:t>correlation with </a:t>
                      </a:r>
                      <a:r>
                        <a:rPr lang="en-GB" sz="3600" b="1" dirty="0"/>
                        <a:t>'Age'.</a:t>
                      </a:r>
                      <a:endParaRPr lang="en-GB" sz="3000" b="1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7DCB66E2-9E2D-94E9-F173-06E0C60C6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465" y="1104900"/>
            <a:ext cx="11180858" cy="861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389262DE-D523-3A03-DB08-89982000E7E1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" name="Freeform 22">
              <a:extLst>
                <a:ext uri="{FF2B5EF4-FFF2-40B4-BE49-F238E27FC236}">
                  <a16:creationId xmlns:a16="http://schemas.microsoft.com/office/drawing/2014/main" id="{A31737BB-F620-B2E8-B39E-5CD5C5A74FA7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1D957BDA-A7A7-C1F1-8DAF-2CC9FAD2E25B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24">
            <a:extLst>
              <a:ext uri="{FF2B5EF4-FFF2-40B4-BE49-F238E27FC236}">
                <a16:creationId xmlns:a16="http://schemas.microsoft.com/office/drawing/2014/main" id="{8A3BC8F7-E341-73A5-CA64-2A07CA1783DA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93403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FF00-5995-E83C-5814-D8CB60880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1E34F25D-ECAE-ACB2-6D2E-DAA5C74F42E8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9D4CD8C-F915-F291-538A-EC9E36AC08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B6888F6-E1EA-029A-076F-7F31A5B08C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591D3963-8C75-379B-B614-0B2572245E80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5CFA20A-C370-1893-7BAC-C5EC2F7B9542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C6EC270-52F7-40C9-6996-408DCFAE7F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239157C-AAC9-2048-FBD4-A14AADD3903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E78803-E471-35CA-F443-6C550A47C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647387"/>
              </p:ext>
            </p:extLst>
          </p:nvPr>
        </p:nvGraphicFramePr>
        <p:xfrm>
          <a:off x="1749370" y="1517601"/>
          <a:ext cx="7899739" cy="337800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23345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6976394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71060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highlight>
                            <a:srgbClr val="000000"/>
                          </a:highlight>
                        </a:rPr>
                        <a:t>Model</a:t>
                      </a:r>
                      <a:r>
                        <a:rPr lang="en-US" sz="30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:</a:t>
                      </a:r>
                      <a:endParaRPr lang="en-US" sz="30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667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Linear Regression used to predict </a:t>
                      </a:r>
                      <a:r>
                        <a:rPr lang="en-GB" sz="3600" b="1" dirty="0"/>
                        <a:t>continuous age</a:t>
                      </a:r>
                      <a:endParaRPr lang="en-GB" sz="3600" dirty="0"/>
                    </a:p>
                    <a:p>
                      <a:r>
                        <a:rPr lang="en-GB" sz="3600" dirty="0"/>
                        <a:t>Abalone → </a:t>
                      </a:r>
                      <a:r>
                        <a:rPr lang="en-GB" sz="3600" i="1" dirty="0"/>
                        <a:t>Rings</a:t>
                      </a:r>
                      <a:r>
                        <a:rPr lang="en-GB" sz="3600" dirty="0"/>
                        <a:t> (proxy for age)</a:t>
                      </a:r>
                    </a:p>
                    <a:p>
                      <a:r>
                        <a:rPr lang="en-GB" sz="3600" dirty="0"/>
                        <a:t>Crab → </a:t>
                      </a:r>
                      <a:r>
                        <a:rPr lang="en-GB" sz="3600" i="1" dirty="0"/>
                        <a:t>Age</a:t>
                      </a:r>
                      <a:r>
                        <a:rPr lang="en-GB" sz="3600" dirty="0"/>
                        <a:t> (direct measurement)</a:t>
                      </a:r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27E302-93F9-E9AE-59B4-4C8D98FC1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85304"/>
              </p:ext>
            </p:extLst>
          </p:nvPr>
        </p:nvGraphicFramePr>
        <p:xfrm>
          <a:off x="9944098" y="1465442"/>
          <a:ext cx="7200902" cy="344945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4858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6556044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59113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highlight>
                            <a:srgbClr val="000000"/>
                          </a:highlight>
                        </a:rPr>
                        <a:t>Evaluation Metrics</a:t>
                      </a:r>
                      <a:r>
                        <a:rPr lang="en-US" sz="30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:</a:t>
                      </a:r>
                      <a:endParaRPr lang="en-US" sz="30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83786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Mean Absolute Error (</a:t>
                      </a:r>
                      <a:r>
                        <a:rPr lang="en-US" sz="3600" b="1" dirty="0"/>
                        <a:t>MAE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dirty="0"/>
                        <a:t>Mean Squared Error (</a:t>
                      </a:r>
                      <a:r>
                        <a:rPr lang="en-US" sz="3600" b="1" dirty="0"/>
                        <a:t>MSE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dirty="0"/>
                        <a:t>Root Mean Squared Error (</a:t>
                      </a:r>
                      <a:r>
                        <a:rPr lang="en-US" sz="3600" b="1" dirty="0"/>
                        <a:t>RMSE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b="1" dirty="0"/>
                        <a:t>R² Score</a:t>
                      </a:r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4ADED7-3605-8ACE-2FFD-202154C75B7B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Machine Learning Models :  Linear Regression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C2197F-CD31-F9EF-AF26-216E50237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26678"/>
              </p:ext>
            </p:extLst>
          </p:nvPr>
        </p:nvGraphicFramePr>
        <p:xfrm>
          <a:off x="2400300" y="6022337"/>
          <a:ext cx="13487400" cy="26060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4160132">
                  <a:extLst>
                    <a:ext uri="{9D8B030D-6E8A-4147-A177-3AD203B41FA5}">
                      <a16:colId xmlns:a16="http://schemas.microsoft.com/office/drawing/2014/main" val="2066686295"/>
                    </a:ext>
                  </a:extLst>
                </a:gridCol>
                <a:gridCol w="3747432">
                  <a:extLst>
                    <a:ext uri="{9D8B030D-6E8A-4147-A177-3AD203B41FA5}">
                      <a16:colId xmlns:a16="http://schemas.microsoft.com/office/drawing/2014/main" val="4165173622"/>
                    </a:ext>
                  </a:extLst>
                </a:gridCol>
                <a:gridCol w="2789918">
                  <a:extLst>
                    <a:ext uri="{9D8B030D-6E8A-4147-A177-3AD203B41FA5}">
                      <a16:colId xmlns:a16="http://schemas.microsoft.com/office/drawing/2014/main" val="3287548318"/>
                    </a:ext>
                  </a:extLst>
                </a:gridCol>
                <a:gridCol w="2789918">
                  <a:extLst>
                    <a:ext uri="{9D8B030D-6E8A-4147-A177-3AD203B41FA5}">
                      <a16:colId xmlns:a16="http://schemas.microsoft.com/office/drawing/2014/main" val="100971502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R²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375083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Abalone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1.61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0.54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874198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Crab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1.52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2.16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0.52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9846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9FB3C9-25CA-847D-D9F2-9285942D9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08781"/>
              </p:ext>
            </p:extLst>
          </p:nvPr>
        </p:nvGraphicFramePr>
        <p:xfrm>
          <a:off x="2413215" y="5184137"/>
          <a:ext cx="2971800" cy="83820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Results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pSp>
        <p:nvGrpSpPr>
          <p:cNvPr id="9" name="Group 21">
            <a:extLst>
              <a:ext uri="{FF2B5EF4-FFF2-40B4-BE49-F238E27FC236}">
                <a16:creationId xmlns:a16="http://schemas.microsoft.com/office/drawing/2014/main" id="{936A567D-7820-01B4-E071-407F3790C28F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841D0376-CC7A-F3DA-CDD0-7B0D29A9783F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1" name="TextBox 23">
              <a:extLst>
                <a:ext uri="{FF2B5EF4-FFF2-40B4-BE49-F238E27FC236}">
                  <a16:creationId xmlns:a16="http://schemas.microsoft.com/office/drawing/2014/main" id="{2368B5C1-CAFC-FAA9-178A-B4A35CB6B274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24">
            <a:extLst>
              <a:ext uri="{FF2B5EF4-FFF2-40B4-BE49-F238E27FC236}">
                <a16:creationId xmlns:a16="http://schemas.microsoft.com/office/drawing/2014/main" id="{052511D8-759F-036D-54B8-B8464B9FFD1A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22378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359A0-C6EE-1ABC-1934-1444FA42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3376A3D-E378-54DD-D699-025F3735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565" y="3184878"/>
            <a:ext cx="9235835" cy="6503137"/>
          </a:xfrm>
          <a:prstGeom prst="rect">
            <a:avLst/>
          </a:prstGeom>
        </p:spPr>
      </p:pic>
      <p:grpSp>
        <p:nvGrpSpPr>
          <p:cNvPr id="13" name="Group 13">
            <a:extLst>
              <a:ext uri="{FF2B5EF4-FFF2-40B4-BE49-F238E27FC236}">
                <a16:creationId xmlns:a16="http://schemas.microsoft.com/office/drawing/2014/main" id="{7ED1C39B-6390-46EE-3AE6-5F105058B538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CC9E2BA-29ED-F6ED-835E-BA3BFADFB1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752563B-D7A7-5430-2DF9-FC1117A8F5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162F1DA-B894-A4C5-3929-86376F49B18C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51FC658-1078-ADE8-2FE8-ABCB056FA19F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A86ABC3-0BF9-C892-9053-022B2AE066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1034C28-081A-11A7-A40C-981EA7B063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0964F05-38CC-8BB5-7868-580763403E30}"/>
              </a:ext>
            </a:extLst>
          </p:cNvPr>
          <p:cNvSpPr txBox="1"/>
          <p:nvPr/>
        </p:nvSpPr>
        <p:spPr>
          <a:xfrm>
            <a:off x="1371600" y="49530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Linear Regression Insights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AC50F5-4E63-E859-EBBA-A7747A36D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226599"/>
              </p:ext>
            </p:extLst>
          </p:nvPr>
        </p:nvGraphicFramePr>
        <p:xfrm>
          <a:off x="2720319" y="1571029"/>
          <a:ext cx="11811000" cy="1524001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1811000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524001">
                <a:tc>
                  <a:txBody>
                    <a:bodyPr/>
                    <a:lstStyle/>
                    <a:p>
                      <a:r>
                        <a:rPr lang="en-GB" sz="3600" dirty="0"/>
                        <a:t>Linear Regression performed </a:t>
                      </a:r>
                      <a:r>
                        <a:rPr lang="en-GB" sz="3600" b="1" dirty="0"/>
                        <a:t>similarly</a:t>
                      </a:r>
                      <a:r>
                        <a:rPr lang="en-GB" sz="3600" dirty="0"/>
                        <a:t> on both datasets</a:t>
                      </a:r>
                    </a:p>
                    <a:p>
                      <a:r>
                        <a:rPr lang="en-GB" sz="3600" dirty="0"/>
                        <a:t>Explained ~</a:t>
                      </a:r>
                      <a:r>
                        <a:rPr lang="en-GB" sz="3600" b="1" dirty="0"/>
                        <a:t>52–54%</a:t>
                      </a:r>
                      <a:r>
                        <a:rPr lang="en-GB" sz="3600" dirty="0"/>
                        <a:t> of variance in age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45C87BA-E963-D7A7-0F58-5D4EF7DE8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3" y="3184879"/>
            <a:ext cx="8668327" cy="6478850"/>
          </a:xfrm>
          <a:prstGeom prst="rect">
            <a:avLst/>
          </a:prstGeom>
        </p:spPr>
      </p:pic>
      <p:grpSp>
        <p:nvGrpSpPr>
          <p:cNvPr id="11" name="Group 21">
            <a:extLst>
              <a:ext uri="{FF2B5EF4-FFF2-40B4-BE49-F238E27FC236}">
                <a16:creationId xmlns:a16="http://schemas.microsoft.com/office/drawing/2014/main" id="{05424DDD-C3C0-4DF5-DEFD-BC0D669312F4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6A54D456-C956-343E-348A-388B00EADC8C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41D32B47-CB5E-C1C8-0506-9A532D4A8763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4">
            <a:extLst>
              <a:ext uri="{FF2B5EF4-FFF2-40B4-BE49-F238E27FC236}">
                <a16:creationId xmlns:a16="http://schemas.microsoft.com/office/drawing/2014/main" id="{F375E106-8380-460A-AC7B-4EBE12956EA3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3382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33F3-C1BD-33E3-3A75-7B821167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25E91133-0FAA-172B-5255-D1B325325A16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C549155-270F-754A-B24E-32357A0E69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DADD73F-81C4-A73C-19CB-B564B9E688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357436AD-C2A2-5131-7947-974B08700777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1007649-F8BC-D075-2456-36865C6317C7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E6D569A-3549-864A-4AE0-249BF9B987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DACB8E6-43DB-ECCA-8F95-5D136CB925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F2F858-AF99-5C94-BFC5-FC591CE34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39809"/>
              </p:ext>
            </p:extLst>
          </p:nvPr>
        </p:nvGraphicFramePr>
        <p:xfrm>
          <a:off x="1295400" y="1485900"/>
          <a:ext cx="6400800" cy="3124624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748144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5652656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65324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Task:</a:t>
                      </a:r>
                      <a:endParaRPr lang="en-US" sz="36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4520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GB" sz="4000" dirty="0"/>
                        <a:t>Binary Classification:</a:t>
                      </a:r>
                    </a:p>
                    <a:p>
                      <a:r>
                        <a:rPr lang="en-GB" sz="4000" b="1" dirty="0"/>
                        <a:t>Young</a:t>
                      </a:r>
                      <a:r>
                        <a:rPr lang="en-GB" sz="4000" dirty="0"/>
                        <a:t> → Age ≤ Median</a:t>
                      </a:r>
                    </a:p>
                    <a:p>
                      <a:r>
                        <a:rPr lang="en-GB" sz="4000" b="1" dirty="0"/>
                        <a:t>Old</a:t>
                      </a:r>
                      <a:r>
                        <a:rPr lang="en-GB" sz="4000" dirty="0"/>
                        <a:t> → Age &gt; Median</a:t>
                      </a:r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289087-2F63-E496-7C5D-83108A32AAE3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b="1" dirty="0">
                <a:solidFill>
                  <a:srgbClr val="0070C0"/>
                </a:solidFill>
              </a:rPr>
              <a:t>Machine Learning Models: Logistic Regression (Abalone)</a:t>
            </a:r>
            <a:endParaRPr lang="en-US" sz="5400" b="1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0DF440-1DB7-251F-EBC4-825B10A92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90218"/>
              </p:ext>
            </p:extLst>
          </p:nvPr>
        </p:nvGraphicFramePr>
        <p:xfrm>
          <a:off x="8083676" y="2492459"/>
          <a:ext cx="2971800" cy="83820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Evaluation Metrics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5E0BC1-549B-1C28-3FCC-53D41D0EC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98350"/>
              </p:ext>
            </p:extLst>
          </p:nvPr>
        </p:nvGraphicFramePr>
        <p:xfrm>
          <a:off x="8094008" y="3330659"/>
          <a:ext cx="8229600" cy="4114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75851612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21434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60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0.7859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89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0.7810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0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0.7904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54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0.7856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821603"/>
                  </a:ext>
                </a:extLst>
              </a:tr>
            </a:tbl>
          </a:graphicData>
        </a:graphic>
      </p:graphicFrame>
      <p:grpSp>
        <p:nvGrpSpPr>
          <p:cNvPr id="3" name="Group 21">
            <a:extLst>
              <a:ext uri="{FF2B5EF4-FFF2-40B4-BE49-F238E27FC236}">
                <a16:creationId xmlns:a16="http://schemas.microsoft.com/office/drawing/2014/main" id="{56E31567-E09C-4074-DC90-D75E4183DFB1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4D199127-8E2A-759B-2052-EFD831F84A28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22F7A689-5BEF-3C0F-6820-363830D6359D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24">
            <a:extLst>
              <a:ext uri="{FF2B5EF4-FFF2-40B4-BE49-F238E27FC236}">
                <a16:creationId xmlns:a16="http://schemas.microsoft.com/office/drawing/2014/main" id="{BD9DD595-E5FB-2AFF-26B5-E70EF1C91CC6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7158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ABDA-862B-E1A9-3F9C-56AE5569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3602C892-3103-6FBD-D18B-D9FBB2EB486A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0DD74EE-8A1C-EB73-B13D-B145FFFA3C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21D4828-0A08-E125-D574-A5EA3C408C8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56D08F9-34C5-9D07-E346-A341DBA5E990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5343D25-9CB5-7A1B-CEA9-9226CCAB7458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74EB72D-BA60-7FD1-21EA-6329490A759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F31EA14-A685-DB80-184A-A6808ED274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6F92E2-6379-6F9A-91A4-FAE320B246E2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Logistic Regression Insights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9FBEB8-50E9-9209-D3F5-79613D799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448042"/>
              </p:ext>
            </p:extLst>
          </p:nvPr>
        </p:nvGraphicFramePr>
        <p:xfrm>
          <a:off x="914399" y="1453829"/>
          <a:ext cx="5639015" cy="288036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5639015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2394272">
                <a:tc>
                  <a:txBody>
                    <a:bodyPr/>
                    <a:lstStyle/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Model achieved </a:t>
                      </a:r>
                      <a:r>
                        <a:rPr lang="en-GB" sz="3600" b="1" dirty="0"/>
                        <a:t>strong, balanced performance</a:t>
                      </a:r>
                      <a:r>
                        <a:rPr lang="en-GB" sz="3600" dirty="0"/>
                        <a:t> across metrics</a:t>
                      </a:r>
                    </a:p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Reliable in separating </a:t>
                      </a:r>
                      <a:r>
                        <a:rPr lang="en-GB" sz="3600" b="1" dirty="0"/>
                        <a:t>Young vs. Old abalones</a:t>
                      </a:r>
                      <a:endParaRPr lang="en-GB" sz="36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CA6D83D-7372-4D42-A819-C444ABB8A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99" y="1376182"/>
            <a:ext cx="11221401" cy="8720318"/>
          </a:xfrm>
          <a:prstGeom prst="rect">
            <a:avLst/>
          </a:prstGeom>
        </p:spPr>
      </p:pic>
      <p:grpSp>
        <p:nvGrpSpPr>
          <p:cNvPr id="5" name="Group 21">
            <a:extLst>
              <a:ext uri="{FF2B5EF4-FFF2-40B4-BE49-F238E27FC236}">
                <a16:creationId xmlns:a16="http://schemas.microsoft.com/office/drawing/2014/main" id="{C6C55F73-DB69-E565-1ED9-68DF7746BE81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8BA49D5B-3205-F59D-B4AD-B020411BD747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8" name="TextBox 23">
              <a:extLst>
                <a:ext uri="{FF2B5EF4-FFF2-40B4-BE49-F238E27FC236}">
                  <a16:creationId xmlns:a16="http://schemas.microsoft.com/office/drawing/2014/main" id="{C29BB22A-638B-FA51-F2AC-D30CE71B74A3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1" name="TextBox 24">
            <a:extLst>
              <a:ext uri="{FF2B5EF4-FFF2-40B4-BE49-F238E27FC236}">
                <a16:creationId xmlns:a16="http://schemas.microsoft.com/office/drawing/2014/main" id="{611C6DF4-0150-81C9-A03D-DBF579F3C935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6293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8986-A3CF-1A88-F2FB-2DD69FBB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4C2495FB-BA26-2517-F9F8-4176EDE55A4D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4135EF9-6569-A42F-AF02-EA2E998BAC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3E8CB81-1E45-6706-17B2-B11BDF27973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F5F5477-0195-D2F4-77B7-EEFFACDA5F14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8800983-30C9-70D1-0CE1-F02B461589B3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922EDD6-D6BD-38C3-74FF-6275895BEA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C599A73-79C9-B4D4-85EF-936C297663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12D1E8-8A81-8641-969B-07FEF64377AA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485900"/>
          <a:ext cx="6400800" cy="3124624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748144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5652656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65324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Task:</a:t>
                      </a:r>
                      <a:endParaRPr lang="en-US" sz="36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45207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GB" sz="4000" dirty="0"/>
                        <a:t>Binary Classification:</a:t>
                      </a:r>
                    </a:p>
                    <a:p>
                      <a:r>
                        <a:rPr lang="en-GB" sz="4000" b="1" dirty="0"/>
                        <a:t>Young</a:t>
                      </a:r>
                      <a:r>
                        <a:rPr lang="en-GB" sz="4000" dirty="0"/>
                        <a:t> → Age ≤ Median</a:t>
                      </a:r>
                    </a:p>
                    <a:p>
                      <a:r>
                        <a:rPr lang="en-GB" sz="4000" b="1" dirty="0"/>
                        <a:t>Old</a:t>
                      </a:r>
                      <a:r>
                        <a:rPr lang="en-GB" sz="4000" dirty="0"/>
                        <a:t> → Age &gt; Median</a:t>
                      </a:r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F4981B-702E-94DA-FA98-1095951350A9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b="1" dirty="0">
                <a:solidFill>
                  <a:srgbClr val="0070C0"/>
                </a:solidFill>
              </a:rPr>
              <a:t>Machine Learning Models: Logistic Regression (Crab)</a:t>
            </a:r>
            <a:endParaRPr lang="en-US" sz="5400" b="1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A53B5D-A6A8-6988-7890-A0A3FD366D0D}"/>
              </a:ext>
            </a:extLst>
          </p:cNvPr>
          <p:cNvGraphicFramePr>
            <a:graphicFrameLocks noGrp="1"/>
          </p:cNvGraphicFramePr>
          <p:nvPr/>
        </p:nvGraphicFramePr>
        <p:xfrm>
          <a:off x="8083676" y="2492459"/>
          <a:ext cx="2971800" cy="83820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Evaluation Metrics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pSp>
        <p:nvGrpSpPr>
          <p:cNvPr id="3" name="Group 21">
            <a:extLst>
              <a:ext uri="{FF2B5EF4-FFF2-40B4-BE49-F238E27FC236}">
                <a16:creationId xmlns:a16="http://schemas.microsoft.com/office/drawing/2014/main" id="{D84981E6-5A8B-C28C-452D-62422BEF141D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8CB0037C-F85C-9746-DDA2-F8ABCE402FC8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0EA6BC2F-D6ED-521A-4233-CB21511692C4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24">
            <a:extLst>
              <a:ext uri="{FF2B5EF4-FFF2-40B4-BE49-F238E27FC236}">
                <a16:creationId xmlns:a16="http://schemas.microsoft.com/office/drawing/2014/main" id="{3E143431-F03B-E42F-E9F3-441E89BA14C5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1356AC-E3D1-6ADB-021C-1F12D645F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778808"/>
              </p:ext>
            </p:extLst>
          </p:nvPr>
        </p:nvGraphicFramePr>
        <p:xfrm>
          <a:off x="8094008" y="3330659"/>
          <a:ext cx="8229600" cy="3810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75851612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21434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60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0.7330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89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0.6534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0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0.4389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54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400" dirty="0"/>
                        <a:t>0.5251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82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97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6931-D62D-4A5C-2C9D-0E9B1E9F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8CDF1447-8235-4B3F-C2D6-852803B51D18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3E4A605-4191-1986-FD77-E07C3BB842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B51F0AE-6DD3-9F74-F919-BC64692844A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4D2FABD-CCCC-EF12-5C5F-D4A6D07C5C66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5D02FCC-87BE-A0A4-47E1-55501EBDD8C5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C88B32A-9A95-A5A7-9586-713B9A0504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4A7FF62-2BFE-4FA2-026E-8327F13E95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0ACF4B9-CF17-FA28-65BD-23598C680007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Logistic Regression Insights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8210FA-3E36-AE53-19F5-84CDCD920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69214"/>
              </p:ext>
            </p:extLst>
          </p:nvPr>
        </p:nvGraphicFramePr>
        <p:xfrm>
          <a:off x="914399" y="1453829"/>
          <a:ext cx="5639015" cy="397764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5639015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2394272">
                <a:tc>
                  <a:txBody>
                    <a:bodyPr/>
                    <a:lstStyle/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Performance is </a:t>
                      </a:r>
                      <a:r>
                        <a:rPr lang="en-GB" sz="3600" b="1" dirty="0"/>
                        <a:t>weaker than Abalone Logistic Regression</a:t>
                      </a:r>
                      <a:endParaRPr lang="en-GB" sz="3600" dirty="0"/>
                    </a:p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Especially low </a:t>
                      </a:r>
                      <a:r>
                        <a:rPr lang="en-GB" sz="3600" b="1" dirty="0"/>
                        <a:t>Recall</a:t>
                      </a:r>
                      <a:r>
                        <a:rPr lang="en-GB" sz="3600" dirty="0"/>
                        <a:t>, meaning the model struggles to correctly identify </a:t>
                      </a:r>
                      <a:r>
                        <a:rPr lang="en-GB" sz="3600" b="1" dirty="0"/>
                        <a:t>older crabs</a:t>
                      </a:r>
                      <a:endParaRPr lang="en-GB" sz="36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grpSp>
        <p:nvGrpSpPr>
          <p:cNvPr id="5" name="Group 21">
            <a:extLst>
              <a:ext uri="{FF2B5EF4-FFF2-40B4-BE49-F238E27FC236}">
                <a16:creationId xmlns:a16="http://schemas.microsoft.com/office/drawing/2014/main" id="{7C9DF712-39A5-947C-02D6-62E9BA916E41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F15AA146-EB3C-E3F2-E662-C53381625CA4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8" name="TextBox 23">
              <a:extLst>
                <a:ext uri="{FF2B5EF4-FFF2-40B4-BE49-F238E27FC236}">
                  <a16:creationId xmlns:a16="http://schemas.microsoft.com/office/drawing/2014/main" id="{A9DD277E-02C8-2C36-9AC9-D9869B8264BF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1" name="TextBox 24">
            <a:extLst>
              <a:ext uri="{FF2B5EF4-FFF2-40B4-BE49-F238E27FC236}">
                <a16:creationId xmlns:a16="http://schemas.microsoft.com/office/drawing/2014/main" id="{F76BCD9D-3A3B-9397-878C-A2E23114FE9A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E8631F-1CE0-6B27-5A08-E4AB830C3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409700"/>
            <a:ext cx="11230865" cy="88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09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FF32-A15B-5621-3E58-96F1164F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255FF9D2-E09B-466D-1EA1-24F383439D18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28B65B5-9F0F-5F85-8CB5-8C25E38083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5E9F616-1836-013E-93D3-1A5B5432B5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4AD326B-6E5C-F688-CE7D-9F008D4233C3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2582ADA-063B-EB01-A54A-4BA523DE69C7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BEE2562-E71D-2AEB-6FF9-F691447008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06EB94A-210A-5E95-019D-36E7B63EE8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6EDEC2-DE01-6853-E019-FB4D3D69D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38754"/>
              </p:ext>
            </p:extLst>
          </p:nvPr>
        </p:nvGraphicFramePr>
        <p:xfrm>
          <a:off x="1749370" y="1517601"/>
          <a:ext cx="7899739" cy="337800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23345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6976394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71060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highlight>
                            <a:srgbClr val="000000"/>
                          </a:highlight>
                        </a:rPr>
                        <a:t>Model</a:t>
                      </a:r>
                      <a:r>
                        <a:rPr lang="en-US" sz="30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:</a:t>
                      </a:r>
                      <a:endParaRPr lang="en-US" sz="30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667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Support Vector Regression (SVR) used to predict </a:t>
                      </a:r>
                      <a:r>
                        <a:rPr lang="en-GB" sz="3600" b="1" dirty="0"/>
                        <a:t>continuous age</a:t>
                      </a:r>
                      <a:endParaRPr lang="en-GB" sz="3600" dirty="0"/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B9C18A-8DF7-6537-3072-B460B70D987E}"/>
              </a:ext>
            </a:extLst>
          </p:cNvPr>
          <p:cNvGraphicFramePr>
            <a:graphicFrameLocks noGrp="1"/>
          </p:cNvGraphicFramePr>
          <p:nvPr/>
        </p:nvGraphicFramePr>
        <p:xfrm>
          <a:off x="9944098" y="1465442"/>
          <a:ext cx="7200902" cy="344945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4858">
                  <a:extLst>
                    <a:ext uri="{9D8B030D-6E8A-4147-A177-3AD203B41FA5}">
                      <a16:colId xmlns:a16="http://schemas.microsoft.com/office/drawing/2014/main" val="2987533786"/>
                    </a:ext>
                  </a:extLst>
                </a:gridCol>
                <a:gridCol w="6556044">
                  <a:extLst>
                    <a:ext uri="{9D8B030D-6E8A-4147-A177-3AD203B41FA5}">
                      <a16:colId xmlns:a16="http://schemas.microsoft.com/office/drawing/2014/main" val="1416820411"/>
                    </a:ext>
                  </a:extLst>
                </a:gridCol>
              </a:tblGrid>
              <a:tr h="59113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highlight>
                            <a:srgbClr val="000000"/>
                          </a:highlight>
                        </a:rPr>
                        <a:t>Evaluation Metrics</a:t>
                      </a:r>
                      <a:r>
                        <a:rPr lang="en-US" sz="3000" b="1" dirty="0">
                          <a:solidFill>
                            <a:srgbClr val="FFC000"/>
                          </a:solidFill>
                          <a:highlight>
                            <a:srgbClr val="000000"/>
                          </a:highlight>
                        </a:rPr>
                        <a:t>:</a:t>
                      </a:r>
                      <a:endParaRPr lang="en-US" sz="3000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607" marR="82607" marT="41303" marB="41303" anchor="ctr"/>
                </a:tc>
                <a:extLst>
                  <a:ext uri="{0D108BD9-81ED-4DB2-BD59-A6C34878D82A}">
                    <a16:rowId xmlns:a16="http://schemas.microsoft.com/office/drawing/2014/main" val="3383259376"/>
                  </a:ext>
                </a:extLst>
              </a:tr>
              <a:tr h="283786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911" marR="123911" marT="61955" marB="61955" anchor="ctr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Mean Absolute Error (</a:t>
                      </a:r>
                      <a:r>
                        <a:rPr lang="en-US" sz="3600" b="1" dirty="0"/>
                        <a:t>MAE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dirty="0"/>
                        <a:t>Mean Squared Error (</a:t>
                      </a:r>
                      <a:r>
                        <a:rPr lang="en-US" sz="3600" b="1" dirty="0"/>
                        <a:t>MSE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dirty="0"/>
                        <a:t>Root Mean Squared Error (</a:t>
                      </a:r>
                      <a:r>
                        <a:rPr lang="en-US" sz="3600" b="1" dirty="0"/>
                        <a:t>RMSE</a:t>
                      </a:r>
                      <a:r>
                        <a:rPr lang="en-US" sz="3600" dirty="0"/>
                        <a:t>)</a:t>
                      </a:r>
                    </a:p>
                    <a:p>
                      <a:r>
                        <a:rPr lang="en-US" sz="3600" b="1" dirty="0"/>
                        <a:t>R² Score</a:t>
                      </a:r>
                    </a:p>
                  </a:txBody>
                  <a:tcPr marL="123911" marR="123911" marT="61955" marB="61955" anchor="ctr"/>
                </a:tc>
                <a:extLst>
                  <a:ext uri="{0D108BD9-81ED-4DB2-BD59-A6C34878D82A}">
                    <a16:rowId xmlns:a16="http://schemas.microsoft.com/office/drawing/2014/main" val="1357815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3201E6-98C6-C1BD-03E7-4A5B415350C7}"/>
              </a:ext>
            </a:extLst>
          </p:cNvPr>
          <p:cNvSpPr txBox="1"/>
          <p:nvPr/>
        </p:nvSpPr>
        <p:spPr>
          <a:xfrm>
            <a:off x="1371600" y="530498"/>
            <a:ext cx="162435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Machine Learning Models :  Support Vector Regression (SVR)</a:t>
            </a:r>
            <a:endParaRPr lang="en-US" sz="40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82C15A-8F41-53BB-20AA-03FB0CDC9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031749"/>
              </p:ext>
            </p:extLst>
          </p:nvPr>
        </p:nvGraphicFramePr>
        <p:xfrm>
          <a:off x="2400300" y="6022337"/>
          <a:ext cx="13487400" cy="26060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4160132">
                  <a:extLst>
                    <a:ext uri="{9D8B030D-6E8A-4147-A177-3AD203B41FA5}">
                      <a16:colId xmlns:a16="http://schemas.microsoft.com/office/drawing/2014/main" val="2066686295"/>
                    </a:ext>
                  </a:extLst>
                </a:gridCol>
                <a:gridCol w="3747432">
                  <a:extLst>
                    <a:ext uri="{9D8B030D-6E8A-4147-A177-3AD203B41FA5}">
                      <a16:colId xmlns:a16="http://schemas.microsoft.com/office/drawing/2014/main" val="4165173622"/>
                    </a:ext>
                  </a:extLst>
                </a:gridCol>
                <a:gridCol w="2789918">
                  <a:extLst>
                    <a:ext uri="{9D8B030D-6E8A-4147-A177-3AD203B41FA5}">
                      <a16:colId xmlns:a16="http://schemas.microsoft.com/office/drawing/2014/main" val="3287548318"/>
                    </a:ext>
                  </a:extLst>
                </a:gridCol>
                <a:gridCol w="2789918">
                  <a:extLst>
                    <a:ext uri="{9D8B030D-6E8A-4147-A177-3AD203B41FA5}">
                      <a16:colId xmlns:a16="http://schemas.microsoft.com/office/drawing/2014/main" val="100971502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R²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375083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Abalone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1.51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0.55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874198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Crab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/>
                        <a:t>1.43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2.15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dirty="0"/>
                        <a:t>0.52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9846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F04A31-3A6D-C72B-852D-E2DBEAC8DFFB}"/>
              </a:ext>
            </a:extLst>
          </p:cNvPr>
          <p:cNvGraphicFramePr>
            <a:graphicFrameLocks noGrp="1"/>
          </p:cNvGraphicFramePr>
          <p:nvPr/>
        </p:nvGraphicFramePr>
        <p:xfrm>
          <a:off x="2413215" y="5184137"/>
          <a:ext cx="2971800" cy="83820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Results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grpSp>
        <p:nvGrpSpPr>
          <p:cNvPr id="9" name="Group 21">
            <a:extLst>
              <a:ext uri="{FF2B5EF4-FFF2-40B4-BE49-F238E27FC236}">
                <a16:creationId xmlns:a16="http://schemas.microsoft.com/office/drawing/2014/main" id="{18C779AC-C88A-21FC-7B9A-60BCC6F36EED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EC43652C-2C5F-4581-C85A-6A9A85C378C5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1" name="TextBox 23">
              <a:extLst>
                <a:ext uri="{FF2B5EF4-FFF2-40B4-BE49-F238E27FC236}">
                  <a16:creationId xmlns:a16="http://schemas.microsoft.com/office/drawing/2014/main" id="{F3D94039-A885-8A68-9593-746E70CC9084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24">
            <a:extLst>
              <a:ext uri="{FF2B5EF4-FFF2-40B4-BE49-F238E27FC236}">
                <a16:creationId xmlns:a16="http://schemas.microsoft.com/office/drawing/2014/main" id="{B14C106D-8C90-8AF2-4E0F-CB7C4B9F12F7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599338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D33C-E37F-C5F1-D598-69DE2A55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AD6F506E-2F5A-3216-EBB0-E4A75C0C4E41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A0504F1-12D6-E0B9-5035-DA2185481C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9210B5A-BC6A-4E4A-4140-4075D897B4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72A408A-C410-21DD-1E57-28220BC34499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F248F92-AAAD-3C77-EAD0-98D05F256BD4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5FA0814-EDC9-960C-B6B2-5180CF0181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1DAF819-4C43-B1C2-C97F-96A963E4D0E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1A8B3F1-5E46-C916-3957-1DB38B12B311}"/>
              </a:ext>
            </a:extLst>
          </p:cNvPr>
          <p:cNvSpPr txBox="1"/>
          <p:nvPr/>
        </p:nvSpPr>
        <p:spPr>
          <a:xfrm>
            <a:off x="1022242" y="604297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Support Vector Regression (SVR) Insights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4539F3-76DE-1D85-9117-7F037BED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88009"/>
              </p:ext>
            </p:extLst>
          </p:nvPr>
        </p:nvGraphicFramePr>
        <p:xfrm>
          <a:off x="2315348" y="1863729"/>
          <a:ext cx="13281681" cy="1524001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3281681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1524001">
                <a:tc>
                  <a:txBody>
                    <a:bodyPr/>
                    <a:lstStyle/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SVR performs </a:t>
                      </a:r>
                      <a:r>
                        <a:rPr lang="en-GB" sz="3600" b="1" dirty="0"/>
                        <a:t>slightly better than Linear Regression</a:t>
                      </a:r>
                      <a:endParaRPr lang="en-GB" sz="3600" dirty="0"/>
                    </a:p>
                    <a:p>
                      <a:pPr marL="571500" indent="-571500">
                        <a:buFont typeface="Wingdings" panose="05000000000000000000" pitchFamily="2" charset="2"/>
                        <a:buChar char="Ø"/>
                      </a:pPr>
                      <a:r>
                        <a:rPr lang="en-GB" sz="3600" dirty="0"/>
                        <a:t>Lower error metrics and slightly higher R² scores for both datasets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grpSp>
        <p:nvGrpSpPr>
          <p:cNvPr id="11" name="Group 21">
            <a:extLst>
              <a:ext uri="{FF2B5EF4-FFF2-40B4-BE49-F238E27FC236}">
                <a16:creationId xmlns:a16="http://schemas.microsoft.com/office/drawing/2014/main" id="{99D801F0-1696-89A1-8C40-A24A649A8E08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035C334F-1967-868A-F8C8-04A3C4B3F553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8F7CBA29-AF7C-E13C-423E-49CCB7BA8C44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4">
            <a:extLst>
              <a:ext uri="{FF2B5EF4-FFF2-40B4-BE49-F238E27FC236}">
                <a16:creationId xmlns:a16="http://schemas.microsoft.com/office/drawing/2014/main" id="{40052A7F-CE92-B986-B3AE-A3790BA2633A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23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D0E4C10-FE79-F602-484B-752332DDC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64" y="3565425"/>
            <a:ext cx="8048536" cy="60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F674A82-86A3-DD2A-5F5A-6CE32C2DC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594437"/>
            <a:ext cx="9305761" cy="60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7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5364-5800-0963-16AF-331999B5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AA07CB31-1D0B-E6D7-AA35-8C5EE899F6CD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71EFE16-435A-4765-F4A4-E09494DEE1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8608948-E609-02C0-B567-27E301DA267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1B5C60B8-A115-7EE3-1703-CF6355DDF64F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8757FA8-17C8-580D-755E-B2D0C1F43930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CB809F4-1B43-5226-CC2A-AC441CB0EB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CBE6929-877C-A147-E43F-FE0A38C1DC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9D0DE00-BF64-6702-2E9A-47CA90460F22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Comparative Performance Analysis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982FC2-09B2-939D-1D74-980B4811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514348"/>
              </p:ext>
            </p:extLst>
          </p:nvPr>
        </p:nvGraphicFramePr>
        <p:xfrm>
          <a:off x="1371600" y="1920839"/>
          <a:ext cx="15163800" cy="708061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5163800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708061">
                <a:tc>
                  <a:txBody>
                    <a:bodyPr/>
                    <a:lstStyle/>
                    <a:p>
                      <a:r>
                        <a:rPr lang="en-GB" sz="3600" b="1" dirty="0"/>
                        <a:t>SVR</a:t>
                      </a:r>
                      <a:r>
                        <a:rPr lang="en-GB" sz="3600" dirty="0"/>
                        <a:t> slightly outperforms Linear Regression in predicting continuous age.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81399F-33D2-EB89-45FF-4EBC87F93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408890"/>
              </p:ext>
            </p:extLst>
          </p:nvPr>
        </p:nvGraphicFramePr>
        <p:xfrm>
          <a:off x="1371600" y="1351013"/>
          <a:ext cx="7018476" cy="548640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7018476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41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Regression Models (Linear Regression vs. SVR)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4624260-196D-3EB3-60D5-111A54D2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75" y="4393959"/>
            <a:ext cx="6339603" cy="5893041"/>
          </a:xfrm>
          <a:prstGeom prst="rect">
            <a:avLst/>
          </a:prstGeom>
        </p:spPr>
      </p:pic>
      <p:pic>
        <p:nvPicPr>
          <p:cNvPr id="20482" name="Picture 2">
            <a:extLst>
              <a:ext uri="{FF2B5EF4-FFF2-40B4-BE49-F238E27FC236}">
                <a16:creationId xmlns:a16="http://schemas.microsoft.com/office/drawing/2014/main" id="{3E866411-54BB-B0C9-0BEC-184069162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077" y="2714036"/>
            <a:ext cx="8145324" cy="747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482A3-AC5B-D5E7-D1C0-24BA0EBC0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375" y="2700228"/>
            <a:ext cx="6719143" cy="1685455"/>
          </a:xfrm>
          <a:prstGeom prst="rect">
            <a:avLst/>
          </a:prstGeom>
        </p:spPr>
      </p:pic>
      <p:grpSp>
        <p:nvGrpSpPr>
          <p:cNvPr id="8" name="Group 21">
            <a:extLst>
              <a:ext uri="{FF2B5EF4-FFF2-40B4-BE49-F238E27FC236}">
                <a16:creationId xmlns:a16="http://schemas.microsoft.com/office/drawing/2014/main" id="{CDABEB24-FA4B-2392-EB14-3AD7959F5185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9DA5FF00-7AF2-2DDE-A649-6C8B862A95B9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0811CAA7-FB2A-37CF-481D-A5534159220A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24">
            <a:extLst>
              <a:ext uri="{FF2B5EF4-FFF2-40B4-BE49-F238E27FC236}">
                <a16:creationId xmlns:a16="http://schemas.microsoft.com/office/drawing/2014/main" id="{F024CED6-7069-DE6C-2DDF-1D46E319C7ED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57857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E49A-660E-DA83-A8EB-A5F0C670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F727DB26-8E57-1D07-70C3-FE19BBF95C21}"/>
              </a:ext>
            </a:extLst>
          </p:cNvPr>
          <p:cNvGrpSpPr/>
          <p:nvPr/>
        </p:nvGrpSpPr>
        <p:grpSpPr>
          <a:xfrm>
            <a:off x="-410102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012C3B8-0C76-CE84-3B2F-9633C7B812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D7CFB7D-700D-68CD-89AC-EF390839C2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856A7115-5443-D7D8-40DD-51BF63337EAE}"/>
              </a:ext>
            </a:extLst>
          </p:cNvPr>
          <p:cNvSpPr/>
          <p:nvPr/>
        </p:nvSpPr>
        <p:spPr>
          <a:xfrm>
            <a:off x="-4267200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B5A6978-2532-2B77-5528-D65004292676}"/>
              </a:ext>
            </a:extLst>
          </p:cNvPr>
          <p:cNvGrpSpPr/>
          <p:nvPr/>
        </p:nvGrpSpPr>
        <p:grpSpPr>
          <a:xfrm>
            <a:off x="-3578661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9AF8C59-E8EC-3670-4F33-3A809DD860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2B050C0-FCB8-3138-055C-14A8D4EA8EA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ECC0A6C-0B04-F03C-F6D8-986CB5962074}"/>
              </a:ext>
            </a:extLst>
          </p:cNvPr>
          <p:cNvSpPr txBox="1"/>
          <p:nvPr/>
        </p:nvSpPr>
        <p:spPr>
          <a:xfrm>
            <a:off x="1295400" y="190500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Comparative Performance Analysis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2CF9EE-700D-BFE9-B18A-E77EF4E86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95819"/>
              </p:ext>
            </p:extLst>
          </p:nvPr>
        </p:nvGraphicFramePr>
        <p:xfrm>
          <a:off x="1432649" y="1594150"/>
          <a:ext cx="16641869" cy="123444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6641869">
                  <a:extLst>
                    <a:ext uri="{9D8B030D-6E8A-4147-A177-3AD203B41FA5}">
                      <a16:colId xmlns:a16="http://schemas.microsoft.com/office/drawing/2014/main" val="3247037039"/>
                    </a:ext>
                  </a:extLst>
                </a:gridCol>
              </a:tblGrid>
              <a:tr h="923330">
                <a:tc>
                  <a:txBody>
                    <a:bodyPr/>
                    <a:lstStyle/>
                    <a:p>
                      <a:r>
                        <a:rPr lang="en-GB" sz="3600" dirty="0"/>
                        <a:t>Logistic Regression performs </a:t>
                      </a:r>
                      <a:r>
                        <a:rPr lang="en-GB" sz="3600" b="1" dirty="0"/>
                        <a:t>better on Abalone</a:t>
                      </a:r>
                      <a:r>
                        <a:rPr lang="en-GB" sz="3600" dirty="0"/>
                        <a:t> than Crab for binary age classification.</a:t>
                      </a:r>
                    </a:p>
                    <a:p>
                      <a:r>
                        <a:rPr lang="en-GB" sz="3600" dirty="0"/>
                        <a:t>Notably, </a:t>
                      </a:r>
                      <a:r>
                        <a:rPr lang="en-GB" sz="3600" b="1" dirty="0"/>
                        <a:t>Recall is higher</a:t>
                      </a:r>
                      <a:r>
                        <a:rPr lang="en-GB" sz="3600" dirty="0"/>
                        <a:t> for Abalone → better identification of ‘Old’ individuals.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4372145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ED908A-BC23-BE31-9149-73B0D3E62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87886"/>
              </p:ext>
            </p:extLst>
          </p:nvPr>
        </p:nvGraphicFramePr>
        <p:xfrm>
          <a:off x="1432649" y="991962"/>
          <a:ext cx="7018476" cy="570138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7018476">
                  <a:extLst>
                    <a:ext uri="{9D8B030D-6E8A-4147-A177-3AD203B41FA5}">
                      <a16:colId xmlns:a16="http://schemas.microsoft.com/office/drawing/2014/main" val="566731116"/>
                    </a:ext>
                  </a:extLst>
                </a:gridCol>
              </a:tblGrid>
              <a:tr h="570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solidFill>
                            <a:srgbClr val="FFC000"/>
                          </a:solidFill>
                        </a:rPr>
                        <a:t>Classification Model (Logistic Regression)</a:t>
                      </a:r>
                      <a:endParaRPr lang="en-US" sz="2700" b="1" dirty="0">
                        <a:solidFill>
                          <a:srgbClr val="FFC000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marL="137160" marR="137160" marT="68580" marB="685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99502"/>
                  </a:ext>
                </a:extLst>
              </a:tr>
            </a:tbl>
          </a:graphicData>
        </a:graphic>
      </p:graphicFrame>
      <p:pic>
        <p:nvPicPr>
          <p:cNvPr id="21506" name="Picture 2">
            <a:extLst>
              <a:ext uri="{FF2B5EF4-FFF2-40B4-BE49-F238E27FC236}">
                <a16:creationId xmlns:a16="http://schemas.microsoft.com/office/drawing/2014/main" id="{A7604958-D32C-7B26-1F36-C8991005A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97"/>
          <a:stretch>
            <a:fillRect/>
          </a:stretch>
        </p:blipFill>
        <p:spPr bwMode="auto">
          <a:xfrm>
            <a:off x="13548408" y="6848537"/>
            <a:ext cx="3977592" cy="343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21">
            <a:extLst>
              <a:ext uri="{FF2B5EF4-FFF2-40B4-BE49-F238E27FC236}">
                <a16:creationId xmlns:a16="http://schemas.microsoft.com/office/drawing/2014/main" id="{62125CD4-901B-328E-FBFE-8764CE6696DF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086EEE48-95F9-DFBA-A8BC-9D0CE75C553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3F6A98E3-4764-8CAD-4C75-32F86A19E035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24">
            <a:extLst>
              <a:ext uri="{FF2B5EF4-FFF2-40B4-BE49-F238E27FC236}">
                <a16:creationId xmlns:a16="http://schemas.microsoft.com/office/drawing/2014/main" id="{E555B196-E536-0521-A29D-181E79E4ADB5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D2CA7B6-6CB5-8F3C-BCE5-51E26DD1D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649" y="2828590"/>
            <a:ext cx="11749951" cy="481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9788BAE0-4567-C493-5A9B-94894C92A7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6"/>
          <a:stretch>
            <a:fillRect/>
          </a:stretch>
        </p:blipFill>
        <p:spPr bwMode="auto">
          <a:xfrm>
            <a:off x="13411200" y="2828590"/>
            <a:ext cx="4693023" cy="393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36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3032-BAC2-04D3-92F9-D0267F15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1CFE0CFF-7E82-28EA-AC4F-25E441F1826C}"/>
              </a:ext>
            </a:extLst>
          </p:cNvPr>
          <p:cNvGrpSpPr/>
          <p:nvPr/>
        </p:nvGrpSpPr>
        <p:grpSpPr>
          <a:xfrm>
            <a:off x="15550502" y="1672292"/>
            <a:ext cx="6824008" cy="682400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2F099CF-1401-2B1A-5DEC-9D9ED3491E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526EC5-321F-D49A-3BAB-54AFCDADB61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7E4EBA7D-FBE0-874F-80AE-E77428B326FF}"/>
              </a:ext>
            </a:extLst>
          </p:cNvPr>
          <p:cNvSpPr/>
          <p:nvPr/>
        </p:nvSpPr>
        <p:spPr>
          <a:xfrm>
            <a:off x="15384324" y="1540215"/>
            <a:ext cx="7018476" cy="6896881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1F53469-F9AD-536A-87D7-73DE449A0E62}"/>
              </a:ext>
            </a:extLst>
          </p:cNvPr>
          <p:cNvGrpSpPr/>
          <p:nvPr/>
        </p:nvGrpSpPr>
        <p:grpSpPr>
          <a:xfrm>
            <a:off x="16072863" y="2142687"/>
            <a:ext cx="5776619" cy="5776619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FFC8679-0AF2-5E98-B1BC-817067D9F6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82D354C-7A0A-E435-0D95-CE5756C5AE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Google Shape;2644;p37">
            <a:extLst>
              <a:ext uri="{FF2B5EF4-FFF2-40B4-BE49-F238E27FC236}">
                <a16:creationId xmlns:a16="http://schemas.microsoft.com/office/drawing/2014/main" id="{BBAD77D9-1106-7255-D3A7-1D668B50C484}"/>
              </a:ext>
            </a:extLst>
          </p:cNvPr>
          <p:cNvSpPr/>
          <p:nvPr/>
        </p:nvSpPr>
        <p:spPr>
          <a:xfrm rot="19985276">
            <a:off x="4219449" y="2243302"/>
            <a:ext cx="2209922" cy="21269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88" name="Google Shape;2588;p35">
            <a:extLst>
              <a:ext uri="{FF2B5EF4-FFF2-40B4-BE49-F238E27FC236}">
                <a16:creationId xmlns:a16="http://schemas.microsoft.com/office/drawing/2014/main" id="{C81F2B74-2177-BC53-1038-946A334C3E65}"/>
              </a:ext>
            </a:extLst>
          </p:cNvPr>
          <p:cNvSpPr/>
          <p:nvPr/>
        </p:nvSpPr>
        <p:spPr>
          <a:xfrm rot="21287480">
            <a:off x="2867682" y="2124177"/>
            <a:ext cx="3021660" cy="277258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2589" name="Google Shape;2589;p35">
            <a:extLst>
              <a:ext uri="{FF2B5EF4-FFF2-40B4-BE49-F238E27FC236}">
                <a16:creationId xmlns:a16="http://schemas.microsoft.com/office/drawing/2014/main" id="{CD437DD9-3220-EA15-002F-F73FBF1194D8}"/>
              </a:ext>
            </a:extLst>
          </p:cNvPr>
          <p:cNvSpPr/>
          <p:nvPr/>
        </p:nvSpPr>
        <p:spPr>
          <a:xfrm rot="352083">
            <a:off x="11463030" y="1937052"/>
            <a:ext cx="3093584" cy="296455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3" name="Google Shape;2644;p37">
            <a:extLst>
              <a:ext uri="{FF2B5EF4-FFF2-40B4-BE49-F238E27FC236}">
                <a16:creationId xmlns:a16="http://schemas.microsoft.com/office/drawing/2014/main" id="{9D735D80-C594-0B4F-484F-3FFE12FDB91A}"/>
              </a:ext>
            </a:extLst>
          </p:cNvPr>
          <p:cNvSpPr/>
          <p:nvPr/>
        </p:nvSpPr>
        <p:spPr>
          <a:xfrm rot="1309075">
            <a:off x="10791091" y="2072828"/>
            <a:ext cx="2209922" cy="21269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90" name="Google Shape;2590;p35">
            <a:extLst>
              <a:ext uri="{FF2B5EF4-FFF2-40B4-BE49-F238E27FC236}">
                <a16:creationId xmlns:a16="http://schemas.microsoft.com/office/drawing/2014/main" id="{C94AFA9C-40C3-5547-89FA-15DBF8BE4145}"/>
              </a:ext>
            </a:extLst>
          </p:cNvPr>
          <p:cNvSpPr/>
          <p:nvPr/>
        </p:nvSpPr>
        <p:spPr>
          <a:xfrm rot="21287480">
            <a:off x="2773320" y="1950660"/>
            <a:ext cx="2923688" cy="278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2592" name="Google Shape;2592;p35">
            <a:extLst>
              <a:ext uri="{FF2B5EF4-FFF2-40B4-BE49-F238E27FC236}">
                <a16:creationId xmlns:a16="http://schemas.microsoft.com/office/drawing/2014/main" id="{24DB1885-1E8E-E1D8-F91C-AECDD59D2BB0}"/>
              </a:ext>
            </a:extLst>
          </p:cNvPr>
          <p:cNvSpPr txBox="1">
            <a:spLocks/>
          </p:cNvSpPr>
          <p:nvPr/>
        </p:nvSpPr>
        <p:spPr>
          <a:xfrm>
            <a:off x="149958" y="5798044"/>
            <a:ext cx="9769074" cy="4252268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sz="2800" dirty="0"/>
              <a:t>Physical measurements </a:t>
            </a:r>
            <a:r>
              <a:rPr lang="en-GB" sz="2800" b="1" dirty="0"/>
              <a:t>can predict </a:t>
            </a:r>
            <a:r>
              <a:rPr lang="en-GB" sz="2800" dirty="0"/>
              <a:t>the age of abalone and crabs, with </a:t>
            </a:r>
            <a:r>
              <a:rPr lang="en-GB" sz="2800" b="1" dirty="0"/>
              <a:t>moderate accuracy (R² ≈ 0.52–0.55 for regression</a:t>
            </a:r>
            <a:r>
              <a:rPr lang="en-GB" sz="2800" dirty="0"/>
              <a:t>)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sz="2800" b="1" dirty="0"/>
              <a:t>SVR slightly outperforms </a:t>
            </a:r>
            <a:r>
              <a:rPr lang="en-GB" sz="2800" dirty="0"/>
              <a:t>Linear Regression for </a:t>
            </a:r>
            <a:r>
              <a:rPr lang="en-GB" sz="2800" b="1" dirty="0"/>
              <a:t>continuous age </a:t>
            </a:r>
            <a:r>
              <a:rPr lang="en-GB" sz="2800" dirty="0"/>
              <a:t>prediction.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GB" sz="2800" b="1" dirty="0"/>
              <a:t>Binary age classification </a:t>
            </a:r>
            <a:r>
              <a:rPr lang="en-GB" sz="2800" dirty="0"/>
              <a:t>(Young/Old) works </a:t>
            </a:r>
            <a:r>
              <a:rPr lang="en-GB" sz="2800" b="1" dirty="0"/>
              <a:t>better for Abalones </a:t>
            </a:r>
            <a:r>
              <a:rPr lang="en-GB" sz="2800" dirty="0"/>
              <a:t>than Crabs using Logistic Regression.</a:t>
            </a:r>
          </a:p>
        </p:txBody>
      </p:sp>
      <p:sp>
        <p:nvSpPr>
          <p:cNvPr id="2593" name="Google Shape;2593;p35">
            <a:extLst>
              <a:ext uri="{FF2B5EF4-FFF2-40B4-BE49-F238E27FC236}">
                <a16:creationId xmlns:a16="http://schemas.microsoft.com/office/drawing/2014/main" id="{9BA67D2B-D84C-8D67-E119-18D7DB3FDDB3}"/>
              </a:ext>
            </a:extLst>
          </p:cNvPr>
          <p:cNvSpPr txBox="1">
            <a:spLocks/>
          </p:cNvSpPr>
          <p:nvPr/>
        </p:nvSpPr>
        <p:spPr>
          <a:xfrm>
            <a:off x="829137" y="5058374"/>
            <a:ext cx="7059502" cy="7416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Conclusion</a:t>
            </a:r>
            <a:endParaRPr lang="en-US" dirty="0"/>
          </a:p>
        </p:txBody>
      </p:sp>
      <p:sp>
        <p:nvSpPr>
          <p:cNvPr id="2594" name="Google Shape;2594;p35">
            <a:extLst>
              <a:ext uri="{FF2B5EF4-FFF2-40B4-BE49-F238E27FC236}">
                <a16:creationId xmlns:a16="http://schemas.microsoft.com/office/drawing/2014/main" id="{663D3406-A31E-542E-AFA7-A7DA8379A2AC}"/>
              </a:ext>
            </a:extLst>
          </p:cNvPr>
          <p:cNvSpPr txBox="1">
            <a:spLocks/>
          </p:cNvSpPr>
          <p:nvPr/>
        </p:nvSpPr>
        <p:spPr>
          <a:xfrm>
            <a:off x="10266849" y="5524500"/>
            <a:ext cx="6268551" cy="4140627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dirty="0"/>
              <a:t>Explore </a:t>
            </a:r>
            <a:r>
              <a:rPr lang="en-GB" b="1" dirty="0"/>
              <a:t>advanced ML models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dirty="0"/>
              <a:t>Apply </a:t>
            </a:r>
            <a:r>
              <a:rPr lang="en-GB" b="1" dirty="0"/>
              <a:t>more feature </a:t>
            </a:r>
            <a:r>
              <a:rPr lang="en-GB" dirty="0"/>
              <a:t>engineering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dirty="0"/>
              <a:t>Try </a:t>
            </a:r>
            <a:r>
              <a:rPr lang="en-GB" b="1" dirty="0"/>
              <a:t>alternative age grouping </a:t>
            </a:r>
            <a:r>
              <a:rPr lang="en-GB" dirty="0"/>
              <a:t>strategies for classification, especially to improve Crab dataset performance.</a:t>
            </a:r>
          </a:p>
        </p:txBody>
      </p:sp>
      <p:sp>
        <p:nvSpPr>
          <p:cNvPr id="2595" name="Google Shape;2595;p35">
            <a:extLst>
              <a:ext uri="{FF2B5EF4-FFF2-40B4-BE49-F238E27FC236}">
                <a16:creationId xmlns:a16="http://schemas.microsoft.com/office/drawing/2014/main" id="{0161BCEC-DD17-FA71-6C0B-9BCE86C25BAA}"/>
              </a:ext>
            </a:extLst>
          </p:cNvPr>
          <p:cNvSpPr txBox="1">
            <a:spLocks/>
          </p:cNvSpPr>
          <p:nvPr/>
        </p:nvSpPr>
        <p:spPr>
          <a:xfrm>
            <a:off x="9128503" y="4997036"/>
            <a:ext cx="7791554" cy="7416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Future Work</a:t>
            </a:r>
            <a:endParaRPr lang="en-US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sp>
        <p:nvSpPr>
          <p:cNvPr id="2596" name="Google Shape;2596;p35">
            <a:extLst>
              <a:ext uri="{FF2B5EF4-FFF2-40B4-BE49-F238E27FC236}">
                <a16:creationId xmlns:a16="http://schemas.microsoft.com/office/drawing/2014/main" id="{59BA26AF-73BB-1158-85B7-D2D6D8948DDE}"/>
              </a:ext>
            </a:extLst>
          </p:cNvPr>
          <p:cNvSpPr/>
          <p:nvPr/>
        </p:nvSpPr>
        <p:spPr>
          <a:xfrm rot="21287543">
            <a:off x="2940936" y="2226011"/>
            <a:ext cx="2464408" cy="2161486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/>
          </a:p>
        </p:txBody>
      </p:sp>
      <p:sp>
        <p:nvSpPr>
          <p:cNvPr id="2597" name="Google Shape;2597;p35">
            <a:extLst>
              <a:ext uri="{FF2B5EF4-FFF2-40B4-BE49-F238E27FC236}">
                <a16:creationId xmlns:a16="http://schemas.microsoft.com/office/drawing/2014/main" id="{3A5078C7-20D8-6A15-E922-02ECC259C9FC}"/>
              </a:ext>
            </a:extLst>
          </p:cNvPr>
          <p:cNvSpPr/>
          <p:nvPr/>
        </p:nvSpPr>
        <p:spPr>
          <a:xfrm rot="352083">
            <a:off x="11336972" y="1787983"/>
            <a:ext cx="3052348" cy="29687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2598" name="Google Shape;2598;p35">
            <a:extLst>
              <a:ext uri="{FF2B5EF4-FFF2-40B4-BE49-F238E27FC236}">
                <a16:creationId xmlns:a16="http://schemas.microsoft.com/office/drawing/2014/main" id="{E26ABA05-DB20-320C-CC2B-473EC58423EA}"/>
              </a:ext>
            </a:extLst>
          </p:cNvPr>
          <p:cNvSpPr/>
          <p:nvPr/>
        </p:nvSpPr>
        <p:spPr>
          <a:xfrm rot="351950">
            <a:off x="11536287" y="2032723"/>
            <a:ext cx="2567658" cy="247930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FB4C9D-0961-EEBD-15F6-ECE1DE6C1AD8}"/>
              </a:ext>
            </a:extLst>
          </p:cNvPr>
          <p:cNvCxnSpPr/>
          <p:nvPr/>
        </p:nvCxnSpPr>
        <p:spPr>
          <a:xfrm>
            <a:off x="10251414" y="5324559"/>
            <a:ext cx="0" cy="483904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6DD39A-1E46-875A-8A16-234E0939FC4D}"/>
              </a:ext>
            </a:extLst>
          </p:cNvPr>
          <p:cNvSpPr txBox="1"/>
          <p:nvPr/>
        </p:nvSpPr>
        <p:spPr>
          <a:xfrm>
            <a:off x="1371600" y="530498"/>
            <a:ext cx="162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kern="0" dirty="0">
                <a:solidFill>
                  <a:srgbClr val="0070C0"/>
                </a:solidFill>
                <a:latin typeface="Poppins ExtraBold"/>
                <a:cs typeface="Poppins ExtraBold"/>
                <a:sym typeface="Poppins ExtraBold"/>
              </a:rPr>
              <a:t>Conclusion &amp; Future Work</a:t>
            </a:r>
            <a:endParaRPr lang="en-US" sz="5400" kern="0" dirty="0">
              <a:solidFill>
                <a:srgbClr val="0070C0"/>
              </a:solidFill>
              <a:latin typeface="Poppins ExtraBold"/>
              <a:cs typeface="Poppins ExtraBold"/>
              <a:sym typeface="Poppins ExtraBold"/>
            </a:endParaRPr>
          </a:p>
        </p:txBody>
      </p:sp>
      <p:grpSp>
        <p:nvGrpSpPr>
          <p:cNvPr id="25" name="Group 21">
            <a:extLst>
              <a:ext uri="{FF2B5EF4-FFF2-40B4-BE49-F238E27FC236}">
                <a16:creationId xmlns:a16="http://schemas.microsoft.com/office/drawing/2014/main" id="{5525CBF3-94E8-F019-B724-F114BE8693F8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E7C062D7-5EBA-1793-F493-D28730CCC7F4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E2C07794-7BF0-64EC-C8BC-2DB5ADD4C00E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4">
            <a:extLst>
              <a:ext uri="{FF2B5EF4-FFF2-40B4-BE49-F238E27FC236}">
                <a16:creationId xmlns:a16="http://schemas.microsoft.com/office/drawing/2014/main" id="{D927F721-739A-21C8-7A59-2E8D48D166D9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26</a:t>
            </a:r>
          </a:p>
        </p:txBody>
      </p:sp>
      <p:pic>
        <p:nvPicPr>
          <p:cNvPr id="22533" name="Picture 5" descr="Megaphone icon with speech bubble in word conclusion on white background  Stock Vector Image &amp; Art - Alamy">
            <a:extLst>
              <a:ext uri="{FF2B5EF4-FFF2-40B4-BE49-F238E27FC236}">
                <a16:creationId xmlns:a16="http://schemas.microsoft.com/office/drawing/2014/main" id="{29AC4622-8D96-EC37-164D-0A7B14628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75"/>
          <a:stretch>
            <a:fillRect/>
          </a:stretch>
        </p:blipFill>
        <p:spPr bwMode="auto">
          <a:xfrm rot="21228307">
            <a:off x="3210954" y="2440889"/>
            <a:ext cx="1888457" cy="158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5" name="Picture 7" descr="Future - Free technology icons">
            <a:extLst>
              <a:ext uri="{FF2B5EF4-FFF2-40B4-BE49-F238E27FC236}">
                <a16:creationId xmlns:a16="http://schemas.microsoft.com/office/drawing/2014/main" id="{F2A1F942-320E-C6FC-2FD8-1704E1D46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2247">
            <a:off x="12022657" y="2224500"/>
            <a:ext cx="1751252" cy="175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88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27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309804" y="190500"/>
            <a:ext cx="13648016" cy="1364801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330180" y="0"/>
            <a:ext cx="13742164" cy="14256024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3357194" y="1237889"/>
            <a:ext cx="11553237" cy="1155323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49114" y="643510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410448" y="6368821"/>
            <a:ext cx="1634041" cy="1634041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5181734" y="559690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5143067" y="5530621"/>
            <a:ext cx="1634041" cy="163404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72458" y="2909694"/>
            <a:ext cx="6322709" cy="320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1602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1950"/>
              </a:lnSpc>
            </a:pPr>
            <a:r>
              <a:rPr lang="en-US" sz="11602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sp>
        <p:nvSpPr>
          <p:cNvPr id="38" name="Google Shape;2657;p37">
            <a:extLst>
              <a:ext uri="{FF2B5EF4-FFF2-40B4-BE49-F238E27FC236}">
                <a16:creationId xmlns:a16="http://schemas.microsoft.com/office/drawing/2014/main" id="{877CC537-E4D2-8733-2E3B-3D182B064416}"/>
              </a:ext>
            </a:extLst>
          </p:cNvPr>
          <p:cNvSpPr txBox="1">
            <a:spLocks/>
          </p:cNvSpPr>
          <p:nvPr/>
        </p:nvSpPr>
        <p:spPr>
          <a:xfrm>
            <a:off x="3141178" y="5219700"/>
            <a:ext cx="12168860" cy="246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ExtraBold"/>
              <a:buNone/>
              <a:defRPr sz="1800" b="1" i="0" u="none" strike="noStrike" cap="none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5400" dirty="0"/>
              <a:t>Feel free to ask any questions!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1049</Words>
  <Application>Microsoft Office PowerPoint</Application>
  <PresentationFormat>Custom</PresentationFormat>
  <Paragraphs>222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Poppins Bold</vt:lpstr>
      <vt:lpstr>Times New Roman</vt:lpstr>
      <vt:lpstr>Wingdings</vt:lpstr>
      <vt:lpstr>Poppins ExtraBold</vt:lpstr>
      <vt:lpstr>Barlow Bold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Pitch Deck Presentation</dc:title>
  <dc:creator>Md. Maruf Hasan</dc:creator>
  <cp:lastModifiedBy>Md Maruf Hasan</cp:lastModifiedBy>
  <cp:revision>53</cp:revision>
  <dcterms:created xsi:type="dcterms:W3CDTF">2006-08-16T00:00:00Z</dcterms:created>
  <dcterms:modified xsi:type="dcterms:W3CDTF">2025-09-02T00:38:10Z</dcterms:modified>
  <dc:identifier>DAGnvcx82iM</dc:identifier>
</cp:coreProperties>
</file>