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26"/>
  </p:notesMasterIdLst>
  <p:sldIdLst>
    <p:sldId id="281" r:id="rId2"/>
    <p:sldId id="283" r:id="rId3"/>
    <p:sldId id="349" r:id="rId4"/>
    <p:sldId id="350" r:id="rId5"/>
    <p:sldId id="351" r:id="rId6"/>
    <p:sldId id="331" r:id="rId7"/>
    <p:sldId id="332" r:id="rId8"/>
    <p:sldId id="333" r:id="rId9"/>
    <p:sldId id="327" r:id="rId10"/>
    <p:sldId id="334" r:id="rId11"/>
    <p:sldId id="335" r:id="rId12"/>
    <p:sldId id="336" r:id="rId13"/>
    <p:sldId id="337" r:id="rId14"/>
    <p:sldId id="338" r:id="rId15"/>
    <p:sldId id="339" r:id="rId16"/>
    <p:sldId id="340" r:id="rId17"/>
    <p:sldId id="342" r:id="rId18"/>
    <p:sldId id="343" r:id="rId19"/>
    <p:sldId id="344" r:id="rId20"/>
    <p:sldId id="345" r:id="rId21"/>
    <p:sldId id="346" r:id="rId22"/>
    <p:sldId id="347" r:id="rId23"/>
    <p:sldId id="348" r:id="rId24"/>
    <p:sldId id="265" r:id="rId25"/>
  </p:sldIdLst>
  <p:sldSz cx="18288000" cy="10287000"/>
  <p:notesSz cx="6858000" cy="9144000"/>
  <p:embeddedFontLst>
    <p:embeddedFont>
      <p:font typeface="Barlow Bold" panose="020B0604020202020204" charset="0"/>
      <p:bold r:id="rId27"/>
    </p:embeddedFont>
    <p:embeddedFont>
      <p:font typeface="Poppins" panose="00000500000000000000" pitchFamily="2" charset="0"/>
      <p:regular r:id="rId28"/>
      <p:bold r:id="rId29"/>
      <p:italic r:id="rId30"/>
      <p:boldItalic r:id="rId31"/>
    </p:embeddedFont>
    <p:embeddedFont>
      <p:font typeface="Poppins Bold" panose="00000800000000000000" charset="0"/>
      <p:regular r:id="rId32"/>
    </p:embeddedFont>
    <p:embeddedFont>
      <p:font typeface="Poppins ExtraBold" panose="00000900000000000000" pitchFamily="2" charset="0"/>
      <p:bold r:id="rId33"/>
      <p:boldItalic r:id="rId34"/>
    </p:embeddedFont>
    <p:embeddedFont>
      <p:font typeface="Source Serif Pro" panose="02040603050405020204" pitchFamily="18" charset="0"/>
      <p:regular r:id="rId35"/>
      <p:bold r:id="rId36"/>
      <p:italic r:id="rId37"/>
      <p:boldItalic r:id="rId3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Md Maruf Hasan" initials="MH" lastIdx="1" clrIdx="0">
    <p:extLst>
      <p:ext uri="{19B8F6BF-5375-455C-9EA6-DF929625EA0E}">
        <p15:presenceInfo xmlns:p15="http://schemas.microsoft.com/office/powerpoint/2012/main" userId="11ed67af03ec3923"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A6AD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8182" autoAdjust="0"/>
    <p:restoredTop sz="94622" autoAdjust="0"/>
  </p:normalViewPr>
  <p:slideViewPr>
    <p:cSldViewPr>
      <p:cViewPr varScale="1">
        <p:scale>
          <a:sx n="41" d="100"/>
          <a:sy n="41" d="100"/>
        </p:scale>
        <p:origin x="720" y="8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9" Type="http://schemas.openxmlformats.org/officeDocument/2006/relationships/commentAuthors" Target="commentAuthors.xml"/><Relationship Id="rId21" Type="http://schemas.openxmlformats.org/officeDocument/2006/relationships/slide" Target="slides/slide20.xml"/><Relationship Id="rId34" Type="http://schemas.openxmlformats.org/officeDocument/2006/relationships/font" Target="fonts/font8.fntdata"/><Relationship Id="rId42"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3.fntdata"/><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6.fntdata"/><Relationship Id="rId37" Type="http://schemas.openxmlformats.org/officeDocument/2006/relationships/font" Target="fonts/font11.fntdata"/><Relationship Id="rId40"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2.fntdata"/><Relationship Id="rId36" Type="http://schemas.openxmlformats.org/officeDocument/2006/relationships/font" Target="fonts/font10.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5.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1.fntdata"/><Relationship Id="rId30" Type="http://schemas.openxmlformats.org/officeDocument/2006/relationships/font" Target="fonts/font4.fntdata"/><Relationship Id="rId35" Type="http://schemas.openxmlformats.org/officeDocument/2006/relationships/font" Target="fonts/font9.fntdata"/><Relationship Id="rId43"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7.fntdata"/><Relationship Id="rId38" Type="http://schemas.openxmlformats.org/officeDocument/2006/relationships/font" Target="fonts/font12.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775DC7-6A47-4C11-B7D0-CD27F3A261F6}" type="datetimeFigureOut">
              <a:rPr lang="en-US" smtClean="0"/>
              <a:t>8/13/2025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FD101FC-43B9-4C53-9137-63A27D5AB7A6}" type="slidenum">
              <a:rPr lang="en-US" smtClean="0"/>
              <a:t>‹#›</a:t>
            </a:fld>
            <a:endParaRPr lang="en-US"/>
          </a:p>
        </p:txBody>
      </p:sp>
    </p:spTree>
    <p:extLst>
      <p:ext uri="{BB962C8B-B14F-4D97-AF65-F5344CB8AC3E}">
        <p14:creationId xmlns:p14="http://schemas.microsoft.com/office/powerpoint/2010/main" val="298577416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FD101FC-43B9-4C53-9137-63A27D5AB7A6}" type="slidenum">
              <a:rPr lang="en-US" smtClean="0"/>
              <a:t>1</a:t>
            </a:fld>
            <a:endParaRPr lang="en-US"/>
          </a:p>
        </p:txBody>
      </p:sp>
    </p:spTree>
    <p:extLst>
      <p:ext uri="{BB962C8B-B14F-4D97-AF65-F5344CB8AC3E}">
        <p14:creationId xmlns:p14="http://schemas.microsoft.com/office/powerpoint/2010/main" val="298685490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FD101FC-43B9-4C53-9137-63A27D5AB7A6}" type="slidenum">
              <a:rPr lang="en-US" smtClean="0"/>
              <a:t>21</a:t>
            </a:fld>
            <a:endParaRPr lang="en-US"/>
          </a:p>
        </p:txBody>
      </p:sp>
    </p:spTree>
    <p:extLst>
      <p:ext uri="{BB962C8B-B14F-4D97-AF65-F5344CB8AC3E}">
        <p14:creationId xmlns:p14="http://schemas.microsoft.com/office/powerpoint/2010/main" val="233604851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8/13/2025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Click="0">
        <p159:morph option="byObject"/>
      </p:transition>
    </mc:Choice>
    <mc:Fallback xmlns="">
      <p:transition spd="slow" advClick="0">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8/13/2025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Click="0">
        <p159:morph option="byObject"/>
      </p:transition>
    </mc:Choice>
    <mc:Fallback xmlns="">
      <p:transition spd="slow" advClick="0">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Click="0">
        <p159:morph option="byObject"/>
      </p:transition>
    </mc:Choice>
    <mc:Fallback xmlns="">
      <p:transition spd="slow" advClick="0">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8/13/2025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Click="0">
        <p159:morph option="byObject"/>
      </p:transition>
    </mc:Choice>
    <mc:Fallback xmlns="">
      <p:transition spd="slow" advClick="0">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8/13/2025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Click="0">
        <p159:morph option="byObject"/>
      </p:transition>
    </mc:Choice>
    <mc:Fallback xmlns="">
      <p:transition spd="slow" advClick="0">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8/13/2025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Click="0">
        <p159:morph option="byObject"/>
      </p:transition>
    </mc:Choice>
    <mc:Fallback xmlns="">
      <p:transition spd="slow" advClick="0">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8/13/2025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Click="0">
        <p159:morph option="byObject"/>
      </p:transition>
    </mc:Choice>
    <mc:Fallback xmlns="">
      <p:transition spd="slow" advClick="0">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Click="0">
        <p159:morph option="byObject"/>
      </p:transition>
    </mc:Choice>
    <mc:Fallback xmlns="">
      <p:transition spd="slow" advClick="0">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Click="0">
        <p159:morph option="byObject"/>
      </p:transition>
    </mc:Choice>
    <mc:Fallback xmlns="">
      <p:transition spd="slow" advClick="0">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8/13/2025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Click="0">
        <p159:morph option="byObject"/>
      </p:transition>
    </mc:Choice>
    <mc:Fallback xmlns="">
      <p:transition spd="slow" advClick="0">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8/13/2025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Click="0">
        <p159:morph option="byObject"/>
      </p:transition>
    </mc:Choice>
    <mc:Fallback xmlns="">
      <p:transition spd="slow" advClick="0">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8/13/2025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mc:AlternateContent xmlns:mc="http://schemas.openxmlformats.org/markup-compatibility/2006" xmlns:p159="http://schemas.microsoft.com/office/powerpoint/2015/09/main">
    <mc:Choice Requires="p159">
      <p:transition xmlns:p14="http://schemas.microsoft.com/office/powerpoint/2010/main" spd="slow" p14:dur="2000" advClick="0">
        <p159:morph option="byObject"/>
      </p:transition>
    </mc:Choice>
    <mc:Fallback xmlns="">
      <p:transition spd="slow" advClick="0">
        <p:fade/>
      </p:transition>
    </mc:Fallback>
  </mc:AlternateConten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 Id="rId5" Type="http://schemas.microsoft.com/office/2007/relationships/hdphoto" Target="../media/hdphoto1.wdp"/><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7.xml"/><Relationship Id="rId4" Type="http://schemas.openxmlformats.org/officeDocument/2006/relationships/image" Target="../media/image22.png"/></Relationships>
</file>

<file path=ppt/slides/_rels/slide22.xml.rels><?xml version="1.0" encoding="UTF-8" standalone="yes"?>
<Relationships xmlns="http://schemas.openxmlformats.org/package/2006/relationships"><Relationship Id="rId3" Type="http://schemas.openxmlformats.org/officeDocument/2006/relationships/hyperlink" Target="https://codecarbon.io/" TargetMode="External"/><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BA7709-E197-D447-474B-9D32F650B5F0}"/>
            </a:ext>
          </a:extLst>
        </p:cNvPr>
        <p:cNvGrpSpPr/>
        <p:nvPr/>
      </p:nvGrpSpPr>
      <p:grpSpPr>
        <a:xfrm>
          <a:off x="0" y="0"/>
          <a:ext cx="0" cy="0"/>
          <a:chOff x="0" y="0"/>
          <a:chExt cx="0" cy="0"/>
        </a:xfrm>
      </p:grpSpPr>
      <p:grpSp>
        <p:nvGrpSpPr>
          <p:cNvPr id="8" name="Group 8">
            <a:extLst>
              <a:ext uri="{FF2B5EF4-FFF2-40B4-BE49-F238E27FC236}">
                <a16:creationId xmlns:a16="http://schemas.microsoft.com/office/drawing/2014/main" id="{70DF3728-47EF-9653-D478-EB18C051581A}"/>
              </a:ext>
            </a:extLst>
          </p:cNvPr>
          <p:cNvGrpSpPr/>
          <p:nvPr/>
        </p:nvGrpSpPr>
        <p:grpSpPr>
          <a:xfrm>
            <a:off x="2319992" y="-1680508"/>
            <a:ext cx="13648016" cy="13648016"/>
            <a:chOff x="0" y="0"/>
            <a:chExt cx="812800" cy="812800"/>
          </a:xfrm>
        </p:grpSpPr>
        <p:sp>
          <p:nvSpPr>
            <p:cNvPr id="9" name="Freeform 9">
              <a:extLst>
                <a:ext uri="{FF2B5EF4-FFF2-40B4-BE49-F238E27FC236}">
                  <a16:creationId xmlns:a16="http://schemas.microsoft.com/office/drawing/2014/main" id="{25066C9B-21DE-21D2-9675-1666D445DD3F}"/>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8F8F8"/>
            </a:solidFill>
          </p:spPr>
        </p:sp>
        <p:sp>
          <p:nvSpPr>
            <p:cNvPr id="10" name="TextBox 10">
              <a:extLst>
                <a:ext uri="{FF2B5EF4-FFF2-40B4-BE49-F238E27FC236}">
                  <a16:creationId xmlns:a16="http://schemas.microsoft.com/office/drawing/2014/main" id="{4344E0AD-C28F-9AD2-247D-885A6B876BEA}"/>
                </a:ext>
              </a:extLst>
            </p:cNvPr>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11" name="Freeform 11">
            <a:extLst>
              <a:ext uri="{FF2B5EF4-FFF2-40B4-BE49-F238E27FC236}">
                <a16:creationId xmlns:a16="http://schemas.microsoft.com/office/drawing/2014/main" id="{2EDA9E89-CD42-AB39-D969-897C5D28C564}"/>
              </a:ext>
            </a:extLst>
          </p:cNvPr>
          <p:cNvSpPr/>
          <p:nvPr/>
        </p:nvSpPr>
        <p:spPr>
          <a:xfrm>
            <a:off x="3640768" y="-164456"/>
            <a:ext cx="11725929" cy="11711272"/>
          </a:xfrm>
          <a:custGeom>
            <a:avLst/>
            <a:gdLst/>
            <a:ahLst/>
            <a:cxnLst/>
            <a:rect l="l" t="t" r="r" b="b"/>
            <a:pathLst>
              <a:path w="11725929" h="11711272">
                <a:moveTo>
                  <a:pt x="0" y="0"/>
                </a:moveTo>
                <a:lnTo>
                  <a:pt x="11725929" y="0"/>
                </a:lnTo>
                <a:lnTo>
                  <a:pt x="11725929" y="11711272"/>
                </a:lnTo>
                <a:lnTo>
                  <a:pt x="0" y="11711272"/>
                </a:lnTo>
                <a:lnTo>
                  <a:pt x="0" y="0"/>
                </a:lnTo>
                <a:close/>
              </a:path>
            </a:pathLst>
          </a:custGeom>
          <a:blipFill>
            <a:blip r:embed="rId3"/>
            <a:stretch>
              <a:fillRect/>
            </a:stretch>
          </a:blipFill>
        </p:spPr>
      </p:sp>
      <p:grpSp>
        <p:nvGrpSpPr>
          <p:cNvPr id="12" name="Group 12">
            <a:extLst>
              <a:ext uri="{FF2B5EF4-FFF2-40B4-BE49-F238E27FC236}">
                <a16:creationId xmlns:a16="http://schemas.microsoft.com/office/drawing/2014/main" id="{E3A5B0E9-9478-60B5-D36F-E0011853D774}"/>
              </a:ext>
            </a:extLst>
          </p:cNvPr>
          <p:cNvGrpSpPr/>
          <p:nvPr/>
        </p:nvGrpSpPr>
        <p:grpSpPr>
          <a:xfrm>
            <a:off x="3367381" y="-633119"/>
            <a:ext cx="11553237" cy="11553237"/>
            <a:chOff x="0" y="0"/>
            <a:chExt cx="812800" cy="812800"/>
          </a:xfrm>
        </p:grpSpPr>
        <p:sp>
          <p:nvSpPr>
            <p:cNvPr id="13" name="Freeform 13">
              <a:extLst>
                <a:ext uri="{FF2B5EF4-FFF2-40B4-BE49-F238E27FC236}">
                  <a16:creationId xmlns:a16="http://schemas.microsoft.com/office/drawing/2014/main" id="{D427DB87-F61D-C057-C9C3-DA8101AE49DF}"/>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id="14" name="TextBox 14">
              <a:extLst>
                <a:ext uri="{FF2B5EF4-FFF2-40B4-BE49-F238E27FC236}">
                  <a16:creationId xmlns:a16="http://schemas.microsoft.com/office/drawing/2014/main" id="{CAF737D0-FCC4-EEE3-7DE9-52FE9833CA1E}"/>
                </a:ext>
              </a:extLst>
            </p:cNvPr>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15" name="Freeform 15">
            <a:extLst>
              <a:ext uri="{FF2B5EF4-FFF2-40B4-BE49-F238E27FC236}">
                <a16:creationId xmlns:a16="http://schemas.microsoft.com/office/drawing/2014/main" id="{FF014014-9709-A274-02C4-B5E75C78960F}"/>
              </a:ext>
            </a:extLst>
          </p:cNvPr>
          <p:cNvSpPr/>
          <p:nvPr/>
        </p:nvSpPr>
        <p:spPr>
          <a:xfrm>
            <a:off x="3439136" y="272878"/>
            <a:ext cx="1626093" cy="1371600"/>
          </a:xfrm>
          <a:custGeom>
            <a:avLst/>
            <a:gdLst/>
            <a:ahLst/>
            <a:cxnLst/>
            <a:rect l="l" t="t" r="r" b="b"/>
            <a:pathLst>
              <a:path w="1658466" h="1656393">
                <a:moveTo>
                  <a:pt x="0" y="0"/>
                </a:moveTo>
                <a:lnTo>
                  <a:pt x="1658465" y="0"/>
                </a:lnTo>
                <a:lnTo>
                  <a:pt x="1658465" y="1656393"/>
                </a:lnTo>
                <a:lnTo>
                  <a:pt x="0" y="1656393"/>
                </a:lnTo>
                <a:lnTo>
                  <a:pt x="0" y="0"/>
                </a:lnTo>
                <a:close/>
              </a:path>
            </a:pathLst>
          </a:custGeom>
          <a:blipFill>
            <a:blip r:embed="rId3"/>
            <a:stretch>
              <a:fillRect/>
            </a:stretch>
          </a:blipFill>
        </p:spPr>
      </p:sp>
      <p:grpSp>
        <p:nvGrpSpPr>
          <p:cNvPr id="16" name="Group 16">
            <a:extLst>
              <a:ext uri="{FF2B5EF4-FFF2-40B4-BE49-F238E27FC236}">
                <a16:creationId xmlns:a16="http://schemas.microsoft.com/office/drawing/2014/main" id="{6896A562-C03C-ED0E-9A32-BD876E5C5A82}"/>
              </a:ext>
            </a:extLst>
          </p:cNvPr>
          <p:cNvGrpSpPr/>
          <p:nvPr/>
        </p:nvGrpSpPr>
        <p:grpSpPr>
          <a:xfrm>
            <a:off x="3591536" y="328289"/>
            <a:ext cx="1187681" cy="1088509"/>
            <a:chOff x="0" y="0"/>
            <a:chExt cx="812800" cy="812800"/>
          </a:xfrm>
        </p:grpSpPr>
        <p:sp>
          <p:nvSpPr>
            <p:cNvPr id="17" name="Freeform 17">
              <a:extLst>
                <a:ext uri="{FF2B5EF4-FFF2-40B4-BE49-F238E27FC236}">
                  <a16:creationId xmlns:a16="http://schemas.microsoft.com/office/drawing/2014/main" id="{8D5D4445-3374-ADA2-5AB7-9D1FB59A1D6C}"/>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id="18" name="TextBox 18">
              <a:extLst>
                <a:ext uri="{FF2B5EF4-FFF2-40B4-BE49-F238E27FC236}">
                  <a16:creationId xmlns:a16="http://schemas.microsoft.com/office/drawing/2014/main" id="{3EEB858E-EB37-89AF-BA4B-649A6286112A}"/>
                </a:ext>
              </a:extLst>
            </p:cNvPr>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20" name="Freeform 20">
            <a:extLst>
              <a:ext uri="{FF2B5EF4-FFF2-40B4-BE49-F238E27FC236}">
                <a16:creationId xmlns:a16="http://schemas.microsoft.com/office/drawing/2014/main" id="{64598AF8-564A-741F-B4C5-19E165D05260}"/>
              </a:ext>
            </a:extLst>
          </p:cNvPr>
          <p:cNvSpPr/>
          <p:nvPr/>
        </p:nvSpPr>
        <p:spPr>
          <a:xfrm>
            <a:off x="13251956" y="305395"/>
            <a:ext cx="1411964" cy="1264060"/>
          </a:xfrm>
          <a:custGeom>
            <a:avLst/>
            <a:gdLst/>
            <a:ahLst/>
            <a:cxnLst/>
            <a:rect l="l" t="t" r="r" b="b"/>
            <a:pathLst>
              <a:path w="1658466" h="1656393">
                <a:moveTo>
                  <a:pt x="0" y="0"/>
                </a:moveTo>
                <a:lnTo>
                  <a:pt x="1658466" y="0"/>
                </a:lnTo>
                <a:lnTo>
                  <a:pt x="1658466" y="1656393"/>
                </a:lnTo>
                <a:lnTo>
                  <a:pt x="0" y="1656393"/>
                </a:lnTo>
                <a:lnTo>
                  <a:pt x="0" y="0"/>
                </a:lnTo>
                <a:close/>
              </a:path>
            </a:pathLst>
          </a:custGeom>
          <a:blipFill>
            <a:blip r:embed="rId3"/>
            <a:stretch>
              <a:fillRect/>
            </a:stretch>
          </a:blipFill>
        </p:spPr>
        <p:txBody>
          <a:bodyPr/>
          <a:lstStyle/>
          <a:p>
            <a:endParaRPr lang="en-US" dirty="0"/>
          </a:p>
        </p:txBody>
      </p:sp>
      <p:grpSp>
        <p:nvGrpSpPr>
          <p:cNvPr id="21" name="Group 21">
            <a:extLst>
              <a:ext uri="{FF2B5EF4-FFF2-40B4-BE49-F238E27FC236}">
                <a16:creationId xmlns:a16="http://schemas.microsoft.com/office/drawing/2014/main" id="{8E79233A-244F-7136-B585-71C91C25103D}"/>
              </a:ext>
            </a:extLst>
          </p:cNvPr>
          <p:cNvGrpSpPr/>
          <p:nvPr/>
        </p:nvGrpSpPr>
        <p:grpSpPr>
          <a:xfrm>
            <a:off x="13266604" y="413889"/>
            <a:ext cx="1248014" cy="969496"/>
            <a:chOff x="-743161" y="563222"/>
            <a:chExt cx="1885501" cy="752714"/>
          </a:xfrm>
        </p:grpSpPr>
        <p:sp>
          <p:nvSpPr>
            <p:cNvPr id="22" name="Freeform 22">
              <a:extLst>
                <a:ext uri="{FF2B5EF4-FFF2-40B4-BE49-F238E27FC236}">
                  <a16:creationId xmlns:a16="http://schemas.microsoft.com/office/drawing/2014/main" id="{F5472DC7-488F-B4C0-BABE-3046FB7D88E5}"/>
                </a:ext>
              </a:extLst>
            </p:cNvPr>
            <p:cNvSpPr/>
            <p:nvPr/>
          </p:nvSpPr>
          <p:spPr>
            <a:xfrm>
              <a:off x="-743161" y="563222"/>
              <a:ext cx="1885501" cy="752714"/>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id="23" name="TextBox 23">
              <a:extLst>
                <a:ext uri="{FF2B5EF4-FFF2-40B4-BE49-F238E27FC236}">
                  <a16:creationId xmlns:a16="http://schemas.microsoft.com/office/drawing/2014/main" id="{53E21930-784D-D394-EB4F-AF7BF17AACA0}"/>
                </a:ext>
              </a:extLst>
            </p:cNvPr>
            <p:cNvSpPr txBox="1"/>
            <p:nvPr/>
          </p:nvSpPr>
          <p:spPr>
            <a:xfrm>
              <a:off x="76200" y="580057"/>
              <a:ext cx="660400" cy="698500"/>
            </a:xfrm>
            <a:prstGeom prst="rect">
              <a:avLst/>
            </a:prstGeom>
          </p:spPr>
          <p:txBody>
            <a:bodyPr lIns="50800" tIns="50800" rIns="50800" bIns="50800" rtlCol="0" anchor="ctr"/>
            <a:lstStyle/>
            <a:p>
              <a:pPr algn="ctr">
                <a:lnSpc>
                  <a:spcPts val="2659"/>
                </a:lnSpc>
                <a:spcBef>
                  <a:spcPct val="0"/>
                </a:spcBef>
              </a:pPr>
              <a:endParaRPr/>
            </a:p>
          </p:txBody>
        </p:sp>
      </p:grpSp>
      <p:grpSp>
        <p:nvGrpSpPr>
          <p:cNvPr id="30" name="Group 30">
            <a:extLst>
              <a:ext uri="{FF2B5EF4-FFF2-40B4-BE49-F238E27FC236}">
                <a16:creationId xmlns:a16="http://schemas.microsoft.com/office/drawing/2014/main" id="{EF859417-B8E4-27B2-0006-E7C79ED0A9E1}"/>
              </a:ext>
            </a:extLst>
          </p:cNvPr>
          <p:cNvGrpSpPr/>
          <p:nvPr/>
        </p:nvGrpSpPr>
        <p:grpSpPr>
          <a:xfrm>
            <a:off x="17491799" y="8458418"/>
            <a:ext cx="951769" cy="799882"/>
            <a:chOff x="0" y="0"/>
            <a:chExt cx="967140" cy="812800"/>
          </a:xfrm>
        </p:grpSpPr>
        <p:sp>
          <p:nvSpPr>
            <p:cNvPr id="31" name="Freeform 31">
              <a:extLst>
                <a:ext uri="{FF2B5EF4-FFF2-40B4-BE49-F238E27FC236}">
                  <a16:creationId xmlns:a16="http://schemas.microsoft.com/office/drawing/2014/main" id="{746B5D5E-592A-8517-D0E7-652EFC5E3B93}"/>
                </a:ext>
              </a:extLst>
            </p:cNvPr>
            <p:cNvSpPr/>
            <p:nvPr/>
          </p:nvSpPr>
          <p:spPr>
            <a:xfrm>
              <a:off x="0" y="0"/>
              <a:ext cx="967140" cy="812800"/>
            </a:xfrm>
            <a:custGeom>
              <a:avLst/>
              <a:gdLst/>
              <a:ahLst/>
              <a:cxnLst/>
              <a:rect l="l" t="t" r="r" b="b"/>
              <a:pathLst>
                <a:path w="967140" h="812800">
                  <a:moveTo>
                    <a:pt x="81342" y="0"/>
                  </a:moveTo>
                  <a:lnTo>
                    <a:pt x="885798" y="0"/>
                  </a:lnTo>
                  <a:cubicBezTo>
                    <a:pt x="907371" y="0"/>
                    <a:pt x="928061" y="8570"/>
                    <a:pt x="943315" y="23825"/>
                  </a:cubicBezTo>
                  <a:cubicBezTo>
                    <a:pt x="958570" y="39079"/>
                    <a:pt x="967140" y="59769"/>
                    <a:pt x="967140" y="81342"/>
                  </a:cubicBezTo>
                  <a:lnTo>
                    <a:pt x="967140" y="731458"/>
                  </a:lnTo>
                  <a:cubicBezTo>
                    <a:pt x="967140" y="776382"/>
                    <a:pt x="930722" y="812800"/>
                    <a:pt x="885798" y="812800"/>
                  </a:cubicBezTo>
                  <a:lnTo>
                    <a:pt x="81342" y="812800"/>
                  </a:lnTo>
                  <a:cubicBezTo>
                    <a:pt x="59769" y="812800"/>
                    <a:pt x="39079" y="804230"/>
                    <a:pt x="23825" y="788975"/>
                  </a:cubicBezTo>
                  <a:cubicBezTo>
                    <a:pt x="8570" y="773721"/>
                    <a:pt x="0" y="753031"/>
                    <a:pt x="0" y="731458"/>
                  </a:cubicBezTo>
                  <a:lnTo>
                    <a:pt x="0" y="81342"/>
                  </a:lnTo>
                  <a:cubicBezTo>
                    <a:pt x="0" y="59769"/>
                    <a:pt x="8570" y="39079"/>
                    <a:pt x="23825" y="23825"/>
                  </a:cubicBezTo>
                  <a:cubicBezTo>
                    <a:pt x="39079" y="8570"/>
                    <a:pt x="59769" y="0"/>
                    <a:pt x="81342" y="0"/>
                  </a:cubicBezTo>
                  <a:close/>
                </a:path>
              </a:pathLst>
            </a:custGeom>
            <a:solidFill>
              <a:srgbClr val="3A6AD6"/>
            </a:solidFill>
          </p:spPr>
        </p:sp>
        <p:sp>
          <p:nvSpPr>
            <p:cNvPr id="32" name="TextBox 32">
              <a:extLst>
                <a:ext uri="{FF2B5EF4-FFF2-40B4-BE49-F238E27FC236}">
                  <a16:creationId xmlns:a16="http://schemas.microsoft.com/office/drawing/2014/main" id="{99C95F3E-79A1-F1C5-87C5-2C2AEAA9E137}"/>
                </a:ext>
              </a:extLst>
            </p:cNvPr>
            <p:cNvSpPr txBox="1"/>
            <p:nvPr/>
          </p:nvSpPr>
          <p:spPr>
            <a:xfrm>
              <a:off x="0" y="-38100"/>
              <a:ext cx="967140" cy="850900"/>
            </a:xfrm>
            <a:prstGeom prst="rect">
              <a:avLst/>
            </a:prstGeom>
          </p:spPr>
          <p:txBody>
            <a:bodyPr lIns="50800" tIns="50800" rIns="50800" bIns="50800" rtlCol="0" anchor="ctr"/>
            <a:lstStyle/>
            <a:p>
              <a:pPr algn="ctr">
                <a:lnSpc>
                  <a:spcPts val="2659"/>
                </a:lnSpc>
              </a:pPr>
              <a:endParaRPr/>
            </a:p>
          </p:txBody>
        </p:sp>
      </p:grpSp>
      <p:sp>
        <p:nvSpPr>
          <p:cNvPr id="42" name="TextBox 42">
            <a:extLst>
              <a:ext uri="{FF2B5EF4-FFF2-40B4-BE49-F238E27FC236}">
                <a16:creationId xmlns:a16="http://schemas.microsoft.com/office/drawing/2014/main" id="{7391F746-8240-A8BB-3751-706B87A683A2}"/>
              </a:ext>
            </a:extLst>
          </p:cNvPr>
          <p:cNvSpPr txBox="1"/>
          <p:nvPr/>
        </p:nvSpPr>
        <p:spPr>
          <a:xfrm>
            <a:off x="17674380" y="8710688"/>
            <a:ext cx="442747" cy="257943"/>
          </a:xfrm>
          <a:prstGeom prst="rect">
            <a:avLst/>
          </a:prstGeom>
        </p:spPr>
        <p:txBody>
          <a:bodyPr lIns="0" tIns="0" rIns="0" bIns="0" rtlCol="0" anchor="t">
            <a:spAutoFit/>
          </a:bodyPr>
          <a:lstStyle/>
          <a:p>
            <a:pPr algn="ctr">
              <a:lnSpc>
                <a:spcPts val="2057"/>
              </a:lnSpc>
              <a:spcBef>
                <a:spcPct val="0"/>
              </a:spcBef>
            </a:pPr>
            <a:r>
              <a:rPr lang="en-US" sz="1469" b="1">
                <a:solidFill>
                  <a:srgbClr val="FFFFFF"/>
                </a:solidFill>
                <a:latin typeface="Poppins Bold"/>
                <a:ea typeface="Poppins Bold"/>
                <a:cs typeface="Poppins Bold"/>
                <a:sym typeface="Poppins Bold"/>
              </a:rPr>
              <a:t>01</a:t>
            </a:r>
          </a:p>
        </p:txBody>
      </p:sp>
      <p:pic>
        <p:nvPicPr>
          <p:cNvPr id="43" name="Google Shape;369;p26">
            <a:extLst>
              <a:ext uri="{FF2B5EF4-FFF2-40B4-BE49-F238E27FC236}">
                <a16:creationId xmlns:a16="http://schemas.microsoft.com/office/drawing/2014/main" id="{7AA3C547-9607-E5A9-E63C-6C176B9B6CC1}"/>
              </a:ext>
            </a:extLst>
          </p:cNvPr>
          <p:cNvPicPr preferRelativeResize="0"/>
          <p:nvPr/>
        </p:nvPicPr>
        <p:blipFill>
          <a:blip r:embed="rId4">
            <a:alphaModFix/>
            <a:duotone>
              <a:schemeClr val="accent1">
                <a:shade val="45000"/>
                <a:satMod val="135000"/>
              </a:schemeClr>
              <a:prstClr val="white"/>
            </a:duotone>
            <a:extLst>
              <a:ext uri="{BEBA8EAE-BF5A-486C-A8C5-ECC9F3942E4B}">
                <a14:imgProps xmlns:a14="http://schemas.microsoft.com/office/drawing/2010/main">
                  <a14:imgLayer r:embed="rId5">
                    <a14:imgEffect>
                      <a14:sharpenSoften amount="6000"/>
                    </a14:imgEffect>
                    <a14:imgEffect>
                      <a14:brightnessContrast bright="-40000" contrast="40000"/>
                    </a14:imgEffect>
                  </a14:imgLayer>
                </a14:imgProps>
              </a:ext>
            </a:extLst>
          </a:blip>
          <a:stretch>
            <a:fillRect/>
          </a:stretch>
        </p:blipFill>
        <p:spPr>
          <a:xfrm>
            <a:off x="4094263" y="1166916"/>
            <a:ext cx="10002737" cy="2051580"/>
          </a:xfrm>
          <a:prstGeom prst="rect">
            <a:avLst/>
          </a:prstGeom>
          <a:noFill/>
          <a:ln>
            <a:noFill/>
          </a:ln>
        </p:spPr>
      </p:pic>
      <p:sp>
        <p:nvSpPr>
          <p:cNvPr id="44" name="Google Shape;370;p26">
            <a:extLst>
              <a:ext uri="{FF2B5EF4-FFF2-40B4-BE49-F238E27FC236}">
                <a16:creationId xmlns:a16="http://schemas.microsoft.com/office/drawing/2014/main" id="{AE02F1A0-8AEF-EEE4-DB0A-0FB96FD4A725}"/>
              </a:ext>
            </a:extLst>
          </p:cNvPr>
          <p:cNvSpPr txBox="1"/>
          <p:nvPr/>
        </p:nvSpPr>
        <p:spPr>
          <a:xfrm flipH="1">
            <a:off x="-381000" y="3127537"/>
            <a:ext cx="19050000" cy="6435563"/>
          </a:xfrm>
          <a:prstGeom prst="rect">
            <a:avLst/>
          </a:prstGeom>
          <a:noFill/>
          <a:ln>
            <a:noFill/>
          </a:ln>
        </p:spPr>
        <p:txBody>
          <a:bodyPr spcFirstLastPara="1" wrap="square" lIns="137138" tIns="137138" rIns="137138" bIns="137138" anchor="t" anchorCtr="0">
            <a:spAutoFit/>
          </a:bodyPr>
          <a:lstStyle/>
          <a:p>
            <a:pPr algn="ctr">
              <a:lnSpc>
                <a:spcPct val="115000"/>
              </a:lnSpc>
            </a:pPr>
            <a:r>
              <a:rPr lang="en-US" sz="3000" b="1" dirty="0">
                <a:solidFill>
                  <a:srgbClr val="002060"/>
                </a:solidFill>
                <a:latin typeface="Poppins Bold" panose="00000800000000000000" charset="0"/>
                <a:ea typeface="Arial Black"/>
                <a:cs typeface="Poppins Bold" panose="00000800000000000000" charset="0"/>
                <a:sym typeface="Arial Black"/>
              </a:rPr>
              <a:t>Course Code: CSE 407</a:t>
            </a:r>
          </a:p>
          <a:p>
            <a:pPr algn="ctr">
              <a:lnSpc>
                <a:spcPct val="115000"/>
              </a:lnSpc>
            </a:pPr>
            <a:r>
              <a:rPr lang="en-US" sz="3000" b="1" dirty="0">
                <a:solidFill>
                  <a:srgbClr val="002060"/>
                </a:solidFill>
                <a:latin typeface="Poppins Bold" panose="00000800000000000000" charset="0"/>
                <a:ea typeface="Arial Black"/>
                <a:cs typeface="Poppins Bold" panose="00000800000000000000" charset="0"/>
                <a:sym typeface="Arial Black"/>
              </a:rPr>
              <a:t>Course Title : Green Computing</a:t>
            </a:r>
          </a:p>
          <a:p>
            <a:pPr algn="ctr">
              <a:lnSpc>
                <a:spcPct val="115000"/>
              </a:lnSpc>
            </a:pPr>
            <a:r>
              <a:rPr lang="en-US" sz="3000" b="1" dirty="0">
                <a:solidFill>
                  <a:srgbClr val="002060"/>
                </a:solidFill>
                <a:latin typeface="Poppins Bold" panose="00000800000000000000" charset="0"/>
                <a:ea typeface="Arial Black"/>
                <a:cs typeface="Poppins Bold" panose="00000800000000000000" charset="0"/>
                <a:sym typeface="Arial Black"/>
              </a:rPr>
              <a:t>Section: 2</a:t>
            </a:r>
          </a:p>
          <a:p>
            <a:pPr algn="ctr">
              <a:lnSpc>
                <a:spcPct val="115000"/>
              </a:lnSpc>
            </a:pPr>
            <a:r>
              <a:rPr lang="en-US" sz="3000" b="1" dirty="0">
                <a:solidFill>
                  <a:srgbClr val="002060"/>
                </a:solidFill>
                <a:latin typeface="Poppins Bold" panose="00000800000000000000" charset="0"/>
                <a:ea typeface="Arial Black"/>
                <a:cs typeface="Poppins Bold" panose="00000800000000000000" charset="0"/>
                <a:sym typeface="Arial Black"/>
              </a:rPr>
              <a:t>Semester: Summer 2025</a:t>
            </a:r>
          </a:p>
          <a:p>
            <a:pPr algn="ctr">
              <a:lnSpc>
                <a:spcPct val="115000"/>
              </a:lnSpc>
            </a:pPr>
            <a:endParaRPr lang="en-US" sz="3600" b="1" dirty="0">
              <a:solidFill>
                <a:srgbClr val="002060"/>
              </a:solidFill>
              <a:latin typeface="Poppins Bold" panose="00000800000000000000" charset="0"/>
              <a:ea typeface="Arial Black"/>
              <a:cs typeface="Poppins Bold" panose="00000800000000000000" charset="0"/>
              <a:sym typeface="Arial Black"/>
            </a:endParaRPr>
          </a:p>
          <a:p>
            <a:pPr algn="ctr">
              <a:lnSpc>
                <a:spcPct val="115000"/>
              </a:lnSpc>
            </a:pPr>
            <a:r>
              <a:rPr lang="en-US" sz="3450" b="1" dirty="0">
                <a:solidFill>
                  <a:srgbClr val="92D050"/>
                </a:solidFill>
                <a:latin typeface="Poppins Bold" panose="00000800000000000000" charset="0"/>
                <a:ea typeface="Arial Black"/>
                <a:cs typeface="Poppins Bold" panose="00000800000000000000" charset="0"/>
                <a:sym typeface="Arial Black"/>
              </a:rPr>
              <a:t>Carbon Conscious Model Selection in NLP: Insights from a Comparative Analysis</a:t>
            </a:r>
            <a:endParaRPr lang="en-US" sz="3450" b="1" dirty="0">
              <a:solidFill>
                <a:srgbClr val="002060"/>
              </a:solidFill>
              <a:latin typeface="Poppins Bold" panose="00000800000000000000" charset="0"/>
              <a:ea typeface="Arial Black"/>
              <a:cs typeface="Poppins Bold" panose="00000800000000000000" charset="0"/>
              <a:sym typeface="Arial Black"/>
            </a:endParaRPr>
          </a:p>
          <a:p>
            <a:pPr algn="ctr">
              <a:lnSpc>
                <a:spcPct val="115000"/>
              </a:lnSpc>
            </a:pPr>
            <a:endParaRPr lang="en-US" sz="3000" b="1" dirty="0">
              <a:solidFill>
                <a:srgbClr val="002060"/>
              </a:solidFill>
              <a:latin typeface="Poppins Bold" panose="00000800000000000000" charset="0"/>
              <a:ea typeface="Arial Black"/>
              <a:cs typeface="Poppins Bold" panose="00000800000000000000" charset="0"/>
              <a:sym typeface="Arial Black"/>
            </a:endParaRPr>
          </a:p>
          <a:p>
            <a:pPr algn="ctr">
              <a:lnSpc>
                <a:spcPct val="115000"/>
              </a:lnSpc>
            </a:pPr>
            <a:r>
              <a:rPr lang="en-US" sz="4000" b="1" dirty="0">
                <a:solidFill>
                  <a:srgbClr val="002060"/>
                </a:solidFill>
                <a:latin typeface="Poppins Bold" panose="00000800000000000000" charset="0"/>
                <a:ea typeface="Arial Black"/>
                <a:cs typeface="Poppins Bold" panose="00000800000000000000" charset="0"/>
                <a:sym typeface="Arial Black"/>
              </a:rPr>
              <a:t>Presented To: </a:t>
            </a:r>
          </a:p>
          <a:p>
            <a:pPr algn="ctr">
              <a:lnSpc>
                <a:spcPct val="115000"/>
              </a:lnSpc>
            </a:pPr>
            <a:r>
              <a:rPr lang="en-US" sz="3000" b="1" dirty="0">
                <a:solidFill>
                  <a:srgbClr val="002060"/>
                </a:solidFill>
                <a:latin typeface="Poppins Bold" panose="00000800000000000000" charset="0"/>
                <a:ea typeface="Arial Black"/>
                <a:cs typeface="Poppins Bold" panose="00000800000000000000" charset="0"/>
                <a:sym typeface="Arial Black"/>
              </a:rPr>
              <a:t> </a:t>
            </a:r>
            <a:r>
              <a:rPr lang="en-US" sz="2800" b="1" dirty="0" err="1">
                <a:solidFill>
                  <a:srgbClr val="002060"/>
                </a:solidFill>
                <a:latin typeface="Poppins Bold" panose="00000800000000000000" charset="0"/>
                <a:ea typeface="Arial Black"/>
                <a:cs typeface="Poppins Bold" panose="00000800000000000000" charset="0"/>
                <a:sym typeface="Arial Black"/>
              </a:rPr>
              <a:t>Rashedul</a:t>
            </a:r>
            <a:r>
              <a:rPr lang="en-US" sz="2800" b="1" dirty="0">
                <a:solidFill>
                  <a:srgbClr val="002060"/>
                </a:solidFill>
                <a:latin typeface="Poppins Bold" panose="00000800000000000000" charset="0"/>
                <a:ea typeface="Arial Black"/>
                <a:cs typeface="Poppins Bold" panose="00000800000000000000" charset="0"/>
                <a:sym typeface="Arial Black"/>
              </a:rPr>
              <a:t> Amin Tuhin</a:t>
            </a:r>
          </a:p>
          <a:p>
            <a:pPr algn="ctr">
              <a:lnSpc>
                <a:spcPct val="115000"/>
              </a:lnSpc>
            </a:pPr>
            <a:r>
              <a:rPr lang="en-US" sz="2800" b="1" dirty="0">
                <a:solidFill>
                  <a:srgbClr val="002060"/>
                </a:solidFill>
                <a:latin typeface="Poppins Bold" panose="00000800000000000000" charset="0"/>
                <a:ea typeface="Arial Black"/>
                <a:cs typeface="Poppins Bold" panose="00000800000000000000" charset="0"/>
                <a:sym typeface="Arial Black"/>
              </a:rPr>
              <a:t> Senior Lecturer</a:t>
            </a:r>
            <a:br>
              <a:rPr lang="en-US" sz="2800" b="1" dirty="0">
                <a:solidFill>
                  <a:srgbClr val="002060"/>
                </a:solidFill>
                <a:latin typeface="Poppins Bold" panose="00000800000000000000" charset="0"/>
                <a:ea typeface="Arial Black"/>
                <a:cs typeface="Poppins Bold" panose="00000800000000000000" charset="0"/>
                <a:sym typeface="Arial Black"/>
              </a:rPr>
            </a:br>
            <a:r>
              <a:rPr lang="en-US" sz="2800" b="1" dirty="0">
                <a:solidFill>
                  <a:srgbClr val="002060"/>
                </a:solidFill>
                <a:latin typeface="Poppins Bold" panose="00000800000000000000" charset="0"/>
                <a:ea typeface="Arial Black"/>
                <a:cs typeface="Poppins Bold" panose="00000800000000000000" charset="0"/>
                <a:sym typeface="Arial Black"/>
              </a:rPr>
              <a:t> Department of Computer Science &amp; Engineering, EWU</a:t>
            </a:r>
          </a:p>
        </p:txBody>
      </p:sp>
      <p:sp>
        <p:nvSpPr>
          <p:cNvPr id="45" name="TextBox 44">
            <a:extLst>
              <a:ext uri="{FF2B5EF4-FFF2-40B4-BE49-F238E27FC236}">
                <a16:creationId xmlns:a16="http://schemas.microsoft.com/office/drawing/2014/main" id="{4140C7CF-9477-41F9-82E3-AB6288A1D16F}"/>
              </a:ext>
            </a:extLst>
          </p:cNvPr>
          <p:cNvSpPr txBox="1"/>
          <p:nvPr/>
        </p:nvSpPr>
        <p:spPr>
          <a:xfrm>
            <a:off x="1298137" y="284246"/>
            <a:ext cx="15818178" cy="969496"/>
          </a:xfrm>
          <a:prstGeom prst="rect">
            <a:avLst/>
          </a:prstGeom>
          <a:noFill/>
        </p:spPr>
        <p:txBody>
          <a:bodyPr wrap="square">
            <a:spAutoFit/>
          </a:bodyPr>
          <a:lstStyle/>
          <a:p>
            <a:pPr algn="ctr"/>
            <a:r>
              <a:rPr kumimoji="0" lang="en-US" sz="5700" b="0" i="0" u="none" strike="noStrike" kern="1200" cap="none" spc="0" normalizeH="0" baseline="0" noProof="0" dirty="0">
                <a:ln>
                  <a:noFill/>
                </a:ln>
                <a:solidFill>
                  <a:schemeClr val="tx2">
                    <a:lumMod val="75000"/>
                  </a:schemeClr>
                </a:solidFill>
                <a:effectLst/>
                <a:uLnTx/>
                <a:uFillTx/>
                <a:latin typeface="Poppins ExtraBold" panose="00000900000000000000" pitchFamily="2" charset="0"/>
                <a:ea typeface="+mj-ea"/>
                <a:cs typeface="Poppins ExtraBold" panose="00000900000000000000" pitchFamily="2" charset="0"/>
              </a:rPr>
              <a:t>Welcome To Our Presentation</a:t>
            </a:r>
            <a:endParaRPr lang="en-US" dirty="0">
              <a:solidFill>
                <a:schemeClr val="tx2">
                  <a:lumMod val="75000"/>
                </a:schemeClr>
              </a:solidFill>
              <a:latin typeface="Poppins ExtraBold" panose="00000900000000000000" pitchFamily="2" charset="0"/>
              <a:cs typeface="Poppins ExtraBold" panose="00000900000000000000" pitchFamily="2" charset="0"/>
            </a:endParaRPr>
          </a:p>
        </p:txBody>
      </p:sp>
    </p:spTree>
    <p:extLst>
      <p:ext uri="{BB962C8B-B14F-4D97-AF65-F5344CB8AC3E}">
        <p14:creationId xmlns:p14="http://schemas.microsoft.com/office/powerpoint/2010/main" val="398234735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Click="0">
        <p159:morph option="byObject"/>
      </p:transition>
    </mc:Choice>
    <mc:Fallback xmlns="">
      <p:transition spd="slow" advClick="0">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5E5DEC-9031-7D9E-E77C-F9735B457EFE}"/>
            </a:ext>
          </a:extLst>
        </p:cNvPr>
        <p:cNvGrpSpPr/>
        <p:nvPr/>
      </p:nvGrpSpPr>
      <p:grpSpPr>
        <a:xfrm>
          <a:off x="0" y="0"/>
          <a:ext cx="0" cy="0"/>
          <a:chOff x="0" y="0"/>
          <a:chExt cx="0" cy="0"/>
        </a:xfrm>
      </p:grpSpPr>
      <p:sp>
        <p:nvSpPr>
          <p:cNvPr id="61" name="TextBox 29">
            <a:extLst>
              <a:ext uri="{FF2B5EF4-FFF2-40B4-BE49-F238E27FC236}">
                <a16:creationId xmlns:a16="http://schemas.microsoft.com/office/drawing/2014/main" id="{71D2F81B-53A6-1F03-3160-3D79DF7BCBDD}"/>
              </a:ext>
            </a:extLst>
          </p:cNvPr>
          <p:cNvSpPr txBox="1"/>
          <p:nvPr/>
        </p:nvSpPr>
        <p:spPr>
          <a:xfrm>
            <a:off x="6518759" y="6404639"/>
            <a:ext cx="5139841" cy="3006061"/>
          </a:xfrm>
          <a:prstGeom prst="rect">
            <a:avLst/>
          </a:prstGeom>
        </p:spPr>
        <p:txBody>
          <a:bodyPr lIns="47086" tIns="47086" rIns="47086" bIns="47086" rtlCol="0" anchor="ctr"/>
          <a:lstStyle/>
          <a:p>
            <a:pPr algn="ctr">
              <a:lnSpc>
                <a:spcPts val="2659"/>
              </a:lnSpc>
            </a:pPr>
            <a:endParaRPr/>
          </a:p>
        </p:txBody>
      </p:sp>
      <p:grpSp>
        <p:nvGrpSpPr>
          <p:cNvPr id="9" name="Group 9">
            <a:extLst>
              <a:ext uri="{FF2B5EF4-FFF2-40B4-BE49-F238E27FC236}">
                <a16:creationId xmlns:a16="http://schemas.microsoft.com/office/drawing/2014/main" id="{4B21146A-4B41-D5D7-F4F1-CC6B7275ED68}"/>
              </a:ext>
            </a:extLst>
          </p:cNvPr>
          <p:cNvGrpSpPr/>
          <p:nvPr/>
        </p:nvGrpSpPr>
        <p:grpSpPr>
          <a:xfrm>
            <a:off x="2702224" y="-6441776"/>
            <a:ext cx="12883553" cy="12883553"/>
            <a:chOff x="0" y="0"/>
            <a:chExt cx="812800" cy="812800"/>
          </a:xfrm>
        </p:grpSpPr>
        <p:sp>
          <p:nvSpPr>
            <p:cNvPr id="10" name="Freeform 10">
              <a:extLst>
                <a:ext uri="{FF2B5EF4-FFF2-40B4-BE49-F238E27FC236}">
                  <a16:creationId xmlns:a16="http://schemas.microsoft.com/office/drawing/2014/main" id="{B9E53510-88FA-FC0C-BD81-CC082E4C9C88}"/>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8F8F8"/>
            </a:solidFill>
          </p:spPr>
        </p:sp>
        <p:sp>
          <p:nvSpPr>
            <p:cNvPr id="11" name="TextBox 11">
              <a:extLst>
                <a:ext uri="{FF2B5EF4-FFF2-40B4-BE49-F238E27FC236}">
                  <a16:creationId xmlns:a16="http://schemas.microsoft.com/office/drawing/2014/main" id="{D9313C00-DAFE-1442-92A8-B8BF0238D66C}"/>
                </a:ext>
              </a:extLst>
            </p:cNvPr>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12" name="Freeform 12">
            <a:extLst>
              <a:ext uri="{FF2B5EF4-FFF2-40B4-BE49-F238E27FC236}">
                <a16:creationId xmlns:a16="http://schemas.microsoft.com/office/drawing/2014/main" id="{59043B34-25A9-6957-A714-EB95D917814C}"/>
              </a:ext>
            </a:extLst>
          </p:cNvPr>
          <p:cNvSpPr/>
          <p:nvPr/>
        </p:nvSpPr>
        <p:spPr>
          <a:xfrm>
            <a:off x="3124200" y="-4838700"/>
            <a:ext cx="11970147" cy="11415282"/>
          </a:xfrm>
          <a:custGeom>
            <a:avLst/>
            <a:gdLst/>
            <a:ahLst/>
            <a:cxnLst/>
            <a:rect l="l" t="t" r="r" b="b"/>
            <a:pathLst>
              <a:path w="11069128" h="11055291">
                <a:moveTo>
                  <a:pt x="0" y="0"/>
                </a:moveTo>
                <a:lnTo>
                  <a:pt x="11069128" y="0"/>
                </a:lnTo>
                <a:lnTo>
                  <a:pt x="11069128" y="11055291"/>
                </a:lnTo>
                <a:lnTo>
                  <a:pt x="0" y="11055291"/>
                </a:lnTo>
                <a:lnTo>
                  <a:pt x="0" y="0"/>
                </a:lnTo>
                <a:close/>
              </a:path>
            </a:pathLst>
          </a:custGeom>
          <a:blipFill>
            <a:blip r:embed="rId2"/>
            <a:stretch>
              <a:fillRect/>
            </a:stretch>
          </a:blipFill>
        </p:spPr>
      </p:sp>
      <p:grpSp>
        <p:nvGrpSpPr>
          <p:cNvPr id="13" name="Group 13">
            <a:extLst>
              <a:ext uri="{FF2B5EF4-FFF2-40B4-BE49-F238E27FC236}">
                <a16:creationId xmlns:a16="http://schemas.microsoft.com/office/drawing/2014/main" id="{FFDB4EDC-1D44-F830-37D4-C13253E4CB8B}"/>
              </a:ext>
            </a:extLst>
          </p:cNvPr>
          <p:cNvGrpSpPr/>
          <p:nvPr/>
        </p:nvGrpSpPr>
        <p:grpSpPr>
          <a:xfrm>
            <a:off x="3690946" y="-5453054"/>
            <a:ext cx="10906108" cy="10906108"/>
            <a:chOff x="0" y="0"/>
            <a:chExt cx="812800" cy="812800"/>
          </a:xfrm>
        </p:grpSpPr>
        <p:sp>
          <p:nvSpPr>
            <p:cNvPr id="14" name="Freeform 14">
              <a:extLst>
                <a:ext uri="{FF2B5EF4-FFF2-40B4-BE49-F238E27FC236}">
                  <a16:creationId xmlns:a16="http://schemas.microsoft.com/office/drawing/2014/main" id="{8D8C62EE-A346-0605-45D4-256CBE1D9342}"/>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id="15" name="TextBox 15">
              <a:extLst>
                <a:ext uri="{FF2B5EF4-FFF2-40B4-BE49-F238E27FC236}">
                  <a16:creationId xmlns:a16="http://schemas.microsoft.com/office/drawing/2014/main" id="{0C2F3B4D-C98F-0DD8-34D7-21C240CBE155}"/>
                </a:ext>
              </a:extLst>
            </p:cNvPr>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grpSp>
        <p:nvGrpSpPr>
          <p:cNvPr id="21" name="Group 21">
            <a:extLst>
              <a:ext uri="{FF2B5EF4-FFF2-40B4-BE49-F238E27FC236}">
                <a16:creationId xmlns:a16="http://schemas.microsoft.com/office/drawing/2014/main" id="{30D22B12-7081-D362-4A9A-2D1BE912E7F4}"/>
              </a:ext>
            </a:extLst>
          </p:cNvPr>
          <p:cNvGrpSpPr/>
          <p:nvPr/>
        </p:nvGrpSpPr>
        <p:grpSpPr>
          <a:xfrm>
            <a:off x="17491799" y="8458418"/>
            <a:ext cx="951769" cy="799882"/>
            <a:chOff x="0" y="0"/>
            <a:chExt cx="967140" cy="812800"/>
          </a:xfrm>
        </p:grpSpPr>
        <p:sp>
          <p:nvSpPr>
            <p:cNvPr id="22" name="Freeform 22">
              <a:extLst>
                <a:ext uri="{FF2B5EF4-FFF2-40B4-BE49-F238E27FC236}">
                  <a16:creationId xmlns:a16="http://schemas.microsoft.com/office/drawing/2014/main" id="{F4365B3D-E22B-4D07-F583-3F66B7C15445}"/>
                </a:ext>
              </a:extLst>
            </p:cNvPr>
            <p:cNvSpPr/>
            <p:nvPr/>
          </p:nvSpPr>
          <p:spPr>
            <a:xfrm>
              <a:off x="0" y="0"/>
              <a:ext cx="967140" cy="812800"/>
            </a:xfrm>
            <a:custGeom>
              <a:avLst/>
              <a:gdLst/>
              <a:ahLst/>
              <a:cxnLst/>
              <a:rect l="l" t="t" r="r" b="b"/>
              <a:pathLst>
                <a:path w="967140" h="812800">
                  <a:moveTo>
                    <a:pt x="81342" y="0"/>
                  </a:moveTo>
                  <a:lnTo>
                    <a:pt x="885798" y="0"/>
                  </a:lnTo>
                  <a:cubicBezTo>
                    <a:pt x="907371" y="0"/>
                    <a:pt x="928061" y="8570"/>
                    <a:pt x="943315" y="23825"/>
                  </a:cubicBezTo>
                  <a:cubicBezTo>
                    <a:pt x="958570" y="39079"/>
                    <a:pt x="967140" y="59769"/>
                    <a:pt x="967140" y="81342"/>
                  </a:cubicBezTo>
                  <a:lnTo>
                    <a:pt x="967140" y="731458"/>
                  </a:lnTo>
                  <a:cubicBezTo>
                    <a:pt x="967140" y="776382"/>
                    <a:pt x="930722" y="812800"/>
                    <a:pt x="885798" y="812800"/>
                  </a:cubicBezTo>
                  <a:lnTo>
                    <a:pt x="81342" y="812800"/>
                  </a:lnTo>
                  <a:cubicBezTo>
                    <a:pt x="59769" y="812800"/>
                    <a:pt x="39079" y="804230"/>
                    <a:pt x="23825" y="788975"/>
                  </a:cubicBezTo>
                  <a:cubicBezTo>
                    <a:pt x="8570" y="773721"/>
                    <a:pt x="0" y="753031"/>
                    <a:pt x="0" y="731458"/>
                  </a:cubicBezTo>
                  <a:lnTo>
                    <a:pt x="0" y="81342"/>
                  </a:lnTo>
                  <a:cubicBezTo>
                    <a:pt x="0" y="59769"/>
                    <a:pt x="8570" y="39079"/>
                    <a:pt x="23825" y="23825"/>
                  </a:cubicBezTo>
                  <a:cubicBezTo>
                    <a:pt x="39079" y="8570"/>
                    <a:pt x="59769" y="0"/>
                    <a:pt x="81342" y="0"/>
                  </a:cubicBezTo>
                  <a:close/>
                </a:path>
              </a:pathLst>
            </a:custGeom>
            <a:solidFill>
              <a:srgbClr val="3A6AD6"/>
            </a:solidFill>
          </p:spPr>
        </p:sp>
        <p:sp>
          <p:nvSpPr>
            <p:cNvPr id="23" name="TextBox 23">
              <a:extLst>
                <a:ext uri="{FF2B5EF4-FFF2-40B4-BE49-F238E27FC236}">
                  <a16:creationId xmlns:a16="http://schemas.microsoft.com/office/drawing/2014/main" id="{A591734C-3436-3081-C73E-45EB2A3078D5}"/>
                </a:ext>
              </a:extLst>
            </p:cNvPr>
            <p:cNvSpPr txBox="1"/>
            <p:nvPr/>
          </p:nvSpPr>
          <p:spPr>
            <a:xfrm>
              <a:off x="0" y="-38100"/>
              <a:ext cx="967140" cy="850900"/>
            </a:xfrm>
            <a:prstGeom prst="rect">
              <a:avLst/>
            </a:prstGeom>
          </p:spPr>
          <p:txBody>
            <a:bodyPr lIns="50800" tIns="50800" rIns="50800" bIns="50800" rtlCol="0" anchor="ctr"/>
            <a:lstStyle/>
            <a:p>
              <a:pPr algn="ctr">
                <a:lnSpc>
                  <a:spcPts val="2659"/>
                </a:lnSpc>
              </a:pPr>
              <a:endParaRPr/>
            </a:p>
          </p:txBody>
        </p:sp>
      </p:grpSp>
      <p:sp>
        <p:nvSpPr>
          <p:cNvPr id="24" name="TextBox 24">
            <a:extLst>
              <a:ext uri="{FF2B5EF4-FFF2-40B4-BE49-F238E27FC236}">
                <a16:creationId xmlns:a16="http://schemas.microsoft.com/office/drawing/2014/main" id="{25FCE103-1CD5-7A3A-833B-F0C383437F78}"/>
              </a:ext>
            </a:extLst>
          </p:cNvPr>
          <p:cNvSpPr txBox="1"/>
          <p:nvPr/>
        </p:nvSpPr>
        <p:spPr>
          <a:xfrm>
            <a:off x="17674380" y="8710688"/>
            <a:ext cx="442747" cy="257943"/>
          </a:xfrm>
          <a:prstGeom prst="rect">
            <a:avLst/>
          </a:prstGeom>
        </p:spPr>
        <p:txBody>
          <a:bodyPr lIns="0" tIns="0" rIns="0" bIns="0" rtlCol="0" anchor="t">
            <a:spAutoFit/>
          </a:bodyPr>
          <a:lstStyle/>
          <a:p>
            <a:pPr algn="ctr">
              <a:lnSpc>
                <a:spcPts val="2057"/>
              </a:lnSpc>
              <a:spcBef>
                <a:spcPct val="0"/>
              </a:spcBef>
            </a:pPr>
            <a:r>
              <a:rPr lang="en-US" sz="1469" b="1" dirty="0">
                <a:solidFill>
                  <a:srgbClr val="FFFFFF"/>
                </a:solidFill>
                <a:latin typeface="Poppins Bold"/>
                <a:ea typeface="Poppins Bold"/>
                <a:cs typeface="Poppins Bold"/>
                <a:sym typeface="Poppins Bold"/>
              </a:rPr>
              <a:t>02</a:t>
            </a:r>
          </a:p>
        </p:txBody>
      </p:sp>
      <p:sp>
        <p:nvSpPr>
          <p:cNvPr id="25" name="TextBox 25">
            <a:extLst>
              <a:ext uri="{FF2B5EF4-FFF2-40B4-BE49-F238E27FC236}">
                <a16:creationId xmlns:a16="http://schemas.microsoft.com/office/drawing/2014/main" id="{3BC1DB35-21D6-E899-546D-C44FB0BB5895}"/>
              </a:ext>
            </a:extLst>
          </p:cNvPr>
          <p:cNvSpPr txBox="1"/>
          <p:nvPr/>
        </p:nvSpPr>
        <p:spPr>
          <a:xfrm>
            <a:off x="6852695" y="2879531"/>
            <a:ext cx="4582611" cy="773545"/>
          </a:xfrm>
          <a:prstGeom prst="rect">
            <a:avLst/>
          </a:prstGeom>
        </p:spPr>
        <p:txBody>
          <a:bodyPr lIns="0" tIns="0" rIns="0" bIns="0" rtlCol="0" anchor="t">
            <a:spAutoFit/>
          </a:bodyPr>
          <a:lstStyle/>
          <a:p>
            <a:pPr algn="ctr">
              <a:lnSpc>
                <a:spcPts val="6385"/>
              </a:lnSpc>
            </a:pPr>
            <a:r>
              <a:rPr lang="en-US" sz="4400" b="1" dirty="0">
                <a:solidFill>
                  <a:srgbClr val="3A6AD6"/>
                </a:solidFill>
                <a:latin typeface="Poppins Bold"/>
                <a:ea typeface="Poppins Bold"/>
                <a:cs typeface="Poppins Bold"/>
                <a:sym typeface="Poppins Bold"/>
              </a:rPr>
              <a:t>Presented By </a:t>
            </a:r>
          </a:p>
        </p:txBody>
      </p:sp>
      <p:sp>
        <p:nvSpPr>
          <p:cNvPr id="57" name="Freeform 17">
            <a:extLst>
              <a:ext uri="{FF2B5EF4-FFF2-40B4-BE49-F238E27FC236}">
                <a16:creationId xmlns:a16="http://schemas.microsoft.com/office/drawing/2014/main" id="{CF5DEA2D-0FC3-5197-5EAD-D4420F717178}"/>
              </a:ext>
            </a:extLst>
          </p:cNvPr>
          <p:cNvSpPr/>
          <p:nvPr/>
        </p:nvSpPr>
        <p:spPr>
          <a:xfrm>
            <a:off x="6366959" y="5338259"/>
            <a:ext cx="1634041" cy="1634041"/>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txBody>
          <a:bodyPr/>
          <a:lstStyle/>
          <a:p>
            <a:endParaRPr lang="en-US" dirty="0"/>
          </a:p>
        </p:txBody>
      </p:sp>
      <p:sp>
        <p:nvSpPr>
          <p:cNvPr id="58" name="Freeform 17">
            <a:extLst>
              <a:ext uri="{FF2B5EF4-FFF2-40B4-BE49-F238E27FC236}">
                <a16:creationId xmlns:a16="http://schemas.microsoft.com/office/drawing/2014/main" id="{CA26D0B7-1FD3-0D76-36E7-FAB4BC6DDCDA}"/>
              </a:ext>
            </a:extLst>
          </p:cNvPr>
          <p:cNvSpPr/>
          <p:nvPr/>
        </p:nvSpPr>
        <p:spPr>
          <a:xfrm>
            <a:off x="10253159" y="5372100"/>
            <a:ext cx="1634041" cy="1634041"/>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id="75" name="TextBox 29">
            <a:extLst>
              <a:ext uri="{FF2B5EF4-FFF2-40B4-BE49-F238E27FC236}">
                <a16:creationId xmlns:a16="http://schemas.microsoft.com/office/drawing/2014/main" id="{4F1DA705-ACAE-0C50-1937-E083C1CA8B95}"/>
              </a:ext>
            </a:extLst>
          </p:cNvPr>
          <p:cNvSpPr txBox="1"/>
          <p:nvPr/>
        </p:nvSpPr>
        <p:spPr>
          <a:xfrm>
            <a:off x="4049439" y="4803055"/>
            <a:ext cx="3052956" cy="4632909"/>
          </a:xfrm>
          <a:prstGeom prst="rect">
            <a:avLst/>
          </a:prstGeom>
        </p:spPr>
        <p:txBody>
          <a:bodyPr lIns="47086" tIns="47086" rIns="47086" bIns="47086" rtlCol="0" anchor="ctr"/>
          <a:lstStyle/>
          <a:p>
            <a:pPr algn="ctr">
              <a:lnSpc>
                <a:spcPts val="2659"/>
              </a:lnSpc>
            </a:pPr>
            <a:endParaRPr/>
          </a:p>
        </p:txBody>
      </p:sp>
      <p:pic>
        <p:nvPicPr>
          <p:cNvPr id="1030" name="Picture 6" descr="Man in a presentation of business - Free people icons">
            <a:extLst>
              <a:ext uri="{FF2B5EF4-FFF2-40B4-BE49-F238E27FC236}">
                <a16:creationId xmlns:a16="http://schemas.microsoft.com/office/drawing/2014/main" id="{F7B0683C-3465-27AA-0274-0AF9DD52CC1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54441" y="571500"/>
            <a:ext cx="2556359" cy="2556359"/>
          </a:xfrm>
          <a:prstGeom prst="rect">
            <a:avLst/>
          </a:prstGeom>
          <a:noFill/>
          <a:extLst>
            <a:ext uri="{909E8E84-426E-40DD-AFC4-6F175D3DCCD1}">
              <a14:hiddenFill xmlns:a14="http://schemas.microsoft.com/office/drawing/2010/main">
                <a:solidFill>
                  <a:srgbClr val="FFFFFF"/>
                </a:solidFill>
              </a14:hiddenFill>
            </a:ext>
          </a:extLst>
        </p:spPr>
      </p:pic>
      <p:sp>
        <p:nvSpPr>
          <p:cNvPr id="2" name="Google Shape;370;p26">
            <a:extLst>
              <a:ext uri="{FF2B5EF4-FFF2-40B4-BE49-F238E27FC236}">
                <a16:creationId xmlns:a16="http://schemas.microsoft.com/office/drawing/2014/main" id="{D883340B-82BA-AFCD-16C0-B559EFCA7846}"/>
              </a:ext>
            </a:extLst>
          </p:cNvPr>
          <p:cNvSpPr txBox="1"/>
          <p:nvPr/>
        </p:nvSpPr>
        <p:spPr>
          <a:xfrm flipH="1">
            <a:off x="744498" y="1888733"/>
            <a:ext cx="16376243" cy="7543559"/>
          </a:xfrm>
          <a:prstGeom prst="rect">
            <a:avLst/>
          </a:prstGeom>
          <a:noFill/>
          <a:ln>
            <a:noFill/>
          </a:ln>
        </p:spPr>
        <p:txBody>
          <a:bodyPr spcFirstLastPara="1" wrap="square" lIns="137138" tIns="137138" rIns="137138" bIns="137138" anchor="t" anchorCtr="0">
            <a:spAutoFit/>
          </a:bodyPr>
          <a:lstStyle/>
          <a:p>
            <a:pPr algn="ctr">
              <a:lnSpc>
                <a:spcPct val="115000"/>
              </a:lnSpc>
            </a:pPr>
            <a:endParaRPr lang="en-US" sz="3600" b="1" dirty="0">
              <a:solidFill>
                <a:srgbClr val="002060"/>
              </a:solidFill>
              <a:latin typeface="Poppins Bold" panose="00000800000000000000" charset="0"/>
              <a:ea typeface="Arial Black"/>
              <a:cs typeface="Poppins Bold" panose="00000800000000000000" charset="0"/>
              <a:sym typeface="Arial Black"/>
            </a:endParaRPr>
          </a:p>
          <a:p>
            <a:pPr algn="ctr">
              <a:lnSpc>
                <a:spcPct val="115000"/>
              </a:lnSpc>
            </a:pPr>
            <a:endParaRPr lang="en-US" sz="3600" b="1" dirty="0">
              <a:solidFill>
                <a:srgbClr val="002060"/>
              </a:solidFill>
              <a:latin typeface="Poppins Bold" panose="00000800000000000000" charset="0"/>
              <a:ea typeface="Arial Black"/>
              <a:cs typeface="Poppins Bold" panose="00000800000000000000" charset="0"/>
              <a:sym typeface="Arial Black"/>
            </a:endParaRPr>
          </a:p>
          <a:p>
            <a:pPr algn="ctr">
              <a:lnSpc>
                <a:spcPct val="115000"/>
              </a:lnSpc>
            </a:pPr>
            <a:endParaRPr lang="en-US" sz="3600" b="1" dirty="0">
              <a:solidFill>
                <a:srgbClr val="002060"/>
              </a:solidFill>
              <a:latin typeface="Poppins Bold" panose="00000800000000000000" charset="0"/>
              <a:ea typeface="Arial Black"/>
              <a:cs typeface="Poppins Bold" panose="00000800000000000000" charset="0"/>
              <a:sym typeface="Arial Black"/>
            </a:endParaRPr>
          </a:p>
          <a:p>
            <a:pPr algn="ctr">
              <a:lnSpc>
                <a:spcPct val="115000"/>
              </a:lnSpc>
            </a:pPr>
            <a:r>
              <a:rPr lang="en-US" sz="4000" dirty="0">
                <a:solidFill>
                  <a:schemeClr val="tx2">
                    <a:lumMod val="75000"/>
                  </a:schemeClr>
                </a:solidFill>
                <a:latin typeface="Poppins ExtraBold" panose="00000900000000000000" pitchFamily="2" charset="0"/>
                <a:cs typeface="Poppins ExtraBold" panose="00000900000000000000" pitchFamily="2" charset="0"/>
              </a:rPr>
              <a:t>Group X3</a:t>
            </a:r>
          </a:p>
          <a:p>
            <a:pPr algn="ctr">
              <a:lnSpc>
                <a:spcPct val="115000"/>
              </a:lnSpc>
            </a:pPr>
            <a:endParaRPr lang="en-US" sz="4000" dirty="0">
              <a:solidFill>
                <a:schemeClr val="tx2">
                  <a:lumMod val="75000"/>
                </a:schemeClr>
              </a:solidFill>
              <a:latin typeface="Poppins ExtraBold" panose="00000900000000000000" pitchFamily="2" charset="0"/>
              <a:cs typeface="Poppins ExtraBold" panose="00000900000000000000" pitchFamily="2" charset="0"/>
            </a:endParaRPr>
          </a:p>
          <a:p>
            <a:pPr lvl="8">
              <a:lnSpc>
                <a:spcPct val="200000"/>
              </a:lnSpc>
            </a:pPr>
            <a:r>
              <a:rPr lang="en-US" sz="3200" b="1" dirty="0">
                <a:solidFill>
                  <a:srgbClr val="002060"/>
                </a:solidFill>
                <a:latin typeface="Poppins Bold" panose="00000800000000000000" charset="0"/>
                <a:ea typeface="Arial Black"/>
                <a:cs typeface="Poppins Bold" panose="00000800000000000000" charset="0"/>
                <a:sym typeface="Arial Black"/>
              </a:rPr>
              <a:t>Md Maruf Hasan                           	    ID: 2021-3-60-101                      </a:t>
            </a:r>
          </a:p>
          <a:p>
            <a:pPr lvl="8">
              <a:lnSpc>
                <a:spcPct val="200000"/>
              </a:lnSpc>
            </a:pPr>
            <a:r>
              <a:rPr lang="en-US" sz="3200" b="1" dirty="0">
                <a:solidFill>
                  <a:srgbClr val="002060"/>
                </a:solidFill>
                <a:latin typeface="Poppins Bold" panose="00000800000000000000" charset="0"/>
                <a:ea typeface="Arial Black"/>
                <a:cs typeface="Poppins Bold" panose="00000800000000000000" charset="0"/>
                <a:sym typeface="Arial Black"/>
              </a:rPr>
              <a:t>Suraiya Islam Lia                         	    ID: 2021-3-60-199</a:t>
            </a:r>
          </a:p>
          <a:p>
            <a:pPr lvl="8">
              <a:lnSpc>
                <a:spcPct val="200000"/>
              </a:lnSpc>
            </a:pPr>
            <a:r>
              <a:rPr lang="en-US" sz="3200" b="1" dirty="0">
                <a:solidFill>
                  <a:srgbClr val="002060"/>
                </a:solidFill>
                <a:latin typeface="Poppins Bold" panose="00000800000000000000" charset="0"/>
                <a:ea typeface="Arial Black"/>
                <a:cs typeface="Poppins Bold" panose="00000800000000000000" charset="0"/>
                <a:sym typeface="Arial Black"/>
              </a:rPr>
              <a:t>Md. </a:t>
            </a:r>
            <a:r>
              <a:rPr lang="en-US" sz="3200" b="1" dirty="0" err="1">
                <a:solidFill>
                  <a:srgbClr val="002060"/>
                </a:solidFill>
                <a:latin typeface="Poppins Bold" panose="00000800000000000000" charset="0"/>
                <a:ea typeface="Arial Black"/>
                <a:cs typeface="Poppins Bold" panose="00000800000000000000" charset="0"/>
                <a:sym typeface="Arial Black"/>
              </a:rPr>
              <a:t>Mohallil</a:t>
            </a:r>
            <a:r>
              <a:rPr lang="en-US" sz="3200" b="1" dirty="0">
                <a:solidFill>
                  <a:srgbClr val="002060"/>
                </a:solidFill>
                <a:latin typeface="Poppins Bold" panose="00000800000000000000" charset="0"/>
                <a:ea typeface="Arial Black"/>
                <a:cs typeface="Poppins Bold" panose="00000800000000000000" charset="0"/>
                <a:sym typeface="Arial Black"/>
              </a:rPr>
              <a:t> Islam </a:t>
            </a:r>
            <a:r>
              <a:rPr lang="en-US" sz="3200" b="1" dirty="0" err="1">
                <a:solidFill>
                  <a:srgbClr val="002060"/>
                </a:solidFill>
                <a:latin typeface="Poppins Bold" panose="00000800000000000000" charset="0"/>
                <a:ea typeface="Arial Black"/>
                <a:cs typeface="Poppins Bold" panose="00000800000000000000" charset="0"/>
                <a:sym typeface="Arial Black"/>
              </a:rPr>
              <a:t>Ohin</a:t>
            </a:r>
            <a:r>
              <a:rPr lang="en-US" sz="3200" b="1" dirty="0">
                <a:solidFill>
                  <a:srgbClr val="002060"/>
                </a:solidFill>
                <a:latin typeface="Poppins Bold" panose="00000800000000000000" charset="0"/>
                <a:ea typeface="Arial Black"/>
                <a:cs typeface="Poppins Bold" panose="00000800000000000000" charset="0"/>
                <a:sym typeface="Arial Black"/>
              </a:rPr>
              <a:t>           	    ID: 2021-3-60-285</a:t>
            </a:r>
          </a:p>
          <a:p>
            <a:pPr lvl="8">
              <a:lnSpc>
                <a:spcPct val="200000"/>
              </a:lnSpc>
            </a:pPr>
            <a:r>
              <a:rPr lang="en-US" sz="3200" b="1" dirty="0" err="1">
                <a:solidFill>
                  <a:srgbClr val="002060"/>
                </a:solidFill>
                <a:latin typeface="Poppins Bold" panose="00000800000000000000" charset="0"/>
                <a:ea typeface="Arial Black"/>
                <a:cs typeface="Poppins Bold" panose="00000800000000000000" charset="0"/>
                <a:sym typeface="Arial Black"/>
              </a:rPr>
              <a:t>Shanzia</a:t>
            </a:r>
            <a:r>
              <a:rPr lang="en-US" sz="3200" b="1" dirty="0">
                <a:solidFill>
                  <a:srgbClr val="002060"/>
                </a:solidFill>
                <a:latin typeface="Poppins Bold" panose="00000800000000000000" charset="0"/>
                <a:ea typeface="Arial Black"/>
                <a:cs typeface="Poppins Bold" panose="00000800000000000000" charset="0"/>
                <a:sym typeface="Arial Black"/>
              </a:rPr>
              <a:t> </a:t>
            </a:r>
            <a:r>
              <a:rPr lang="en-US" sz="3200" b="1" dirty="0" err="1">
                <a:solidFill>
                  <a:srgbClr val="002060"/>
                </a:solidFill>
                <a:latin typeface="Poppins Bold" panose="00000800000000000000" charset="0"/>
                <a:ea typeface="Arial Black"/>
                <a:cs typeface="Poppins Bold" panose="00000800000000000000" charset="0"/>
                <a:sym typeface="Arial Black"/>
              </a:rPr>
              <a:t>Shabnom</a:t>
            </a:r>
            <a:r>
              <a:rPr lang="en-US" sz="3200" b="1" dirty="0">
                <a:solidFill>
                  <a:srgbClr val="002060"/>
                </a:solidFill>
                <a:latin typeface="Poppins Bold" panose="00000800000000000000" charset="0"/>
                <a:ea typeface="Arial Black"/>
                <a:cs typeface="Poppins Bold" panose="00000800000000000000" charset="0"/>
                <a:sym typeface="Arial Black"/>
              </a:rPr>
              <a:t> Mithun     	    ID:2022-3-60-335</a:t>
            </a:r>
          </a:p>
        </p:txBody>
      </p:sp>
    </p:spTree>
    <p:extLst>
      <p:ext uri="{BB962C8B-B14F-4D97-AF65-F5344CB8AC3E}">
        <p14:creationId xmlns:p14="http://schemas.microsoft.com/office/powerpoint/2010/main" val="7185563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Click="0">
        <p159:morph option="byObject"/>
      </p:transition>
    </mc:Choice>
    <mc:Fallback xmlns="">
      <p:transition spd="slow" advClick="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2" presetClass="emph" presetSubtype="0" fill="hold" nodeType="afterEffect">
                                  <p:stCondLst>
                                    <p:cond delay="0"/>
                                  </p:stCondLst>
                                  <p:childTnLst>
                                    <p:animRot by="120000">
                                      <p:cBhvr>
                                        <p:cTn id="6" dur="100" fill="hold">
                                          <p:stCondLst>
                                            <p:cond delay="0"/>
                                          </p:stCondLst>
                                        </p:cTn>
                                        <p:tgtEl>
                                          <p:spTgt spid="1030"/>
                                        </p:tgtEl>
                                        <p:attrNameLst>
                                          <p:attrName>r</p:attrName>
                                        </p:attrNameLst>
                                      </p:cBhvr>
                                    </p:animRot>
                                    <p:animRot by="-240000">
                                      <p:cBhvr>
                                        <p:cTn id="7" dur="200" fill="hold">
                                          <p:stCondLst>
                                            <p:cond delay="200"/>
                                          </p:stCondLst>
                                        </p:cTn>
                                        <p:tgtEl>
                                          <p:spTgt spid="1030"/>
                                        </p:tgtEl>
                                        <p:attrNameLst>
                                          <p:attrName>r</p:attrName>
                                        </p:attrNameLst>
                                      </p:cBhvr>
                                    </p:animRot>
                                    <p:animRot by="240000">
                                      <p:cBhvr>
                                        <p:cTn id="8" dur="200" fill="hold">
                                          <p:stCondLst>
                                            <p:cond delay="400"/>
                                          </p:stCondLst>
                                        </p:cTn>
                                        <p:tgtEl>
                                          <p:spTgt spid="1030"/>
                                        </p:tgtEl>
                                        <p:attrNameLst>
                                          <p:attrName>r</p:attrName>
                                        </p:attrNameLst>
                                      </p:cBhvr>
                                    </p:animRot>
                                    <p:animRot by="-240000">
                                      <p:cBhvr>
                                        <p:cTn id="9" dur="200" fill="hold">
                                          <p:stCondLst>
                                            <p:cond delay="600"/>
                                          </p:stCondLst>
                                        </p:cTn>
                                        <p:tgtEl>
                                          <p:spTgt spid="1030"/>
                                        </p:tgtEl>
                                        <p:attrNameLst>
                                          <p:attrName>r</p:attrName>
                                        </p:attrNameLst>
                                      </p:cBhvr>
                                    </p:animRot>
                                    <p:animRot by="120000">
                                      <p:cBhvr>
                                        <p:cTn id="10" dur="200" fill="hold">
                                          <p:stCondLst>
                                            <p:cond delay="800"/>
                                          </p:stCondLst>
                                        </p:cTn>
                                        <p:tgtEl>
                                          <p:spTgt spid="1030"/>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2E411E-1ED8-DD6A-35C8-9EB8DAD4274F}"/>
            </a:ext>
          </a:extLst>
        </p:cNvPr>
        <p:cNvGrpSpPr/>
        <p:nvPr/>
      </p:nvGrpSpPr>
      <p:grpSpPr>
        <a:xfrm>
          <a:off x="0" y="0"/>
          <a:ext cx="0" cy="0"/>
          <a:chOff x="0" y="0"/>
          <a:chExt cx="0" cy="0"/>
        </a:xfrm>
      </p:grpSpPr>
      <p:sp>
        <p:nvSpPr>
          <p:cNvPr id="9" name="AutoShape 9">
            <a:extLst>
              <a:ext uri="{FF2B5EF4-FFF2-40B4-BE49-F238E27FC236}">
                <a16:creationId xmlns:a16="http://schemas.microsoft.com/office/drawing/2014/main" id="{65BDD78F-5C05-8057-FCEF-9698444A9270}"/>
              </a:ext>
            </a:extLst>
          </p:cNvPr>
          <p:cNvSpPr/>
          <p:nvPr/>
        </p:nvSpPr>
        <p:spPr>
          <a:xfrm flipV="1">
            <a:off x="4419600" y="3623116"/>
            <a:ext cx="2443899" cy="1215584"/>
          </a:xfrm>
          <a:prstGeom prst="line">
            <a:avLst/>
          </a:prstGeom>
          <a:ln w="28575" cap="flat">
            <a:solidFill>
              <a:srgbClr val="F8F8F8"/>
            </a:solidFill>
            <a:prstDash val="solid"/>
            <a:headEnd type="none" w="sm" len="sm"/>
            <a:tailEnd type="none" w="sm" len="sm"/>
          </a:ln>
        </p:spPr>
      </p:sp>
      <p:grpSp>
        <p:nvGrpSpPr>
          <p:cNvPr id="13" name="Group 13">
            <a:extLst>
              <a:ext uri="{FF2B5EF4-FFF2-40B4-BE49-F238E27FC236}">
                <a16:creationId xmlns:a16="http://schemas.microsoft.com/office/drawing/2014/main" id="{A697B26D-5B9B-5A0B-B250-DE2A228421E5}"/>
              </a:ext>
            </a:extLst>
          </p:cNvPr>
          <p:cNvGrpSpPr/>
          <p:nvPr/>
        </p:nvGrpSpPr>
        <p:grpSpPr>
          <a:xfrm>
            <a:off x="57409" y="1790335"/>
            <a:ext cx="5710361" cy="5867765"/>
            <a:chOff x="0" y="0"/>
            <a:chExt cx="812800" cy="812800"/>
          </a:xfrm>
        </p:grpSpPr>
        <p:sp>
          <p:nvSpPr>
            <p:cNvPr id="14" name="Freeform 14">
              <a:extLst>
                <a:ext uri="{FF2B5EF4-FFF2-40B4-BE49-F238E27FC236}">
                  <a16:creationId xmlns:a16="http://schemas.microsoft.com/office/drawing/2014/main" id="{B4E05834-B2D1-BB12-A9EE-976C58114C68}"/>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8F8F8"/>
            </a:solidFill>
          </p:spPr>
        </p:sp>
        <p:sp>
          <p:nvSpPr>
            <p:cNvPr id="15" name="TextBox 15">
              <a:extLst>
                <a:ext uri="{FF2B5EF4-FFF2-40B4-BE49-F238E27FC236}">
                  <a16:creationId xmlns:a16="http://schemas.microsoft.com/office/drawing/2014/main" id="{35AD5FFB-DCFA-64C9-59D2-E0A256EC7719}"/>
                </a:ext>
              </a:extLst>
            </p:cNvPr>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16" name="Freeform 16">
            <a:extLst>
              <a:ext uri="{FF2B5EF4-FFF2-40B4-BE49-F238E27FC236}">
                <a16:creationId xmlns:a16="http://schemas.microsoft.com/office/drawing/2014/main" id="{F683F840-1EBE-F01C-D942-9940FFD6EEE8}"/>
              </a:ext>
            </a:extLst>
          </p:cNvPr>
          <p:cNvSpPr/>
          <p:nvPr/>
        </p:nvSpPr>
        <p:spPr>
          <a:xfrm>
            <a:off x="170873" y="1960428"/>
            <a:ext cx="5596898" cy="5545272"/>
          </a:xfrm>
          <a:custGeom>
            <a:avLst/>
            <a:gdLst/>
            <a:ahLst/>
            <a:cxnLst/>
            <a:rect l="l" t="t" r="r" b="b"/>
            <a:pathLst>
              <a:path w="5862965" h="5855636">
                <a:moveTo>
                  <a:pt x="0" y="0"/>
                </a:moveTo>
                <a:lnTo>
                  <a:pt x="5862964" y="0"/>
                </a:lnTo>
                <a:lnTo>
                  <a:pt x="5862964" y="5855636"/>
                </a:lnTo>
                <a:lnTo>
                  <a:pt x="0" y="5855636"/>
                </a:lnTo>
                <a:lnTo>
                  <a:pt x="0" y="0"/>
                </a:lnTo>
                <a:close/>
              </a:path>
            </a:pathLst>
          </a:custGeom>
          <a:blipFill>
            <a:blip r:embed="rId2"/>
            <a:stretch>
              <a:fillRect/>
            </a:stretch>
          </a:blipFill>
        </p:spPr>
      </p:sp>
      <p:grpSp>
        <p:nvGrpSpPr>
          <p:cNvPr id="17" name="Group 17">
            <a:extLst>
              <a:ext uri="{FF2B5EF4-FFF2-40B4-BE49-F238E27FC236}">
                <a16:creationId xmlns:a16="http://schemas.microsoft.com/office/drawing/2014/main" id="{AC383127-D8D8-2F83-6409-9F32CB740F43}"/>
              </a:ext>
            </a:extLst>
          </p:cNvPr>
          <p:cNvGrpSpPr/>
          <p:nvPr/>
        </p:nvGrpSpPr>
        <p:grpSpPr>
          <a:xfrm>
            <a:off x="548587" y="2358550"/>
            <a:ext cx="4656530" cy="4714910"/>
            <a:chOff x="0" y="0"/>
            <a:chExt cx="812800" cy="812800"/>
          </a:xfrm>
        </p:grpSpPr>
        <p:sp>
          <p:nvSpPr>
            <p:cNvPr id="18" name="Freeform 18">
              <a:extLst>
                <a:ext uri="{FF2B5EF4-FFF2-40B4-BE49-F238E27FC236}">
                  <a16:creationId xmlns:a16="http://schemas.microsoft.com/office/drawing/2014/main" id="{084207DC-052C-9C2D-284F-B537500AA476}"/>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id="19" name="TextBox 19">
              <a:extLst>
                <a:ext uri="{FF2B5EF4-FFF2-40B4-BE49-F238E27FC236}">
                  <a16:creationId xmlns:a16="http://schemas.microsoft.com/office/drawing/2014/main" id="{8075ADF6-C8F5-92AB-09D4-DEC504838FF1}"/>
                </a:ext>
              </a:extLst>
            </p:cNvPr>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26" name="TextBox 26">
            <a:extLst>
              <a:ext uri="{FF2B5EF4-FFF2-40B4-BE49-F238E27FC236}">
                <a16:creationId xmlns:a16="http://schemas.microsoft.com/office/drawing/2014/main" id="{E420C121-42B1-00A2-30BB-B63EBB5FE56D}"/>
              </a:ext>
            </a:extLst>
          </p:cNvPr>
          <p:cNvSpPr txBox="1"/>
          <p:nvPr/>
        </p:nvSpPr>
        <p:spPr>
          <a:xfrm>
            <a:off x="1126218" y="4540662"/>
            <a:ext cx="4563094" cy="827534"/>
          </a:xfrm>
          <a:prstGeom prst="rect">
            <a:avLst/>
          </a:prstGeom>
        </p:spPr>
        <p:txBody>
          <a:bodyPr wrap="square" lIns="0" tIns="0" rIns="0" bIns="0" rtlCol="0" anchor="t">
            <a:spAutoFit/>
          </a:bodyPr>
          <a:lstStyle/>
          <a:p>
            <a:pPr>
              <a:lnSpc>
                <a:spcPts val="7000"/>
              </a:lnSpc>
            </a:pPr>
            <a:r>
              <a:rPr lang="en-US" sz="4800" b="1" dirty="0">
                <a:solidFill>
                  <a:srgbClr val="7068F4"/>
                </a:solidFill>
                <a:latin typeface="Barlow Bold" pitchFamily="34" charset="0"/>
                <a:ea typeface="Barlow Bold" pitchFamily="34" charset="-122"/>
                <a:cs typeface="Barlow Bold" pitchFamily="34" charset="-120"/>
              </a:rPr>
              <a:t>Introduction</a:t>
            </a:r>
          </a:p>
        </p:txBody>
      </p:sp>
      <p:grpSp>
        <p:nvGrpSpPr>
          <p:cNvPr id="27" name="Group 27">
            <a:extLst>
              <a:ext uri="{FF2B5EF4-FFF2-40B4-BE49-F238E27FC236}">
                <a16:creationId xmlns:a16="http://schemas.microsoft.com/office/drawing/2014/main" id="{1BB23580-88E1-0297-8122-F1F131C4E9E2}"/>
              </a:ext>
            </a:extLst>
          </p:cNvPr>
          <p:cNvGrpSpPr/>
          <p:nvPr/>
        </p:nvGrpSpPr>
        <p:grpSpPr>
          <a:xfrm>
            <a:off x="5638800" y="1562099"/>
            <a:ext cx="13053099" cy="6400801"/>
            <a:chOff x="0" y="0"/>
            <a:chExt cx="1013318" cy="260488"/>
          </a:xfrm>
        </p:grpSpPr>
        <p:sp>
          <p:nvSpPr>
            <p:cNvPr id="28" name="Freeform 28">
              <a:extLst>
                <a:ext uri="{FF2B5EF4-FFF2-40B4-BE49-F238E27FC236}">
                  <a16:creationId xmlns:a16="http://schemas.microsoft.com/office/drawing/2014/main" id="{600070C9-0FA5-A380-E824-951FD9557F4F}"/>
                </a:ext>
              </a:extLst>
            </p:cNvPr>
            <p:cNvSpPr/>
            <p:nvPr/>
          </p:nvSpPr>
          <p:spPr>
            <a:xfrm>
              <a:off x="0" y="0"/>
              <a:ext cx="1013318" cy="260488"/>
            </a:xfrm>
            <a:custGeom>
              <a:avLst/>
              <a:gdLst/>
              <a:ahLst/>
              <a:cxnLst/>
              <a:rect l="l" t="t" r="r" b="b"/>
              <a:pathLst>
                <a:path w="1013318" h="260488">
                  <a:moveTo>
                    <a:pt x="130244" y="0"/>
                  </a:moveTo>
                  <a:lnTo>
                    <a:pt x="883074" y="0"/>
                  </a:lnTo>
                  <a:cubicBezTo>
                    <a:pt x="917617" y="0"/>
                    <a:pt x="950745" y="13722"/>
                    <a:pt x="975171" y="38148"/>
                  </a:cubicBezTo>
                  <a:cubicBezTo>
                    <a:pt x="999596" y="62573"/>
                    <a:pt x="1013318" y="95701"/>
                    <a:pt x="1013318" y="130244"/>
                  </a:cubicBezTo>
                  <a:lnTo>
                    <a:pt x="1013318" y="130244"/>
                  </a:lnTo>
                  <a:cubicBezTo>
                    <a:pt x="1013318" y="202175"/>
                    <a:pt x="955006" y="260488"/>
                    <a:pt x="883074" y="260488"/>
                  </a:cubicBezTo>
                  <a:lnTo>
                    <a:pt x="130244" y="260488"/>
                  </a:lnTo>
                  <a:cubicBezTo>
                    <a:pt x="95701" y="260488"/>
                    <a:pt x="62573" y="246766"/>
                    <a:pt x="38148" y="222340"/>
                  </a:cubicBezTo>
                  <a:cubicBezTo>
                    <a:pt x="13722" y="197915"/>
                    <a:pt x="0" y="164787"/>
                    <a:pt x="0" y="130244"/>
                  </a:cubicBezTo>
                  <a:lnTo>
                    <a:pt x="0" y="130244"/>
                  </a:lnTo>
                  <a:cubicBezTo>
                    <a:pt x="0" y="95701"/>
                    <a:pt x="13722" y="62573"/>
                    <a:pt x="38148" y="38148"/>
                  </a:cubicBezTo>
                  <a:cubicBezTo>
                    <a:pt x="62573" y="13722"/>
                    <a:pt x="95701" y="0"/>
                    <a:pt x="130244" y="0"/>
                  </a:cubicBezTo>
                  <a:close/>
                </a:path>
              </a:pathLst>
            </a:custGeom>
            <a:solidFill>
              <a:srgbClr val="F8F8F8"/>
            </a:solidFill>
          </p:spPr>
        </p:sp>
        <p:sp>
          <p:nvSpPr>
            <p:cNvPr id="29" name="TextBox 29">
              <a:extLst>
                <a:ext uri="{FF2B5EF4-FFF2-40B4-BE49-F238E27FC236}">
                  <a16:creationId xmlns:a16="http://schemas.microsoft.com/office/drawing/2014/main" id="{EE6FC779-28D7-3769-87ED-D51A4A844C5B}"/>
                </a:ext>
              </a:extLst>
            </p:cNvPr>
            <p:cNvSpPr txBox="1"/>
            <p:nvPr/>
          </p:nvSpPr>
          <p:spPr>
            <a:xfrm>
              <a:off x="0" y="-38100"/>
              <a:ext cx="1013318" cy="298588"/>
            </a:xfrm>
            <a:prstGeom prst="rect">
              <a:avLst/>
            </a:prstGeom>
          </p:spPr>
          <p:txBody>
            <a:bodyPr lIns="47086" tIns="47086" rIns="47086" bIns="47086" rtlCol="0" anchor="ctr"/>
            <a:lstStyle/>
            <a:p>
              <a:pPr algn="ctr">
                <a:lnSpc>
                  <a:spcPts val="2659"/>
                </a:lnSpc>
              </a:pPr>
              <a:endParaRPr/>
            </a:p>
          </p:txBody>
        </p:sp>
      </p:grpSp>
      <p:sp>
        <p:nvSpPr>
          <p:cNvPr id="30" name="Freeform 30">
            <a:extLst>
              <a:ext uri="{FF2B5EF4-FFF2-40B4-BE49-F238E27FC236}">
                <a16:creationId xmlns:a16="http://schemas.microsoft.com/office/drawing/2014/main" id="{4A961857-60BF-D93A-8677-F6E75B5658A5}"/>
              </a:ext>
            </a:extLst>
          </p:cNvPr>
          <p:cNvSpPr/>
          <p:nvPr/>
        </p:nvSpPr>
        <p:spPr>
          <a:xfrm>
            <a:off x="5105400" y="1485900"/>
            <a:ext cx="1607396" cy="1524000"/>
          </a:xfrm>
          <a:custGeom>
            <a:avLst/>
            <a:gdLst/>
            <a:ahLst/>
            <a:cxnLst/>
            <a:rect l="l" t="t" r="r" b="b"/>
            <a:pathLst>
              <a:path w="1026728" h="1025445">
                <a:moveTo>
                  <a:pt x="0" y="0"/>
                </a:moveTo>
                <a:lnTo>
                  <a:pt x="1026729" y="0"/>
                </a:lnTo>
                <a:lnTo>
                  <a:pt x="1026729" y="1025445"/>
                </a:lnTo>
                <a:lnTo>
                  <a:pt x="0" y="1025445"/>
                </a:lnTo>
                <a:lnTo>
                  <a:pt x="0" y="0"/>
                </a:lnTo>
                <a:close/>
              </a:path>
            </a:pathLst>
          </a:custGeom>
          <a:blipFill>
            <a:blip r:embed="rId2"/>
            <a:stretch>
              <a:fillRect/>
            </a:stretch>
          </a:blipFill>
        </p:spPr>
      </p:sp>
      <p:grpSp>
        <p:nvGrpSpPr>
          <p:cNvPr id="31" name="Group 31">
            <a:extLst>
              <a:ext uri="{FF2B5EF4-FFF2-40B4-BE49-F238E27FC236}">
                <a16:creationId xmlns:a16="http://schemas.microsoft.com/office/drawing/2014/main" id="{A6FE661C-83D1-7275-A055-716B51745435}"/>
              </a:ext>
            </a:extLst>
          </p:cNvPr>
          <p:cNvGrpSpPr/>
          <p:nvPr/>
        </p:nvGrpSpPr>
        <p:grpSpPr>
          <a:xfrm>
            <a:off x="5417268" y="1722898"/>
            <a:ext cx="1011607" cy="1011607"/>
            <a:chOff x="0" y="0"/>
            <a:chExt cx="812800" cy="812800"/>
          </a:xfrm>
        </p:grpSpPr>
        <p:sp>
          <p:nvSpPr>
            <p:cNvPr id="32" name="Freeform 32">
              <a:extLst>
                <a:ext uri="{FF2B5EF4-FFF2-40B4-BE49-F238E27FC236}">
                  <a16:creationId xmlns:a16="http://schemas.microsoft.com/office/drawing/2014/main" id="{7CCCB027-04EE-895A-3709-2904A1C6B180}"/>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id="33" name="TextBox 33">
              <a:extLst>
                <a:ext uri="{FF2B5EF4-FFF2-40B4-BE49-F238E27FC236}">
                  <a16:creationId xmlns:a16="http://schemas.microsoft.com/office/drawing/2014/main" id="{E31A4D66-E313-BCA0-D8BC-88D3A7748646}"/>
                </a:ext>
              </a:extLst>
            </p:cNvPr>
            <p:cNvSpPr txBox="1"/>
            <p:nvPr/>
          </p:nvSpPr>
          <p:spPr>
            <a:xfrm>
              <a:off x="76200" y="38100"/>
              <a:ext cx="660400" cy="698500"/>
            </a:xfrm>
            <a:prstGeom prst="rect">
              <a:avLst/>
            </a:prstGeom>
          </p:spPr>
          <p:txBody>
            <a:bodyPr lIns="47086" tIns="47086" rIns="47086" bIns="47086" rtlCol="0" anchor="ctr"/>
            <a:lstStyle/>
            <a:p>
              <a:pPr algn="ctr">
                <a:lnSpc>
                  <a:spcPts val="2659"/>
                </a:lnSpc>
                <a:spcBef>
                  <a:spcPct val="0"/>
                </a:spcBef>
              </a:pPr>
              <a:endParaRPr/>
            </a:p>
          </p:txBody>
        </p:sp>
      </p:grpSp>
      <p:grpSp>
        <p:nvGrpSpPr>
          <p:cNvPr id="75" name="Group 75">
            <a:extLst>
              <a:ext uri="{FF2B5EF4-FFF2-40B4-BE49-F238E27FC236}">
                <a16:creationId xmlns:a16="http://schemas.microsoft.com/office/drawing/2014/main" id="{FBD09E03-C470-2D02-1FF7-24B17813A73A}"/>
              </a:ext>
            </a:extLst>
          </p:cNvPr>
          <p:cNvGrpSpPr/>
          <p:nvPr/>
        </p:nvGrpSpPr>
        <p:grpSpPr>
          <a:xfrm>
            <a:off x="17491799" y="8458418"/>
            <a:ext cx="951769" cy="799882"/>
            <a:chOff x="0" y="0"/>
            <a:chExt cx="967140" cy="812800"/>
          </a:xfrm>
        </p:grpSpPr>
        <p:sp>
          <p:nvSpPr>
            <p:cNvPr id="76" name="Freeform 76">
              <a:extLst>
                <a:ext uri="{FF2B5EF4-FFF2-40B4-BE49-F238E27FC236}">
                  <a16:creationId xmlns:a16="http://schemas.microsoft.com/office/drawing/2014/main" id="{17C7D5E0-CED8-140A-E421-6E67FA2AF721}"/>
                </a:ext>
              </a:extLst>
            </p:cNvPr>
            <p:cNvSpPr/>
            <p:nvPr/>
          </p:nvSpPr>
          <p:spPr>
            <a:xfrm>
              <a:off x="0" y="0"/>
              <a:ext cx="967140" cy="812800"/>
            </a:xfrm>
            <a:custGeom>
              <a:avLst/>
              <a:gdLst/>
              <a:ahLst/>
              <a:cxnLst/>
              <a:rect l="l" t="t" r="r" b="b"/>
              <a:pathLst>
                <a:path w="967140" h="812800">
                  <a:moveTo>
                    <a:pt x="81342" y="0"/>
                  </a:moveTo>
                  <a:lnTo>
                    <a:pt x="885798" y="0"/>
                  </a:lnTo>
                  <a:cubicBezTo>
                    <a:pt x="907371" y="0"/>
                    <a:pt x="928061" y="8570"/>
                    <a:pt x="943315" y="23825"/>
                  </a:cubicBezTo>
                  <a:cubicBezTo>
                    <a:pt x="958570" y="39079"/>
                    <a:pt x="967140" y="59769"/>
                    <a:pt x="967140" y="81342"/>
                  </a:cubicBezTo>
                  <a:lnTo>
                    <a:pt x="967140" y="731458"/>
                  </a:lnTo>
                  <a:cubicBezTo>
                    <a:pt x="967140" y="776382"/>
                    <a:pt x="930722" y="812800"/>
                    <a:pt x="885798" y="812800"/>
                  </a:cubicBezTo>
                  <a:lnTo>
                    <a:pt x="81342" y="812800"/>
                  </a:lnTo>
                  <a:cubicBezTo>
                    <a:pt x="59769" y="812800"/>
                    <a:pt x="39079" y="804230"/>
                    <a:pt x="23825" y="788975"/>
                  </a:cubicBezTo>
                  <a:cubicBezTo>
                    <a:pt x="8570" y="773721"/>
                    <a:pt x="0" y="753031"/>
                    <a:pt x="0" y="731458"/>
                  </a:cubicBezTo>
                  <a:lnTo>
                    <a:pt x="0" y="81342"/>
                  </a:lnTo>
                  <a:cubicBezTo>
                    <a:pt x="0" y="59769"/>
                    <a:pt x="8570" y="39079"/>
                    <a:pt x="23825" y="23825"/>
                  </a:cubicBezTo>
                  <a:cubicBezTo>
                    <a:pt x="39079" y="8570"/>
                    <a:pt x="59769" y="0"/>
                    <a:pt x="81342" y="0"/>
                  </a:cubicBezTo>
                  <a:close/>
                </a:path>
              </a:pathLst>
            </a:custGeom>
            <a:solidFill>
              <a:srgbClr val="3A6AD6"/>
            </a:solidFill>
          </p:spPr>
        </p:sp>
        <p:sp>
          <p:nvSpPr>
            <p:cNvPr id="77" name="TextBox 77">
              <a:extLst>
                <a:ext uri="{FF2B5EF4-FFF2-40B4-BE49-F238E27FC236}">
                  <a16:creationId xmlns:a16="http://schemas.microsoft.com/office/drawing/2014/main" id="{0B69677C-5779-A37A-AAF6-82D0BD7B9B92}"/>
                </a:ext>
              </a:extLst>
            </p:cNvPr>
            <p:cNvSpPr txBox="1"/>
            <p:nvPr/>
          </p:nvSpPr>
          <p:spPr>
            <a:xfrm>
              <a:off x="0" y="-38100"/>
              <a:ext cx="967140" cy="850900"/>
            </a:xfrm>
            <a:prstGeom prst="rect">
              <a:avLst/>
            </a:prstGeom>
          </p:spPr>
          <p:txBody>
            <a:bodyPr lIns="50800" tIns="50800" rIns="50800" bIns="50800" rtlCol="0" anchor="ctr"/>
            <a:lstStyle/>
            <a:p>
              <a:pPr algn="ctr">
                <a:lnSpc>
                  <a:spcPts val="2659"/>
                </a:lnSpc>
              </a:pPr>
              <a:endParaRPr/>
            </a:p>
          </p:txBody>
        </p:sp>
      </p:grpSp>
      <p:sp>
        <p:nvSpPr>
          <p:cNvPr id="78" name="TextBox 78">
            <a:extLst>
              <a:ext uri="{FF2B5EF4-FFF2-40B4-BE49-F238E27FC236}">
                <a16:creationId xmlns:a16="http://schemas.microsoft.com/office/drawing/2014/main" id="{8DD35432-DED6-8F96-400E-556A5E7C5802}"/>
              </a:ext>
            </a:extLst>
          </p:cNvPr>
          <p:cNvSpPr txBox="1"/>
          <p:nvPr/>
        </p:nvSpPr>
        <p:spPr>
          <a:xfrm>
            <a:off x="17674380" y="8710688"/>
            <a:ext cx="442747" cy="257943"/>
          </a:xfrm>
          <a:prstGeom prst="rect">
            <a:avLst/>
          </a:prstGeom>
        </p:spPr>
        <p:txBody>
          <a:bodyPr lIns="0" tIns="0" rIns="0" bIns="0" rtlCol="0" anchor="t">
            <a:spAutoFit/>
          </a:bodyPr>
          <a:lstStyle/>
          <a:p>
            <a:pPr algn="ctr">
              <a:lnSpc>
                <a:spcPts val="2057"/>
              </a:lnSpc>
              <a:spcBef>
                <a:spcPct val="0"/>
              </a:spcBef>
            </a:pPr>
            <a:r>
              <a:rPr lang="en-US" sz="1469" b="1" dirty="0">
                <a:solidFill>
                  <a:srgbClr val="FFFFFF"/>
                </a:solidFill>
                <a:latin typeface="Poppins Bold"/>
                <a:ea typeface="Poppins Bold"/>
                <a:cs typeface="Poppins Bold"/>
                <a:sym typeface="Poppins Bold"/>
              </a:rPr>
              <a:t>03</a:t>
            </a:r>
          </a:p>
        </p:txBody>
      </p:sp>
      <p:sp>
        <p:nvSpPr>
          <p:cNvPr id="83" name="Text 2">
            <a:extLst>
              <a:ext uri="{FF2B5EF4-FFF2-40B4-BE49-F238E27FC236}">
                <a16:creationId xmlns:a16="http://schemas.microsoft.com/office/drawing/2014/main" id="{189A5318-81AE-FE8C-8869-AECAB87BF10A}"/>
              </a:ext>
            </a:extLst>
          </p:cNvPr>
          <p:cNvSpPr/>
          <p:nvPr/>
        </p:nvSpPr>
        <p:spPr>
          <a:xfrm>
            <a:off x="6248400" y="2484898"/>
            <a:ext cx="11826505" cy="4411202"/>
          </a:xfrm>
          <a:prstGeom prst="rect">
            <a:avLst/>
          </a:prstGeom>
          <a:noFill/>
          <a:ln/>
        </p:spPr>
        <p:txBody>
          <a:bodyPr wrap="square" lIns="0" tIns="0" rIns="0" bIns="0" rtlCol="0" anchor="t"/>
          <a:lstStyle/>
          <a:p>
            <a:pPr marL="342900" algn="just"/>
            <a:r>
              <a:rPr lang="en-GB" sz="3200" dirty="0">
                <a:solidFill>
                  <a:srgbClr val="504C49"/>
                </a:solidFill>
                <a:latin typeface="Source Serif Pro" pitchFamily="34" charset="0"/>
                <a:ea typeface="Source Serif Pro" pitchFamily="34" charset="-122"/>
                <a:cs typeface="Source Serif Pro" pitchFamily="34" charset="-120"/>
              </a:rPr>
              <a:t>	Machine learning (ML) has rapidly become essential in many domains — from personalized content recommendations to medical diagnostics. With Natural Language Processing (NLP) at the core of many AI systems, the increasing computational demands for training these models raise serious environmental concerns. While achieving high model accuracy is often prioritized, carbon efficiency tends to be overlooked. This gap presents a significant challenge in building sustainable AI solutions.</a:t>
            </a:r>
          </a:p>
        </p:txBody>
      </p:sp>
      <p:sp>
        <p:nvSpPr>
          <p:cNvPr id="2" name="Freeform 30">
            <a:extLst>
              <a:ext uri="{FF2B5EF4-FFF2-40B4-BE49-F238E27FC236}">
                <a16:creationId xmlns:a16="http://schemas.microsoft.com/office/drawing/2014/main" id="{06F99E5B-D4BA-E9D4-3C4C-B99AF9D283D2}"/>
              </a:ext>
            </a:extLst>
          </p:cNvPr>
          <p:cNvSpPr/>
          <p:nvPr/>
        </p:nvSpPr>
        <p:spPr>
          <a:xfrm>
            <a:off x="2011612" y="3183718"/>
            <a:ext cx="1607396" cy="1524000"/>
          </a:xfrm>
          <a:custGeom>
            <a:avLst/>
            <a:gdLst/>
            <a:ahLst/>
            <a:cxnLst/>
            <a:rect l="l" t="t" r="r" b="b"/>
            <a:pathLst>
              <a:path w="1026728" h="1025445">
                <a:moveTo>
                  <a:pt x="0" y="0"/>
                </a:moveTo>
                <a:lnTo>
                  <a:pt x="1026729" y="0"/>
                </a:lnTo>
                <a:lnTo>
                  <a:pt x="1026729" y="1025445"/>
                </a:lnTo>
                <a:lnTo>
                  <a:pt x="0" y="1025445"/>
                </a:lnTo>
                <a:lnTo>
                  <a:pt x="0" y="0"/>
                </a:lnTo>
                <a:close/>
              </a:path>
            </a:pathLst>
          </a:custGeom>
          <a:blipFill>
            <a:blip r:embed="rId2"/>
            <a:stretch>
              <a:fillRect/>
            </a:stretch>
          </a:blipFill>
        </p:spPr>
      </p:sp>
      <p:grpSp>
        <p:nvGrpSpPr>
          <p:cNvPr id="3" name="Group 31">
            <a:extLst>
              <a:ext uri="{FF2B5EF4-FFF2-40B4-BE49-F238E27FC236}">
                <a16:creationId xmlns:a16="http://schemas.microsoft.com/office/drawing/2014/main" id="{D9586BE3-5988-CE6F-BC6C-2EAF72FBDA51}"/>
              </a:ext>
            </a:extLst>
          </p:cNvPr>
          <p:cNvGrpSpPr/>
          <p:nvPr/>
        </p:nvGrpSpPr>
        <p:grpSpPr>
          <a:xfrm>
            <a:off x="2323608" y="3391311"/>
            <a:ext cx="1011607" cy="1011607"/>
            <a:chOff x="0" y="0"/>
            <a:chExt cx="812800" cy="812800"/>
          </a:xfrm>
        </p:grpSpPr>
        <p:sp>
          <p:nvSpPr>
            <p:cNvPr id="4" name="Freeform 32">
              <a:extLst>
                <a:ext uri="{FF2B5EF4-FFF2-40B4-BE49-F238E27FC236}">
                  <a16:creationId xmlns:a16="http://schemas.microsoft.com/office/drawing/2014/main" id="{C252C698-50D5-B29D-F146-BAC1E95202F1}"/>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id="5" name="TextBox 33">
              <a:extLst>
                <a:ext uri="{FF2B5EF4-FFF2-40B4-BE49-F238E27FC236}">
                  <a16:creationId xmlns:a16="http://schemas.microsoft.com/office/drawing/2014/main" id="{B7D0E8CA-C461-8CD4-8710-0992F6F2E084}"/>
                </a:ext>
              </a:extLst>
            </p:cNvPr>
            <p:cNvSpPr txBox="1"/>
            <p:nvPr/>
          </p:nvSpPr>
          <p:spPr>
            <a:xfrm>
              <a:off x="76200" y="38100"/>
              <a:ext cx="660400" cy="698500"/>
            </a:xfrm>
            <a:prstGeom prst="rect">
              <a:avLst/>
            </a:prstGeom>
          </p:spPr>
          <p:txBody>
            <a:bodyPr lIns="47086" tIns="47086" rIns="47086" bIns="47086" rtlCol="0" anchor="ctr"/>
            <a:lstStyle/>
            <a:p>
              <a:pPr algn="ctr">
                <a:lnSpc>
                  <a:spcPts val="2659"/>
                </a:lnSpc>
                <a:spcBef>
                  <a:spcPct val="0"/>
                </a:spcBef>
              </a:pPr>
              <a:endParaRPr/>
            </a:p>
          </p:txBody>
        </p:sp>
      </p:grpSp>
      <p:pic>
        <p:nvPicPr>
          <p:cNvPr id="21506" name="Picture 2" descr="Presentation Generic Blue icon | Freepik">
            <a:extLst>
              <a:ext uri="{FF2B5EF4-FFF2-40B4-BE49-F238E27FC236}">
                <a16:creationId xmlns:a16="http://schemas.microsoft.com/office/drawing/2014/main" id="{96DC89AE-065E-CC37-3432-19B78AF29140}"/>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131122" y="2971695"/>
            <a:ext cx="1676400" cy="16764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4796622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Click="0">
        <p159:morph option="byObject"/>
      </p:transition>
    </mc:Choice>
    <mc:Fallback xmlns="">
      <p:transition spd="slow" advClick="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5" presetClass="entr" presetSubtype="0" fill="hold" nodeType="afterEffect">
                                  <p:stCondLst>
                                    <p:cond delay="0"/>
                                  </p:stCondLst>
                                  <p:childTnLst>
                                    <p:set>
                                      <p:cBhvr>
                                        <p:cTn id="6" dur="1" fill="hold">
                                          <p:stCondLst>
                                            <p:cond delay="0"/>
                                          </p:stCondLst>
                                        </p:cTn>
                                        <p:tgtEl>
                                          <p:spTgt spid="21506"/>
                                        </p:tgtEl>
                                        <p:attrNameLst>
                                          <p:attrName>style.visibility</p:attrName>
                                        </p:attrNameLst>
                                      </p:cBhvr>
                                      <p:to>
                                        <p:strVal val="visible"/>
                                      </p:to>
                                    </p:set>
                                    <p:animEffect transition="in" filter="fade">
                                      <p:cBhvr>
                                        <p:cTn id="7" dur="2000"/>
                                        <p:tgtEl>
                                          <p:spTgt spid="21506"/>
                                        </p:tgtEl>
                                      </p:cBhvr>
                                    </p:animEffect>
                                    <p:anim calcmode="lin" valueType="num">
                                      <p:cBhvr>
                                        <p:cTn id="8" dur="2000" fill="hold"/>
                                        <p:tgtEl>
                                          <p:spTgt spid="21506"/>
                                        </p:tgtEl>
                                        <p:attrNameLst>
                                          <p:attrName>ppt_w</p:attrName>
                                        </p:attrNameLst>
                                      </p:cBhvr>
                                      <p:tavLst>
                                        <p:tav tm="0" fmla="#ppt_w*sin(2.5*pi*$)">
                                          <p:val>
                                            <p:fltVal val="0"/>
                                          </p:val>
                                        </p:tav>
                                        <p:tav tm="100000">
                                          <p:val>
                                            <p:fltVal val="1"/>
                                          </p:val>
                                        </p:tav>
                                      </p:tavLst>
                                    </p:anim>
                                    <p:anim calcmode="lin" valueType="num">
                                      <p:cBhvr>
                                        <p:cTn id="9" dur="2000" fill="hold"/>
                                        <p:tgtEl>
                                          <p:spTgt spid="21506"/>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D908C0-EE49-BF89-E8EF-8D022F2A44D3}"/>
            </a:ext>
          </a:extLst>
        </p:cNvPr>
        <p:cNvGrpSpPr/>
        <p:nvPr/>
      </p:nvGrpSpPr>
      <p:grpSpPr>
        <a:xfrm>
          <a:off x="0" y="0"/>
          <a:ext cx="0" cy="0"/>
          <a:chOff x="0" y="0"/>
          <a:chExt cx="0" cy="0"/>
        </a:xfrm>
      </p:grpSpPr>
      <p:sp>
        <p:nvSpPr>
          <p:cNvPr id="9" name="AutoShape 9">
            <a:extLst>
              <a:ext uri="{FF2B5EF4-FFF2-40B4-BE49-F238E27FC236}">
                <a16:creationId xmlns:a16="http://schemas.microsoft.com/office/drawing/2014/main" id="{7B7C907F-A098-2034-2F0F-97295D94D1C8}"/>
              </a:ext>
            </a:extLst>
          </p:cNvPr>
          <p:cNvSpPr/>
          <p:nvPr/>
        </p:nvSpPr>
        <p:spPr>
          <a:xfrm flipV="1">
            <a:off x="4419600" y="3623116"/>
            <a:ext cx="2443899" cy="1215584"/>
          </a:xfrm>
          <a:prstGeom prst="line">
            <a:avLst/>
          </a:prstGeom>
          <a:ln w="28575" cap="flat">
            <a:solidFill>
              <a:srgbClr val="F8F8F8"/>
            </a:solidFill>
            <a:prstDash val="solid"/>
            <a:headEnd type="none" w="sm" len="sm"/>
            <a:tailEnd type="none" w="sm" len="sm"/>
          </a:ln>
        </p:spPr>
      </p:sp>
      <p:grpSp>
        <p:nvGrpSpPr>
          <p:cNvPr id="13" name="Group 13">
            <a:extLst>
              <a:ext uri="{FF2B5EF4-FFF2-40B4-BE49-F238E27FC236}">
                <a16:creationId xmlns:a16="http://schemas.microsoft.com/office/drawing/2014/main" id="{BB79A30F-E619-D47F-3DB2-1ADE99F560A3}"/>
              </a:ext>
            </a:extLst>
          </p:cNvPr>
          <p:cNvGrpSpPr/>
          <p:nvPr/>
        </p:nvGrpSpPr>
        <p:grpSpPr>
          <a:xfrm>
            <a:off x="57409" y="1790335"/>
            <a:ext cx="5710361" cy="5867765"/>
            <a:chOff x="0" y="0"/>
            <a:chExt cx="812800" cy="812800"/>
          </a:xfrm>
        </p:grpSpPr>
        <p:sp>
          <p:nvSpPr>
            <p:cNvPr id="14" name="Freeform 14">
              <a:extLst>
                <a:ext uri="{FF2B5EF4-FFF2-40B4-BE49-F238E27FC236}">
                  <a16:creationId xmlns:a16="http://schemas.microsoft.com/office/drawing/2014/main" id="{50031562-0917-ADF0-DF22-160C27F0130B}"/>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8F8F8"/>
            </a:solidFill>
          </p:spPr>
        </p:sp>
        <p:sp>
          <p:nvSpPr>
            <p:cNvPr id="15" name="TextBox 15">
              <a:extLst>
                <a:ext uri="{FF2B5EF4-FFF2-40B4-BE49-F238E27FC236}">
                  <a16:creationId xmlns:a16="http://schemas.microsoft.com/office/drawing/2014/main" id="{F6713D9E-C622-1A99-0B87-1C0116A677AE}"/>
                </a:ext>
              </a:extLst>
            </p:cNvPr>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grpSp>
        <p:nvGrpSpPr>
          <p:cNvPr id="27" name="Group 27">
            <a:extLst>
              <a:ext uri="{FF2B5EF4-FFF2-40B4-BE49-F238E27FC236}">
                <a16:creationId xmlns:a16="http://schemas.microsoft.com/office/drawing/2014/main" id="{B59F57D6-9973-E831-238E-A9246200D5F0}"/>
              </a:ext>
            </a:extLst>
          </p:cNvPr>
          <p:cNvGrpSpPr/>
          <p:nvPr/>
        </p:nvGrpSpPr>
        <p:grpSpPr>
          <a:xfrm>
            <a:off x="5276591" y="647700"/>
            <a:ext cx="14306809" cy="7315201"/>
            <a:chOff x="0" y="0"/>
            <a:chExt cx="1013318" cy="260488"/>
          </a:xfrm>
        </p:grpSpPr>
        <p:sp>
          <p:nvSpPr>
            <p:cNvPr id="28" name="Freeform 28">
              <a:extLst>
                <a:ext uri="{FF2B5EF4-FFF2-40B4-BE49-F238E27FC236}">
                  <a16:creationId xmlns:a16="http://schemas.microsoft.com/office/drawing/2014/main" id="{2E839F6F-B6BD-7A88-7EAB-8BF7CEEE6419}"/>
                </a:ext>
              </a:extLst>
            </p:cNvPr>
            <p:cNvSpPr/>
            <p:nvPr/>
          </p:nvSpPr>
          <p:spPr>
            <a:xfrm>
              <a:off x="0" y="0"/>
              <a:ext cx="1013318" cy="260488"/>
            </a:xfrm>
            <a:custGeom>
              <a:avLst/>
              <a:gdLst/>
              <a:ahLst/>
              <a:cxnLst/>
              <a:rect l="l" t="t" r="r" b="b"/>
              <a:pathLst>
                <a:path w="1013318" h="260488">
                  <a:moveTo>
                    <a:pt x="130244" y="0"/>
                  </a:moveTo>
                  <a:lnTo>
                    <a:pt x="883074" y="0"/>
                  </a:lnTo>
                  <a:cubicBezTo>
                    <a:pt x="917617" y="0"/>
                    <a:pt x="950745" y="13722"/>
                    <a:pt x="975171" y="38148"/>
                  </a:cubicBezTo>
                  <a:cubicBezTo>
                    <a:pt x="999596" y="62573"/>
                    <a:pt x="1013318" y="95701"/>
                    <a:pt x="1013318" y="130244"/>
                  </a:cubicBezTo>
                  <a:lnTo>
                    <a:pt x="1013318" y="130244"/>
                  </a:lnTo>
                  <a:cubicBezTo>
                    <a:pt x="1013318" y="202175"/>
                    <a:pt x="955006" y="260488"/>
                    <a:pt x="883074" y="260488"/>
                  </a:cubicBezTo>
                  <a:lnTo>
                    <a:pt x="130244" y="260488"/>
                  </a:lnTo>
                  <a:cubicBezTo>
                    <a:pt x="95701" y="260488"/>
                    <a:pt x="62573" y="246766"/>
                    <a:pt x="38148" y="222340"/>
                  </a:cubicBezTo>
                  <a:cubicBezTo>
                    <a:pt x="13722" y="197915"/>
                    <a:pt x="0" y="164787"/>
                    <a:pt x="0" y="130244"/>
                  </a:cubicBezTo>
                  <a:lnTo>
                    <a:pt x="0" y="130244"/>
                  </a:lnTo>
                  <a:cubicBezTo>
                    <a:pt x="0" y="95701"/>
                    <a:pt x="13722" y="62573"/>
                    <a:pt x="38148" y="38148"/>
                  </a:cubicBezTo>
                  <a:cubicBezTo>
                    <a:pt x="62573" y="13722"/>
                    <a:pt x="95701" y="0"/>
                    <a:pt x="130244" y="0"/>
                  </a:cubicBezTo>
                  <a:close/>
                </a:path>
              </a:pathLst>
            </a:custGeom>
            <a:solidFill>
              <a:srgbClr val="F8F8F8"/>
            </a:solidFill>
          </p:spPr>
        </p:sp>
        <p:sp>
          <p:nvSpPr>
            <p:cNvPr id="29" name="TextBox 29">
              <a:extLst>
                <a:ext uri="{FF2B5EF4-FFF2-40B4-BE49-F238E27FC236}">
                  <a16:creationId xmlns:a16="http://schemas.microsoft.com/office/drawing/2014/main" id="{D084B399-1686-0B2F-E247-8C2E8B6B351D}"/>
                </a:ext>
              </a:extLst>
            </p:cNvPr>
            <p:cNvSpPr txBox="1"/>
            <p:nvPr/>
          </p:nvSpPr>
          <p:spPr>
            <a:xfrm>
              <a:off x="0" y="-38100"/>
              <a:ext cx="1013318" cy="298588"/>
            </a:xfrm>
            <a:prstGeom prst="rect">
              <a:avLst/>
            </a:prstGeom>
          </p:spPr>
          <p:txBody>
            <a:bodyPr lIns="47086" tIns="47086" rIns="47086" bIns="47086" rtlCol="0" anchor="ctr"/>
            <a:lstStyle/>
            <a:p>
              <a:pPr algn="ctr">
                <a:lnSpc>
                  <a:spcPts val="2659"/>
                </a:lnSpc>
              </a:pPr>
              <a:endParaRPr/>
            </a:p>
          </p:txBody>
        </p:sp>
      </p:grpSp>
      <p:sp>
        <p:nvSpPr>
          <p:cNvPr id="16" name="Freeform 16">
            <a:extLst>
              <a:ext uri="{FF2B5EF4-FFF2-40B4-BE49-F238E27FC236}">
                <a16:creationId xmlns:a16="http://schemas.microsoft.com/office/drawing/2014/main" id="{6247EB8E-205D-8874-07C5-44DF35874349}"/>
              </a:ext>
            </a:extLst>
          </p:cNvPr>
          <p:cNvSpPr/>
          <p:nvPr/>
        </p:nvSpPr>
        <p:spPr>
          <a:xfrm>
            <a:off x="170873" y="1960428"/>
            <a:ext cx="5596898" cy="5545272"/>
          </a:xfrm>
          <a:custGeom>
            <a:avLst/>
            <a:gdLst/>
            <a:ahLst/>
            <a:cxnLst/>
            <a:rect l="l" t="t" r="r" b="b"/>
            <a:pathLst>
              <a:path w="5862965" h="5855636">
                <a:moveTo>
                  <a:pt x="0" y="0"/>
                </a:moveTo>
                <a:lnTo>
                  <a:pt x="5862964" y="0"/>
                </a:lnTo>
                <a:lnTo>
                  <a:pt x="5862964" y="5855636"/>
                </a:lnTo>
                <a:lnTo>
                  <a:pt x="0" y="5855636"/>
                </a:lnTo>
                <a:lnTo>
                  <a:pt x="0" y="0"/>
                </a:lnTo>
                <a:close/>
              </a:path>
            </a:pathLst>
          </a:custGeom>
          <a:blipFill>
            <a:blip r:embed="rId2"/>
            <a:stretch>
              <a:fillRect/>
            </a:stretch>
          </a:blipFill>
        </p:spPr>
      </p:sp>
      <p:grpSp>
        <p:nvGrpSpPr>
          <p:cNvPr id="17" name="Group 17">
            <a:extLst>
              <a:ext uri="{FF2B5EF4-FFF2-40B4-BE49-F238E27FC236}">
                <a16:creationId xmlns:a16="http://schemas.microsoft.com/office/drawing/2014/main" id="{18E082DA-7D94-E929-D560-79802C88F2E4}"/>
              </a:ext>
            </a:extLst>
          </p:cNvPr>
          <p:cNvGrpSpPr/>
          <p:nvPr/>
        </p:nvGrpSpPr>
        <p:grpSpPr>
          <a:xfrm>
            <a:off x="548587" y="2358550"/>
            <a:ext cx="4656530" cy="4714910"/>
            <a:chOff x="0" y="0"/>
            <a:chExt cx="812800" cy="812800"/>
          </a:xfrm>
        </p:grpSpPr>
        <p:sp>
          <p:nvSpPr>
            <p:cNvPr id="18" name="Freeform 18">
              <a:extLst>
                <a:ext uri="{FF2B5EF4-FFF2-40B4-BE49-F238E27FC236}">
                  <a16:creationId xmlns:a16="http://schemas.microsoft.com/office/drawing/2014/main" id="{94CC5DFB-A984-A795-110E-D28E337B971B}"/>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id="19" name="TextBox 19">
              <a:extLst>
                <a:ext uri="{FF2B5EF4-FFF2-40B4-BE49-F238E27FC236}">
                  <a16:creationId xmlns:a16="http://schemas.microsoft.com/office/drawing/2014/main" id="{9122ED28-0DF5-F10D-5544-AB0C310BD3F6}"/>
                </a:ext>
              </a:extLst>
            </p:cNvPr>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26" name="TextBox 26">
            <a:extLst>
              <a:ext uri="{FF2B5EF4-FFF2-40B4-BE49-F238E27FC236}">
                <a16:creationId xmlns:a16="http://schemas.microsoft.com/office/drawing/2014/main" id="{CE75C890-F89A-747E-6B59-4975771AC9FD}"/>
              </a:ext>
            </a:extLst>
          </p:cNvPr>
          <p:cNvSpPr txBox="1"/>
          <p:nvPr/>
        </p:nvSpPr>
        <p:spPr>
          <a:xfrm>
            <a:off x="1126218" y="4540662"/>
            <a:ext cx="4563094" cy="827534"/>
          </a:xfrm>
          <a:prstGeom prst="rect">
            <a:avLst/>
          </a:prstGeom>
        </p:spPr>
        <p:txBody>
          <a:bodyPr wrap="square" lIns="0" tIns="0" rIns="0" bIns="0" rtlCol="0" anchor="t">
            <a:spAutoFit/>
          </a:bodyPr>
          <a:lstStyle/>
          <a:p>
            <a:pPr>
              <a:lnSpc>
                <a:spcPts val="7000"/>
              </a:lnSpc>
            </a:pPr>
            <a:r>
              <a:rPr lang="en-US" sz="4800" b="1" dirty="0">
                <a:solidFill>
                  <a:srgbClr val="7068F4"/>
                </a:solidFill>
                <a:latin typeface="Barlow Bold" pitchFamily="34" charset="0"/>
                <a:ea typeface="Barlow Bold" pitchFamily="34" charset="-122"/>
                <a:cs typeface="Barlow Bold" pitchFamily="34" charset="-120"/>
              </a:rPr>
              <a:t>Background</a:t>
            </a:r>
          </a:p>
        </p:txBody>
      </p:sp>
      <p:sp>
        <p:nvSpPr>
          <p:cNvPr id="30" name="Freeform 30">
            <a:extLst>
              <a:ext uri="{FF2B5EF4-FFF2-40B4-BE49-F238E27FC236}">
                <a16:creationId xmlns:a16="http://schemas.microsoft.com/office/drawing/2014/main" id="{218027AF-A132-E68C-B9EC-C9C6698303A4}"/>
              </a:ext>
            </a:extLst>
          </p:cNvPr>
          <p:cNvSpPr/>
          <p:nvPr/>
        </p:nvSpPr>
        <p:spPr>
          <a:xfrm>
            <a:off x="5105400" y="1485900"/>
            <a:ext cx="1607396" cy="1524000"/>
          </a:xfrm>
          <a:custGeom>
            <a:avLst/>
            <a:gdLst/>
            <a:ahLst/>
            <a:cxnLst/>
            <a:rect l="l" t="t" r="r" b="b"/>
            <a:pathLst>
              <a:path w="1026728" h="1025445">
                <a:moveTo>
                  <a:pt x="0" y="0"/>
                </a:moveTo>
                <a:lnTo>
                  <a:pt x="1026729" y="0"/>
                </a:lnTo>
                <a:lnTo>
                  <a:pt x="1026729" y="1025445"/>
                </a:lnTo>
                <a:lnTo>
                  <a:pt x="0" y="1025445"/>
                </a:lnTo>
                <a:lnTo>
                  <a:pt x="0" y="0"/>
                </a:lnTo>
                <a:close/>
              </a:path>
            </a:pathLst>
          </a:custGeom>
          <a:blipFill>
            <a:blip r:embed="rId2"/>
            <a:stretch>
              <a:fillRect/>
            </a:stretch>
          </a:blipFill>
        </p:spPr>
      </p:sp>
      <p:grpSp>
        <p:nvGrpSpPr>
          <p:cNvPr id="31" name="Group 31">
            <a:extLst>
              <a:ext uri="{FF2B5EF4-FFF2-40B4-BE49-F238E27FC236}">
                <a16:creationId xmlns:a16="http://schemas.microsoft.com/office/drawing/2014/main" id="{56059FFF-0540-C186-7600-CEB8CA8E75D3}"/>
              </a:ext>
            </a:extLst>
          </p:cNvPr>
          <p:cNvGrpSpPr/>
          <p:nvPr/>
        </p:nvGrpSpPr>
        <p:grpSpPr>
          <a:xfrm>
            <a:off x="5417268" y="1722898"/>
            <a:ext cx="1011607" cy="1011607"/>
            <a:chOff x="0" y="0"/>
            <a:chExt cx="812800" cy="812800"/>
          </a:xfrm>
        </p:grpSpPr>
        <p:sp>
          <p:nvSpPr>
            <p:cNvPr id="32" name="Freeform 32">
              <a:extLst>
                <a:ext uri="{FF2B5EF4-FFF2-40B4-BE49-F238E27FC236}">
                  <a16:creationId xmlns:a16="http://schemas.microsoft.com/office/drawing/2014/main" id="{D76C348A-7B52-EFBD-3326-8717BE66E0A6}"/>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id="33" name="TextBox 33">
              <a:extLst>
                <a:ext uri="{FF2B5EF4-FFF2-40B4-BE49-F238E27FC236}">
                  <a16:creationId xmlns:a16="http://schemas.microsoft.com/office/drawing/2014/main" id="{287D0BB1-4190-7EE9-8527-DE229A624576}"/>
                </a:ext>
              </a:extLst>
            </p:cNvPr>
            <p:cNvSpPr txBox="1"/>
            <p:nvPr/>
          </p:nvSpPr>
          <p:spPr>
            <a:xfrm>
              <a:off x="76200" y="38100"/>
              <a:ext cx="660400" cy="698500"/>
            </a:xfrm>
            <a:prstGeom prst="rect">
              <a:avLst/>
            </a:prstGeom>
          </p:spPr>
          <p:txBody>
            <a:bodyPr lIns="47086" tIns="47086" rIns="47086" bIns="47086" rtlCol="0" anchor="ctr"/>
            <a:lstStyle/>
            <a:p>
              <a:pPr algn="ctr">
                <a:lnSpc>
                  <a:spcPts val="2659"/>
                </a:lnSpc>
                <a:spcBef>
                  <a:spcPct val="0"/>
                </a:spcBef>
              </a:pPr>
              <a:endParaRPr/>
            </a:p>
          </p:txBody>
        </p:sp>
      </p:grpSp>
      <p:grpSp>
        <p:nvGrpSpPr>
          <p:cNvPr id="75" name="Group 75">
            <a:extLst>
              <a:ext uri="{FF2B5EF4-FFF2-40B4-BE49-F238E27FC236}">
                <a16:creationId xmlns:a16="http://schemas.microsoft.com/office/drawing/2014/main" id="{60D05020-C1C3-04D4-C2E5-44926F63B364}"/>
              </a:ext>
            </a:extLst>
          </p:cNvPr>
          <p:cNvGrpSpPr/>
          <p:nvPr/>
        </p:nvGrpSpPr>
        <p:grpSpPr>
          <a:xfrm>
            <a:off x="17491799" y="8458418"/>
            <a:ext cx="951769" cy="799882"/>
            <a:chOff x="0" y="0"/>
            <a:chExt cx="967140" cy="812800"/>
          </a:xfrm>
        </p:grpSpPr>
        <p:sp>
          <p:nvSpPr>
            <p:cNvPr id="76" name="Freeform 76">
              <a:extLst>
                <a:ext uri="{FF2B5EF4-FFF2-40B4-BE49-F238E27FC236}">
                  <a16:creationId xmlns:a16="http://schemas.microsoft.com/office/drawing/2014/main" id="{7C958EA9-A122-12DD-439F-7B03CC41D79F}"/>
                </a:ext>
              </a:extLst>
            </p:cNvPr>
            <p:cNvSpPr/>
            <p:nvPr/>
          </p:nvSpPr>
          <p:spPr>
            <a:xfrm>
              <a:off x="0" y="0"/>
              <a:ext cx="967140" cy="812800"/>
            </a:xfrm>
            <a:custGeom>
              <a:avLst/>
              <a:gdLst/>
              <a:ahLst/>
              <a:cxnLst/>
              <a:rect l="l" t="t" r="r" b="b"/>
              <a:pathLst>
                <a:path w="967140" h="812800">
                  <a:moveTo>
                    <a:pt x="81342" y="0"/>
                  </a:moveTo>
                  <a:lnTo>
                    <a:pt x="885798" y="0"/>
                  </a:lnTo>
                  <a:cubicBezTo>
                    <a:pt x="907371" y="0"/>
                    <a:pt x="928061" y="8570"/>
                    <a:pt x="943315" y="23825"/>
                  </a:cubicBezTo>
                  <a:cubicBezTo>
                    <a:pt x="958570" y="39079"/>
                    <a:pt x="967140" y="59769"/>
                    <a:pt x="967140" y="81342"/>
                  </a:cubicBezTo>
                  <a:lnTo>
                    <a:pt x="967140" y="731458"/>
                  </a:lnTo>
                  <a:cubicBezTo>
                    <a:pt x="967140" y="776382"/>
                    <a:pt x="930722" y="812800"/>
                    <a:pt x="885798" y="812800"/>
                  </a:cubicBezTo>
                  <a:lnTo>
                    <a:pt x="81342" y="812800"/>
                  </a:lnTo>
                  <a:cubicBezTo>
                    <a:pt x="59769" y="812800"/>
                    <a:pt x="39079" y="804230"/>
                    <a:pt x="23825" y="788975"/>
                  </a:cubicBezTo>
                  <a:cubicBezTo>
                    <a:pt x="8570" y="773721"/>
                    <a:pt x="0" y="753031"/>
                    <a:pt x="0" y="731458"/>
                  </a:cubicBezTo>
                  <a:lnTo>
                    <a:pt x="0" y="81342"/>
                  </a:lnTo>
                  <a:cubicBezTo>
                    <a:pt x="0" y="59769"/>
                    <a:pt x="8570" y="39079"/>
                    <a:pt x="23825" y="23825"/>
                  </a:cubicBezTo>
                  <a:cubicBezTo>
                    <a:pt x="39079" y="8570"/>
                    <a:pt x="59769" y="0"/>
                    <a:pt x="81342" y="0"/>
                  </a:cubicBezTo>
                  <a:close/>
                </a:path>
              </a:pathLst>
            </a:custGeom>
            <a:solidFill>
              <a:srgbClr val="3A6AD6"/>
            </a:solidFill>
          </p:spPr>
        </p:sp>
        <p:sp>
          <p:nvSpPr>
            <p:cNvPr id="77" name="TextBox 77">
              <a:extLst>
                <a:ext uri="{FF2B5EF4-FFF2-40B4-BE49-F238E27FC236}">
                  <a16:creationId xmlns:a16="http://schemas.microsoft.com/office/drawing/2014/main" id="{441FCAE8-BA3A-0788-178E-E3AE0C3355BA}"/>
                </a:ext>
              </a:extLst>
            </p:cNvPr>
            <p:cNvSpPr txBox="1"/>
            <p:nvPr/>
          </p:nvSpPr>
          <p:spPr>
            <a:xfrm>
              <a:off x="0" y="-38100"/>
              <a:ext cx="967140" cy="850900"/>
            </a:xfrm>
            <a:prstGeom prst="rect">
              <a:avLst/>
            </a:prstGeom>
          </p:spPr>
          <p:txBody>
            <a:bodyPr lIns="50800" tIns="50800" rIns="50800" bIns="50800" rtlCol="0" anchor="ctr"/>
            <a:lstStyle/>
            <a:p>
              <a:pPr algn="ctr">
                <a:lnSpc>
                  <a:spcPts val="2659"/>
                </a:lnSpc>
              </a:pPr>
              <a:endParaRPr/>
            </a:p>
          </p:txBody>
        </p:sp>
      </p:grpSp>
      <p:sp>
        <p:nvSpPr>
          <p:cNvPr id="78" name="TextBox 78">
            <a:extLst>
              <a:ext uri="{FF2B5EF4-FFF2-40B4-BE49-F238E27FC236}">
                <a16:creationId xmlns:a16="http://schemas.microsoft.com/office/drawing/2014/main" id="{1C3A9BA2-85F6-75C2-F85E-09345C2F3A29}"/>
              </a:ext>
            </a:extLst>
          </p:cNvPr>
          <p:cNvSpPr txBox="1"/>
          <p:nvPr/>
        </p:nvSpPr>
        <p:spPr>
          <a:xfrm>
            <a:off x="17674380" y="8710688"/>
            <a:ext cx="442747" cy="257943"/>
          </a:xfrm>
          <a:prstGeom prst="rect">
            <a:avLst/>
          </a:prstGeom>
        </p:spPr>
        <p:txBody>
          <a:bodyPr lIns="0" tIns="0" rIns="0" bIns="0" rtlCol="0" anchor="t">
            <a:spAutoFit/>
          </a:bodyPr>
          <a:lstStyle/>
          <a:p>
            <a:pPr algn="ctr">
              <a:lnSpc>
                <a:spcPts val="2057"/>
              </a:lnSpc>
              <a:spcBef>
                <a:spcPct val="0"/>
              </a:spcBef>
            </a:pPr>
            <a:r>
              <a:rPr lang="en-US" sz="1469" b="1" dirty="0">
                <a:solidFill>
                  <a:srgbClr val="FFFFFF"/>
                </a:solidFill>
                <a:latin typeface="Poppins Bold"/>
                <a:ea typeface="Poppins Bold"/>
                <a:cs typeface="Poppins Bold"/>
                <a:sym typeface="Poppins Bold"/>
              </a:rPr>
              <a:t>04</a:t>
            </a:r>
          </a:p>
        </p:txBody>
      </p:sp>
      <p:sp>
        <p:nvSpPr>
          <p:cNvPr id="83" name="Text 2">
            <a:extLst>
              <a:ext uri="{FF2B5EF4-FFF2-40B4-BE49-F238E27FC236}">
                <a16:creationId xmlns:a16="http://schemas.microsoft.com/office/drawing/2014/main" id="{67AD8132-F7F6-644A-3E18-436D5C33E860}"/>
              </a:ext>
            </a:extLst>
          </p:cNvPr>
          <p:cNvSpPr/>
          <p:nvPr/>
        </p:nvSpPr>
        <p:spPr>
          <a:xfrm>
            <a:off x="6324600" y="952500"/>
            <a:ext cx="11826505" cy="7315200"/>
          </a:xfrm>
          <a:prstGeom prst="rect">
            <a:avLst/>
          </a:prstGeom>
          <a:noFill/>
          <a:ln/>
        </p:spPr>
        <p:txBody>
          <a:bodyPr wrap="square" lIns="0" tIns="0" rIns="0" bIns="0" rtlCol="0" anchor="t"/>
          <a:lstStyle/>
          <a:p>
            <a:pPr marL="342900" algn="just"/>
            <a:r>
              <a:rPr lang="en-GB" sz="3200" dirty="0">
                <a:solidFill>
                  <a:srgbClr val="504C49"/>
                </a:solidFill>
                <a:latin typeface="Source Serif Pro" pitchFamily="34" charset="0"/>
                <a:ea typeface="Source Serif Pro" pitchFamily="34" charset="-122"/>
                <a:cs typeface="Source Serif Pro" pitchFamily="34" charset="-120"/>
              </a:rPr>
              <a:t>Machine learning is widely used today in applications such as language translation, disease detection, and recommendation systems. As these models grow in size and complexity, their training requires substantial computing power, which in turn consumes large amounts of electricity. This electricity consumption contributes to carbon emissions, negatively impacting the environment.</a:t>
            </a:r>
          </a:p>
          <a:p>
            <a:pPr marL="342900" algn="just"/>
            <a:endParaRPr lang="en-GB" sz="3200" dirty="0">
              <a:solidFill>
                <a:srgbClr val="504C49"/>
              </a:solidFill>
              <a:latin typeface="Source Serif Pro" pitchFamily="34" charset="0"/>
              <a:ea typeface="Source Serif Pro" pitchFamily="34" charset="-122"/>
              <a:cs typeface="Source Serif Pro" pitchFamily="34" charset="-120"/>
            </a:endParaRPr>
          </a:p>
          <a:p>
            <a:pPr marL="342900" algn="just"/>
            <a:r>
              <a:rPr lang="en-GB" sz="3200" dirty="0">
                <a:solidFill>
                  <a:srgbClr val="504C49"/>
                </a:solidFill>
                <a:latin typeface="Source Serif Pro" pitchFamily="34" charset="0"/>
                <a:ea typeface="Source Serif Pro" pitchFamily="34" charset="-122"/>
                <a:cs typeface="Source Serif Pro" pitchFamily="34" charset="-120"/>
              </a:rPr>
              <a:t>Interestingly, models that deliver similar performance can have vastly different energy consumption levels. Factors such as model architecture, dataset size, and training methods influence energy requirements. Despite this, most research and deployment efforts focus mainly on accuracy and rarely account for environmental costs.</a:t>
            </a:r>
          </a:p>
          <a:p>
            <a:pPr marL="342900" algn="just"/>
            <a:endParaRPr lang="en-GB" sz="3200" dirty="0">
              <a:solidFill>
                <a:srgbClr val="504C49"/>
              </a:solidFill>
              <a:latin typeface="Source Serif Pro" pitchFamily="34" charset="0"/>
              <a:ea typeface="Source Serif Pro" pitchFamily="34" charset="-122"/>
              <a:cs typeface="Source Serif Pro" pitchFamily="34" charset="-120"/>
            </a:endParaRPr>
          </a:p>
        </p:txBody>
      </p:sp>
      <p:sp>
        <p:nvSpPr>
          <p:cNvPr id="2" name="Freeform 30">
            <a:extLst>
              <a:ext uri="{FF2B5EF4-FFF2-40B4-BE49-F238E27FC236}">
                <a16:creationId xmlns:a16="http://schemas.microsoft.com/office/drawing/2014/main" id="{F202D914-B266-69FD-164C-1DB2E59E4219}"/>
              </a:ext>
            </a:extLst>
          </p:cNvPr>
          <p:cNvSpPr/>
          <p:nvPr/>
        </p:nvSpPr>
        <p:spPr>
          <a:xfrm>
            <a:off x="2011612" y="3183718"/>
            <a:ext cx="1607396" cy="1524000"/>
          </a:xfrm>
          <a:custGeom>
            <a:avLst/>
            <a:gdLst/>
            <a:ahLst/>
            <a:cxnLst/>
            <a:rect l="l" t="t" r="r" b="b"/>
            <a:pathLst>
              <a:path w="1026728" h="1025445">
                <a:moveTo>
                  <a:pt x="0" y="0"/>
                </a:moveTo>
                <a:lnTo>
                  <a:pt x="1026729" y="0"/>
                </a:lnTo>
                <a:lnTo>
                  <a:pt x="1026729" y="1025445"/>
                </a:lnTo>
                <a:lnTo>
                  <a:pt x="0" y="1025445"/>
                </a:lnTo>
                <a:lnTo>
                  <a:pt x="0" y="0"/>
                </a:lnTo>
                <a:close/>
              </a:path>
            </a:pathLst>
          </a:custGeom>
          <a:blipFill>
            <a:blip r:embed="rId2"/>
            <a:stretch>
              <a:fillRect/>
            </a:stretch>
          </a:blipFill>
        </p:spPr>
      </p:sp>
      <p:grpSp>
        <p:nvGrpSpPr>
          <p:cNvPr id="3" name="Group 31">
            <a:extLst>
              <a:ext uri="{FF2B5EF4-FFF2-40B4-BE49-F238E27FC236}">
                <a16:creationId xmlns:a16="http://schemas.microsoft.com/office/drawing/2014/main" id="{2B243648-BEE0-D2F3-4DF1-60EE625C0CC5}"/>
              </a:ext>
            </a:extLst>
          </p:cNvPr>
          <p:cNvGrpSpPr/>
          <p:nvPr/>
        </p:nvGrpSpPr>
        <p:grpSpPr>
          <a:xfrm>
            <a:off x="2323608" y="3391311"/>
            <a:ext cx="1011607" cy="1011607"/>
            <a:chOff x="0" y="0"/>
            <a:chExt cx="812800" cy="812800"/>
          </a:xfrm>
        </p:grpSpPr>
        <p:sp>
          <p:nvSpPr>
            <p:cNvPr id="4" name="Freeform 32">
              <a:extLst>
                <a:ext uri="{FF2B5EF4-FFF2-40B4-BE49-F238E27FC236}">
                  <a16:creationId xmlns:a16="http://schemas.microsoft.com/office/drawing/2014/main" id="{6C89A02F-6739-9D55-F45D-78803A86FE2E}"/>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id="5" name="TextBox 33">
              <a:extLst>
                <a:ext uri="{FF2B5EF4-FFF2-40B4-BE49-F238E27FC236}">
                  <a16:creationId xmlns:a16="http://schemas.microsoft.com/office/drawing/2014/main" id="{3D08D4F5-21E3-D20B-0C60-C8FB506EC447}"/>
                </a:ext>
              </a:extLst>
            </p:cNvPr>
            <p:cNvSpPr txBox="1"/>
            <p:nvPr/>
          </p:nvSpPr>
          <p:spPr>
            <a:xfrm>
              <a:off x="76200" y="38100"/>
              <a:ext cx="660400" cy="698500"/>
            </a:xfrm>
            <a:prstGeom prst="rect">
              <a:avLst/>
            </a:prstGeom>
          </p:spPr>
          <p:txBody>
            <a:bodyPr lIns="47086" tIns="47086" rIns="47086" bIns="47086" rtlCol="0" anchor="ctr"/>
            <a:lstStyle/>
            <a:p>
              <a:pPr algn="ctr">
                <a:lnSpc>
                  <a:spcPts val="2659"/>
                </a:lnSpc>
                <a:spcBef>
                  <a:spcPct val="0"/>
                </a:spcBef>
              </a:pPr>
              <a:endParaRPr/>
            </a:p>
          </p:txBody>
        </p:sp>
      </p:grpSp>
      <p:pic>
        <p:nvPicPr>
          <p:cNvPr id="22530" name="Picture 2" descr="Background Investigation - Background Icon Png, Transparent Png - kindpng">
            <a:extLst>
              <a:ext uri="{FF2B5EF4-FFF2-40B4-BE49-F238E27FC236}">
                <a16:creationId xmlns:a16="http://schemas.microsoft.com/office/drawing/2014/main" id="{BCF298BF-B934-DC15-B8D0-F12B3BF97283}"/>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233047" y="3273934"/>
            <a:ext cx="1279902" cy="131859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6730009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Click="0">
        <p159:morph option="byObject"/>
      </p:transition>
    </mc:Choice>
    <mc:Fallback xmlns="">
      <p:transition spd="slow" advClick="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5" presetClass="entr" presetSubtype="0" fill="hold" nodeType="afterEffect">
                                  <p:stCondLst>
                                    <p:cond delay="0"/>
                                  </p:stCondLst>
                                  <p:childTnLst>
                                    <p:set>
                                      <p:cBhvr>
                                        <p:cTn id="6" dur="1" fill="hold">
                                          <p:stCondLst>
                                            <p:cond delay="0"/>
                                          </p:stCondLst>
                                        </p:cTn>
                                        <p:tgtEl>
                                          <p:spTgt spid="22530"/>
                                        </p:tgtEl>
                                        <p:attrNameLst>
                                          <p:attrName>style.visibility</p:attrName>
                                        </p:attrNameLst>
                                      </p:cBhvr>
                                      <p:to>
                                        <p:strVal val="visible"/>
                                      </p:to>
                                    </p:set>
                                    <p:animEffect transition="in" filter="fade">
                                      <p:cBhvr>
                                        <p:cTn id="7" dur="2000"/>
                                        <p:tgtEl>
                                          <p:spTgt spid="22530"/>
                                        </p:tgtEl>
                                      </p:cBhvr>
                                    </p:animEffect>
                                    <p:anim calcmode="lin" valueType="num">
                                      <p:cBhvr>
                                        <p:cTn id="8" dur="2000" fill="hold"/>
                                        <p:tgtEl>
                                          <p:spTgt spid="22530"/>
                                        </p:tgtEl>
                                        <p:attrNameLst>
                                          <p:attrName>ppt_w</p:attrName>
                                        </p:attrNameLst>
                                      </p:cBhvr>
                                      <p:tavLst>
                                        <p:tav tm="0" fmla="#ppt_w*sin(2.5*pi*$)">
                                          <p:val>
                                            <p:fltVal val="0"/>
                                          </p:val>
                                        </p:tav>
                                        <p:tav tm="100000">
                                          <p:val>
                                            <p:fltVal val="1"/>
                                          </p:val>
                                        </p:tav>
                                      </p:tavLst>
                                    </p:anim>
                                    <p:anim calcmode="lin" valueType="num">
                                      <p:cBhvr>
                                        <p:cTn id="9" dur="2000" fill="hold"/>
                                        <p:tgtEl>
                                          <p:spTgt spid="22530"/>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738232-BFA9-838C-A061-E5C863D9F95D}"/>
            </a:ext>
          </a:extLst>
        </p:cNvPr>
        <p:cNvGrpSpPr/>
        <p:nvPr/>
      </p:nvGrpSpPr>
      <p:grpSpPr>
        <a:xfrm>
          <a:off x="0" y="0"/>
          <a:ext cx="0" cy="0"/>
          <a:chOff x="0" y="0"/>
          <a:chExt cx="0" cy="0"/>
        </a:xfrm>
      </p:grpSpPr>
      <p:sp>
        <p:nvSpPr>
          <p:cNvPr id="9" name="AutoShape 9">
            <a:extLst>
              <a:ext uri="{FF2B5EF4-FFF2-40B4-BE49-F238E27FC236}">
                <a16:creationId xmlns:a16="http://schemas.microsoft.com/office/drawing/2014/main" id="{0AA78F0F-6875-2914-3F61-3D92B0B77D1E}"/>
              </a:ext>
            </a:extLst>
          </p:cNvPr>
          <p:cNvSpPr/>
          <p:nvPr/>
        </p:nvSpPr>
        <p:spPr>
          <a:xfrm flipV="1">
            <a:off x="4419600" y="3623116"/>
            <a:ext cx="2443899" cy="1215584"/>
          </a:xfrm>
          <a:prstGeom prst="line">
            <a:avLst/>
          </a:prstGeom>
          <a:ln w="28575" cap="flat">
            <a:solidFill>
              <a:srgbClr val="F8F8F8"/>
            </a:solidFill>
            <a:prstDash val="solid"/>
            <a:headEnd type="none" w="sm" len="sm"/>
            <a:tailEnd type="none" w="sm" len="sm"/>
          </a:ln>
        </p:spPr>
      </p:sp>
      <p:grpSp>
        <p:nvGrpSpPr>
          <p:cNvPr id="13" name="Group 13">
            <a:extLst>
              <a:ext uri="{FF2B5EF4-FFF2-40B4-BE49-F238E27FC236}">
                <a16:creationId xmlns:a16="http://schemas.microsoft.com/office/drawing/2014/main" id="{527B4A26-0260-825C-E260-64A639D4A7F8}"/>
              </a:ext>
            </a:extLst>
          </p:cNvPr>
          <p:cNvGrpSpPr/>
          <p:nvPr/>
        </p:nvGrpSpPr>
        <p:grpSpPr>
          <a:xfrm>
            <a:off x="57409" y="1790335"/>
            <a:ext cx="5710361" cy="5867765"/>
            <a:chOff x="0" y="0"/>
            <a:chExt cx="812800" cy="812800"/>
          </a:xfrm>
        </p:grpSpPr>
        <p:sp>
          <p:nvSpPr>
            <p:cNvPr id="14" name="Freeform 14">
              <a:extLst>
                <a:ext uri="{FF2B5EF4-FFF2-40B4-BE49-F238E27FC236}">
                  <a16:creationId xmlns:a16="http://schemas.microsoft.com/office/drawing/2014/main" id="{840B09CC-EE72-B37D-B9CD-92E1E7E5402D}"/>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8F8F8"/>
            </a:solidFill>
          </p:spPr>
        </p:sp>
        <p:sp>
          <p:nvSpPr>
            <p:cNvPr id="15" name="TextBox 15">
              <a:extLst>
                <a:ext uri="{FF2B5EF4-FFF2-40B4-BE49-F238E27FC236}">
                  <a16:creationId xmlns:a16="http://schemas.microsoft.com/office/drawing/2014/main" id="{BB0875CE-1782-4E54-FBEF-614E2FD164AF}"/>
                </a:ext>
              </a:extLst>
            </p:cNvPr>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grpSp>
        <p:nvGrpSpPr>
          <p:cNvPr id="27" name="Group 27">
            <a:extLst>
              <a:ext uri="{FF2B5EF4-FFF2-40B4-BE49-F238E27FC236}">
                <a16:creationId xmlns:a16="http://schemas.microsoft.com/office/drawing/2014/main" id="{03198AC9-55BD-6BE4-79A3-77121E5089A6}"/>
              </a:ext>
            </a:extLst>
          </p:cNvPr>
          <p:cNvGrpSpPr/>
          <p:nvPr/>
        </p:nvGrpSpPr>
        <p:grpSpPr>
          <a:xfrm>
            <a:off x="5276591" y="647700"/>
            <a:ext cx="14306809" cy="7315201"/>
            <a:chOff x="0" y="0"/>
            <a:chExt cx="1013318" cy="260488"/>
          </a:xfrm>
        </p:grpSpPr>
        <p:sp>
          <p:nvSpPr>
            <p:cNvPr id="28" name="Freeform 28">
              <a:extLst>
                <a:ext uri="{FF2B5EF4-FFF2-40B4-BE49-F238E27FC236}">
                  <a16:creationId xmlns:a16="http://schemas.microsoft.com/office/drawing/2014/main" id="{C271A861-CA2E-08AC-7E50-5A03D02F2F5D}"/>
                </a:ext>
              </a:extLst>
            </p:cNvPr>
            <p:cNvSpPr/>
            <p:nvPr/>
          </p:nvSpPr>
          <p:spPr>
            <a:xfrm>
              <a:off x="0" y="0"/>
              <a:ext cx="1013318" cy="260488"/>
            </a:xfrm>
            <a:custGeom>
              <a:avLst/>
              <a:gdLst/>
              <a:ahLst/>
              <a:cxnLst/>
              <a:rect l="l" t="t" r="r" b="b"/>
              <a:pathLst>
                <a:path w="1013318" h="260488">
                  <a:moveTo>
                    <a:pt x="130244" y="0"/>
                  </a:moveTo>
                  <a:lnTo>
                    <a:pt x="883074" y="0"/>
                  </a:lnTo>
                  <a:cubicBezTo>
                    <a:pt x="917617" y="0"/>
                    <a:pt x="950745" y="13722"/>
                    <a:pt x="975171" y="38148"/>
                  </a:cubicBezTo>
                  <a:cubicBezTo>
                    <a:pt x="999596" y="62573"/>
                    <a:pt x="1013318" y="95701"/>
                    <a:pt x="1013318" y="130244"/>
                  </a:cubicBezTo>
                  <a:lnTo>
                    <a:pt x="1013318" y="130244"/>
                  </a:lnTo>
                  <a:cubicBezTo>
                    <a:pt x="1013318" y="202175"/>
                    <a:pt x="955006" y="260488"/>
                    <a:pt x="883074" y="260488"/>
                  </a:cubicBezTo>
                  <a:lnTo>
                    <a:pt x="130244" y="260488"/>
                  </a:lnTo>
                  <a:cubicBezTo>
                    <a:pt x="95701" y="260488"/>
                    <a:pt x="62573" y="246766"/>
                    <a:pt x="38148" y="222340"/>
                  </a:cubicBezTo>
                  <a:cubicBezTo>
                    <a:pt x="13722" y="197915"/>
                    <a:pt x="0" y="164787"/>
                    <a:pt x="0" y="130244"/>
                  </a:cubicBezTo>
                  <a:lnTo>
                    <a:pt x="0" y="130244"/>
                  </a:lnTo>
                  <a:cubicBezTo>
                    <a:pt x="0" y="95701"/>
                    <a:pt x="13722" y="62573"/>
                    <a:pt x="38148" y="38148"/>
                  </a:cubicBezTo>
                  <a:cubicBezTo>
                    <a:pt x="62573" y="13722"/>
                    <a:pt x="95701" y="0"/>
                    <a:pt x="130244" y="0"/>
                  </a:cubicBezTo>
                  <a:close/>
                </a:path>
              </a:pathLst>
            </a:custGeom>
            <a:solidFill>
              <a:srgbClr val="F8F8F8"/>
            </a:solidFill>
          </p:spPr>
        </p:sp>
        <p:sp>
          <p:nvSpPr>
            <p:cNvPr id="29" name="TextBox 29">
              <a:extLst>
                <a:ext uri="{FF2B5EF4-FFF2-40B4-BE49-F238E27FC236}">
                  <a16:creationId xmlns:a16="http://schemas.microsoft.com/office/drawing/2014/main" id="{F69D05C3-EF31-3FDC-9033-E9DA2BA4A421}"/>
                </a:ext>
              </a:extLst>
            </p:cNvPr>
            <p:cNvSpPr txBox="1"/>
            <p:nvPr/>
          </p:nvSpPr>
          <p:spPr>
            <a:xfrm>
              <a:off x="0" y="-38100"/>
              <a:ext cx="1013318" cy="298588"/>
            </a:xfrm>
            <a:prstGeom prst="rect">
              <a:avLst/>
            </a:prstGeom>
          </p:spPr>
          <p:txBody>
            <a:bodyPr lIns="47086" tIns="47086" rIns="47086" bIns="47086" rtlCol="0" anchor="ctr"/>
            <a:lstStyle/>
            <a:p>
              <a:pPr algn="ctr">
                <a:lnSpc>
                  <a:spcPts val="2659"/>
                </a:lnSpc>
              </a:pPr>
              <a:endParaRPr/>
            </a:p>
          </p:txBody>
        </p:sp>
      </p:grpSp>
      <p:sp>
        <p:nvSpPr>
          <p:cNvPr id="16" name="Freeform 16">
            <a:extLst>
              <a:ext uri="{FF2B5EF4-FFF2-40B4-BE49-F238E27FC236}">
                <a16:creationId xmlns:a16="http://schemas.microsoft.com/office/drawing/2014/main" id="{62F58908-BB4C-2C1F-6E8E-C2BBC286DCCB}"/>
              </a:ext>
            </a:extLst>
          </p:cNvPr>
          <p:cNvSpPr/>
          <p:nvPr/>
        </p:nvSpPr>
        <p:spPr>
          <a:xfrm>
            <a:off x="170873" y="1960428"/>
            <a:ext cx="5596898" cy="5545272"/>
          </a:xfrm>
          <a:custGeom>
            <a:avLst/>
            <a:gdLst/>
            <a:ahLst/>
            <a:cxnLst/>
            <a:rect l="l" t="t" r="r" b="b"/>
            <a:pathLst>
              <a:path w="5862965" h="5855636">
                <a:moveTo>
                  <a:pt x="0" y="0"/>
                </a:moveTo>
                <a:lnTo>
                  <a:pt x="5862964" y="0"/>
                </a:lnTo>
                <a:lnTo>
                  <a:pt x="5862964" y="5855636"/>
                </a:lnTo>
                <a:lnTo>
                  <a:pt x="0" y="5855636"/>
                </a:lnTo>
                <a:lnTo>
                  <a:pt x="0" y="0"/>
                </a:lnTo>
                <a:close/>
              </a:path>
            </a:pathLst>
          </a:custGeom>
          <a:blipFill>
            <a:blip r:embed="rId2"/>
            <a:stretch>
              <a:fillRect/>
            </a:stretch>
          </a:blipFill>
        </p:spPr>
      </p:sp>
      <p:grpSp>
        <p:nvGrpSpPr>
          <p:cNvPr id="17" name="Group 17">
            <a:extLst>
              <a:ext uri="{FF2B5EF4-FFF2-40B4-BE49-F238E27FC236}">
                <a16:creationId xmlns:a16="http://schemas.microsoft.com/office/drawing/2014/main" id="{75E12FCA-8F9E-07CA-FDE4-DB4FC5F1ECB0}"/>
              </a:ext>
            </a:extLst>
          </p:cNvPr>
          <p:cNvGrpSpPr/>
          <p:nvPr/>
        </p:nvGrpSpPr>
        <p:grpSpPr>
          <a:xfrm>
            <a:off x="548587" y="2358550"/>
            <a:ext cx="4656530" cy="4714910"/>
            <a:chOff x="0" y="0"/>
            <a:chExt cx="812800" cy="812800"/>
          </a:xfrm>
        </p:grpSpPr>
        <p:sp>
          <p:nvSpPr>
            <p:cNvPr id="18" name="Freeform 18">
              <a:extLst>
                <a:ext uri="{FF2B5EF4-FFF2-40B4-BE49-F238E27FC236}">
                  <a16:creationId xmlns:a16="http://schemas.microsoft.com/office/drawing/2014/main" id="{FC04C625-12B2-62F3-F9AD-5E41A009CD4D}"/>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id="19" name="TextBox 19">
              <a:extLst>
                <a:ext uri="{FF2B5EF4-FFF2-40B4-BE49-F238E27FC236}">
                  <a16:creationId xmlns:a16="http://schemas.microsoft.com/office/drawing/2014/main" id="{0693C617-A952-988F-24BD-8FE028E0D145}"/>
                </a:ext>
              </a:extLst>
            </p:cNvPr>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26" name="TextBox 26">
            <a:extLst>
              <a:ext uri="{FF2B5EF4-FFF2-40B4-BE49-F238E27FC236}">
                <a16:creationId xmlns:a16="http://schemas.microsoft.com/office/drawing/2014/main" id="{2CB6B64B-8436-9B35-9E2A-76C9D1697168}"/>
              </a:ext>
            </a:extLst>
          </p:cNvPr>
          <p:cNvSpPr txBox="1"/>
          <p:nvPr/>
        </p:nvSpPr>
        <p:spPr>
          <a:xfrm>
            <a:off x="304801" y="4540662"/>
            <a:ext cx="4800600" cy="1694053"/>
          </a:xfrm>
          <a:prstGeom prst="rect">
            <a:avLst/>
          </a:prstGeom>
        </p:spPr>
        <p:txBody>
          <a:bodyPr wrap="square" lIns="0" tIns="0" rIns="0" bIns="0" rtlCol="0" anchor="t">
            <a:spAutoFit/>
          </a:bodyPr>
          <a:lstStyle/>
          <a:p>
            <a:pPr algn="ctr">
              <a:lnSpc>
                <a:spcPts val="7000"/>
              </a:lnSpc>
            </a:pPr>
            <a:r>
              <a:rPr lang="en-US" sz="4800" b="1" dirty="0">
                <a:solidFill>
                  <a:srgbClr val="7068F4"/>
                </a:solidFill>
                <a:latin typeface="Barlow Bold" pitchFamily="34" charset="0"/>
                <a:ea typeface="Barlow Bold" pitchFamily="34" charset="-122"/>
                <a:cs typeface="Barlow Bold" pitchFamily="34" charset="-120"/>
              </a:rPr>
              <a:t>Problem Statement</a:t>
            </a:r>
          </a:p>
        </p:txBody>
      </p:sp>
      <p:sp>
        <p:nvSpPr>
          <p:cNvPr id="30" name="Freeform 30">
            <a:extLst>
              <a:ext uri="{FF2B5EF4-FFF2-40B4-BE49-F238E27FC236}">
                <a16:creationId xmlns:a16="http://schemas.microsoft.com/office/drawing/2014/main" id="{F0F8FCE8-7466-4705-B2C1-51F1A65FCEA2}"/>
              </a:ext>
            </a:extLst>
          </p:cNvPr>
          <p:cNvSpPr/>
          <p:nvPr/>
        </p:nvSpPr>
        <p:spPr>
          <a:xfrm>
            <a:off x="5105400" y="1485900"/>
            <a:ext cx="1607396" cy="1524000"/>
          </a:xfrm>
          <a:custGeom>
            <a:avLst/>
            <a:gdLst/>
            <a:ahLst/>
            <a:cxnLst/>
            <a:rect l="l" t="t" r="r" b="b"/>
            <a:pathLst>
              <a:path w="1026728" h="1025445">
                <a:moveTo>
                  <a:pt x="0" y="0"/>
                </a:moveTo>
                <a:lnTo>
                  <a:pt x="1026729" y="0"/>
                </a:lnTo>
                <a:lnTo>
                  <a:pt x="1026729" y="1025445"/>
                </a:lnTo>
                <a:lnTo>
                  <a:pt x="0" y="1025445"/>
                </a:lnTo>
                <a:lnTo>
                  <a:pt x="0" y="0"/>
                </a:lnTo>
                <a:close/>
              </a:path>
            </a:pathLst>
          </a:custGeom>
          <a:blipFill>
            <a:blip r:embed="rId2"/>
            <a:stretch>
              <a:fillRect/>
            </a:stretch>
          </a:blipFill>
        </p:spPr>
      </p:sp>
      <p:grpSp>
        <p:nvGrpSpPr>
          <p:cNvPr id="31" name="Group 31">
            <a:extLst>
              <a:ext uri="{FF2B5EF4-FFF2-40B4-BE49-F238E27FC236}">
                <a16:creationId xmlns:a16="http://schemas.microsoft.com/office/drawing/2014/main" id="{7622395B-7FE1-A246-2DD9-157530420826}"/>
              </a:ext>
            </a:extLst>
          </p:cNvPr>
          <p:cNvGrpSpPr/>
          <p:nvPr/>
        </p:nvGrpSpPr>
        <p:grpSpPr>
          <a:xfrm>
            <a:off x="5417268" y="1722898"/>
            <a:ext cx="1011607" cy="1011607"/>
            <a:chOff x="0" y="0"/>
            <a:chExt cx="812800" cy="812800"/>
          </a:xfrm>
        </p:grpSpPr>
        <p:sp>
          <p:nvSpPr>
            <p:cNvPr id="32" name="Freeform 32">
              <a:extLst>
                <a:ext uri="{FF2B5EF4-FFF2-40B4-BE49-F238E27FC236}">
                  <a16:creationId xmlns:a16="http://schemas.microsoft.com/office/drawing/2014/main" id="{9349A63D-1AF3-6C29-7CE7-A1B3BC27FA73}"/>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id="33" name="TextBox 33">
              <a:extLst>
                <a:ext uri="{FF2B5EF4-FFF2-40B4-BE49-F238E27FC236}">
                  <a16:creationId xmlns:a16="http://schemas.microsoft.com/office/drawing/2014/main" id="{E14B1E81-A416-71FF-999D-23DADC9B8186}"/>
                </a:ext>
              </a:extLst>
            </p:cNvPr>
            <p:cNvSpPr txBox="1"/>
            <p:nvPr/>
          </p:nvSpPr>
          <p:spPr>
            <a:xfrm>
              <a:off x="76200" y="38100"/>
              <a:ext cx="660400" cy="698500"/>
            </a:xfrm>
            <a:prstGeom prst="rect">
              <a:avLst/>
            </a:prstGeom>
          </p:spPr>
          <p:txBody>
            <a:bodyPr lIns="47086" tIns="47086" rIns="47086" bIns="47086" rtlCol="0" anchor="ctr"/>
            <a:lstStyle/>
            <a:p>
              <a:pPr algn="ctr">
                <a:lnSpc>
                  <a:spcPts val="2659"/>
                </a:lnSpc>
                <a:spcBef>
                  <a:spcPct val="0"/>
                </a:spcBef>
              </a:pPr>
              <a:endParaRPr/>
            </a:p>
          </p:txBody>
        </p:sp>
      </p:grpSp>
      <p:grpSp>
        <p:nvGrpSpPr>
          <p:cNvPr id="75" name="Group 75">
            <a:extLst>
              <a:ext uri="{FF2B5EF4-FFF2-40B4-BE49-F238E27FC236}">
                <a16:creationId xmlns:a16="http://schemas.microsoft.com/office/drawing/2014/main" id="{8BE55C2B-CF11-8212-BE14-6A066A287EA8}"/>
              </a:ext>
            </a:extLst>
          </p:cNvPr>
          <p:cNvGrpSpPr/>
          <p:nvPr/>
        </p:nvGrpSpPr>
        <p:grpSpPr>
          <a:xfrm>
            <a:off x="17491799" y="8458418"/>
            <a:ext cx="951769" cy="799882"/>
            <a:chOff x="0" y="0"/>
            <a:chExt cx="967140" cy="812800"/>
          </a:xfrm>
        </p:grpSpPr>
        <p:sp>
          <p:nvSpPr>
            <p:cNvPr id="76" name="Freeform 76">
              <a:extLst>
                <a:ext uri="{FF2B5EF4-FFF2-40B4-BE49-F238E27FC236}">
                  <a16:creationId xmlns:a16="http://schemas.microsoft.com/office/drawing/2014/main" id="{47D9FEB7-B860-4DE9-E369-663E8F9D3E6E}"/>
                </a:ext>
              </a:extLst>
            </p:cNvPr>
            <p:cNvSpPr/>
            <p:nvPr/>
          </p:nvSpPr>
          <p:spPr>
            <a:xfrm>
              <a:off x="0" y="0"/>
              <a:ext cx="967140" cy="812800"/>
            </a:xfrm>
            <a:custGeom>
              <a:avLst/>
              <a:gdLst/>
              <a:ahLst/>
              <a:cxnLst/>
              <a:rect l="l" t="t" r="r" b="b"/>
              <a:pathLst>
                <a:path w="967140" h="812800">
                  <a:moveTo>
                    <a:pt x="81342" y="0"/>
                  </a:moveTo>
                  <a:lnTo>
                    <a:pt x="885798" y="0"/>
                  </a:lnTo>
                  <a:cubicBezTo>
                    <a:pt x="907371" y="0"/>
                    <a:pt x="928061" y="8570"/>
                    <a:pt x="943315" y="23825"/>
                  </a:cubicBezTo>
                  <a:cubicBezTo>
                    <a:pt x="958570" y="39079"/>
                    <a:pt x="967140" y="59769"/>
                    <a:pt x="967140" y="81342"/>
                  </a:cubicBezTo>
                  <a:lnTo>
                    <a:pt x="967140" y="731458"/>
                  </a:lnTo>
                  <a:cubicBezTo>
                    <a:pt x="967140" y="776382"/>
                    <a:pt x="930722" y="812800"/>
                    <a:pt x="885798" y="812800"/>
                  </a:cubicBezTo>
                  <a:lnTo>
                    <a:pt x="81342" y="812800"/>
                  </a:lnTo>
                  <a:cubicBezTo>
                    <a:pt x="59769" y="812800"/>
                    <a:pt x="39079" y="804230"/>
                    <a:pt x="23825" y="788975"/>
                  </a:cubicBezTo>
                  <a:cubicBezTo>
                    <a:pt x="8570" y="773721"/>
                    <a:pt x="0" y="753031"/>
                    <a:pt x="0" y="731458"/>
                  </a:cubicBezTo>
                  <a:lnTo>
                    <a:pt x="0" y="81342"/>
                  </a:lnTo>
                  <a:cubicBezTo>
                    <a:pt x="0" y="59769"/>
                    <a:pt x="8570" y="39079"/>
                    <a:pt x="23825" y="23825"/>
                  </a:cubicBezTo>
                  <a:cubicBezTo>
                    <a:pt x="39079" y="8570"/>
                    <a:pt x="59769" y="0"/>
                    <a:pt x="81342" y="0"/>
                  </a:cubicBezTo>
                  <a:close/>
                </a:path>
              </a:pathLst>
            </a:custGeom>
            <a:solidFill>
              <a:srgbClr val="3A6AD6"/>
            </a:solidFill>
          </p:spPr>
        </p:sp>
        <p:sp>
          <p:nvSpPr>
            <p:cNvPr id="77" name="TextBox 77">
              <a:extLst>
                <a:ext uri="{FF2B5EF4-FFF2-40B4-BE49-F238E27FC236}">
                  <a16:creationId xmlns:a16="http://schemas.microsoft.com/office/drawing/2014/main" id="{755CD38C-9DE6-67FA-D671-4D2A6BCC05AF}"/>
                </a:ext>
              </a:extLst>
            </p:cNvPr>
            <p:cNvSpPr txBox="1"/>
            <p:nvPr/>
          </p:nvSpPr>
          <p:spPr>
            <a:xfrm>
              <a:off x="0" y="-38100"/>
              <a:ext cx="967140" cy="850900"/>
            </a:xfrm>
            <a:prstGeom prst="rect">
              <a:avLst/>
            </a:prstGeom>
          </p:spPr>
          <p:txBody>
            <a:bodyPr lIns="50800" tIns="50800" rIns="50800" bIns="50800" rtlCol="0" anchor="ctr"/>
            <a:lstStyle/>
            <a:p>
              <a:pPr algn="ctr">
                <a:lnSpc>
                  <a:spcPts val="2659"/>
                </a:lnSpc>
              </a:pPr>
              <a:endParaRPr/>
            </a:p>
          </p:txBody>
        </p:sp>
      </p:grpSp>
      <p:sp>
        <p:nvSpPr>
          <p:cNvPr id="78" name="TextBox 78">
            <a:extLst>
              <a:ext uri="{FF2B5EF4-FFF2-40B4-BE49-F238E27FC236}">
                <a16:creationId xmlns:a16="http://schemas.microsoft.com/office/drawing/2014/main" id="{75E5F4F1-F896-E4A3-E0EE-6552C148DA55}"/>
              </a:ext>
            </a:extLst>
          </p:cNvPr>
          <p:cNvSpPr txBox="1"/>
          <p:nvPr/>
        </p:nvSpPr>
        <p:spPr>
          <a:xfrm>
            <a:off x="17674380" y="8710688"/>
            <a:ext cx="442747" cy="257943"/>
          </a:xfrm>
          <a:prstGeom prst="rect">
            <a:avLst/>
          </a:prstGeom>
        </p:spPr>
        <p:txBody>
          <a:bodyPr lIns="0" tIns="0" rIns="0" bIns="0" rtlCol="0" anchor="t">
            <a:spAutoFit/>
          </a:bodyPr>
          <a:lstStyle/>
          <a:p>
            <a:pPr algn="ctr">
              <a:lnSpc>
                <a:spcPts val="2057"/>
              </a:lnSpc>
              <a:spcBef>
                <a:spcPct val="0"/>
              </a:spcBef>
            </a:pPr>
            <a:r>
              <a:rPr lang="en-US" sz="1469" b="1" dirty="0">
                <a:solidFill>
                  <a:srgbClr val="FFFFFF"/>
                </a:solidFill>
                <a:latin typeface="Poppins Bold"/>
                <a:ea typeface="Poppins Bold"/>
                <a:cs typeface="Poppins Bold"/>
                <a:sym typeface="Poppins Bold"/>
              </a:rPr>
              <a:t>05</a:t>
            </a:r>
          </a:p>
        </p:txBody>
      </p:sp>
      <p:sp>
        <p:nvSpPr>
          <p:cNvPr id="83" name="Text 2">
            <a:extLst>
              <a:ext uri="{FF2B5EF4-FFF2-40B4-BE49-F238E27FC236}">
                <a16:creationId xmlns:a16="http://schemas.microsoft.com/office/drawing/2014/main" id="{8A64A03E-53F4-B201-1FBA-0B64982161E7}"/>
              </a:ext>
            </a:extLst>
          </p:cNvPr>
          <p:cNvSpPr/>
          <p:nvPr/>
        </p:nvSpPr>
        <p:spPr>
          <a:xfrm>
            <a:off x="6248400" y="876300"/>
            <a:ext cx="11826505" cy="7315200"/>
          </a:xfrm>
          <a:prstGeom prst="rect">
            <a:avLst/>
          </a:prstGeom>
          <a:noFill/>
          <a:ln/>
        </p:spPr>
        <p:txBody>
          <a:bodyPr wrap="square" lIns="0" tIns="0" rIns="0" bIns="0" rtlCol="0" anchor="t"/>
          <a:lstStyle/>
          <a:p>
            <a:pPr marL="342900" algn="just"/>
            <a:r>
              <a:rPr lang="en-GB" sz="3200" dirty="0">
                <a:solidFill>
                  <a:srgbClr val="504C49"/>
                </a:solidFill>
                <a:latin typeface="Source Serif Pro" pitchFamily="34" charset="0"/>
                <a:ea typeface="Source Serif Pro" pitchFamily="34" charset="-122"/>
                <a:cs typeface="Source Serif Pro" pitchFamily="34" charset="-120"/>
              </a:rPr>
              <a:t>Rapid growth of Machine Learning (ML), especially large-scale NLP models has led to substantial increases in global energy consumption and corresponding carbon emissions.</a:t>
            </a:r>
          </a:p>
          <a:p>
            <a:pPr marL="800100" indent="-457200" algn="just">
              <a:buFont typeface="Wingdings" panose="05000000000000000000" pitchFamily="2" charset="2"/>
              <a:buChar char="Ø"/>
            </a:pPr>
            <a:r>
              <a:rPr lang="en-GB" sz="3200" dirty="0">
                <a:solidFill>
                  <a:srgbClr val="504C49"/>
                </a:solidFill>
                <a:latin typeface="Source Serif Pro" pitchFamily="34" charset="0"/>
                <a:ea typeface="Source Serif Pro" pitchFamily="34" charset="-122"/>
                <a:cs typeface="Source Serif Pro" pitchFamily="34" charset="-120"/>
              </a:rPr>
              <a:t> Models with similar accuracy can vary widely in carbon footprint, depending on architecture, dataset size, and training strategies.</a:t>
            </a:r>
          </a:p>
          <a:p>
            <a:pPr marL="800100" indent="-457200" algn="just">
              <a:buFont typeface="Wingdings" panose="05000000000000000000" pitchFamily="2" charset="2"/>
              <a:buChar char="Ø"/>
            </a:pPr>
            <a:r>
              <a:rPr lang="en-GB" sz="3200" dirty="0">
                <a:solidFill>
                  <a:srgbClr val="504C49"/>
                </a:solidFill>
                <a:latin typeface="Source Serif Pro" pitchFamily="34" charset="0"/>
                <a:ea typeface="Source Serif Pro" pitchFamily="34" charset="-122"/>
                <a:cs typeface="Source Serif Pro" pitchFamily="34" charset="-120"/>
              </a:rPr>
              <a:t> Environmental cost is rarely considered alongside performance in model selection.</a:t>
            </a:r>
          </a:p>
          <a:p>
            <a:pPr marL="800100" indent="-457200" algn="just">
              <a:buFont typeface="Wingdings" panose="05000000000000000000" pitchFamily="2" charset="2"/>
              <a:buChar char="Ø"/>
            </a:pPr>
            <a:r>
              <a:rPr lang="en-GB" sz="3200" dirty="0">
                <a:solidFill>
                  <a:srgbClr val="504C49"/>
                </a:solidFill>
                <a:latin typeface="Source Serif Pro" pitchFamily="34" charset="0"/>
                <a:ea typeface="Source Serif Pro" pitchFamily="34" charset="-122"/>
                <a:cs typeface="Source Serif Pro" pitchFamily="34" charset="-120"/>
              </a:rPr>
              <a:t> Existing research often focuses on single models or isolated case studies, lacking domain-wide, systematic comparisons.</a:t>
            </a:r>
          </a:p>
          <a:p>
            <a:pPr marL="800100" indent="-457200" algn="just">
              <a:buFont typeface="Wingdings" panose="05000000000000000000" pitchFamily="2" charset="2"/>
              <a:buChar char="Ø"/>
            </a:pPr>
            <a:r>
              <a:rPr lang="en-GB" sz="3200" dirty="0">
                <a:solidFill>
                  <a:srgbClr val="504C49"/>
                </a:solidFill>
                <a:latin typeface="Source Serif Pro" pitchFamily="34" charset="0"/>
                <a:ea typeface="Source Serif Pro" pitchFamily="34" charset="-122"/>
                <a:cs typeface="Source Serif Pro" pitchFamily="34" charset="-120"/>
              </a:rPr>
              <a:t> There is no consistent framework for evaluating NLP models across different dataset scales and training configurations from both accuracy and sustainability perspectives.</a:t>
            </a:r>
          </a:p>
          <a:p>
            <a:pPr marL="342900" algn="just"/>
            <a:endParaRPr lang="en-GB" sz="3200" dirty="0">
              <a:solidFill>
                <a:srgbClr val="504C49"/>
              </a:solidFill>
              <a:latin typeface="Source Serif Pro" pitchFamily="34" charset="0"/>
              <a:ea typeface="Source Serif Pro" pitchFamily="34" charset="-122"/>
              <a:cs typeface="Source Serif Pro" pitchFamily="34" charset="-120"/>
            </a:endParaRPr>
          </a:p>
          <a:p>
            <a:pPr marL="342900" algn="just"/>
            <a:endParaRPr lang="en-GB" sz="3200" dirty="0">
              <a:solidFill>
                <a:srgbClr val="504C49"/>
              </a:solidFill>
              <a:latin typeface="Source Serif Pro" pitchFamily="34" charset="0"/>
              <a:ea typeface="Source Serif Pro" pitchFamily="34" charset="-122"/>
              <a:cs typeface="Source Serif Pro" pitchFamily="34" charset="-120"/>
            </a:endParaRPr>
          </a:p>
        </p:txBody>
      </p:sp>
      <p:sp>
        <p:nvSpPr>
          <p:cNvPr id="2" name="Freeform 30">
            <a:extLst>
              <a:ext uri="{FF2B5EF4-FFF2-40B4-BE49-F238E27FC236}">
                <a16:creationId xmlns:a16="http://schemas.microsoft.com/office/drawing/2014/main" id="{85DEA325-9402-202F-F5BF-E7FD7DACC07D}"/>
              </a:ext>
            </a:extLst>
          </p:cNvPr>
          <p:cNvSpPr/>
          <p:nvPr/>
        </p:nvSpPr>
        <p:spPr>
          <a:xfrm>
            <a:off x="2011612" y="3183718"/>
            <a:ext cx="1607396" cy="1524000"/>
          </a:xfrm>
          <a:custGeom>
            <a:avLst/>
            <a:gdLst/>
            <a:ahLst/>
            <a:cxnLst/>
            <a:rect l="l" t="t" r="r" b="b"/>
            <a:pathLst>
              <a:path w="1026728" h="1025445">
                <a:moveTo>
                  <a:pt x="0" y="0"/>
                </a:moveTo>
                <a:lnTo>
                  <a:pt x="1026729" y="0"/>
                </a:lnTo>
                <a:lnTo>
                  <a:pt x="1026729" y="1025445"/>
                </a:lnTo>
                <a:lnTo>
                  <a:pt x="0" y="1025445"/>
                </a:lnTo>
                <a:lnTo>
                  <a:pt x="0" y="0"/>
                </a:lnTo>
                <a:close/>
              </a:path>
            </a:pathLst>
          </a:custGeom>
          <a:blipFill>
            <a:blip r:embed="rId2"/>
            <a:stretch>
              <a:fillRect/>
            </a:stretch>
          </a:blipFill>
        </p:spPr>
      </p:sp>
      <p:grpSp>
        <p:nvGrpSpPr>
          <p:cNvPr id="3" name="Group 31">
            <a:extLst>
              <a:ext uri="{FF2B5EF4-FFF2-40B4-BE49-F238E27FC236}">
                <a16:creationId xmlns:a16="http://schemas.microsoft.com/office/drawing/2014/main" id="{AA9E2DA4-6516-F9A3-7107-6DC06B4AD438}"/>
              </a:ext>
            </a:extLst>
          </p:cNvPr>
          <p:cNvGrpSpPr/>
          <p:nvPr/>
        </p:nvGrpSpPr>
        <p:grpSpPr>
          <a:xfrm>
            <a:off x="2323608" y="3391311"/>
            <a:ext cx="1011607" cy="1011607"/>
            <a:chOff x="0" y="0"/>
            <a:chExt cx="812800" cy="812800"/>
          </a:xfrm>
        </p:grpSpPr>
        <p:sp>
          <p:nvSpPr>
            <p:cNvPr id="4" name="Freeform 32">
              <a:extLst>
                <a:ext uri="{FF2B5EF4-FFF2-40B4-BE49-F238E27FC236}">
                  <a16:creationId xmlns:a16="http://schemas.microsoft.com/office/drawing/2014/main" id="{6D99E956-B918-1BF0-8F98-967E2C32FD15}"/>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id="5" name="TextBox 33">
              <a:extLst>
                <a:ext uri="{FF2B5EF4-FFF2-40B4-BE49-F238E27FC236}">
                  <a16:creationId xmlns:a16="http://schemas.microsoft.com/office/drawing/2014/main" id="{68A73AE4-31D2-8783-9F09-2436A0B26906}"/>
                </a:ext>
              </a:extLst>
            </p:cNvPr>
            <p:cNvSpPr txBox="1"/>
            <p:nvPr/>
          </p:nvSpPr>
          <p:spPr>
            <a:xfrm>
              <a:off x="76200" y="38100"/>
              <a:ext cx="660400" cy="698500"/>
            </a:xfrm>
            <a:prstGeom prst="rect">
              <a:avLst/>
            </a:prstGeom>
          </p:spPr>
          <p:txBody>
            <a:bodyPr lIns="47086" tIns="47086" rIns="47086" bIns="47086" rtlCol="0" anchor="ctr"/>
            <a:lstStyle/>
            <a:p>
              <a:pPr algn="ctr">
                <a:lnSpc>
                  <a:spcPts val="2659"/>
                </a:lnSpc>
                <a:spcBef>
                  <a:spcPct val="0"/>
                </a:spcBef>
              </a:pPr>
              <a:endParaRPr/>
            </a:p>
          </p:txBody>
        </p:sp>
      </p:grpSp>
      <p:pic>
        <p:nvPicPr>
          <p:cNvPr id="23554" name="Picture 2" descr="5,000+ Problem Statement Stock Photos, Pictures &amp; Royalty-Free Images -  iStock | Problem statement icon">
            <a:extLst>
              <a:ext uri="{FF2B5EF4-FFF2-40B4-BE49-F238E27FC236}">
                <a16:creationId xmlns:a16="http://schemas.microsoft.com/office/drawing/2014/main" id="{24C9D5EB-5960-8B48-9519-DCF58A285554}"/>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076891" y="3117343"/>
            <a:ext cx="1423319" cy="142331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0933558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Click="0">
        <p159:morph option="byObject"/>
      </p:transition>
    </mc:Choice>
    <mc:Fallback xmlns="">
      <p:transition spd="slow" advClick="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5" presetClass="entr" presetSubtype="0" fill="hold" nodeType="afterEffect">
                                  <p:stCondLst>
                                    <p:cond delay="0"/>
                                  </p:stCondLst>
                                  <p:childTnLst>
                                    <p:set>
                                      <p:cBhvr>
                                        <p:cTn id="6" dur="1" fill="hold">
                                          <p:stCondLst>
                                            <p:cond delay="0"/>
                                          </p:stCondLst>
                                        </p:cTn>
                                        <p:tgtEl>
                                          <p:spTgt spid="23554"/>
                                        </p:tgtEl>
                                        <p:attrNameLst>
                                          <p:attrName>style.visibility</p:attrName>
                                        </p:attrNameLst>
                                      </p:cBhvr>
                                      <p:to>
                                        <p:strVal val="visible"/>
                                      </p:to>
                                    </p:set>
                                    <p:animEffect transition="in" filter="fade">
                                      <p:cBhvr>
                                        <p:cTn id="7" dur="2000"/>
                                        <p:tgtEl>
                                          <p:spTgt spid="23554"/>
                                        </p:tgtEl>
                                      </p:cBhvr>
                                    </p:animEffect>
                                    <p:anim calcmode="lin" valueType="num">
                                      <p:cBhvr>
                                        <p:cTn id="8" dur="2000" fill="hold"/>
                                        <p:tgtEl>
                                          <p:spTgt spid="23554"/>
                                        </p:tgtEl>
                                        <p:attrNameLst>
                                          <p:attrName>ppt_w</p:attrName>
                                        </p:attrNameLst>
                                      </p:cBhvr>
                                      <p:tavLst>
                                        <p:tav tm="0" fmla="#ppt_w*sin(2.5*pi*$)">
                                          <p:val>
                                            <p:fltVal val="0"/>
                                          </p:val>
                                        </p:tav>
                                        <p:tav tm="100000">
                                          <p:val>
                                            <p:fltVal val="1"/>
                                          </p:val>
                                        </p:tav>
                                      </p:tavLst>
                                    </p:anim>
                                    <p:anim calcmode="lin" valueType="num">
                                      <p:cBhvr>
                                        <p:cTn id="9" dur="2000" fill="hold"/>
                                        <p:tgtEl>
                                          <p:spTgt spid="23554"/>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988071-2E6A-ABC1-FB50-B2D709C9FDEE}"/>
            </a:ext>
          </a:extLst>
        </p:cNvPr>
        <p:cNvGrpSpPr/>
        <p:nvPr/>
      </p:nvGrpSpPr>
      <p:grpSpPr>
        <a:xfrm>
          <a:off x="0" y="0"/>
          <a:ext cx="0" cy="0"/>
          <a:chOff x="0" y="0"/>
          <a:chExt cx="0" cy="0"/>
        </a:xfrm>
      </p:grpSpPr>
      <p:sp>
        <p:nvSpPr>
          <p:cNvPr id="9" name="AutoShape 9">
            <a:extLst>
              <a:ext uri="{FF2B5EF4-FFF2-40B4-BE49-F238E27FC236}">
                <a16:creationId xmlns:a16="http://schemas.microsoft.com/office/drawing/2014/main" id="{E62B876E-2F82-1265-B972-3EFC74F8E568}"/>
              </a:ext>
            </a:extLst>
          </p:cNvPr>
          <p:cNvSpPr/>
          <p:nvPr/>
        </p:nvSpPr>
        <p:spPr>
          <a:xfrm flipV="1">
            <a:off x="4419600" y="3623116"/>
            <a:ext cx="2443899" cy="1215584"/>
          </a:xfrm>
          <a:prstGeom prst="line">
            <a:avLst/>
          </a:prstGeom>
          <a:ln w="28575" cap="flat">
            <a:solidFill>
              <a:srgbClr val="F8F8F8"/>
            </a:solidFill>
            <a:prstDash val="solid"/>
            <a:headEnd type="none" w="sm" len="sm"/>
            <a:tailEnd type="none" w="sm" len="sm"/>
          </a:ln>
        </p:spPr>
      </p:sp>
      <p:grpSp>
        <p:nvGrpSpPr>
          <p:cNvPr id="13" name="Group 13">
            <a:extLst>
              <a:ext uri="{FF2B5EF4-FFF2-40B4-BE49-F238E27FC236}">
                <a16:creationId xmlns:a16="http://schemas.microsoft.com/office/drawing/2014/main" id="{F5E3288A-4033-B614-7955-07CF0E578A4A}"/>
              </a:ext>
            </a:extLst>
          </p:cNvPr>
          <p:cNvGrpSpPr/>
          <p:nvPr/>
        </p:nvGrpSpPr>
        <p:grpSpPr>
          <a:xfrm>
            <a:off x="57409" y="1790335"/>
            <a:ext cx="5710361" cy="5867765"/>
            <a:chOff x="0" y="0"/>
            <a:chExt cx="812800" cy="812800"/>
          </a:xfrm>
        </p:grpSpPr>
        <p:sp>
          <p:nvSpPr>
            <p:cNvPr id="14" name="Freeform 14">
              <a:extLst>
                <a:ext uri="{FF2B5EF4-FFF2-40B4-BE49-F238E27FC236}">
                  <a16:creationId xmlns:a16="http://schemas.microsoft.com/office/drawing/2014/main" id="{01CC9770-DE6D-D50C-E945-DEDF09E3D931}"/>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8F8F8"/>
            </a:solidFill>
          </p:spPr>
        </p:sp>
        <p:sp>
          <p:nvSpPr>
            <p:cNvPr id="15" name="TextBox 15">
              <a:extLst>
                <a:ext uri="{FF2B5EF4-FFF2-40B4-BE49-F238E27FC236}">
                  <a16:creationId xmlns:a16="http://schemas.microsoft.com/office/drawing/2014/main" id="{3C8BE01E-2621-C8A1-B5BD-AE2B5C1AF3D9}"/>
                </a:ext>
              </a:extLst>
            </p:cNvPr>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16" name="Freeform 16">
            <a:extLst>
              <a:ext uri="{FF2B5EF4-FFF2-40B4-BE49-F238E27FC236}">
                <a16:creationId xmlns:a16="http://schemas.microsoft.com/office/drawing/2014/main" id="{A9036267-B748-AA7A-A0E6-4295954F5C11}"/>
              </a:ext>
            </a:extLst>
          </p:cNvPr>
          <p:cNvSpPr/>
          <p:nvPr/>
        </p:nvSpPr>
        <p:spPr>
          <a:xfrm>
            <a:off x="170873" y="1960428"/>
            <a:ext cx="5596898" cy="5545272"/>
          </a:xfrm>
          <a:custGeom>
            <a:avLst/>
            <a:gdLst/>
            <a:ahLst/>
            <a:cxnLst/>
            <a:rect l="l" t="t" r="r" b="b"/>
            <a:pathLst>
              <a:path w="5862965" h="5855636">
                <a:moveTo>
                  <a:pt x="0" y="0"/>
                </a:moveTo>
                <a:lnTo>
                  <a:pt x="5862964" y="0"/>
                </a:lnTo>
                <a:lnTo>
                  <a:pt x="5862964" y="5855636"/>
                </a:lnTo>
                <a:lnTo>
                  <a:pt x="0" y="5855636"/>
                </a:lnTo>
                <a:lnTo>
                  <a:pt x="0" y="0"/>
                </a:lnTo>
                <a:close/>
              </a:path>
            </a:pathLst>
          </a:custGeom>
          <a:blipFill>
            <a:blip r:embed="rId2"/>
            <a:stretch>
              <a:fillRect/>
            </a:stretch>
          </a:blipFill>
        </p:spPr>
      </p:sp>
      <p:grpSp>
        <p:nvGrpSpPr>
          <p:cNvPr id="17" name="Group 17">
            <a:extLst>
              <a:ext uri="{FF2B5EF4-FFF2-40B4-BE49-F238E27FC236}">
                <a16:creationId xmlns:a16="http://schemas.microsoft.com/office/drawing/2014/main" id="{F7384E44-3245-4B4A-BB90-70218910E85F}"/>
              </a:ext>
            </a:extLst>
          </p:cNvPr>
          <p:cNvGrpSpPr/>
          <p:nvPr/>
        </p:nvGrpSpPr>
        <p:grpSpPr>
          <a:xfrm>
            <a:off x="548587" y="2358550"/>
            <a:ext cx="4656530" cy="4714910"/>
            <a:chOff x="0" y="0"/>
            <a:chExt cx="812800" cy="812800"/>
          </a:xfrm>
        </p:grpSpPr>
        <p:sp>
          <p:nvSpPr>
            <p:cNvPr id="18" name="Freeform 18">
              <a:extLst>
                <a:ext uri="{FF2B5EF4-FFF2-40B4-BE49-F238E27FC236}">
                  <a16:creationId xmlns:a16="http://schemas.microsoft.com/office/drawing/2014/main" id="{8880D782-FCE9-8ED1-EC38-77A52C419063}"/>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id="19" name="TextBox 19">
              <a:extLst>
                <a:ext uri="{FF2B5EF4-FFF2-40B4-BE49-F238E27FC236}">
                  <a16:creationId xmlns:a16="http://schemas.microsoft.com/office/drawing/2014/main" id="{265390C2-DC4E-FF82-E65D-5BCF4FF89302}"/>
                </a:ext>
              </a:extLst>
            </p:cNvPr>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26" name="TextBox 26">
            <a:extLst>
              <a:ext uri="{FF2B5EF4-FFF2-40B4-BE49-F238E27FC236}">
                <a16:creationId xmlns:a16="http://schemas.microsoft.com/office/drawing/2014/main" id="{6311DB27-1A19-7F02-C747-007A82BE3851}"/>
              </a:ext>
            </a:extLst>
          </p:cNvPr>
          <p:cNvSpPr txBox="1"/>
          <p:nvPr/>
        </p:nvSpPr>
        <p:spPr>
          <a:xfrm>
            <a:off x="1126218" y="4540662"/>
            <a:ext cx="4563094" cy="827534"/>
          </a:xfrm>
          <a:prstGeom prst="rect">
            <a:avLst/>
          </a:prstGeom>
        </p:spPr>
        <p:txBody>
          <a:bodyPr wrap="square" lIns="0" tIns="0" rIns="0" bIns="0" rtlCol="0" anchor="t">
            <a:spAutoFit/>
          </a:bodyPr>
          <a:lstStyle/>
          <a:p>
            <a:pPr>
              <a:lnSpc>
                <a:spcPts val="7000"/>
              </a:lnSpc>
            </a:pPr>
            <a:r>
              <a:rPr lang="en-US" sz="4800" b="1" dirty="0">
                <a:solidFill>
                  <a:srgbClr val="7068F4"/>
                </a:solidFill>
                <a:latin typeface="Barlow Bold" pitchFamily="34" charset="0"/>
                <a:ea typeface="Barlow Bold" pitchFamily="34" charset="-122"/>
                <a:cs typeface="Barlow Bold" pitchFamily="34" charset="-120"/>
              </a:rPr>
              <a:t>Research Aim</a:t>
            </a:r>
          </a:p>
        </p:txBody>
      </p:sp>
      <p:grpSp>
        <p:nvGrpSpPr>
          <p:cNvPr id="27" name="Group 27">
            <a:extLst>
              <a:ext uri="{FF2B5EF4-FFF2-40B4-BE49-F238E27FC236}">
                <a16:creationId xmlns:a16="http://schemas.microsoft.com/office/drawing/2014/main" id="{BF4649C7-8302-45F1-6D06-292C304430AD}"/>
              </a:ext>
            </a:extLst>
          </p:cNvPr>
          <p:cNvGrpSpPr/>
          <p:nvPr/>
        </p:nvGrpSpPr>
        <p:grpSpPr>
          <a:xfrm>
            <a:off x="5791200" y="2857501"/>
            <a:ext cx="13106400" cy="4191000"/>
            <a:chOff x="0" y="0"/>
            <a:chExt cx="1013318" cy="260488"/>
          </a:xfrm>
        </p:grpSpPr>
        <p:sp>
          <p:nvSpPr>
            <p:cNvPr id="28" name="Freeform 28">
              <a:extLst>
                <a:ext uri="{FF2B5EF4-FFF2-40B4-BE49-F238E27FC236}">
                  <a16:creationId xmlns:a16="http://schemas.microsoft.com/office/drawing/2014/main" id="{0E34952F-6915-3675-EAB0-6124D168CB9D}"/>
                </a:ext>
              </a:extLst>
            </p:cNvPr>
            <p:cNvSpPr/>
            <p:nvPr/>
          </p:nvSpPr>
          <p:spPr>
            <a:xfrm>
              <a:off x="0" y="0"/>
              <a:ext cx="1013318" cy="260488"/>
            </a:xfrm>
            <a:custGeom>
              <a:avLst/>
              <a:gdLst/>
              <a:ahLst/>
              <a:cxnLst/>
              <a:rect l="l" t="t" r="r" b="b"/>
              <a:pathLst>
                <a:path w="1013318" h="260488">
                  <a:moveTo>
                    <a:pt x="130244" y="0"/>
                  </a:moveTo>
                  <a:lnTo>
                    <a:pt x="883074" y="0"/>
                  </a:lnTo>
                  <a:cubicBezTo>
                    <a:pt x="917617" y="0"/>
                    <a:pt x="950745" y="13722"/>
                    <a:pt x="975171" y="38148"/>
                  </a:cubicBezTo>
                  <a:cubicBezTo>
                    <a:pt x="999596" y="62573"/>
                    <a:pt x="1013318" y="95701"/>
                    <a:pt x="1013318" y="130244"/>
                  </a:cubicBezTo>
                  <a:lnTo>
                    <a:pt x="1013318" y="130244"/>
                  </a:lnTo>
                  <a:cubicBezTo>
                    <a:pt x="1013318" y="202175"/>
                    <a:pt x="955006" y="260488"/>
                    <a:pt x="883074" y="260488"/>
                  </a:cubicBezTo>
                  <a:lnTo>
                    <a:pt x="130244" y="260488"/>
                  </a:lnTo>
                  <a:cubicBezTo>
                    <a:pt x="95701" y="260488"/>
                    <a:pt x="62573" y="246766"/>
                    <a:pt x="38148" y="222340"/>
                  </a:cubicBezTo>
                  <a:cubicBezTo>
                    <a:pt x="13722" y="197915"/>
                    <a:pt x="0" y="164787"/>
                    <a:pt x="0" y="130244"/>
                  </a:cubicBezTo>
                  <a:lnTo>
                    <a:pt x="0" y="130244"/>
                  </a:lnTo>
                  <a:cubicBezTo>
                    <a:pt x="0" y="95701"/>
                    <a:pt x="13722" y="62573"/>
                    <a:pt x="38148" y="38148"/>
                  </a:cubicBezTo>
                  <a:cubicBezTo>
                    <a:pt x="62573" y="13722"/>
                    <a:pt x="95701" y="0"/>
                    <a:pt x="130244" y="0"/>
                  </a:cubicBezTo>
                  <a:close/>
                </a:path>
              </a:pathLst>
            </a:custGeom>
            <a:solidFill>
              <a:srgbClr val="F8F8F8"/>
            </a:solidFill>
          </p:spPr>
        </p:sp>
        <p:sp>
          <p:nvSpPr>
            <p:cNvPr id="29" name="TextBox 29">
              <a:extLst>
                <a:ext uri="{FF2B5EF4-FFF2-40B4-BE49-F238E27FC236}">
                  <a16:creationId xmlns:a16="http://schemas.microsoft.com/office/drawing/2014/main" id="{1D7D3042-C5A5-C075-BCA3-03AD9EAED061}"/>
                </a:ext>
              </a:extLst>
            </p:cNvPr>
            <p:cNvSpPr txBox="1"/>
            <p:nvPr/>
          </p:nvSpPr>
          <p:spPr>
            <a:xfrm>
              <a:off x="0" y="-38100"/>
              <a:ext cx="1013318" cy="298588"/>
            </a:xfrm>
            <a:prstGeom prst="rect">
              <a:avLst/>
            </a:prstGeom>
          </p:spPr>
          <p:txBody>
            <a:bodyPr lIns="47086" tIns="47086" rIns="47086" bIns="47086" rtlCol="0" anchor="ctr"/>
            <a:lstStyle/>
            <a:p>
              <a:pPr algn="ctr">
                <a:lnSpc>
                  <a:spcPts val="2659"/>
                </a:lnSpc>
              </a:pPr>
              <a:endParaRPr/>
            </a:p>
          </p:txBody>
        </p:sp>
      </p:grpSp>
      <p:sp>
        <p:nvSpPr>
          <p:cNvPr id="30" name="Freeform 30">
            <a:extLst>
              <a:ext uri="{FF2B5EF4-FFF2-40B4-BE49-F238E27FC236}">
                <a16:creationId xmlns:a16="http://schemas.microsoft.com/office/drawing/2014/main" id="{5DDD69A8-2480-F504-5559-8B2EC0988643}"/>
              </a:ext>
            </a:extLst>
          </p:cNvPr>
          <p:cNvSpPr/>
          <p:nvPr/>
        </p:nvSpPr>
        <p:spPr>
          <a:xfrm>
            <a:off x="6019800" y="2857500"/>
            <a:ext cx="1607396" cy="1524000"/>
          </a:xfrm>
          <a:custGeom>
            <a:avLst/>
            <a:gdLst/>
            <a:ahLst/>
            <a:cxnLst/>
            <a:rect l="l" t="t" r="r" b="b"/>
            <a:pathLst>
              <a:path w="1026728" h="1025445">
                <a:moveTo>
                  <a:pt x="0" y="0"/>
                </a:moveTo>
                <a:lnTo>
                  <a:pt x="1026729" y="0"/>
                </a:lnTo>
                <a:lnTo>
                  <a:pt x="1026729" y="1025445"/>
                </a:lnTo>
                <a:lnTo>
                  <a:pt x="0" y="1025445"/>
                </a:lnTo>
                <a:lnTo>
                  <a:pt x="0" y="0"/>
                </a:lnTo>
                <a:close/>
              </a:path>
            </a:pathLst>
          </a:custGeom>
          <a:blipFill>
            <a:blip r:embed="rId2"/>
            <a:stretch>
              <a:fillRect/>
            </a:stretch>
          </a:blipFill>
        </p:spPr>
      </p:sp>
      <p:grpSp>
        <p:nvGrpSpPr>
          <p:cNvPr id="31" name="Group 31">
            <a:extLst>
              <a:ext uri="{FF2B5EF4-FFF2-40B4-BE49-F238E27FC236}">
                <a16:creationId xmlns:a16="http://schemas.microsoft.com/office/drawing/2014/main" id="{02A292A3-97EC-EBE4-10AF-631C29B62ECF}"/>
              </a:ext>
            </a:extLst>
          </p:cNvPr>
          <p:cNvGrpSpPr/>
          <p:nvPr/>
        </p:nvGrpSpPr>
        <p:grpSpPr>
          <a:xfrm>
            <a:off x="6379793" y="3086100"/>
            <a:ext cx="1011607" cy="1011607"/>
            <a:chOff x="0" y="0"/>
            <a:chExt cx="812800" cy="812800"/>
          </a:xfrm>
        </p:grpSpPr>
        <p:sp>
          <p:nvSpPr>
            <p:cNvPr id="32" name="Freeform 32">
              <a:extLst>
                <a:ext uri="{FF2B5EF4-FFF2-40B4-BE49-F238E27FC236}">
                  <a16:creationId xmlns:a16="http://schemas.microsoft.com/office/drawing/2014/main" id="{957E308B-0D6B-7B41-B2E4-74A4E5679647}"/>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id="33" name="TextBox 33">
              <a:extLst>
                <a:ext uri="{FF2B5EF4-FFF2-40B4-BE49-F238E27FC236}">
                  <a16:creationId xmlns:a16="http://schemas.microsoft.com/office/drawing/2014/main" id="{1FD01E78-BD18-BED1-6892-225C090B45E5}"/>
                </a:ext>
              </a:extLst>
            </p:cNvPr>
            <p:cNvSpPr txBox="1"/>
            <p:nvPr/>
          </p:nvSpPr>
          <p:spPr>
            <a:xfrm>
              <a:off x="76200" y="38100"/>
              <a:ext cx="660400" cy="698500"/>
            </a:xfrm>
            <a:prstGeom prst="rect">
              <a:avLst/>
            </a:prstGeom>
          </p:spPr>
          <p:txBody>
            <a:bodyPr lIns="47086" tIns="47086" rIns="47086" bIns="47086" rtlCol="0" anchor="ctr"/>
            <a:lstStyle/>
            <a:p>
              <a:pPr algn="ctr">
                <a:lnSpc>
                  <a:spcPts val="2659"/>
                </a:lnSpc>
                <a:spcBef>
                  <a:spcPct val="0"/>
                </a:spcBef>
              </a:pPr>
              <a:endParaRPr/>
            </a:p>
          </p:txBody>
        </p:sp>
      </p:grpSp>
      <p:grpSp>
        <p:nvGrpSpPr>
          <p:cNvPr id="34" name="Group 34">
            <a:extLst>
              <a:ext uri="{FF2B5EF4-FFF2-40B4-BE49-F238E27FC236}">
                <a16:creationId xmlns:a16="http://schemas.microsoft.com/office/drawing/2014/main" id="{62B5CADC-CE14-F580-DD58-98A00CCF6CFC}"/>
              </a:ext>
            </a:extLst>
          </p:cNvPr>
          <p:cNvGrpSpPr/>
          <p:nvPr/>
        </p:nvGrpSpPr>
        <p:grpSpPr>
          <a:xfrm>
            <a:off x="6792058" y="3390900"/>
            <a:ext cx="218342" cy="218342"/>
            <a:chOff x="0" y="0"/>
            <a:chExt cx="812800" cy="812800"/>
          </a:xfrm>
        </p:grpSpPr>
        <p:sp>
          <p:nvSpPr>
            <p:cNvPr id="35" name="Freeform 35">
              <a:extLst>
                <a:ext uri="{FF2B5EF4-FFF2-40B4-BE49-F238E27FC236}">
                  <a16:creationId xmlns:a16="http://schemas.microsoft.com/office/drawing/2014/main" id="{972C45D0-761C-CA17-527A-E2197C455C0F}"/>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A6AD6"/>
            </a:solidFill>
          </p:spPr>
        </p:sp>
        <p:sp>
          <p:nvSpPr>
            <p:cNvPr id="36" name="TextBox 36">
              <a:extLst>
                <a:ext uri="{FF2B5EF4-FFF2-40B4-BE49-F238E27FC236}">
                  <a16:creationId xmlns:a16="http://schemas.microsoft.com/office/drawing/2014/main" id="{83DC813B-60E3-15FD-03CE-CBDFB32820BC}"/>
                </a:ext>
              </a:extLst>
            </p:cNvPr>
            <p:cNvSpPr txBox="1"/>
            <p:nvPr/>
          </p:nvSpPr>
          <p:spPr>
            <a:xfrm>
              <a:off x="76200" y="38100"/>
              <a:ext cx="660400" cy="698500"/>
            </a:xfrm>
            <a:prstGeom prst="rect">
              <a:avLst/>
            </a:prstGeom>
          </p:spPr>
          <p:txBody>
            <a:bodyPr lIns="47086" tIns="47086" rIns="47086" bIns="47086" rtlCol="0" anchor="ctr"/>
            <a:lstStyle/>
            <a:p>
              <a:pPr algn="ctr">
                <a:lnSpc>
                  <a:spcPts val="2659"/>
                </a:lnSpc>
                <a:spcBef>
                  <a:spcPct val="0"/>
                </a:spcBef>
              </a:pPr>
              <a:endParaRPr/>
            </a:p>
          </p:txBody>
        </p:sp>
      </p:grpSp>
      <p:grpSp>
        <p:nvGrpSpPr>
          <p:cNvPr id="75" name="Group 75">
            <a:extLst>
              <a:ext uri="{FF2B5EF4-FFF2-40B4-BE49-F238E27FC236}">
                <a16:creationId xmlns:a16="http://schemas.microsoft.com/office/drawing/2014/main" id="{4FA00754-10D6-AFFF-79F0-E8C2C4413B50}"/>
              </a:ext>
            </a:extLst>
          </p:cNvPr>
          <p:cNvGrpSpPr/>
          <p:nvPr/>
        </p:nvGrpSpPr>
        <p:grpSpPr>
          <a:xfrm>
            <a:off x="17491799" y="8458418"/>
            <a:ext cx="951769" cy="799882"/>
            <a:chOff x="0" y="0"/>
            <a:chExt cx="967140" cy="812800"/>
          </a:xfrm>
        </p:grpSpPr>
        <p:sp>
          <p:nvSpPr>
            <p:cNvPr id="76" name="Freeform 76">
              <a:extLst>
                <a:ext uri="{FF2B5EF4-FFF2-40B4-BE49-F238E27FC236}">
                  <a16:creationId xmlns:a16="http://schemas.microsoft.com/office/drawing/2014/main" id="{D8476F3D-E5DF-E78A-48CA-698D3E4CA82A}"/>
                </a:ext>
              </a:extLst>
            </p:cNvPr>
            <p:cNvSpPr/>
            <p:nvPr/>
          </p:nvSpPr>
          <p:spPr>
            <a:xfrm>
              <a:off x="0" y="0"/>
              <a:ext cx="967140" cy="812800"/>
            </a:xfrm>
            <a:custGeom>
              <a:avLst/>
              <a:gdLst/>
              <a:ahLst/>
              <a:cxnLst/>
              <a:rect l="l" t="t" r="r" b="b"/>
              <a:pathLst>
                <a:path w="967140" h="812800">
                  <a:moveTo>
                    <a:pt x="81342" y="0"/>
                  </a:moveTo>
                  <a:lnTo>
                    <a:pt x="885798" y="0"/>
                  </a:lnTo>
                  <a:cubicBezTo>
                    <a:pt x="907371" y="0"/>
                    <a:pt x="928061" y="8570"/>
                    <a:pt x="943315" y="23825"/>
                  </a:cubicBezTo>
                  <a:cubicBezTo>
                    <a:pt x="958570" y="39079"/>
                    <a:pt x="967140" y="59769"/>
                    <a:pt x="967140" y="81342"/>
                  </a:cubicBezTo>
                  <a:lnTo>
                    <a:pt x="967140" y="731458"/>
                  </a:lnTo>
                  <a:cubicBezTo>
                    <a:pt x="967140" y="776382"/>
                    <a:pt x="930722" y="812800"/>
                    <a:pt x="885798" y="812800"/>
                  </a:cubicBezTo>
                  <a:lnTo>
                    <a:pt x="81342" y="812800"/>
                  </a:lnTo>
                  <a:cubicBezTo>
                    <a:pt x="59769" y="812800"/>
                    <a:pt x="39079" y="804230"/>
                    <a:pt x="23825" y="788975"/>
                  </a:cubicBezTo>
                  <a:cubicBezTo>
                    <a:pt x="8570" y="773721"/>
                    <a:pt x="0" y="753031"/>
                    <a:pt x="0" y="731458"/>
                  </a:cubicBezTo>
                  <a:lnTo>
                    <a:pt x="0" y="81342"/>
                  </a:lnTo>
                  <a:cubicBezTo>
                    <a:pt x="0" y="59769"/>
                    <a:pt x="8570" y="39079"/>
                    <a:pt x="23825" y="23825"/>
                  </a:cubicBezTo>
                  <a:cubicBezTo>
                    <a:pt x="39079" y="8570"/>
                    <a:pt x="59769" y="0"/>
                    <a:pt x="81342" y="0"/>
                  </a:cubicBezTo>
                  <a:close/>
                </a:path>
              </a:pathLst>
            </a:custGeom>
            <a:solidFill>
              <a:srgbClr val="3A6AD6"/>
            </a:solidFill>
          </p:spPr>
        </p:sp>
        <p:sp>
          <p:nvSpPr>
            <p:cNvPr id="77" name="TextBox 77">
              <a:extLst>
                <a:ext uri="{FF2B5EF4-FFF2-40B4-BE49-F238E27FC236}">
                  <a16:creationId xmlns:a16="http://schemas.microsoft.com/office/drawing/2014/main" id="{6E0F4552-B1C2-8130-5527-8554CFA7E2A8}"/>
                </a:ext>
              </a:extLst>
            </p:cNvPr>
            <p:cNvSpPr txBox="1"/>
            <p:nvPr/>
          </p:nvSpPr>
          <p:spPr>
            <a:xfrm>
              <a:off x="0" y="-38100"/>
              <a:ext cx="967140" cy="850900"/>
            </a:xfrm>
            <a:prstGeom prst="rect">
              <a:avLst/>
            </a:prstGeom>
          </p:spPr>
          <p:txBody>
            <a:bodyPr lIns="50800" tIns="50800" rIns="50800" bIns="50800" rtlCol="0" anchor="ctr"/>
            <a:lstStyle/>
            <a:p>
              <a:pPr algn="ctr">
                <a:lnSpc>
                  <a:spcPts val="2659"/>
                </a:lnSpc>
              </a:pPr>
              <a:endParaRPr/>
            </a:p>
          </p:txBody>
        </p:sp>
      </p:grpSp>
      <p:sp>
        <p:nvSpPr>
          <p:cNvPr id="78" name="TextBox 78">
            <a:extLst>
              <a:ext uri="{FF2B5EF4-FFF2-40B4-BE49-F238E27FC236}">
                <a16:creationId xmlns:a16="http://schemas.microsoft.com/office/drawing/2014/main" id="{7E515D6C-56FE-43C9-8823-03D604141EC4}"/>
              </a:ext>
            </a:extLst>
          </p:cNvPr>
          <p:cNvSpPr txBox="1"/>
          <p:nvPr/>
        </p:nvSpPr>
        <p:spPr>
          <a:xfrm>
            <a:off x="17674380" y="8710688"/>
            <a:ext cx="442747" cy="257943"/>
          </a:xfrm>
          <a:prstGeom prst="rect">
            <a:avLst/>
          </a:prstGeom>
        </p:spPr>
        <p:txBody>
          <a:bodyPr lIns="0" tIns="0" rIns="0" bIns="0" rtlCol="0" anchor="t">
            <a:spAutoFit/>
          </a:bodyPr>
          <a:lstStyle/>
          <a:p>
            <a:pPr algn="ctr">
              <a:lnSpc>
                <a:spcPts val="2057"/>
              </a:lnSpc>
              <a:spcBef>
                <a:spcPct val="0"/>
              </a:spcBef>
            </a:pPr>
            <a:r>
              <a:rPr lang="en-US" sz="1469" b="1" dirty="0">
                <a:solidFill>
                  <a:srgbClr val="FFFFFF"/>
                </a:solidFill>
                <a:latin typeface="Poppins Bold"/>
                <a:ea typeface="Poppins Bold"/>
                <a:cs typeface="Poppins Bold"/>
                <a:sym typeface="Poppins Bold"/>
              </a:rPr>
              <a:t>06</a:t>
            </a:r>
          </a:p>
        </p:txBody>
      </p:sp>
      <p:sp>
        <p:nvSpPr>
          <p:cNvPr id="83" name="Text 2">
            <a:extLst>
              <a:ext uri="{FF2B5EF4-FFF2-40B4-BE49-F238E27FC236}">
                <a16:creationId xmlns:a16="http://schemas.microsoft.com/office/drawing/2014/main" id="{EBC4F705-A18A-BCB3-51AF-AD08B0F0D283}"/>
              </a:ext>
            </a:extLst>
          </p:cNvPr>
          <p:cNvSpPr/>
          <p:nvPr/>
        </p:nvSpPr>
        <p:spPr>
          <a:xfrm>
            <a:off x="6474631" y="3245630"/>
            <a:ext cx="11335327" cy="3497723"/>
          </a:xfrm>
          <a:prstGeom prst="rect">
            <a:avLst/>
          </a:prstGeom>
          <a:noFill/>
          <a:ln/>
        </p:spPr>
        <p:txBody>
          <a:bodyPr wrap="square" lIns="0" tIns="0" rIns="0" bIns="0" rtlCol="0" anchor="t"/>
          <a:lstStyle/>
          <a:p>
            <a:pPr marL="914400" indent="-571500" algn="just">
              <a:buFont typeface="Arial" panose="020B0604020202020204" pitchFamily="34" charset="0"/>
              <a:buChar char="•"/>
            </a:pPr>
            <a:r>
              <a:rPr lang="en-GB" sz="4000" dirty="0">
                <a:solidFill>
                  <a:srgbClr val="504C49"/>
                </a:solidFill>
                <a:latin typeface="Source Serif Pro" pitchFamily="34" charset="0"/>
                <a:ea typeface="Source Serif Pro" pitchFamily="34" charset="-122"/>
                <a:cs typeface="Source Serif Pro" pitchFamily="34" charset="-120"/>
              </a:rPr>
              <a:t>   To evaluate machine learning models within the Natural Language Processing (NLP) domain that achieve strong task performance while minimizing carbon emissions, contributing to sustainable AI practices.</a:t>
            </a:r>
          </a:p>
        </p:txBody>
      </p:sp>
      <p:sp>
        <p:nvSpPr>
          <p:cNvPr id="2" name="Freeform 30">
            <a:extLst>
              <a:ext uri="{FF2B5EF4-FFF2-40B4-BE49-F238E27FC236}">
                <a16:creationId xmlns:a16="http://schemas.microsoft.com/office/drawing/2014/main" id="{88503C48-1EE9-F043-E6EC-8C93C5947C96}"/>
              </a:ext>
            </a:extLst>
          </p:cNvPr>
          <p:cNvSpPr/>
          <p:nvPr/>
        </p:nvSpPr>
        <p:spPr>
          <a:xfrm>
            <a:off x="2011612" y="3183718"/>
            <a:ext cx="1607396" cy="1524000"/>
          </a:xfrm>
          <a:custGeom>
            <a:avLst/>
            <a:gdLst/>
            <a:ahLst/>
            <a:cxnLst/>
            <a:rect l="l" t="t" r="r" b="b"/>
            <a:pathLst>
              <a:path w="1026728" h="1025445">
                <a:moveTo>
                  <a:pt x="0" y="0"/>
                </a:moveTo>
                <a:lnTo>
                  <a:pt x="1026729" y="0"/>
                </a:lnTo>
                <a:lnTo>
                  <a:pt x="1026729" y="1025445"/>
                </a:lnTo>
                <a:lnTo>
                  <a:pt x="0" y="1025445"/>
                </a:lnTo>
                <a:lnTo>
                  <a:pt x="0" y="0"/>
                </a:lnTo>
                <a:close/>
              </a:path>
            </a:pathLst>
          </a:custGeom>
          <a:blipFill>
            <a:blip r:embed="rId2"/>
            <a:stretch>
              <a:fillRect/>
            </a:stretch>
          </a:blipFill>
        </p:spPr>
      </p:sp>
      <p:grpSp>
        <p:nvGrpSpPr>
          <p:cNvPr id="3" name="Group 31">
            <a:extLst>
              <a:ext uri="{FF2B5EF4-FFF2-40B4-BE49-F238E27FC236}">
                <a16:creationId xmlns:a16="http://schemas.microsoft.com/office/drawing/2014/main" id="{B98DDC0D-FD4C-3D8F-36AC-BDF256FF0573}"/>
              </a:ext>
            </a:extLst>
          </p:cNvPr>
          <p:cNvGrpSpPr/>
          <p:nvPr/>
        </p:nvGrpSpPr>
        <p:grpSpPr>
          <a:xfrm>
            <a:off x="2323608" y="3391311"/>
            <a:ext cx="1011607" cy="1011607"/>
            <a:chOff x="0" y="0"/>
            <a:chExt cx="812800" cy="812800"/>
          </a:xfrm>
        </p:grpSpPr>
        <p:sp>
          <p:nvSpPr>
            <p:cNvPr id="4" name="Freeform 32">
              <a:extLst>
                <a:ext uri="{FF2B5EF4-FFF2-40B4-BE49-F238E27FC236}">
                  <a16:creationId xmlns:a16="http://schemas.microsoft.com/office/drawing/2014/main" id="{9E463911-D104-F0F9-5A92-273051137AD8}"/>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id="5" name="TextBox 33">
              <a:extLst>
                <a:ext uri="{FF2B5EF4-FFF2-40B4-BE49-F238E27FC236}">
                  <a16:creationId xmlns:a16="http://schemas.microsoft.com/office/drawing/2014/main" id="{1A299E3A-F5DE-5C22-62AE-F1EBE025C219}"/>
                </a:ext>
              </a:extLst>
            </p:cNvPr>
            <p:cNvSpPr txBox="1"/>
            <p:nvPr/>
          </p:nvSpPr>
          <p:spPr>
            <a:xfrm>
              <a:off x="76200" y="38100"/>
              <a:ext cx="660400" cy="698500"/>
            </a:xfrm>
            <a:prstGeom prst="rect">
              <a:avLst/>
            </a:prstGeom>
          </p:spPr>
          <p:txBody>
            <a:bodyPr lIns="47086" tIns="47086" rIns="47086" bIns="47086" rtlCol="0" anchor="ctr"/>
            <a:lstStyle/>
            <a:p>
              <a:pPr algn="ctr">
                <a:lnSpc>
                  <a:spcPts val="2659"/>
                </a:lnSpc>
                <a:spcBef>
                  <a:spcPct val="0"/>
                </a:spcBef>
              </a:pPr>
              <a:endParaRPr/>
            </a:p>
          </p:txBody>
        </p:sp>
      </p:grpSp>
      <p:pic>
        <p:nvPicPr>
          <p:cNvPr id="1026" name="Picture 2" descr="Download Free Research Objective Icons in PNG &amp; SVG">
            <a:extLst>
              <a:ext uri="{FF2B5EF4-FFF2-40B4-BE49-F238E27FC236}">
                <a16:creationId xmlns:a16="http://schemas.microsoft.com/office/drawing/2014/main" id="{4A6B8893-8C1A-97D9-BF2D-91CF702CA14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38876" y="3133217"/>
            <a:ext cx="1600200" cy="16002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5791447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Click="0">
        <p159:morph option="byObject"/>
      </p:transition>
    </mc:Choice>
    <mc:Fallback xmlns="">
      <p:transition spd="slow" advClick="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5" presetClass="entr" presetSubtype="0" fill="hold" nodeType="afterEffect">
                                  <p:stCondLst>
                                    <p:cond delay="0"/>
                                  </p:stCondLst>
                                  <p:childTnLst>
                                    <p:set>
                                      <p:cBhvr>
                                        <p:cTn id="6" dur="1" fill="hold">
                                          <p:stCondLst>
                                            <p:cond delay="0"/>
                                          </p:stCondLst>
                                        </p:cTn>
                                        <p:tgtEl>
                                          <p:spTgt spid="1026"/>
                                        </p:tgtEl>
                                        <p:attrNameLst>
                                          <p:attrName>style.visibility</p:attrName>
                                        </p:attrNameLst>
                                      </p:cBhvr>
                                      <p:to>
                                        <p:strVal val="visible"/>
                                      </p:to>
                                    </p:set>
                                    <p:animEffect transition="in" filter="fade">
                                      <p:cBhvr>
                                        <p:cTn id="7" dur="2000"/>
                                        <p:tgtEl>
                                          <p:spTgt spid="1026"/>
                                        </p:tgtEl>
                                      </p:cBhvr>
                                    </p:animEffect>
                                    <p:anim calcmode="lin" valueType="num">
                                      <p:cBhvr>
                                        <p:cTn id="8" dur="2000" fill="hold"/>
                                        <p:tgtEl>
                                          <p:spTgt spid="1026"/>
                                        </p:tgtEl>
                                        <p:attrNameLst>
                                          <p:attrName>ppt_w</p:attrName>
                                        </p:attrNameLst>
                                      </p:cBhvr>
                                      <p:tavLst>
                                        <p:tav tm="0" fmla="#ppt_w*sin(2.5*pi*$)">
                                          <p:val>
                                            <p:fltVal val="0"/>
                                          </p:val>
                                        </p:tav>
                                        <p:tav tm="100000">
                                          <p:val>
                                            <p:fltVal val="1"/>
                                          </p:val>
                                        </p:tav>
                                      </p:tavLst>
                                    </p:anim>
                                    <p:anim calcmode="lin" valueType="num">
                                      <p:cBhvr>
                                        <p:cTn id="9" dur="2000" fill="hold"/>
                                        <p:tgtEl>
                                          <p:spTgt spid="1026"/>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C4844C-E7BA-D83A-E407-B50CED2E4086}"/>
            </a:ext>
          </a:extLst>
        </p:cNvPr>
        <p:cNvGrpSpPr/>
        <p:nvPr/>
      </p:nvGrpSpPr>
      <p:grpSpPr>
        <a:xfrm>
          <a:off x="0" y="0"/>
          <a:ext cx="0" cy="0"/>
          <a:chOff x="0" y="0"/>
          <a:chExt cx="0" cy="0"/>
        </a:xfrm>
      </p:grpSpPr>
      <p:sp>
        <p:nvSpPr>
          <p:cNvPr id="9" name="AutoShape 9">
            <a:extLst>
              <a:ext uri="{FF2B5EF4-FFF2-40B4-BE49-F238E27FC236}">
                <a16:creationId xmlns:a16="http://schemas.microsoft.com/office/drawing/2014/main" id="{3528154D-D666-F63C-A5E8-351C41154B95}"/>
              </a:ext>
            </a:extLst>
          </p:cNvPr>
          <p:cNvSpPr/>
          <p:nvPr/>
        </p:nvSpPr>
        <p:spPr>
          <a:xfrm flipV="1">
            <a:off x="3925252" y="1138305"/>
            <a:ext cx="2443899" cy="1215584"/>
          </a:xfrm>
          <a:prstGeom prst="line">
            <a:avLst/>
          </a:prstGeom>
          <a:ln w="28575" cap="flat">
            <a:solidFill>
              <a:srgbClr val="F8F8F8"/>
            </a:solidFill>
            <a:prstDash val="solid"/>
            <a:headEnd type="none" w="sm" len="sm"/>
            <a:tailEnd type="none" w="sm" len="sm"/>
          </a:ln>
        </p:spPr>
      </p:sp>
      <p:grpSp>
        <p:nvGrpSpPr>
          <p:cNvPr id="13" name="Group 13">
            <a:extLst>
              <a:ext uri="{FF2B5EF4-FFF2-40B4-BE49-F238E27FC236}">
                <a16:creationId xmlns:a16="http://schemas.microsoft.com/office/drawing/2014/main" id="{97D859AC-D14C-8555-C71A-ABFA8D2D4DAB}"/>
              </a:ext>
            </a:extLst>
          </p:cNvPr>
          <p:cNvGrpSpPr/>
          <p:nvPr/>
        </p:nvGrpSpPr>
        <p:grpSpPr>
          <a:xfrm>
            <a:off x="57409" y="1790335"/>
            <a:ext cx="5710361" cy="5867765"/>
            <a:chOff x="0" y="0"/>
            <a:chExt cx="812800" cy="812800"/>
          </a:xfrm>
        </p:grpSpPr>
        <p:sp>
          <p:nvSpPr>
            <p:cNvPr id="14" name="Freeform 14">
              <a:extLst>
                <a:ext uri="{FF2B5EF4-FFF2-40B4-BE49-F238E27FC236}">
                  <a16:creationId xmlns:a16="http://schemas.microsoft.com/office/drawing/2014/main" id="{D4C0F02E-4663-185D-E405-6C391D6D29A7}"/>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8F8F8"/>
            </a:solidFill>
          </p:spPr>
        </p:sp>
        <p:sp>
          <p:nvSpPr>
            <p:cNvPr id="15" name="TextBox 15">
              <a:extLst>
                <a:ext uri="{FF2B5EF4-FFF2-40B4-BE49-F238E27FC236}">
                  <a16:creationId xmlns:a16="http://schemas.microsoft.com/office/drawing/2014/main" id="{447AFBFE-2385-CF40-9353-FF5A529D21E4}"/>
                </a:ext>
              </a:extLst>
            </p:cNvPr>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16" name="Freeform 16">
            <a:extLst>
              <a:ext uri="{FF2B5EF4-FFF2-40B4-BE49-F238E27FC236}">
                <a16:creationId xmlns:a16="http://schemas.microsoft.com/office/drawing/2014/main" id="{EB4065CF-AEC5-5851-9ED0-C41317B1E145}"/>
              </a:ext>
            </a:extLst>
          </p:cNvPr>
          <p:cNvSpPr/>
          <p:nvPr/>
        </p:nvSpPr>
        <p:spPr>
          <a:xfrm>
            <a:off x="170873" y="1960428"/>
            <a:ext cx="5596898" cy="5545272"/>
          </a:xfrm>
          <a:custGeom>
            <a:avLst/>
            <a:gdLst/>
            <a:ahLst/>
            <a:cxnLst/>
            <a:rect l="l" t="t" r="r" b="b"/>
            <a:pathLst>
              <a:path w="5862965" h="5855636">
                <a:moveTo>
                  <a:pt x="0" y="0"/>
                </a:moveTo>
                <a:lnTo>
                  <a:pt x="5862964" y="0"/>
                </a:lnTo>
                <a:lnTo>
                  <a:pt x="5862964" y="5855636"/>
                </a:lnTo>
                <a:lnTo>
                  <a:pt x="0" y="5855636"/>
                </a:lnTo>
                <a:lnTo>
                  <a:pt x="0" y="0"/>
                </a:lnTo>
                <a:close/>
              </a:path>
            </a:pathLst>
          </a:custGeom>
          <a:blipFill>
            <a:blip r:embed="rId2"/>
            <a:stretch>
              <a:fillRect/>
            </a:stretch>
          </a:blipFill>
        </p:spPr>
      </p:sp>
      <p:grpSp>
        <p:nvGrpSpPr>
          <p:cNvPr id="17" name="Group 17">
            <a:extLst>
              <a:ext uri="{FF2B5EF4-FFF2-40B4-BE49-F238E27FC236}">
                <a16:creationId xmlns:a16="http://schemas.microsoft.com/office/drawing/2014/main" id="{6D2C5592-2284-219A-E0FA-54A44BB4602E}"/>
              </a:ext>
            </a:extLst>
          </p:cNvPr>
          <p:cNvGrpSpPr/>
          <p:nvPr/>
        </p:nvGrpSpPr>
        <p:grpSpPr>
          <a:xfrm>
            <a:off x="548587" y="2358550"/>
            <a:ext cx="4656530" cy="4714910"/>
            <a:chOff x="0" y="0"/>
            <a:chExt cx="812800" cy="812800"/>
          </a:xfrm>
        </p:grpSpPr>
        <p:sp>
          <p:nvSpPr>
            <p:cNvPr id="18" name="Freeform 18">
              <a:extLst>
                <a:ext uri="{FF2B5EF4-FFF2-40B4-BE49-F238E27FC236}">
                  <a16:creationId xmlns:a16="http://schemas.microsoft.com/office/drawing/2014/main" id="{5376D08E-E5ED-12D4-B9C3-948E556D02FB}"/>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id="19" name="TextBox 19">
              <a:extLst>
                <a:ext uri="{FF2B5EF4-FFF2-40B4-BE49-F238E27FC236}">
                  <a16:creationId xmlns:a16="http://schemas.microsoft.com/office/drawing/2014/main" id="{9FAB8C5B-5BC3-531D-0A23-CC17617C834B}"/>
                </a:ext>
              </a:extLst>
            </p:cNvPr>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26" name="TextBox 26">
            <a:extLst>
              <a:ext uri="{FF2B5EF4-FFF2-40B4-BE49-F238E27FC236}">
                <a16:creationId xmlns:a16="http://schemas.microsoft.com/office/drawing/2014/main" id="{62A534EB-EB72-3B97-254A-943BA2BAEAA8}"/>
              </a:ext>
            </a:extLst>
          </p:cNvPr>
          <p:cNvSpPr txBox="1"/>
          <p:nvPr/>
        </p:nvSpPr>
        <p:spPr>
          <a:xfrm>
            <a:off x="1301571" y="4306478"/>
            <a:ext cx="3118027" cy="1477328"/>
          </a:xfrm>
          <a:prstGeom prst="rect">
            <a:avLst/>
          </a:prstGeom>
        </p:spPr>
        <p:txBody>
          <a:bodyPr wrap="square" lIns="0" tIns="0" rIns="0" bIns="0" rtlCol="0" anchor="t">
            <a:spAutoFit/>
          </a:bodyPr>
          <a:lstStyle/>
          <a:p>
            <a:pPr algn="ctr"/>
            <a:r>
              <a:rPr lang="en-US" sz="4800" b="1" dirty="0">
                <a:solidFill>
                  <a:srgbClr val="7068F4"/>
                </a:solidFill>
                <a:latin typeface="Barlow Bold" pitchFamily="34" charset="0"/>
                <a:ea typeface="Barlow Bold" pitchFamily="34" charset="-122"/>
                <a:cs typeface="Barlow Bold" pitchFamily="34" charset="-120"/>
              </a:rPr>
              <a:t>Research Objectives</a:t>
            </a:r>
          </a:p>
        </p:txBody>
      </p:sp>
      <p:grpSp>
        <p:nvGrpSpPr>
          <p:cNvPr id="27" name="Group 27">
            <a:extLst>
              <a:ext uri="{FF2B5EF4-FFF2-40B4-BE49-F238E27FC236}">
                <a16:creationId xmlns:a16="http://schemas.microsoft.com/office/drawing/2014/main" id="{77F3FAF5-E551-34B1-E34B-5480CCBB2C25}"/>
              </a:ext>
            </a:extLst>
          </p:cNvPr>
          <p:cNvGrpSpPr/>
          <p:nvPr/>
        </p:nvGrpSpPr>
        <p:grpSpPr>
          <a:xfrm>
            <a:off x="5562600" y="0"/>
            <a:ext cx="13106400" cy="3695700"/>
            <a:chOff x="0" y="0"/>
            <a:chExt cx="1013318" cy="260488"/>
          </a:xfrm>
        </p:grpSpPr>
        <p:sp>
          <p:nvSpPr>
            <p:cNvPr id="28" name="Freeform 28">
              <a:extLst>
                <a:ext uri="{FF2B5EF4-FFF2-40B4-BE49-F238E27FC236}">
                  <a16:creationId xmlns:a16="http://schemas.microsoft.com/office/drawing/2014/main" id="{1058EA99-2A26-8938-918D-755C4620615C}"/>
                </a:ext>
              </a:extLst>
            </p:cNvPr>
            <p:cNvSpPr/>
            <p:nvPr/>
          </p:nvSpPr>
          <p:spPr>
            <a:xfrm>
              <a:off x="0" y="0"/>
              <a:ext cx="1013318" cy="260488"/>
            </a:xfrm>
            <a:custGeom>
              <a:avLst/>
              <a:gdLst/>
              <a:ahLst/>
              <a:cxnLst/>
              <a:rect l="l" t="t" r="r" b="b"/>
              <a:pathLst>
                <a:path w="1013318" h="260488">
                  <a:moveTo>
                    <a:pt x="130244" y="0"/>
                  </a:moveTo>
                  <a:lnTo>
                    <a:pt x="883074" y="0"/>
                  </a:lnTo>
                  <a:cubicBezTo>
                    <a:pt x="917617" y="0"/>
                    <a:pt x="950745" y="13722"/>
                    <a:pt x="975171" y="38148"/>
                  </a:cubicBezTo>
                  <a:cubicBezTo>
                    <a:pt x="999596" y="62573"/>
                    <a:pt x="1013318" y="95701"/>
                    <a:pt x="1013318" y="130244"/>
                  </a:cubicBezTo>
                  <a:lnTo>
                    <a:pt x="1013318" y="130244"/>
                  </a:lnTo>
                  <a:cubicBezTo>
                    <a:pt x="1013318" y="202175"/>
                    <a:pt x="955006" y="260488"/>
                    <a:pt x="883074" y="260488"/>
                  </a:cubicBezTo>
                  <a:lnTo>
                    <a:pt x="130244" y="260488"/>
                  </a:lnTo>
                  <a:cubicBezTo>
                    <a:pt x="95701" y="260488"/>
                    <a:pt x="62573" y="246766"/>
                    <a:pt x="38148" y="222340"/>
                  </a:cubicBezTo>
                  <a:cubicBezTo>
                    <a:pt x="13722" y="197915"/>
                    <a:pt x="0" y="164787"/>
                    <a:pt x="0" y="130244"/>
                  </a:cubicBezTo>
                  <a:lnTo>
                    <a:pt x="0" y="130244"/>
                  </a:lnTo>
                  <a:cubicBezTo>
                    <a:pt x="0" y="95701"/>
                    <a:pt x="13722" y="62573"/>
                    <a:pt x="38148" y="38148"/>
                  </a:cubicBezTo>
                  <a:cubicBezTo>
                    <a:pt x="62573" y="13722"/>
                    <a:pt x="95701" y="0"/>
                    <a:pt x="130244" y="0"/>
                  </a:cubicBezTo>
                  <a:close/>
                </a:path>
              </a:pathLst>
            </a:custGeom>
            <a:solidFill>
              <a:srgbClr val="F8F8F8"/>
            </a:solidFill>
          </p:spPr>
        </p:sp>
        <p:sp>
          <p:nvSpPr>
            <p:cNvPr id="29" name="TextBox 29">
              <a:extLst>
                <a:ext uri="{FF2B5EF4-FFF2-40B4-BE49-F238E27FC236}">
                  <a16:creationId xmlns:a16="http://schemas.microsoft.com/office/drawing/2014/main" id="{F08AC648-69F5-917E-9137-98D0BFFB0B80}"/>
                </a:ext>
              </a:extLst>
            </p:cNvPr>
            <p:cNvSpPr txBox="1"/>
            <p:nvPr/>
          </p:nvSpPr>
          <p:spPr>
            <a:xfrm>
              <a:off x="0" y="-38100"/>
              <a:ext cx="1013318" cy="298588"/>
            </a:xfrm>
            <a:prstGeom prst="rect">
              <a:avLst/>
            </a:prstGeom>
          </p:spPr>
          <p:txBody>
            <a:bodyPr lIns="47086" tIns="47086" rIns="47086" bIns="47086" rtlCol="0" anchor="ctr"/>
            <a:lstStyle/>
            <a:p>
              <a:pPr algn="ctr">
                <a:lnSpc>
                  <a:spcPts val="2659"/>
                </a:lnSpc>
              </a:pPr>
              <a:endParaRPr/>
            </a:p>
          </p:txBody>
        </p:sp>
      </p:grpSp>
      <p:sp>
        <p:nvSpPr>
          <p:cNvPr id="30" name="Freeform 30">
            <a:extLst>
              <a:ext uri="{FF2B5EF4-FFF2-40B4-BE49-F238E27FC236}">
                <a16:creationId xmlns:a16="http://schemas.microsoft.com/office/drawing/2014/main" id="{BBA786E7-0905-8EB4-9814-17F5CDC6AB42}"/>
              </a:ext>
            </a:extLst>
          </p:cNvPr>
          <p:cNvSpPr/>
          <p:nvPr/>
        </p:nvSpPr>
        <p:spPr>
          <a:xfrm>
            <a:off x="5936404" y="190500"/>
            <a:ext cx="1607396" cy="1524000"/>
          </a:xfrm>
          <a:custGeom>
            <a:avLst/>
            <a:gdLst/>
            <a:ahLst/>
            <a:cxnLst/>
            <a:rect l="l" t="t" r="r" b="b"/>
            <a:pathLst>
              <a:path w="1026728" h="1025445">
                <a:moveTo>
                  <a:pt x="0" y="0"/>
                </a:moveTo>
                <a:lnTo>
                  <a:pt x="1026729" y="0"/>
                </a:lnTo>
                <a:lnTo>
                  <a:pt x="1026729" y="1025445"/>
                </a:lnTo>
                <a:lnTo>
                  <a:pt x="0" y="1025445"/>
                </a:lnTo>
                <a:lnTo>
                  <a:pt x="0" y="0"/>
                </a:lnTo>
                <a:close/>
              </a:path>
            </a:pathLst>
          </a:custGeom>
          <a:blipFill>
            <a:blip r:embed="rId2"/>
            <a:stretch>
              <a:fillRect/>
            </a:stretch>
          </a:blipFill>
        </p:spPr>
      </p:sp>
      <p:grpSp>
        <p:nvGrpSpPr>
          <p:cNvPr id="31" name="Group 31">
            <a:extLst>
              <a:ext uri="{FF2B5EF4-FFF2-40B4-BE49-F238E27FC236}">
                <a16:creationId xmlns:a16="http://schemas.microsoft.com/office/drawing/2014/main" id="{9A6A95C7-16CF-24DF-800A-94AEC9EEB48E}"/>
              </a:ext>
            </a:extLst>
          </p:cNvPr>
          <p:cNvGrpSpPr/>
          <p:nvPr/>
        </p:nvGrpSpPr>
        <p:grpSpPr>
          <a:xfrm>
            <a:off x="6248400" y="398093"/>
            <a:ext cx="1011607" cy="1011607"/>
            <a:chOff x="0" y="0"/>
            <a:chExt cx="812800" cy="812800"/>
          </a:xfrm>
        </p:grpSpPr>
        <p:sp>
          <p:nvSpPr>
            <p:cNvPr id="32" name="Freeform 32">
              <a:extLst>
                <a:ext uri="{FF2B5EF4-FFF2-40B4-BE49-F238E27FC236}">
                  <a16:creationId xmlns:a16="http://schemas.microsoft.com/office/drawing/2014/main" id="{13B5D67A-5C0F-94E2-D993-6983B98AF65E}"/>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id="33" name="TextBox 33">
              <a:extLst>
                <a:ext uri="{FF2B5EF4-FFF2-40B4-BE49-F238E27FC236}">
                  <a16:creationId xmlns:a16="http://schemas.microsoft.com/office/drawing/2014/main" id="{A0C14A84-A829-BE7F-81DE-9E375436C5A6}"/>
                </a:ext>
              </a:extLst>
            </p:cNvPr>
            <p:cNvSpPr txBox="1"/>
            <p:nvPr/>
          </p:nvSpPr>
          <p:spPr>
            <a:xfrm>
              <a:off x="76200" y="38100"/>
              <a:ext cx="660400" cy="698500"/>
            </a:xfrm>
            <a:prstGeom prst="rect">
              <a:avLst/>
            </a:prstGeom>
          </p:spPr>
          <p:txBody>
            <a:bodyPr lIns="47086" tIns="47086" rIns="47086" bIns="47086" rtlCol="0" anchor="ctr"/>
            <a:lstStyle/>
            <a:p>
              <a:pPr algn="ctr">
                <a:lnSpc>
                  <a:spcPts val="2659"/>
                </a:lnSpc>
                <a:spcBef>
                  <a:spcPct val="0"/>
                </a:spcBef>
              </a:pPr>
              <a:endParaRPr/>
            </a:p>
          </p:txBody>
        </p:sp>
      </p:grpSp>
      <p:grpSp>
        <p:nvGrpSpPr>
          <p:cNvPr id="34" name="Group 34">
            <a:extLst>
              <a:ext uri="{FF2B5EF4-FFF2-40B4-BE49-F238E27FC236}">
                <a16:creationId xmlns:a16="http://schemas.microsoft.com/office/drawing/2014/main" id="{AC114C16-FBE7-EF17-19FB-D90C163E44DF}"/>
              </a:ext>
            </a:extLst>
          </p:cNvPr>
          <p:cNvGrpSpPr/>
          <p:nvPr/>
        </p:nvGrpSpPr>
        <p:grpSpPr>
          <a:xfrm>
            <a:off x="6792058" y="734158"/>
            <a:ext cx="218342" cy="218342"/>
            <a:chOff x="0" y="0"/>
            <a:chExt cx="812800" cy="812800"/>
          </a:xfrm>
        </p:grpSpPr>
        <p:sp>
          <p:nvSpPr>
            <p:cNvPr id="35" name="Freeform 35">
              <a:extLst>
                <a:ext uri="{FF2B5EF4-FFF2-40B4-BE49-F238E27FC236}">
                  <a16:creationId xmlns:a16="http://schemas.microsoft.com/office/drawing/2014/main" id="{2A080D32-1127-431E-EF8C-23BC61F934DD}"/>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A6AD6"/>
            </a:solidFill>
          </p:spPr>
        </p:sp>
        <p:sp>
          <p:nvSpPr>
            <p:cNvPr id="36" name="TextBox 36">
              <a:extLst>
                <a:ext uri="{FF2B5EF4-FFF2-40B4-BE49-F238E27FC236}">
                  <a16:creationId xmlns:a16="http://schemas.microsoft.com/office/drawing/2014/main" id="{52129D12-2347-4AFD-B0BE-E5DD2AC8AE3C}"/>
                </a:ext>
              </a:extLst>
            </p:cNvPr>
            <p:cNvSpPr txBox="1"/>
            <p:nvPr/>
          </p:nvSpPr>
          <p:spPr>
            <a:xfrm>
              <a:off x="76202" y="38101"/>
              <a:ext cx="660400" cy="698501"/>
            </a:xfrm>
            <a:prstGeom prst="rect">
              <a:avLst/>
            </a:prstGeom>
          </p:spPr>
          <p:txBody>
            <a:bodyPr lIns="47086" tIns="47086" rIns="47086" bIns="47086" rtlCol="0" anchor="ctr"/>
            <a:lstStyle/>
            <a:p>
              <a:pPr algn="ctr">
                <a:lnSpc>
                  <a:spcPts val="2659"/>
                </a:lnSpc>
                <a:spcBef>
                  <a:spcPct val="0"/>
                </a:spcBef>
              </a:pPr>
              <a:endParaRPr dirty="0"/>
            </a:p>
          </p:txBody>
        </p:sp>
      </p:grpSp>
      <p:grpSp>
        <p:nvGrpSpPr>
          <p:cNvPr id="75" name="Group 75">
            <a:extLst>
              <a:ext uri="{FF2B5EF4-FFF2-40B4-BE49-F238E27FC236}">
                <a16:creationId xmlns:a16="http://schemas.microsoft.com/office/drawing/2014/main" id="{B944B32A-2F99-E086-41E7-8BCB3ACDC182}"/>
              </a:ext>
            </a:extLst>
          </p:cNvPr>
          <p:cNvGrpSpPr/>
          <p:nvPr/>
        </p:nvGrpSpPr>
        <p:grpSpPr>
          <a:xfrm>
            <a:off x="17491799" y="8420924"/>
            <a:ext cx="951769" cy="837377"/>
            <a:chOff x="0" y="-38100"/>
            <a:chExt cx="967140" cy="850900"/>
          </a:xfrm>
        </p:grpSpPr>
        <p:sp>
          <p:nvSpPr>
            <p:cNvPr id="76" name="Freeform 76">
              <a:extLst>
                <a:ext uri="{FF2B5EF4-FFF2-40B4-BE49-F238E27FC236}">
                  <a16:creationId xmlns:a16="http://schemas.microsoft.com/office/drawing/2014/main" id="{4F029FF3-CD2A-4729-E7A8-BFF3E46D2642}"/>
                </a:ext>
              </a:extLst>
            </p:cNvPr>
            <p:cNvSpPr/>
            <p:nvPr/>
          </p:nvSpPr>
          <p:spPr>
            <a:xfrm>
              <a:off x="0" y="0"/>
              <a:ext cx="967140" cy="812800"/>
            </a:xfrm>
            <a:custGeom>
              <a:avLst/>
              <a:gdLst/>
              <a:ahLst/>
              <a:cxnLst/>
              <a:rect l="l" t="t" r="r" b="b"/>
              <a:pathLst>
                <a:path w="967140" h="812800">
                  <a:moveTo>
                    <a:pt x="81342" y="0"/>
                  </a:moveTo>
                  <a:lnTo>
                    <a:pt x="885798" y="0"/>
                  </a:lnTo>
                  <a:cubicBezTo>
                    <a:pt x="907371" y="0"/>
                    <a:pt x="928061" y="8570"/>
                    <a:pt x="943315" y="23825"/>
                  </a:cubicBezTo>
                  <a:cubicBezTo>
                    <a:pt x="958570" y="39079"/>
                    <a:pt x="967140" y="59769"/>
                    <a:pt x="967140" y="81342"/>
                  </a:cubicBezTo>
                  <a:lnTo>
                    <a:pt x="967140" y="731458"/>
                  </a:lnTo>
                  <a:cubicBezTo>
                    <a:pt x="967140" y="776382"/>
                    <a:pt x="930722" y="812800"/>
                    <a:pt x="885798" y="812800"/>
                  </a:cubicBezTo>
                  <a:lnTo>
                    <a:pt x="81342" y="812800"/>
                  </a:lnTo>
                  <a:cubicBezTo>
                    <a:pt x="59769" y="812800"/>
                    <a:pt x="39079" y="804230"/>
                    <a:pt x="23825" y="788975"/>
                  </a:cubicBezTo>
                  <a:cubicBezTo>
                    <a:pt x="8570" y="773721"/>
                    <a:pt x="0" y="753031"/>
                    <a:pt x="0" y="731458"/>
                  </a:cubicBezTo>
                  <a:lnTo>
                    <a:pt x="0" y="81342"/>
                  </a:lnTo>
                  <a:cubicBezTo>
                    <a:pt x="0" y="59769"/>
                    <a:pt x="8570" y="39079"/>
                    <a:pt x="23825" y="23825"/>
                  </a:cubicBezTo>
                  <a:cubicBezTo>
                    <a:pt x="39079" y="8570"/>
                    <a:pt x="59769" y="0"/>
                    <a:pt x="81342" y="0"/>
                  </a:cubicBezTo>
                  <a:close/>
                </a:path>
              </a:pathLst>
            </a:custGeom>
            <a:solidFill>
              <a:srgbClr val="3A6AD6"/>
            </a:solidFill>
          </p:spPr>
        </p:sp>
        <p:sp>
          <p:nvSpPr>
            <p:cNvPr id="77" name="TextBox 77">
              <a:extLst>
                <a:ext uri="{FF2B5EF4-FFF2-40B4-BE49-F238E27FC236}">
                  <a16:creationId xmlns:a16="http://schemas.microsoft.com/office/drawing/2014/main" id="{62078576-4267-639B-6950-48C20E3D7A38}"/>
                </a:ext>
              </a:extLst>
            </p:cNvPr>
            <p:cNvSpPr txBox="1"/>
            <p:nvPr/>
          </p:nvSpPr>
          <p:spPr>
            <a:xfrm>
              <a:off x="0" y="-38100"/>
              <a:ext cx="967140" cy="850900"/>
            </a:xfrm>
            <a:prstGeom prst="rect">
              <a:avLst/>
            </a:prstGeom>
          </p:spPr>
          <p:txBody>
            <a:bodyPr lIns="50800" tIns="50800" rIns="50800" bIns="50800" rtlCol="0" anchor="ctr"/>
            <a:lstStyle/>
            <a:p>
              <a:pPr algn="ctr">
                <a:lnSpc>
                  <a:spcPts val="2659"/>
                </a:lnSpc>
              </a:pPr>
              <a:endParaRPr/>
            </a:p>
          </p:txBody>
        </p:sp>
      </p:grpSp>
      <p:sp>
        <p:nvSpPr>
          <p:cNvPr id="78" name="TextBox 78">
            <a:extLst>
              <a:ext uri="{FF2B5EF4-FFF2-40B4-BE49-F238E27FC236}">
                <a16:creationId xmlns:a16="http://schemas.microsoft.com/office/drawing/2014/main" id="{108F9000-B734-2211-374D-721FE61592EC}"/>
              </a:ext>
            </a:extLst>
          </p:cNvPr>
          <p:cNvSpPr txBox="1"/>
          <p:nvPr/>
        </p:nvSpPr>
        <p:spPr>
          <a:xfrm>
            <a:off x="17674380" y="8710688"/>
            <a:ext cx="442747" cy="257943"/>
          </a:xfrm>
          <a:prstGeom prst="rect">
            <a:avLst/>
          </a:prstGeom>
        </p:spPr>
        <p:txBody>
          <a:bodyPr lIns="0" tIns="0" rIns="0" bIns="0" rtlCol="0" anchor="t">
            <a:spAutoFit/>
          </a:bodyPr>
          <a:lstStyle/>
          <a:p>
            <a:pPr algn="ctr">
              <a:lnSpc>
                <a:spcPts val="2057"/>
              </a:lnSpc>
              <a:spcBef>
                <a:spcPct val="0"/>
              </a:spcBef>
            </a:pPr>
            <a:r>
              <a:rPr lang="en-US" sz="1469" b="1" dirty="0">
                <a:solidFill>
                  <a:srgbClr val="FFFFFF"/>
                </a:solidFill>
                <a:latin typeface="Poppins Bold"/>
                <a:ea typeface="Poppins Bold"/>
                <a:cs typeface="Poppins Bold"/>
                <a:sym typeface="Poppins Bold"/>
              </a:rPr>
              <a:t>07</a:t>
            </a:r>
          </a:p>
        </p:txBody>
      </p:sp>
      <p:sp>
        <p:nvSpPr>
          <p:cNvPr id="83" name="Text 2">
            <a:extLst>
              <a:ext uri="{FF2B5EF4-FFF2-40B4-BE49-F238E27FC236}">
                <a16:creationId xmlns:a16="http://schemas.microsoft.com/office/drawing/2014/main" id="{66AC8EDC-5D1D-16E3-7E33-881603A73876}"/>
              </a:ext>
            </a:extLst>
          </p:cNvPr>
          <p:cNvSpPr/>
          <p:nvPr/>
        </p:nvSpPr>
        <p:spPr>
          <a:xfrm>
            <a:off x="6463989" y="571500"/>
            <a:ext cx="11251131" cy="2829635"/>
          </a:xfrm>
          <a:prstGeom prst="rect">
            <a:avLst/>
          </a:prstGeom>
          <a:noFill/>
          <a:ln/>
        </p:spPr>
        <p:txBody>
          <a:bodyPr wrap="square" lIns="0" tIns="0" rIns="0" bIns="0" rtlCol="0" anchor="t"/>
          <a:lstStyle/>
          <a:p>
            <a:pPr marL="914400" indent="-571500" algn="just">
              <a:buFont typeface="Arial" panose="020B0604020202020204" pitchFamily="34" charset="0"/>
              <a:buChar char="•"/>
            </a:pPr>
            <a:r>
              <a:rPr lang="en-GB" sz="4000" dirty="0">
                <a:solidFill>
                  <a:srgbClr val="504C49"/>
                </a:solidFill>
                <a:latin typeface="Source Serif Pro" pitchFamily="34" charset="0"/>
                <a:ea typeface="Source Serif Pro" pitchFamily="34" charset="-122"/>
                <a:cs typeface="Source Serif Pro" pitchFamily="34" charset="-120"/>
              </a:rPr>
              <a:t>To </a:t>
            </a:r>
            <a:r>
              <a:rPr lang="en-GB" sz="4000" dirty="0" err="1">
                <a:solidFill>
                  <a:srgbClr val="504C49"/>
                </a:solidFill>
                <a:latin typeface="Source Serif Pro" pitchFamily="34" charset="0"/>
                <a:ea typeface="Source Serif Pro" pitchFamily="34" charset="-122"/>
                <a:cs typeface="Source Serif Pro" pitchFamily="34" charset="-120"/>
              </a:rPr>
              <a:t>analyze</a:t>
            </a:r>
            <a:r>
              <a:rPr lang="en-GB" sz="4000" dirty="0">
                <a:solidFill>
                  <a:srgbClr val="504C49"/>
                </a:solidFill>
                <a:latin typeface="Source Serif Pro" pitchFamily="34" charset="0"/>
                <a:ea typeface="Source Serif Pro" pitchFamily="34" charset="-122"/>
                <a:cs typeface="Source Serif Pro" pitchFamily="34" charset="-120"/>
              </a:rPr>
              <a:t> the energy consumption and estimated CO2 emissions of standard NLP models on text classification tasks, using publicly available datasets and an energy tracking tool.</a:t>
            </a:r>
          </a:p>
        </p:txBody>
      </p:sp>
      <p:pic>
        <p:nvPicPr>
          <p:cNvPr id="2050" name="Picture 2" descr="Download Free Objectives Icons in PNG &amp; SVG">
            <a:extLst>
              <a:ext uri="{FF2B5EF4-FFF2-40B4-BE49-F238E27FC236}">
                <a16:creationId xmlns:a16="http://schemas.microsoft.com/office/drawing/2014/main" id="{70BC416D-79DA-7218-784E-EC47639117B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06977" y="2913572"/>
            <a:ext cx="1524000" cy="1524000"/>
          </a:xfrm>
          <a:prstGeom prst="rect">
            <a:avLst/>
          </a:prstGeom>
          <a:noFill/>
          <a:extLst>
            <a:ext uri="{909E8E84-426E-40DD-AFC4-6F175D3DCCD1}">
              <a14:hiddenFill xmlns:a14="http://schemas.microsoft.com/office/drawing/2010/main">
                <a:solidFill>
                  <a:srgbClr val="FFFFFF"/>
                </a:solidFill>
              </a14:hiddenFill>
            </a:ext>
          </a:extLst>
        </p:spPr>
      </p:pic>
      <p:sp>
        <p:nvSpPr>
          <p:cNvPr id="2" name="AutoShape 9">
            <a:extLst>
              <a:ext uri="{FF2B5EF4-FFF2-40B4-BE49-F238E27FC236}">
                <a16:creationId xmlns:a16="http://schemas.microsoft.com/office/drawing/2014/main" id="{02079EC8-3528-1D12-EF56-63666B0639A7}"/>
              </a:ext>
            </a:extLst>
          </p:cNvPr>
          <p:cNvSpPr/>
          <p:nvPr/>
        </p:nvSpPr>
        <p:spPr>
          <a:xfrm>
            <a:off x="4701181" y="5977040"/>
            <a:ext cx="1488471" cy="2079182"/>
          </a:xfrm>
          <a:prstGeom prst="line">
            <a:avLst/>
          </a:prstGeom>
          <a:ln w="28575" cap="flat">
            <a:solidFill>
              <a:srgbClr val="F8F8F8"/>
            </a:solidFill>
            <a:prstDash val="solid"/>
            <a:headEnd type="none" w="sm" len="sm"/>
            <a:tailEnd type="none" w="sm" len="sm"/>
          </a:ln>
        </p:spPr>
      </p:sp>
      <p:grpSp>
        <p:nvGrpSpPr>
          <p:cNvPr id="3" name="Group 27">
            <a:extLst>
              <a:ext uri="{FF2B5EF4-FFF2-40B4-BE49-F238E27FC236}">
                <a16:creationId xmlns:a16="http://schemas.microsoft.com/office/drawing/2014/main" id="{3AD64651-F7E1-3440-9490-ACE40C2D313E}"/>
              </a:ext>
            </a:extLst>
          </p:cNvPr>
          <p:cNvGrpSpPr/>
          <p:nvPr/>
        </p:nvGrpSpPr>
        <p:grpSpPr>
          <a:xfrm>
            <a:off x="5562600" y="4229100"/>
            <a:ext cx="13106400" cy="4481588"/>
            <a:chOff x="0" y="0"/>
            <a:chExt cx="1013318" cy="260488"/>
          </a:xfrm>
        </p:grpSpPr>
        <p:sp>
          <p:nvSpPr>
            <p:cNvPr id="4" name="Freeform 28">
              <a:extLst>
                <a:ext uri="{FF2B5EF4-FFF2-40B4-BE49-F238E27FC236}">
                  <a16:creationId xmlns:a16="http://schemas.microsoft.com/office/drawing/2014/main" id="{840217B0-AEEA-8B0B-8DBC-EA69A3D95A6B}"/>
                </a:ext>
              </a:extLst>
            </p:cNvPr>
            <p:cNvSpPr/>
            <p:nvPr/>
          </p:nvSpPr>
          <p:spPr>
            <a:xfrm>
              <a:off x="0" y="0"/>
              <a:ext cx="1013318" cy="260488"/>
            </a:xfrm>
            <a:custGeom>
              <a:avLst/>
              <a:gdLst/>
              <a:ahLst/>
              <a:cxnLst/>
              <a:rect l="l" t="t" r="r" b="b"/>
              <a:pathLst>
                <a:path w="1013318" h="260488">
                  <a:moveTo>
                    <a:pt x="130244" y="0"/>
                  </a:moveTo>
                  <a:lnTo>
                    <a:pt x="883074" y="0"/>
                  </a:lnTo>
                  <a:cubicBezTo>
                    <a:pt x="917617" y="0"/>
                    <a:pt x="950745" y="13722"/>
                    <a:pt x="975171" y="38148"/>
                  </a:cubicBezTo>
                  <a:cubicBezTo>
                    <a:pt x="999596" y="62573"/>
                    <a:pt x="1013318" y="95701"/>
                    <a:pt x="1013318" y="130244"/>
                  </a:cubicBezTo>
                  <a:lnTo>
                    <a:pt x="1013318" y="130244"/>
                  </a:lnTo>
                  <a:cubicBezTo>
                    <a:pt x="1013318" y="202175"/>
                    <a:pt x="955006" y="260488"/>
                    <a:pt x="883074" y="260488"/>
                  </a:cubicBezTo>
                  <a:lnTo>
                    <a:pt x="130244" y="260488"/>
                  </a:lnTo>
                  <a:cubicBezTo>
                    <a:pt x="95701" y="260488"/>
                    <a:pt x="62573" y="246766"/>
                    <a:pt x="38148" y="222340"/>
                  </a:cubicBezTo>
                  <a:cubicBezTo>
                    <a:pt x="13722" y="197915"/>
                    <a:pt x="0" y="164787"/>
                    <a:pt x="0" y="130244"/>
                  </a:cubicBezTo>
                  <a:lnTo>
                    <a:pt x="0" y="130244"/>
                  </a:lnTo>
                  <a:cubicBezTo>
                    <a:pt x="0" y="95701"/>
                    <a:pt x="13722" y="62573"/>
                    <a:pt x="38148" y="38148"/>
                  </a:cubicBezTo>
                  <a:cubicBezTo>
                    <a:pt x="62573" y="13722"/>
                    <a:pt x="95701" y="0"/>
                    <a:pt x="130244" y="0"/>
                  </a:cubicBezTo>
                  <a:close/>
                </a:path>
              </a:pathLst>
            </a:custGeom>
            <a:solidFill>
              <a:srgbClr val="F8F8F8"/>
            </a:solidFill>
          </p:spPr>
        </p:sp>
        <p:sp>
          <p:nvSpPr>
            <p:cNvPr id="5" name="TextBox 29">
              <a:extLst>
                <a:ext uri="{FF2B5EF4-FFF2-40B4-BE49-F238E27FC236}">
                  <a16:creationId xmlns:a16="http://schemas.microsoft.com/office/drawing/2014/main" id="{75CF092B-E1C5-313C-0ECE-C33A29A54ED5}"/>
                </a:ext>
              </a:extLst>
            </p:cNvPr>
            <p:cNvSpPr txBox="1"/>
            <p:nvPr/>
          </p:nvSpPr>
          <p:spPr>
            <a:xfrm>
              <a:off x="0" y="-38100"/>
              <a:ext cx="1013318" cy="298588"/>
            </a:xfrm>
            <a:prstGeom prst="rect">
              <a:avLst/>
            </a:prstGeom>
          </p:spPr>
          <p:txBody>
            <a:bodyPr lIns="47086" tIns="47086" rIns="47086" bIns="47086" rtlCol="0" anchor="ctr"/>
            <a:lstStyle/>
            <a:p>
              <a:pPr algn="ctr">
                <a:lnSpc>
                  <a:spcPts val="2659"/>
                </a:lnSpc>
              </a:pPr>
              <a:endParaRPr/>
            </a:p>
          </p:txBody>
        </p:sp>
      </p:grpSp>
      <p:sp>
        <p:nvSpPr>
          <p:cNvPr id="6" name="Freeform 30">
            <a:extLst>
              <a:ext uri="{FF2B5EF4-FFF2-40B4-BE49-F238E27FC236}">
                <a16:creationId xmlns:a16="http://schemas.microsoft.com/office/drawing/2014/main" id="{AA7D7CDC-746F-6159-C2EE-6F30298133D8}"/>
              </a:ext>
            </a:extLst>
          </p:cNvPr>
          <p:cNvSpPr/>
          <p:nvPr/>
        </p:nvSpPr>
        <p:spPr>
          <a:xfrm>
            <a:off x="5936404" y="4419600"/>
            <a:ext cx="1607396" cy="1524000"/>
          </a:xfrm>
          <a:custGeom>
            <a:avLst/>
            <a:gdLst/>
            <a:ahLst/>
            <a:cxnLst/>
            <a:rect l="l" t="t" r="r" b="b"/>
            <a:pathLst>
              <a:path w="1026728" h="1025445">
                <a:moveTo>
                  <a:pt x="0" y="0"/>
                </a:moveTo>
                <a:lnTo>
                  <a:pt x="1026729" y="0"/>
                </a:lnTo>
                <a:lnTo>
                  <a:pt x="1026729" y="1025445"/>
                </a:lnTo>
                <a:lnTo>
                  <a:pt x="0" y="1025445"/>
                </a:lnTo>
                <a:lnTo>
                  <a:pt x="0" y="0"/>
                </a:lnTo>
                <a:close/>
              </a:path>
            </a:pathLst>
          </a:custGeom>
          <a:blipFill>
            <a:blip r:embed="rId2"/>
            <a:stretch>
              <a:fillRect/>
            </a:stretch>
          </a:blipFill>
        </p:spPr>
      </p:sp>
      <p:grpSp>
        <p:nvGrpSpPr>
          <p:cNvPr id="7" name="Group 31">
            <a:extLst>
              <a:ext uri="{FF2B5EF4-FFF2-40B4-BE49-F238E27FC236}">
                <a16:creationId xmlns:a16="http://schemas.microsoft.com/office/drawing/2014/main" id="{6404E56D-89D1-A439-827F-DFC6E6C25404}"/>
              </a:ext>
            </a:extLst>
          </p:cNvPr>
          <p:cNvGrpSpPr/>
          <p:nvPr/>
        </p:nvGrpSpPr>
        <p:grpSpPr>
          <a:xfrm>
            <a:off x="6248400" y="4627193"/>
            <a:ext cx="1011607" cy="1011607"/>
            <a:chOff x="0" y="0"/>
            <a:chExt cx="812800" cy="812800"/>
          </a:xfrm>
        </p:grpSpPr>
        <p:sp>
          <p:nvSpPr>
            <p:cNvPr id="8" name="Freeform 32">
              <a:extLst>
                <a:ext uri="{FF2B5EF4-FFF2-40B4-BE49-F238E27FC236}">
                  <a16:creationId xmlns:a16="http://schemas.microsoft.com/office/drawing/2014/main" id="{C184795D-012D-94D5-478B-A3906900EF86}"/>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id="10" name="TextBox 33">
              <a:extLst>
                <a:ext uri="{FF2B5EF4-FFF2-40B4-BE49-F238E27FC236}">
                  <a16:creationId xmlns:a16="http://schemas.microsoft.com/office/drawing/2014/main" id="{D7BB7C70-ED0E-C8C9-2431-1B937B3C1C81}"/>
                </a:ext>
              </a:extLst>
            </p:cNvPr>
            <p:cNvSpPr txBox="1"/>
            <p:nvPr/>
          </p:nvSpPr>
          <p:spPr>
            <a:xfrm>
              <a:off x="76200" y="38100"/>
              <a:ext cx="660400" cy="698500"/>
            </a:xfrm>
            <a:prstGeom prst="rect">
              <a:avLst/>
            </a:prstGeom>
          </p:spPr>
          <p:txBody>
            <a:bodyPr lIns="47086" tIns="47086" rIns="47086" bIns="47086" rtlCol="0" anchor="ctr"/>
            <a:lstStyle/>
            <a:p>
              <a:pPr algn="ctr">
                <a:lnSpc>
                  <a:spcPts val="2659"/>
                </a:lnSpc>
                <a:spcBef>
                  <a:spcPct val="0"/>
                </a:spcBef>
              </a:pPr>
              <a:endParaRPr/>
            </a:p>
          </p:txBody>
        </p:sp>
      </p:grpSp>
      <p:grpSp>
        <p:nvGrpSpPr>
          <p:cNvPr id="11" name="Group 34">
            <a:extLst>
              <a:ext uri="{FF2B5EF4-FFF2-40B4-BE49-F238E27FC236}">
                <a16:creationId xmlns:a16="http://schemas.microsoft.com/office/drawing/2014/main" id="{71A57CD4-80BA-FEBF-ACB2-C1367EA3BDFD}"/>
              </a:ext>
            </a:extLst>
          </p:cNvPr>
          <p:cNvGrpSpPr/>
          <p:nvPr/>
        </p:nvGrpSpPr>
        <p:grpSpPr>
          <a:xfrm>
            <a:off x="6792058" y="4963258"/>
            <a:ext cx="218342" cy="218342"/>
            <a:chOff x="0" y="0"/>
            <a:chExt cx="812800" cy="812800"/>
          </a:xfrm>
        </p:grpSpPr>
        <p:sp>
          <p:nvSpPr>
            <p:cNvPr id="12" name="Freeform 35">
              <a:extLst>
                <a:ext uri="{FF2B5EF4-FFF2-40B4-BE49-F238E27FC236}">
                  <a16:creationId xmlns:a16="http://schemas.microsoft.com/office/drawing/2014/main" id="{2B7E09DA-B98C-C593-890B-874C58476E81}"/>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A6AD6"/>
            </a:solidFill>
          </p:spPr>
        </p:sp>
        <p:sp>
          <p:nvSpPr>
            <p:cNvPr id="20" name="TextBox 36">
              <a:extLst>
                <a:ext uri="{FF2B5EF4-FFF2-40B4-BE49-F238E27FC236}">
                  <a16:creationId xmlns:a16="http://schemas.microsoft.com/office/drawing/2014/main" id="{1FDBC4B6-1D67-BBC8-25D8-D7354035173B}"/>
                </a:ext>
              </a:extLst>
            </p:cNvPr>
            <p:cNvSpPr txBox="1"/>
            <p:nvPr/>
          </p:nvSpPr>
          <p:spPr>
            <a:xfrm>
              <a:off x="76202" y="38101"/>
              <a:ext cx="660400" cy="698501"/>
            </a:xfrm>
            <a:prstGeom prst="rect">
              <a:avLst/>
            </a:prstGeom>
          </p:spPr>
          <p:txBody>
            <a:bodyPr lIns="47086" tIns="47086" rIns="47086" bIns="47086" rtlCol="0" anchor="ctr"/>
            <a:lstStyle/>
            <a:p>
              <a:pPr algn="ctr">
                <a:lnSpc>
                  <a:spcPts val="2659"/>
                </a:lnSpc>
                <a:spcBef>
                  <a:spcPct val="0"/>
                </a:spcBef>
              </a:pPr>
              <a:endParaRPr dirty="0"/>
            </a:p>
          </p:txBody>
        </p:sp>
      </p:grpSp>
      <p:sp>
        <p:nvSpPr>
          <p:cNvPr id="21" name="Text 2">
            <a:extLst>
              <a:ext uri="{FF2B5EF4-FFF2-40B4-BE49-F238E27FC236}">
                <a16:creationId xmlns:a16="http://schemas.microsoft.com/office/drawing/2014/main" id="{AF38E0BE-C0B1-6439-F431-DF33AD017D57}"/>
              </a:ext>
            </a:extLst>
          </p:cNvPr>
          <p:cNvSpPr/>
          <p:nvPr/>
        </p:nvSpPr>
        <p:spPr>
          <a:xfrm>
            <a:off x="6463989" y="4800600"/>
            <a:ext cx="11251131" cy="2829635"/>
          </a:xfrm>
          <a:prstGeom prst="rect">
            <a:avLst/>
          </a:prstGeom>
          <a:noFill/>
          <a:ln/>
        </p:spPr>
        <p:txBody>
          <a:bodyPr wrap="square" lIns="0" tIns="0" rIns="0" bIns="0" rtlCol="0" anchor="t"/>
          <a:lstStyle/>
          <a:p>
            <a:pPr marL="914400" indent="-571500" algn="just">
              <a:buFont typeface="Arial" panose="020B0604020202020204" pitchFamily="34" charset="0"/>
              <a:buChar char="•"/>
            </a:pPr>
            <a:r>
              <a:rPr lang="en-GB" sz="4000" dirty="0">
                <a:solidFill>
                  <a:srgbClr val="504C49"/>
                </a:solidFill>
                <a:latin typeface="Source Serif Pro" pitchFamily="34" charset="0"/>
                <a:ea typeface="Source Serif Pro" pitchFamily="34" charset="-122"/>
                <a:cs typeface="Source Serif Pro" pitchFamily="34" charset="-120"/>
              </a:rPr>
              <a:t>To test how changes in key training parameters such as batch size, number of layers, and number of epochs affect the carbon footprint and performance of NLP models, identifying efficient configurations suitable for practical use.</a:t>
            </a:r>
          </a:p>
        </p:txBody>
      </p:sp>
    </p:spTree>
    <p:extLst>
      <p:ext uri="{BB962C8B-B14F-4D97-AF65-F5344CB8AC3E}">
        <p14:creationId xmlns:p14="http://schemas.microsoft.com/office/powerpoint/2010/main" val="110395037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Click="0">
        <p159:morph option="byObject"/>
      </p:transition>
    </mc:Choice>
    <mc:Fallback xmlns="">
      <p:transition spd="slow" advClick="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5" presetClass="entr" presetSubtype="0" fill="hold" nodeType="afterEffect">
                                  <p:stCondLst>
                                    <p:cond delay="0"/>
                                  </p:stCondLst>
                                  <p:childTnLst>
                                    <p:set>
                                      <p:cBhvr>
                                        <p:cTn id="6" dur="1" fill="hold">
                                          <p:stCondLst>
                                            <p:cond delay="0"/>
                                          </p:stCondLst>
                                        </p:cTn>
                                        <p:tgtEl>
                                          <p:spTgt spid="2050"/>
                                        </p:tgtEl>
                                        <p:attrNameLst>
                                          <p:attrName>style.visibility</p:attrName>
                                        </p:attrNameLst>
                                      </p:cBhvr>
                                      <p:to>
                                        <p:strVal val="visible"/>
                                      </p:to>
                                    </p:set>
                                    <p:animEffect transition="in" filter="fade">
                                      <p:cBhvr>
                                        <p:cTn id="7" dur="2000"/>
                                        <p:tgtEl>
                                          <p:spTgt spid="2050"/>
                                        </p:tgtEl>
                                      </p:cBhvr>
                                    </p:animEffect>
                                    <p:anim calcmode="lin" valueType="num">
                                      <p:cBhvr>
                                        <p:cTn id="8" dur="2000" fill="hold"/>
                                        <p:tgtEl>
                                          <p:spTgt spid="2050"/>
                                        </p:tgtEl>
                                        <p:attrNameLst>
                                          <p:attrName>ppt_w</p:attrName>
                                        </p:attrNameLst>
                                      </p:cBhvr>
                                      <p:tavLst>
                                        <p:tav tm="0" fmla="#ppt_w*sin(2.5*pi*$)">
                                          <p:val>
                                            <p:fltVal val="0"/>
                                          </p:val>
                                        </p:tav>
                                        <p:tav tm="100000">
                                          <p:val>
                                            <p:fltVal val="1"/>
                                          </p:val>
                                        </p:tav>
                                      </p:tavLst>
                                    </p:anim>
                                    <p:anim calcmode="lin" valueType="num">
                                      <p:cBhvr>
                                        <p:cTn id="9" dur="2000" fill="hold"/>
                                        <p:tgtEl>
                                          <p:spTgt spid="2050"/>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46D7AF-5CE6-A073-1073-E0348FE4D173}"/>
            </a:ext>
          </a:extLst>
        </p:cNvPr>
        <p:cNvGrpSpPr/>
        <p:nvPr/>
      </p:nvGrpSpPr>
      <p:grpSpPr>
        <a:xfrm>
          <a:off x="0" y="0"/>
          <a:ext cx="0" cy="0"/>
          <a:chOff x="0" y="0"/>
          <a:chExt cx="0" cy="0"/>
        </a:xfrm>
      </p:grpSpPr>
      <p:sp>
        <p:nvSpPr>
          <p:cNvPr id="67" name="Freeform 17">
            <a:extLst>
              <a:ext uri="{FF2B5EF4-FFF2-40B4-BE49-F238E27FC236}">
                <a16:creationId xmlns:a16="http://schemas.microsoft.com/office/drawing/2014/main" id="{B9251226-0E2A-B350-5144-B75703E245F7}"/>
              </a:ext>
            </a:extLst>
          </p:cNvPr>
          <p:cNvSpPr/>
          <p:nvPr/>
        </p:nvSpPr>
        <p:spPr>
          <a:xfrm>
            <a:off x="2744136" y="4643528"/>
            <a:ext cx="1634041" cy="1634041"/>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id="68" name="Freeform 17">
            <a:extLst>
              <a:ext uri="{FF2B5EF4-FFF2-40B4-BE49-F238E27FC236}">
                <a16:creationId xmlns:a16="http://schemas.microsoft.com/office/drawing/2014/main" id="{76B908A2-4FC1-6724-E4ED-FE22BEE11982}"/>
              </a:ext>
            </a:extLst>
          </p:cNvPr>
          <p:cNvSpPr/>
          <p:nvPr/>
        </p:nvSpPr>
        <p:spPr>
          <a:xfrm>
            <a:off x="13685849" y="4660357"/>
            <a:ext cx="1634041" cy="1634041"/>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grpSp>
        <p:nvGrpSpPr>
          <p:cNvPr id="2" name="Group 13">
            <a:extLst>
              <a:ext uri="{FF2B5EF4-FFF2-40B4-BE49-F238E27FC236}">
                <a16:creationId xmlns:a16="http://schemas.microsoft.com/office/drawing/2014/main" id="{914C734B-8B1A-1AA6-9524-7130163162A9}"/>
              </a:ext>
            </a:extLst>
          </p:cNvPr>
          <p:cNvGrpSpPr/>
          <p:nvPr/>
        </p:nvGrpSpPr>
        <p:grpSpPr>
          <a:xfrm>
            <a:off x="5748992" y="-952500"/>
            <a:ext cx="6824008" cy="6824008"/>
            <a:chOff x="0" y="0"/>
            <a:chExt cx="812800" cy="812800"/>
          </a:xfrm>
        </p:grpSpPr>
        <p:sp>
          <p:nvSpPr>
            <p:cNvPr id="3" name="Freeform 14">
              <a:extLst>
                <a:ext uri="{FF2B5EF4-FFF2-40B4-BE49-F238E27FC236}">
                  <a16:creationId xmlns:a16="http://schemas.microsoft.com/office/drawing/2014/main" id="{A392600D-1A5F-6AB5-9373-41EDC1348459}"/>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8F8F8"/>
            </a:solidFill>
          </p:spPr>
        </p:sp>
        <p:sp>
          <p:nvSpPr>
            <p:cNvPr id="4" name="TextBox 15">
              <a:extLst>
                <a:ext uri="{FF2B5EF4-FFF2-40B4-BE49-F238E27FC236}">
                  <a16:creationId xmlns:a16="http://schemas.microsoft.com/office/drawing/2014/main" id="{2BC56BDB-EB29-278C-7B8B-70C985C049C1}"/>
                </a:ext>
              </a:extLst>
            </p:cNvPr>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5" name="Freeform 16">
            <a:extLst>
              <a:ext uri="{FF2B5EF4-FFF2-40B4-BE49-F238E27FC236}">
                <a16:creationId xmlns:a16="http://schemas.microsoft.com/office/drawing/2014/main" id="{B314FE20-C452-4756-099F-EF9E5BF8860C}"/>
              </a:ext>
            </a:extLst>
          </p:cNvPr>
          <p:cNvSpPr/>
          <p:nvPr/>
        </p:nvSpPr>
        <p:spPr>
          <a:xfrm>
            <a:off x="5720022" y="-1065542"/>
            <a:ext cx="6700578" cy="6666242"/>
          </a:xfrm>
          <a:custGeom>
            <a:avLst/>
            <a:gdLst/>
            <a:ahLst/>
            <a:cxnLst/>
            <a:rect l="l" t="t" r="r" b="b"/>
            <a:pathLst>
              <a:path w="5862965" h="5855636">
                <a:moveTo>
                  <a:pt x="0" y="0"/>
                </a:moveTo>
                <a:lnTo>
                  <a:pt x="5862964" y="0"/>
                </a:lnTo>
                <a:lnTo>
                  <a:pt x="5862964" y="5855636"/>
                </a:lnTo>
                <a:lnTo>
                  <a:pt x="0" y="5855636"/>
                </a:lnTo>
                <a:lnTo>
                  <a:pt x="0" y="0"/>
                </a:lnTo>
                <a:close/>
              </a:path>
            </a:pathLst>
          </a:custGeom>
          <a:blipFill>
            <a:blip r:embed="rId2"/>
            <a:stretch>
              <a:fillRect/>
            </a:stretch>
          </a:blipFill>
        </p:spPr>
      </p:sp>
      <p:grpSp>
        <p:nvGrpSpPr>
          <p:cNvPr id="63" name="Group 18">
            <a:extLst>
              <a:ext uri="{FF2B5EF4-FFF2-40B4-BE49-F238E27FC236}">
                <a16:creationId xmlns:a16="http://schemas.microsoft.com/office/drawing/2014/main" id="{55415ECB-C9B8-24EE-F1EF-73000B674490}"/>
              </a:ext>
            </a:extLst>
          </p:cNvPr>
          <p:cNvGrpSpPr/>
          <p:nvPr/>
        </p:nvGrpSpPr>
        <p:grpSpPr>
          <a:xfrm>
            <a:off x="10896600" y="5755452"/>
            <a:ext cx="7436668" cy="2167651"/>
            <a:chOff x="0" y="0"/>
            <a:chExt cx="1013318" cy="260488"/>
          </a:xfrm>
        </p:grpSpPr>
        <p:sp>
          <p:nvSpPr>
            <p:cNvPr id="64" name="Freeform 19">
              <a:extLst>
                <a:ext uri="{FF2B5EF4-FFF2-40B4-BE49-F238E27FC236}">
                  <a16:creationId xmlns:a16="http://schemas.microsoft.com/office/drawing/2014/main" id="{F8FA0D99-B6FF-B631-91CD-FCA2896B0C4F}"/>
                </a:ext>
              </a:extLst>
            </p:cNvPr>
            <p:cNvSpPr/>
            <p:nvPr/>
          </p:nvSpPr>
          <p:spPr>
            <a:xfrm>
              <a:off x="0" y="0"/>
              <a:ext cx="1013318" cy="260488"/>
            </a:xfrm>
            <a:custGeom>
              <a:avLst/>
              <a:gdLst/>
              <a:ahLst/>
              <a:cxnLst/>
              <a:rect l="l" t="t" r="r" b="b"/>
              <a:pathLst>
                <a:path w="1013318" h="260488">
                  <a:moveTo>
                    <a:pt x="130244" y="0"/>
                  </a:moveTo>
                  <a:lnTo>
                    <a:pt x="883074" y="0"/>
                  </a:lnTo>
                  <a:cubicBezTo>
                    <a:pt x="917617" y="0"/>
                    <a:pt x="950745" y="13722"/>
                    <a:pt x="975171" y="38148"/>
                  </a:cubicBezTo>
                  <a:cubicBezTo>
                    <a:pt x="999596" y="62573"/>
                    <a:pt x="1013318" y="95701"/>
                    <a:pt x="1013318" y="130244"/>
                  </a:cubicBezTo>
                  <a:lnTo>
                    <a:pt x="1013318" y="130244"/>
                  </a:lnTo>
                  <a:cubicBezTo>
                    <a:pt x="1013318" y="202175"/>
                    <a:pt x="955006" y="260488"/>
                    <a:pt x="883074" y="260488"/>
                  </a:cubicBezTo>
                  <a:lnTo>
                    <a:pt x="130244" y="260488"/>
                  </a:lnTo>
                  <a:cubicBezTo>
                    <a:pt x="95701" y="260488"/>
                    <a:pt x="62573" y="246766"/>
                    <a:pt x="38148" y="222340"/>
                  </a:cubicBezTo>
                  <a:cubicBezTo>
                    <a:pt x="13722" y="197915"/>
                    <a:pt x="0" y="164787"/>
                    <a:pt x="0" y="130244"/>
                  </a:cubicBezTo>
                  <a:lnTo>
                    <a:pt x="0" y="130244"/>
                  </a:lnTo>
                  <a:cubicBezTo>
                    <a:pt x="0" y="95701"/>
                    <a:pt x="13722" y="62573"/>
                    <a:pt x="38148" y="38148"/>
                  </a:cubicBezTo>
                  <a:cubicBezTo>
                    <a:pt x="62573" y="13722"/>
                    <a:pt x="95701" y="0"/>
                    <a:pt x="130244" y="0"/>
                  </a:cubicBezTo>
                  <a:close/>
                </a:path>
              </a:pathLst>
            </a:custGeom>
            <a:solidFill>
              <a:srgbClr val="F8F8F8"/>
            </a:solidFill>
          </p:spPr>
        </p:sp>
        <p:sp>
          <p:nvSpPr>
            <p:cNvPr id="65" name="TextBox 20">
              <a:extLst>
                <a:ext uri="{FF2B5EF4-FFF2-40B4-BE49-F238E27FC236}">
                  <a16:creationId xmlns:a16="http://schemas.microsoft.com/office/drawing/2014/main" id="{5F0CE7BE-F9E0-345C-3A9B-F823EB8E4A84}"/>
                </a:ext>
              </a:extLst>
            </p:cNvPr>
            <p:cNvSpPr txBox="1"/>
            <p:nvPr/>
          </p:nvSpPr>
          <p:spPr>
            <a:xfrm>
              <a:off x="0" y="-38100"/>
              <a:ext cx="1013318" cy="298588"/>
            </a:xfrm>
            <a:prstGeom prst="rect">
              <a:avLst/>
            </a:prstGeom>
          </p:spPr>
          <p:txBody>
            <a:bodyPr lIns="47086" tIns="47086" rIns="47086" bIns="47086" rtlCol="0" anchor="ctr"/>
            <a:lstStyle/>
            <a:p>
              <a:pPr algn="ctr">
                <a:lnSpc>
                  <a:spcPts val="2659"/>
                </a:lnSpc>
              </a:pPr>
              <a:endParaRPr/>
            </a:p>
          </p:txBody>
        </p:sp>
      </p:grpSp>
      <p:grpSp>
        <p:nvGrpSpPr>
          <p:cNvPr id="6" name="Group 17">
            <a:extLst>
              <a:ext uri="{FF2B5EF4-FFF2-40B4-BE49-F238E27FC236}">
                <a16:creationId xmlns:a16="http://schemas.microsoft.com/office/drawing/2014/main" id="{CE1FE8D3-DE2D-2BB0-BBC5-413D328C497A}"/>
              </a:ext>
            </a:extLst>
          </p:cNvPr>
          <p:cNvGrpSpPr/>
          <p:nvPr/>
        </p:nvGrpSpPr>
        <p:grpSpPr>
          <a:xfrm>
            <a:off x="6272686" y="-428805"/>
            <a:ext cx="5776619" cy="5776619"/>
            <a:chOff x="0" y="0"/>
            <a:chExt cx="812800" cy="812800"/>
          </a:xfrm>
        </p:grpSpPr>
        <p:sp>
          <p:nvSpPr>
            <p:cNvPr id="7" name="Freeform 18">
              <a:extLst>
                <a:ext uri="{FF2B5EF4-FFF2-40B4-BE49-F238E27FC236}">
                  <a16:creationId xmlns:a16="http://schemas.microsoft.com/office/drawing/2014/main" id="{70B16A16-18DF-92DF-FF0E-6C469378DC99}"/>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id="8" name="TextBox 19">
              <a:extLst>
                <a:ext uri="{FF2B5EF4-FFF2-40B4-BE49-F238E27FC236}">
                  <a16:creationId xmlns:a16="http://schemas.microsoft.com/office/drawing/2014/main" id="{5CD54845-5CF5-1C3E-7C0E-07536CDB937A}"/>
                </a:ext>
              </a:extLst>
            </p:cNvPr>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9" name="TextBox 26">
            <a:extLst>
              <a:ext uri="{FF2B5EF4-FFF2-40B4-BE49-F238E27FC236}">
                <a16:creationId xmlns:a16="http://schemas.microsoft.com/office/drawing/2014/main" id="{A8EBE1D7-0C0F-EA8A-443C-AD4BC9965696}"/>
              </a:ext>
            </a:extLst>
          </p:cNvPr>
          <p:cNvSpPr txBox="1"/>
          <p:nvPr/>
        </p:nvSpPr>
        <p:spPr>
          <a:xfrm>
            <a:off x="7185802" y="1455837"/>
            <a:ext cx="3948976" cy="2429383"/>
          </a:xfrm>
          <a:prstGeom prst="rect">
            <a:avLst/>
          </a:prstGeom>
        </p:spPr>
        <p:txBody>
          <a:bodyPr lIns="0" tIns="0" rIns="0" bIns="0" rtlCol="0" anchor="t">
            <a:spAutoFit/>
          </a:bodyPr>
          <a:lstStyle/>
          <a:p>
            <a:pPr algn="ctr">
              <a:lnSpc>
                <a:spcPts val="6385"/>
              </a:lnSpc>
            </a:pPr>
            <a:r>
              <a:rPr lang="en-US" sz="4800" b="1" dirty="0">
                <a:solidFill>
                  <a:srgbClr val="3A6AD6"/>
                </a:solidFill>
                <a:latin typeface="Poppins Bold"/>
                <a:ea typeface="Poppins Bold"/>
                <a:cs typeface="Poppins Bold"/>
                <a:sym typeface="Poppins Bold"/>
              </a:rPr>
              <a:t>Focus</a:t>
            </a:r>
          </a:p>
          <a:p>
            <a:pPr algn="ctr">
              <a:lnSpc>
                <a:spcPts val="6385"/>
              </a:lnSpc>
            </a:pPr>
            <a:r>
              <a:rPr lang="en-US" sz="4800" b="1" dirty="0">
                <a:solidFill>
                  <a:srgbClr val="3A6AD6"/>
                </a:solidFill>
                <a:latin typeface="Poppins Bold"/>
                <a:ea typeface="Poppins Bold"/>
                <a:cs typeface="Poppins Bold"/>
                <a:sym typeface="Poppins Bold"/>
              </a:rPr>
              <a:t>&amp;</a:t>
            </a:r>
          </a:p>
          <a:p>
            <a:pPr algn="ctr">
              <a:lnSpc>
                <a:spcPts val="6385"/>
              </a:lnSpc>
            </a:pPr>
            <a:r>
              <a:rPr lang="en-US" sz="4800" b="1" dirty="0">
                <a:solidFill>
                  <a:srgbClr val="3A6AD6"/>
                </a:solidFill>
                <a:latin typeface="Poppins Bold"/>
                <a:ea typeface="Poppins Bold"/>
                <a:cs typeface="Poppins Bold"/>
                <a:sym typeface="Poppins Bold"/>
              </a:rPr>
              <a:t>Scope</a:t>
            </a:r>
          </a:p>
        </p:txBody>
      </p:sp>
      <p:grpSp>
        <p:nvGrpSpPr>
          <p:cNvPr id="14" name="Group 14">
            <a:extLst>
              <a:ext uri="{FF2B5EF4-FFF2-40B4-BE49-F238E27FC236}">
                <a16:creationId xmlns:a16="http://schemas.microsoft.com/office/drawing/2014/main" id="{A24C34CF-53B1-8424-E54E-46AE8CDC448B}"/>
              </a:ext>
            </a:extLst>
          </p:cNvPr>
          <p:cNvGrpSpPr/>
          <p:nvPr/>
        </p:nvGrpSpPr>
        <p:grpSpPr>
          <a:xfrm>
            <a:off x="17491799" y="8458418"/>
            <a:ext cx="951769" cy="799882"/>
            <a:chOff x="0" y="0"/>
            <a:chExt cx="967140" cy="812800"/>
          </a:xfrm>
        </p:grpSpPr>
        <p:sp>
          <p:nvSpPr>
            <p:cNvPr id="15" name="Freeform 15">
              <a:extLst>
                <a:ext uri="{FF2B5EF4-FFF2-40B4-BE49-F238E27FC236}">
                  <a16:creationId xmlns:a16="http://schemas.microsoft.com/office/drawing/2014/main" id="{E6271722-E961-9E66-702A-A3CF60C4E280}"/>
                </a:ext>
              </a:extLst>
            </p:cNvPr>
            <p:cNvSpPr/>
            <p:nvPr/>
          </p:nvSpPr>
          <p:spPr>
            <a:xfrm>
              <a:off x="0" y="0"/>
              <a:ext cx="967140" cy="812800"/>
            </a:xfrm>
            <a:custGeom>
              <a:avLst/>
              <a:gdLst/>
              <a:ahLst/>
              <a:cxnLst/>
              <a:rect l="l" t="t" r="r" b="b"/>
              <a:pathLst>
                <a:path w="967140" h="812800">
                  <a:moveTo>
                    <a:pt x="81342" y="0"/>
                  </a:moveTo>
                  <a:lnTo>
                    <a:pt x="885798" y="0"/>
                  </a:lnTo>
                  <a:cubicBezTo>
                    <a:pt x="907371" y="0"/>
                    <a:pt x="928061" y="8570"/>
                    <a:pt x="943315" y="23825"/>
                  </a:cubicBezTo>
                  <a:cubicBezTo>
                    <a:pt x="958570" y="39079"/>
                    <a:pt x="967140" y="59769"/>
                    <a:pt x="967140" y="81342"/>
                  </a:cubicBezTo>
                  <a:lnTo>
                    <a:pt x="967140" y="731458"/>
                  </a:lnTo>
                  <a:cubicBezTo>
                    <a:pt x="967140" y="776382"/>
                    <a:pt x="930722" y="812800"/>
                    <a:pt x="885798" y="812800"/>
                  </a:cubicBezTo>
                  <a:lnTo>
                    <a:pt x="81342" y="812800"/>
                  </a:lnTo>
                  <a:cubicBezTo>
                    <a:pt x="59769" y="812800"/>
                    <a:pt x="39079" y="804230"/>
                    <a:pt x="23825" y="788975"/>
                  </a:cubicBezTo>
                  <a:cubicBezTo>
                    <a:pt x="8570" y="773721"/>
                    <a:pt x="0" y="753031"/>
                    <a:pt x="0" y="731458"/>
                  </a:cubicBezTo>
                  <a:lnTo>
                    <a:pt x="0" y="81342"/>
                  </a:lnTo>
                  <a:cubicBezTo>
                    <a:pt x="0" y="59769"/>
                    <a:pt x="8570" y="39079"/>
                    <a:pt x="23825" y="23825"/>
                  </a:cubicBezTo>
                  <a:cubicBezTo>
                    <a:pt x="39079" y="8570"/>
                    <a:pt x="59769" y="0"/>
                    <a:pt x="81342" y="0"/>
                  </a:cubicBezTo>
                  <a:close/>
                </a:path>
              </a:pathLst>
            </a:custGeom>
            <a:solidFill>
              <a:srgbClr val="3A6AD6"/>
            </a:solidFill>
          </p:spPr>
        </p:sp>
        <p:sp>
          <p:nvSpPr>
            <p:cNvPr id="16" name="TextBox 16">
              <a:extLst>
                <a:ext uri="{FF2B5EF4-FFF2-40B4-BE49-F238E27FC236}">
                  <a16:creationId xmlns:a16="http://schemas.microsoft.com/office/drawing/2014/main" id="{909CEAE6-0725-7122-8358-64FDBEB6E6AA}"/>
                </a:ext>
              </a:extLst>
            </p:cNvPr>
            <p:cNvSpPr txBox="1"/>
            <p:nvPr/>
          </p:nvSpPr>
          <p:spPr>
            <a:xfrm>
              <a:off x="0" y="-38100"/>
              <a:ext cx="967140" cy="850900"/>
            </a:xfrm>
            <a:prstGeom prst="rect">
              <a:avLst/>
            </a:prstGeom>
          </p:spPr>
          <p:txBody>
            <a:bodyPr lIns="50800" tIns="50800" rIns="50800" bIns="50800" rtlCol="0" anchor="ctr"/>
            <a:lstStyle/>
            <a:p>
              <a:pPr algn="ctr">
                <a:lnSpc>
                  <a:spcPts val="2659"/>
                </a:lnSpc>
              </a:pPr>
              <a:endParaRPr/>
            </a:p>
          </p:txBody>
        </p:sp>
      </p:grpSp>
      <p:sp>
        <p:nvSpPr>
          <p:cNvPr id="17" name="TextBox 17">
            <a:extLst>
              <a:ext uri="{FF2B5EF4-FFF2-40B4-BE49-F238E27FC236}">
                <a16:creationId xmlns:a16="http://schemas.microsoft.com/office/drawing/2014/main" id="{47B7E09E-4E9D-8941-218D-F378A3069472}"/>
              </a:ext>
            </a:extLst>
          </p:cNvPr>
          <p:cNvSpPr txBox="1"/>
          <p:nvPr/>
        </p:nvSpPr>
        <p:spPr>
          <a:xfrm>
            <a:off x="17674380" y="8710688"/>
            <a:ext cx="442747" cy="257943"/>
          </a:xfrm>
          <a:prstGeom prst="rect">
            <a:avLst/>
          </a:prstGeom>
        </p:spPr>
        <p:txBody>
          <a:bodyPr lIns="0" tIns="0" rIns="0" bIns="0" rtlCol="0" anchor="t">
            <a:spAutoFit/>
          </a:bodyPr>
          <a:lstStyle/>
          <a:p>
            <a:pPr algn="ctr">
              <a:lnSpc>
                <a:spcPts val="2057"/>
              </a:lnSpc>
              <a:spcBef>
                <a:spcPct val="0"/>
              </a:spcBef>
            </a:pPr>
            <a:r>
              <a:rPr lang="en-GB" sz="1469" b="1" dirty="0">
                <a:solidFill>
                  <a:srgbClr val="FFFFFF"/>
                </a:solidFill>
                <a:latin typeface="Poppins Bold"/>
                <a:ea typeface="Poppins Bold"/>
                <a:cs typeface="Poppins Bold"/>
                <a:sym typeface="Poppins Bold"/>
              </a:rPr>
              <a:t>08</a:t>
            </a:r>
            <a:endParaRPr lang="en-US" sz="1469" b="1" dirty="0">
              <a:solidFill>
                <a:srgbClr val="FFFFFF"/>
              </a:solidFill>
              <a:latin typeface="Poppins Bold"/>
              <a:ea typeface="Poppins Bold"/>
              <a:cs typeface="Poppins Bold"/>
              <a:sym typeface="Poppins Bold"/>
            </a:endParaRPr>
          </a:p>
        </p:txBody>
      </p:sp>
      <p:grpSp>
        <p:nvGrpSpPr>
          <p:cNvPr id="18" name="Group 18">
            <a:extLst>
              <a:ext uri="{FF2B5EF4-FFF2-40B4-BE49-F238E27FC236}">
                <a16:creationId xmlns:a16="http://schemas.microsoft.com/office/drawing/2014/main" id="{4358EDE2-8060-DAC9-4D2C-D262673D962D}"/>
              </a:ext>
            </a:extLst>
          </p:cNvPr>
          <p:cNvGrpSpPr/>
          <p:nvPr/>
        </p:nvGrpSpPr>
        <p:grpSpPr>
          <a:xfrm>
            <a:off x="-76193" y="2975849"/>
            <a:ext cx="7436668" cy="2167651"/>
            <a:chOff x="0" y="0"/>
            <a:chExt cx="1013318" cy="260488"/>
          </a:xfrm>
        </p:grpSpPr>
        <p:sp>
          <p:nvSpPr>
            <p:cNvPr id="19" name="Freeform 19">
              <a:extLst>
                <a:ext uri="{FF2B5EF4-FFF2-40B4-BE49-F238E27FC236}">
                  <a16:creationId xmlns:a16="http://schemas.microsoft.com/office/drawing/2014/main" id="{15CDBE69-84C2-A588-AE73-A9A084BBF535}"/>
                </a:ext>
              </a:extLst>
            </p:cNvPr>
            <p:cNvSpPr/>
            <p:nvPr/>
          </p:nvSpPr>
          <p:spPr>
            <a:xfrm>
              <a:off x="0" y="0"/>
              <a:ext cx="1013318" cy="260488"/>
            </a:xfrm>
            <a:custGeom>
              <a:avLst/>
              <a:gdLst/>
              <a:ahLst/>
              <a:cxnLst/>
              <a:rect l="l" t="t" r="r" b="b"/>
              <a:pathLst>
                <a:path w="1013318" h="260488">
                  <a:moveTo>
                    <a:pt x="130244" y="0"/>
                  </a:moveTo>
                  <a:lnTo>
                    <a:pt x="883074" y="0"/>
                  </a:lnTo>
                  <a:cubicBezTo>
                    <a:pt x="917617" y="0"/>
                    <a:pt x="950745" y="13722"/>
                    <a:pt x="975171" y="38148"/>
                  </a:cubicBezTo>
                  <a:cubicBezTo>
                    <a:pt x="999596" y="62573"/>
                    <a:pt x="1013318" y="95701"/>
                    <a:pt x="1013318" y="130244"/>
                  </a:cubicBezTo>
                  <a:lnTo>
                    <a:pt x="1013318" y="130244"/>
                  </a:lnTo>
                  <a:cubicBezTo>
                    <a:pt x="1013318" y="202175"/>
                    <a:pt x="955006" y="260488"/>
                    <a:pt x="883074" y="260488"/>
                  </a:cubicBezTo>
                  <a:lnTo>
                    <a:pt x="130244" y="260488"/>
                  </a:lnTo>
                  <a:cubicBezTo>
                    <a:pt x="95701" y="260488"/>
                    <a:pt x="62573" y="246766"/>
                    <a:pt x="38148" y="222340"/>
                  </a:cubicBezTo>
                  <a:cubicBezTo>
                    <a:pt x="13722" y="197915"/>
                    <a:pt x="0" y="164787"/>
                    <a:pt x="0" y="130244"/>
                  </a:cubicBezTo>
                  <a:lnTo>
                    <a:pt x="0" y="130244"/>
                  </a:lnTo>
                  <a:cubicBezTo>
                    <a:pt x="0" y="95701"/>
                    <a:pt x="13722" y="62573"/>
                    <a:pt x="38148" y="38148"/>
                  </a:cubicBezTo>
                  <a:cubicBezTo>
                    <a:pt x="62573" y="13722"/>
                    <a:pt x="95701" y="0"/>
                    <a:pt x="130244" y="0"/>
                  </a:cubicBezTo>
                  <a:close/>
                </a:path>
              </a:pathLst>
            </a:custGeom>
            <a:solidFill>
              <a:srgbClr val="F8F8F8"/>
            </a:solidFill>
          </p:spPr>
        </p:sp>
        <p:sp>
          <p:nvSpPr>
            <p:cNvPr id="20" name="TextBox 20">
              <a:extLst>
                <a:ext uri="{FF2B5EF4-FFF2-40B4-BE49-F238E27FC236}">
                  <a16:creationId xmlns:a16="http://schemas.microsoft.com/office/drawing/2014/main" id="{7B67A8A8-363F-4BA9-8399-65A27797CEC1}"/>
                </a:ext>
              </a:extLst>
            </p:cNvPr>
            <p:cNvSpPr txBox="1"/>
            <p:nvPr/>
          </p:nvSpPr>
          <p:spPr>
            <a:xfrm>
              <a:off x="0" y="-38100"/>
              <a:ext cx="1013318" cy="298588"/>
            </a:xfrm>
            <a:prstGeom prst="rect">
              <a:avLst/>
            </a:prstGeom>
          </p:spPr>
          <p:txBody>
            <a:bodyPr lIns="47086" tIns="47086" rIns="47086" bIns="47086" rtlCol="0" anchor="ctr"/>
            <a:lstStyle/>
            <a:p>
              <a:pPr algn="ctr">
                <a:lnSpc>
                  <a:spcPts val="2659"/>
                </a:lnSpc>
              </a:pPr>
              <a:endParaRPr/>
            </a:p>
          </p:txBody>
        </p:sp>
      </p:grpSp>
      <p:sp>
        <p:nvSpPr>
          <p:cNvPr id="21" name="Freeform 21">
            <a:extLst>
              <a:ext uri="{FF2B5EF4-FFF2-40B4-BE49-F238E27FC236}">
                <a16:creationId xmlns:a16="http://schemas.microsoft.com/office/drawing/2014/main" id="{47C96976-FE57-BF62-BA04-78B2D2D095DF}"/>
              </a:ext>
            </a:extLst>
          </p:cNvPr>
          <p:cNvSpPr/>
          <p:nvPr/>
        </p:nvSpPr>
        <p:spPr>
          <a:xfrm>
            <a:off x="6204710" y="3507432"/>
            <a:ext cx="1026728" cy="1025445"/>
          </a:xfrm>
          <a:custGeom>
            <a:avLst/>
            <a:gdLst/>
            <a:ahLst/>
            <a:cxnLst/>
            <a:rect l="l" t="t" r="r" b="b"/>
            <a:pathLst>
              <a:path w="1026728" h="1025445">
                <a:moveTo>
                  <a:pt x="0" y="0"/>
                </a:moveTo>
                <a:lnTo>
                  <a:pt x="1026728" y="0"/>
                </a:lnTo>
                <a:lnTo>
                  <a:pt x="1026728" y="1025445"/>
                </a:lnTo>
                <a:lnTo>
                  <a:pt x="0" y="1025445"/>
                </a:lnTo>
                <a:lnTo>
                  <a:pt x="0" y="0"/>
                </a:lnTo>
                <a:close/>
              </a:path>
            </a:pathLst>
          </a:custGeom>
          <a:blipFill>
            <a:blip r:embed="rId2"/>
            <a:stretch>
              <a:fillRect/>
            </a:stretch>
          </a:blipFill>
        </p:spPr>
      </p:sp>
      <p:grpSp>
        <p:nvGrpSpPr>
          <p:cNvPr id="22" name="Group 22">
            <a:extLst>
              <a:ext uri="{FF2B5EF4-FFF2-40B4-BE49-F238E27FC236}">
                <a16:creationId xmlns:a16="http://schemas.microsoft.com/office/drawing/2014/main" id="{7A284C1D-ABCC-15CB-2070-BF8985FC969D}"/>
              </a:ext>
            </a:extLst>
          </p:cNvPr>
          <p:cNvGrpSpPr/>
          <p:nvPr/>
        </p:nvGrpSpPr>
        <p:grpSpPr>
          <a:xfrm>
            <a:off x="6180772" y="3466395"/>
            <a:ext cx="1011607" cy="1011607"/>
            <a:chOff x="0" y="0"/>
            <a:chExt cx="812800" cy="812800"/>
          </a:xfrm>
        </p:grpSpPr>
        <p:sp>
          <p:nvSpPr>
            <p:cNvPr id="23" name="Freeform 23">
              <a:extLst>
                <a:ext uri="{FF2B5EF4-FFF2-40B4-BE49-F238E27FC236}">
                  <a16:creationId xmlns:a16="http://schemas.microsoft.com/office/drawing/2014/main" id="{77B15A6C-3BA7-42CF-E6BC-579E8F28E0D1}"/>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id="24" name="TextBox 24">
              <a:extLst>
                <a:ext uri="{FF2B5EF4-FFF2-40B4-BE49-F238E27FC236}">
                  <a16:creationId xmlns:a16="http://schemas.microsoft.com/office/drawing/2014/main" id="{819F42DC-B8E3-6ED7-3F53-05A6925D72AA}"/>
                </a:ext>
              </a:extLst>
            </p:cNvPr>
            <p:cNvSpPr txBox="1"/>
            <p:nvPr/>
          </p:nvSpPr>
          <p:spPr>
            <a:xfrm>
              <a:off x="76200" y="38100"/>
              <a:ext cx="660400" cy="698500"/>
            </a:xfrm>
            <a:prstGeom prst="rect">
              <a:avLst/>
            </a:prstGeom>
          </p:spPr>
          <p:txBody>
            <a:bodyPr lIns="47086" tIns="47086" rIns="47086" bIns="47086" rtlCol="0" anchor="ctr"/>
            <a:lstStyle/>
            <a:p>
              <a:pPr algn="ctr">
                <a:lnSpc>
                  <a:spcPts val="2659"/>
                </a:lnSpc>
                <a:spcBef>
                  <a:spcPct val="0"/>
                </a:spcBef>
              </a:pPr>
              <a:endParaRPr/>
            </a:p>
          </p:txBody>
        </p:sp>
      </p:grpSp>
      <p:grpSp>
        <p:nvGrpSpPr>
          <p:cNvPr id="44" name="Group 18">
            <a:extLst>
              <a:ext uri="{FF2B5EF4-FFF2-40B4-BE49-F238E27FC236}">
                <a16:creationId xmlns:a16="http://schemas.microsoft.com/office/drawing/2014/main" id="{EE665709-4E66-F9DC-AF86-B639BAD71AB1}"/>
              </a:ext>
            </a:extLst>
          </p:cNvPr>
          <p:cNvGrpSpPr/>
          <p:nvPr/>
        </p:nvGrpSpPr>
        <p:grpSpPr>
          <a:xfrm>
            <a:off x="10922364" y="2521421"/>
            <a:ext cx="7436668" cy="2808530"/>
            <a:chOff x="0" y="0"/>
            <a:chExt cx="1013318" cy="260488"/>
          </a:xfrm>
        </p:grpSpPr>
        <p:sp>
          <p:nvSpPr>
            <p:cNvPr id="52" name="Freeform 19">
              <a:extLst>
                <a:ext uri="{FF2B5EF4-FFF2-40B4-BE49-F238E27FC236}">
                  <a16:creationId xmlns:a16="http://schemas.microsoft.com/office/drawing/2014/main" id="{76E71FCE-919A-05DF-54EA-A893DBC50EB8}"/>
                </a:ext>
              </a:extLst>
            </p:cNvPr>
            <p:cNvSpPr/>
            <p:nvPr/>
          </p:nvSpPr>
          <p:spPr>
            <a:xfrm>
              <a:off x="0" y="0"/>
              <a:ext cx="1013318" cy="260488"/>
            </a:xfrm>
            <a:custGeom>
              <a:avLst/>
              <a:gdLst/>
              <a:ahLst/>
              <a:cxnLst/>
              <a:rect l="l" t="t" r="r" b="b"/>
              <a:pathLst>
                <a:path w="1013318" h="260488">
                  <a:moveTo>
                    <a:pt x="130244" y="0"/>
                  </a:moveTo>
                  <a:lnTo>
                    <a:pt x="883074" y="0"/>
                  </a:lnTo>
                  <a:cubicBezTo>
                    <a:pt x="917617" y="0"/>
                    <a:pt x="950745" y="13722"/>
                    <a:pt x="975171" y="38148"/>
                  </a:cubicBezTo>
                  <a:cubicBezTo>
                    <a:pt x="999596" y="62573"/>
                    <a:pt x="1013318" y="95701"/>
                    <a:pt x="1013318" y="130244"/>
                  </a:cubicBezTo>
                  <a:lnTo>
                    <a:pt x="1013318" y="130244"/>
                  </a:lnTo>
                  <a:cubicBezTo>
                    <a:pt x="1013318" y="202175"/>
                    <a:pt x="955006" y="260488"/>
                    <a:pt x="883074" y="260488"/>
                  </a:cubicBezTo>
                  <a:lnTo>
                    <a:pt x="130244" y="260488"/>
                  </a:lnTo>
                  <a:cubicBezTo>
                    <a:pt x="95701" y="260488"/>
                    <a:pt x="62573" y="246766"/>
                    <a:pt x="38148" y="222340"/>
                  </a:cubicBezTo>
                  <a:cubicBezTo>
                    <a:pt x="13722" y="197915"/>
                    <a:pt x="0" y="164787"/>
                    <a:pt x="0" y="130244"/>
                  </a:cubicBezTo>
                  <a:lnTo>
                    <a:pt x="0" y="130244"/>
                  </a:lnTo>
                  <a:cubicBezTo>
                    <a:pt x="0" y="95701"/>
                    <a:pt x="13722" y="62573"/>
                    <a:pt x="38148" y="38148"/>
                  </a:cubicBezTo>
                  <a:cubicBezTo>
                    <a:pt x="62573" y="13722"/>
                    <a:pt x="95701" y="0"/>
                    <a:pt x="130244" y="0"/>
                  </a:cubicBezTo>
                  <a:close/>
                </a:path>
              </a:pathLst>
            </a:custGeom>
            <a:solidFill>
              <a:srgbClr val="F8F8F8"/>
            </a:solidFill>
          </p:spPr>
        </p:sp>
        <p:sp>
          <p:nvSpPr>
            <p:cNvPr id="61" name="TextBox 20">
              <a:extLst>
                <a:ext uri="{FF2B5EF4-FFF2-40B4-BE49-F238E27FC236}">
                  <a16:creationId xmlns:a16="http://schemas.microsoft.com/office/drawing/2014/main" id="{9B3C3275-E873-36BB-9554-309EBF7DA868}"/>
                </a:ext>
              </a:extLst>
            </p:cNvPr>
            <p:cNvSpPr txBox="1"/>
            <p:nvPr/>
          </p:nvSpPr>
          <p:spPr>
            <a:xfrm>
              <a:off x="0" y="-38100"/>
              <a:ext cx="1013318" cy="298588"/>
            </a:xfrm>
            <a:prstGeom prst="rect">
              <a:avLst/>
            </a:prstGeom>
          </p:spPr>
          <p:txBody>
            <a:bodyPr lIns="47086" tIns="47086" rIns="47086" bIns="47086" rtlCol="0" anchor="ctr"/>
            <a:lstStyle/>
            <a:p>
              <a:pPr algn="ctr">
                <a:lnSpc>
                  <a:spcPts val="2659"/>
                </a:lnSpc>
              </a:pPr>
              <a:endParaRPr/>
            </a:p>
          </p:txBody>
        </p:sp>
      </p:grpSp>
      <p:sp>
        <p:nvSpPr>
          <p:cNvPr id="25" name="TextBox 25">
            <a:extLst>
              <a:ext uri="{FF2B5EF4-FFF2-40B4-BE49-F238E27FC236}">
                <a16:creationId xmlns:a16="http://schemas.microsoft.com/office/drawing/2014/main" id="{25EA9D93-93BA-DDC5-146D-FED8B5F1C882}"/>
              </a:ext>
            </a:extLst>
          </p:cNvPr>
          <p:cNvSpPr txBox="1"/>
          <p:nvPr/>
        </p:nvSpPr>
        <p:spPr>
          <a:xfrm>
            <a:off x="143673" y="3314700"/>
            <a:ext cx="6333327" cy="1310359"/>
          </a:xfrm>
          <a:prstGeom prst="rect">
            <a:avLst/>
          </a:prstGeom>
        </p:spPr>
        <p:txBody>
          <a:bodyPr wrap="square" lIns="0" tIns="0" rIns="0" bIns="0" rtlCol="0" anchor="t">
            <a:spAutoFit/>
          </a:bodyPr>
          <a:lstStyle/>
          <a:p>
            <a:pPr>
              <a:lnSpc>
                <a:spcPts val="3422"/>
              </a:lnSpc>
              <a:spcBef>
                <a:spcPct val="0"/>
              </a:spcBef>
            </a:pPr>
            <a:r>
              <a:rPr lang="en-GB" sz="3100" b="1" dirty="0">
                <a:solidFill>
                  <a:schemeClr val="bg1">
                    <a:lumMod val="50000"/>
                  </a:schemeClr>
                </a:solidFill>
                <a:latin typeface="Poppins"/>
                <a:ea typeface="Poppins"/>
                <a:cs typeface="Poppins"/>
                <a:sym typeface="Poppins"/>
              </a:rPr>
              <a:t> Comparative analysis of LSTM, CNN, and Transformer models for text classification tasks.</a:t>
            </a:r>
          </a:p>
        </p:txBody>
      </p:sp>
      <p:sp>
        <p:nvSpPr>
          <p:cNvPr id="26" name="TextBox 26">
            <a:extLst>
              <a:ext uri="{FF2B5EF4-FFF2-40B4-BE49-F238E27FC236}">
                <a16:creationId xmlns:a16="http://schemas.microsoft.com/office/drawing/2014/main" id="{2C45B456-C79B-7722-9768-AC2F7BD08557}"/>
              </a:ext>
            </a:extLst>
          </p:cNvPr>
          <p:cNvSpPr txBox="1"/>
          <p:nvPr/>
        </p:nvSpPr>
        <p:spPr>
          <a:xfrm>
            <a:off x="6316053" y="3739583"/>
            <a:ext cx="741046" cy="376513"/>
          </a:xfrm>
          <a:prstGeom prst="rect">
            <a:avLst/>
          </a:prstGeom>
        </p:spPr>
        <p:txBody>
          <a:bodyPr lIns="0" tIns="0" rIns="0" bIns="0" rtlCol="0" anchor="t">
            <a:spAutoFit/>
          </a:bodyPr>
          <a:lstStyle/>
          <a:p>
            <a:pPr algn="ctr">
              <a:lnSpc>
                <a:spcPts val="3055"/>
              </a:lnSpc>
              <a:spcBef>
                <a:spcPct val="0"/>
              </a:spcBef>
            </a:pPr>
            <a:r>
              <a:rPr lang="en-US" sz="2182" b="1" dirty="0">
                <a:solidFill>
                  <a:srgbClr val="3A6AD6"/>
                </a:solidFill>
                <a:latin typeface="Poppins Bold"/>
                <a:ea typeface="Poppins Bold"/>
                <a:cs typeface="Poppins Bold"/>
                <a:sym typeface="Poppins Bold"/>
              </a:rPr>
              <a:t>01</a:t>
            </a:r>
          </a:p>
        </p:txBody>
      </p:sp>
      <p:sp>
        <p:nvSpPr>
          <p:cNvPr id="48" name="Freeform 48">
            <a:extLst>
              <a:ext uri="{FF2B5EF4-FFF2-40B4-BE49-F238E27FC236}">
                <a16:creationId xmlns:a16="http://schemas.microsoft.com/office/drawing/2014/main" id="{47223438-473C-2A1E-879F-D2375924A3F0}"/>
              </a:ext>
            </a:extLst>
          </p:cNvPr>
          <p:cNvSpPr/>
          <p:nvPr/>
        </p:nvSpPr>
        <p:spPr>
          <a:xfrm>
            <a:off x="11100568" y="3507432"/>
            <a:ext cx="1026728" cy="1025445"/>
          </a:xfrm>
          <a:custGeom>
            <a:avLst/>
            <a:gdLst/>
            <a:ahLst/>
            <a:cxnLst/>
            <a:rect l="l" t="t" r="r" b="b"/>
            <a:pathLst>
              <a:path w="1026728" h="1025445">
                <a:moveTo>
                  <a:pt x="0" y="0"/>
                </a:moveTo>
                <a:lnTo>
                  <a:pt x="1026728" y="0"/>
                </a:lnTo>
                <a:lnTo>
                  <a:pt x="1026728" y="1025445"/>
                </a:lnTo>
                <a:lnTo>
                  <a:pt x="0" y="1025445"/>
                </a:lnTo>
                <a:lnTo>
                  <a:pt x="0" y="0"/>
                </a:lnTo>
                <a:close/>
              </a:path>
            </a:pathLst>
          </a:custGeom>
          <a:blipFill>
            <a:blip r:embed="rId2"/>
            <a:stretch>
              <a:fillRect/>
            </a:stretch>
          </a:blipFill>
        </p:spPr>
      </p:sp>
      <p:grpSp>
        <p:nvGrpSpPr>
          <p:cNvPr id="49" name="Group 49">
            <a:extLst>
              <a:ext uri="{FF2B5EF4-FFF2-40B4-BE49-F238E27FC236}">
                <a16:creationId xmlns:a16="http://schemas.microsoft.com/office/drawing/2014/main" id="{93C06ADC-7A9F-3F8E-E223-3019BDECB304}"/>
              </a:ext>
            </a:extLst>
          </p:cNvPr>
          <p:cNvGrpSpPr/>
          <p:nvPr/>
        </p:nvGrpSpPr>
        <p:grpSpPr>
          <a:xfrm>
            <a:off x="11076630" y="3466395"/>
            <a:ext cx="1011607" cy="1011607"/>
            <a:chOff x="0" y="0"/>
            <a:chExt cx="812800" cy="812800"/>
          </a:xfrm>
        </p:grpSpPr>
        <p:sp>
          <p:nvSpPr>
            <p:cNvPr id="50" name="Freeform 50">
              <a:extLst>
                <a:ext uri="{FF2B5EF4-FFF2-40B4-BE49-F238E27FC236}">
                  <a16:creationId xmlns:a16="http://schemas.microsoft.com/office/drawing/2014/main" id="{733E07CC-EEC8-7A0E-0E17-0E081B44701E}"/>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id="51" name="TextBox 51">
              <a:extLst>
                <a:ext uri="{FF2B5EF4-FFF2-40B4-BE49-F238E27FC236}">
                  <a16:creationId xmlns:a16="http://schemas.microsoft.com/office/drawing/2014/main" id="{8045F2FA-97D5-605F-3140-C539F5F52DAD}"/>
                </a:ext>
              </a:extLst>
            </p:cNvPr>
            <p:cNvSpPr txBox="1"/>
            <p:nvPr/>
          </p:nvSpPr>
          <p:spPr>
            <a:xfrm>
              <a:off x="76200" y="38100"/>
              <a:ext cx="660400" cy="698500"/>
            </a:xfrm>
            <a:prstGeom prst="rect">
              <a:avLst/>
            </a:prstGeom>
          </p:spPr>
          <p:txBody>
            <a:bodyPr lIns="47086" tIns="47086" rIns="47086" bIns="47086" rtlCol="0" anchor="ctr"/>
            <a:lstStyle/>
            <a:p>
              <a:pPr algn="ctr">
                <a:lnSpc>
                  <a:spcPts val="2659"/>
                </a:lnSpc>
                <a:spcBef>
                  <a:spcPct val="0"/>
                </a:spcBef>
              </a:pPr>
              <a:endParaRPr/>
            </a:p>
          </p:txBody>
        </p:sp>
      </p:grpSp>
      <p:sp>
        <p:nvSpPr>
          <p:cNvPr id="53" name="TextBox 53">
            <a:extLst>
              <a:ext uri="{FF2B5EF4-FFF2-40B4-BE49-F238E27FC236}">
                <a16:creationId xmlns:a16="http://schemas.microsoft.com/office/drawing/2014/main" id="{4ADBF40F-1C87-960C-C60F-6E498E6BADF7}"/>
              </a:ext>
            </a:extLst>
          </p:cNvPr>
          <p:cNvSpPr txBox="1"/>
          <p:nvPr/>
        </p:nvSpPr>
        <p:spPr>
          <a:xfrm>
            <a:off x="11211911" y="3739583"/>
            <a:ext cx="741046" cy="376513"/>
          </a:xfrm>
          <a:prstGeom prst="rect">
            <a:avLst/>
          </a:prstGeom>
        </p:spPr>
        <p:txBody>
          <a:bodyPr lIns="0" tIns="0" rIns="0" bIns="0" rtlCol="0" anchor="t">
            <a:spAutoFit/>
          </a:bodyPr>
          <a:lstStyle/>
          <a:p>
            <a:pPr algn="ctr">
              <a:lnSpc>
                <a:spcPts val="3055"/>
              </a:lnSpc>
              <a:spcBef>
                <a:spcPct val="0"/>
              </a:spcBef>
            </a:pPr>
            <a:r>
              <a:rPr lang="en-GB" sz="2182" b="1" dirty="0">
                <a:solidFill>
                  <a:srgbClr val="3A6AD6"/>
                </a:solidFill>
                <a:latin typeface="Poppins Bold"/>
                <a:ea typeface="Poppins Bold"/>
                <a:cs typeface="Poppins Bold"/>
                <a:sym typeface="Poppins Bold"/>
              </a:rPr>
              <a:t>01</a:t>
            </a:r>
            <a:endParaRPr lang="en-US" sz="2182" b="1" dirty="0">
              <a:solidFill>
                <a:srgbClr val="3A6AD6"/>
              </a:solidFill>
              <a:latin typeface="Poppins Bold"/>
              <a:ea typeface="Poppins Bold"/>
              <a:cs typeface="Poppins Bold"/>
              <a:sym typeface="Poppins Bold"/>
            </a:endParaRPr>
          </a:p>
        </p:txBody>
      </p:sp>
      <p:sp>
        <p:nvSpPr>
          <p:cNvPr id="57" name="Freeform 57">
            <a:extLst>
              <a:ext uri="{FF2B5EF4-FFF2-40B4-BE49-F238E27FC236}">
                <a16:creationId xmlns:a16="http://schemas.microsoft.com/office/drawing/2014/main" id="{EC706F84-79C8-688B-2427-0467315F78D9}"/>
              </a:ext>
            </a:extLst>
          </p:cNvPr>
          <p:cNvSpPr/>
          <p:nvPr/>
        </p:nvSpPr>
        <p:spPr>
          <a:xfrm>
            <a:off x="11100568" y="6323106"/>
            <a:ext cx="1026728" cy="1025445"/>
          </a:xfrm>
          <a:custGeom>
            <a:avLst/>
            <a:gdLst/>
            <a:ahLst/>
            <a:cxnLst/>
            <a:rect l="l" t="t" r="r" b="b"/>
            <a:pathLst>
              <a:path w="1026728" h="1025445">
                <a:moveTo>
                  <a:pt x="0" y="0"/>
                </a:moveTo>
                <a:lnTo>
                  <a:pt x="1026728" y="0"/>
                </a:lnTo>
                <a:lnTo>
                  <a:pt x="1026728" y="1025445"/>
                </a:lnTo>
                <a:lnTo>
                  <a:pt x="0" y="1025445"/>
                </a:lnTo>
                <a:lnTo>
                  <a:pt x="0" y="0"/>
                </a:lnTo>
                <a:close/>
              </a:path>
            </a:pathLst>
          </a:custGeom>
          <a:blipFill>
            <a:blip r:embed="rId2"/>
            <a:stretch>
              <a:fillRect/>
            </a:stretch>
          </a:blipFill>
        </p:spPr>
      </p:sp>
      <p:grpSp>
        <p:nvGrpSpPr>
          <p:cNvPr id="58" name="Group 58">
            <a:extLst>
              <a:ext uri="{FF2B5EF4-FFF2-40B4-BE49-F238E27FC236}">
                <a16:creationId xmlns:a16="http://schemas.microsoft.com/office/drawing/2014/main" id="{53CABC6C-DF2E-7726-AD11-0A92A2AFABDA}"/>
              </a:ext>
            </a:extLst>
          </p:cNvPr>
          <p:cNvGrpSpPr/>
          <p:nvPr/>
        </p:nvGrpSpPr>
        <p:grpSpPr>
          <a:xfrm>
            <a:off x="11076630" y="6282070"/>
            <a:ext cx="1011607" cy="1011607"/>
            <a:chOff x="0" y="0"/>
            <a:chExt cx="812800" cy="812800"/>
          </a:xfrm>
        </p:grpSpPr>
        <p:sp>
          <p:nvSpPr>
            <p:cNvPr id="59" name="Freeform 59">
              <a:extLst>
                <a:ext uri="{FF2B5EF4-FFF2-40B4-BE49-F238E27FC236}">
                  <a16:creationId xmlns:a16="http://schemas.microsoft.com/office/drawing/2014/main" id="{E937C552-8AF5-FF3B-4FBC-D90D27EAD6E1}"/>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id="60" name="TextBox 60">
              <a:extLst>
                <a:ext uri="{FF2B5EF4-FFF2-40B4-BE49-F238E27FC236}">
                  <a16:creationId xmlns:a16="http://schemas.microsoft.com/office/drawing/2014/main" id="{9F1F7B1B-79D6-4BEB-CB41-25FEBDEFFF0E}"/>
                </a:ext>
              </a:extLst>
            </p:cNvPr>
            <p:cNvSpPr txBox="1"/>
            <p:nvPr/>
          </p:nvSpPr>
          <p:spPr>
            <a:xfrm>
              <a:off x="76200" y="38100"/>
              <a:ext cx="660400" cy="698500"/>
            </a:xfrm>
            <a:prstGeom prst="rect">
              <a:avLst/>
            </a:prstGeom>
          </p:spPr>
          <p:txBody>
            <a:bodyPr lIns="47086" tIns="47086" rIns="47086" bIns="47086" rtlCol="0" anchor="ctr"/>
            <a:lstStyle/>
            <a:p>
              <a:pPr algn="ctr">
                <a:lnSpc>
                  <a:spcPts val="2659"/>
                </a:lnSpc>
                <a:spcBef>
                  <a:spcPct val="0"/>
                </a:spcBef>
              </a:pPr>
              <a:endParaRPr/>
            </a:p>
          </p:txBody>
        </p:sp>
      </p:grpSp>
      <p:sp>
        <p:nvSpPr>
          <p:cNvPr id="62" name="TextBox 62">
            <a:extLst>
              <a:ext uri="{FF2B5EF4-FFF2-40B4-BE49-F238E27FC236}">
                <a16:creationId xmlns:a16="http://schemas.microsoft.com/office/drawing/2014/main" id="{81517C8D-45CA-5762-F233-5043F0823ED6}"/>
              </a:ext>
            </a:extLst>
          </p:cNvPr>
          <p:cNvSpPr txBox="1"/>
          <p:nvPr/>
        </p:nvSpPr>
        <p:spPr>
          <a:xfrm>
            <a:off x="11211911" y="6555257"/>
            <a:ext cx="741046" cy="376513"/>
          </a:xfrm>
          <a:prstGeom prst="rect">
            <a:avLst/>
          </a:prstGeom>
        </p:spPr>
        <p:txBody>
          <a:bodyPr lIns="0" tIns="0" rIns="0" bIns="0" rtlCol="0" anchor="t">
            <a:spAutoFit/>
          </a:bodyPr>
          <a:lstStyle/>
          <a:p>
            <a:pPr algn="ctr">
              <a:lnSpc>
                <a:spcPts val="3055"/>
              </a:lnSpc>
              <a:spcBef>
                <a:spcPct val="0"/>
              </a:spcBef>
            </a:pPr>
            <a:r>
              <a:rPr lang="en-US" sz="2182" b="1" dirty="0">
                <a:solidFill>
                  <a:srgbClr val="3A6AD6"/>
                </a:solidFill>
                <a:latin typeface="Poppins Bold"/>
                <a:ea typeface="Poppins Bold"/>
                <a:cs typeface="Poppins Bold"/>
                <a:sym typeface="Poppins Bold"/>
              </a:rPr>
              <a:t>02</a:t>
            </a:r>
          </a:p>
        </p:txBody>
      </p:sp>
      <p:sp>
        <p:nvSpPr>
          <p:cNvPr id="73" name="AutoShape 73">
            <a:extLst>
              <a:ext uri="{FF2B5EF4-FFF2-40B4-BE49-F238E27FC236}">
                <a16:creationId xmlns:a16="http://schemas.microsoft.com/office/drawing/2014/main" id="{BBCEE1A1-C6A2-A27C-B1BF-761BBCB8F82F}"/>
              </a:ext>
            </a:extLst>
          </p:cNvPr>
          <p:cNvSpPr/>
          <p:nvPr/>
        </p:nvSpPr>
        <p:spPr>
          <a:xfrm>
            <a:off x="7766528" y="3987380"/>
            <a:ext cx="2754945" cy="0"/>
          </a:xfrm>
          <a:prstGeom prst="line">
            <a:avLst/>
          </a:prstGeom>
          <a:ln w="28575" cap="flat">
            <a:solidFill>
              <a:srgbClr val="F8F8F8"/>
            </a:solidFill>
            <a:prstDash val="solid"/>
            <a:headEnd type="none" w="sm" len="sm"/>
            <a:tailEnd type="none" w="sm" len="sm"/>
          </a:ln>
        </p:spPr>
      </p:sp>
      <p:sp>
        <p:nvSpPr>
          <p:cNvPr id="74" name="AutoShape 74">
            <a:extLst>
              <a:ext uri="{FF2B5EF4-FFF2-40B4-BE49-F238E27FC236}">
                <a16:creationId xmlns:a16="http://schemas.microsoft.com/office/drawing/2014/main" id="{EF71102D-DB82-36EB-4BE5-D2942856B903}"/>
              </a:ext>
            </a:extLst>
          </p:cNvPr>
          <p:cNvSpPr/>
          <p:nvPr/>
        </p:nvSpPr>
        <p:spPr>
          <a:xfrm>
            <a:off x="7766528" y="6803054"/>
            <a:ext cx="2754945" cy="0"/>
          </a:xfrm>
          <a:prstGeom prst="line">
            <a:avLst/>
          </a:prstGeom>
          <a:ln w="28575" cap="flat">
            <a:solidFill>
              <a:srgbClr val="F8F8F8"/>
            </a:solidFill>
            <a:prstDash val="solid"/>
            <a:headEnd type="none" w="sm" len="sm"/>
            <a:tailEnd type="none" w="sm" len="sm"/>
          </a:ln>
        </p:spPr>
      </p:sp>
      <p:grpSp>
        <p:nvGrpSpPr>
          <p:cNvPr id="76" name="Group 76">
            <a:extLst>
              <a:ext uri="{FF2B5EF4-FFF2-40B4-BE49-F238E27FC236}">
                <a16:creationId xmlns:a16="http://schemas.microsoft.com/office/drawing/2014/main" id="{532F4C81-F7A0-89C3-C2F6-3D40BB504C6C}"/>
              </a:ext>
            </a:extLst>
          </p:cNvPr>
          <p:cNvGrpSpPr/>
          <p:nvPr/>
        </p:nvGrpSpPr>
        <p:grpSpPr>
          <a:xfrm>
            <a:off x="7657357" y="3878209"/>
            <a:ext cx="218342" cy="218342"/>
            <a:chOff x="0" y="0"/>
            <a:chExt cx="812800" cy="812800"/>
          </a:xfrm>
        </p:grpSpPr>
        <p:sp>
          <p:nvSpPr>
            <p:cNvPr id="77" name="Freeform 77">
              <a:extLst>
                <a:ext uri="{FF2B5EF4-FFF2-40B4-BE49-F238E27FC236}">
                  <a16:creationId xmlns:a16="http://schemas.microsoft.com/office/drawing/2014/main" id="{A7C23385-3B53-26D4-9858-E8D5F99A4954}"/>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A6AD6"/>
            </a:solidFill>
          </p:spPr>
        </p:sp>
        <p:sp>
          <p:nvSpPr>
            <p:cNvPr id="78" name="TextBox 78">
              <a:extLst>
                <a:ext uri="{FF2B5EF4-FFF2-40B4-BE49-F238E27FC236}">
                  <a16:creationId xmlns:a16="http://schemas.microsoft.com/office/drawing/2014/main" id="{2FDC77A6-48B7-76E4-A3E2-3B159849C101}"/>
                </a:ext>
              </a:extLst>
            </p:cNvPr>
            <p:cNvSpPr txBox="1"/>
            <p:nvPr/>
          </p:nvSpPr>
          <p:spPr>
            <a:xfrm>
              <a:off x="76200" y="38100"/>
              <a:ext cx="660400" cy="698500"/>
            </a:xfrm>
            <a:prstGeom prst="rect">
              <a:avLst/>
            </a:prstGeom>
          </p:spPr>
          <p:txBody>
            <a:bodyPr lIns="47086" tIns="47086" rIns="47086" bIns="47086" rtlCol="0" anchor="ctr"/>
            <a:lstStyle/>
            <a:p>
              <a:pPr algn="ctr">
                <a:lnSpc>
                  <a:spcPts val="2659"/>
                </a:lnSpc>
                <a:spcBef>
                  <a:spcPct val="0"/>
                </a:spcBef>
              </a:pPr>
              <a:endParaRPr/>
            </a:p>
          </p:txBody>
        </p:sp>
      </p:grpSp>
      <p:grpSp>
        <p:nvGrpSpPr>
          <p:cNvPr id="79" name="Group 79">
            <a:extLst>
              <a:ext uri="{FF2B5EF4-FFF2-40B4-BE49-F238E27FC236}">
                <a16:creationId xmlns:a16="http://schemas.microsoft.com/office/drawing/2014/main" id="{5C1F61C8-FA98-B51B-E39E-1C8821F57B64}"/>
              </a:ext>
            </a:extLst>
          </p:cNvPr>
          <p:cNvGrpSpPr/>
          <p:nvPr/>
        </p:nvGrpSpPr>
        <p:grpSpPr>
          <a:xfrm>
            <a:off x="10412301" y="3878209"/>
            <a:ext cx="218342" cy="218342"/>
            <a:chOff x="0" y="0"/>
            <a:chExt cx="812800" cy="812800"/>
          </a:xfrm>
        </p:grpSpPr>
        <p:sp>
          <p:nvSpPr>
            <p:cNvPr id="80" name="Freeform 80">
              <a:extLst>
                <a:ext uri="{FF2B5EF4-FFF2-40B4-BE49-F238E27FC236}">
                  <a16:creationId xmlns:a16="http://schemas.microsoft.com/office/drawing/2014/main" id="{2E1065A7-00E4-6A4D-CB3D-D4F576587C6B}"/>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A6AD6"/>
            </a:solidFill>
          </p:spPr>
        </p:sp>
        <p:sp>
          <p:nvSpPr>
            <p:cNvPr id="81" name="TextBox 81">
              <a:extLst>
                <a:ext uri="{FF2B5EF4-FFF2-40B4-BE49-F238E27FC236}">
                  <a16:creationId xmlns:a16="http://schemas.microsoft.com/office/drawing/2014/main" id="{F1D6BE48-1090-7470-0945-290D956B087D}"/>
                </a:ext>
              </a:extLst>
            </p:cNvPr>
            <p:cNvSpPr txBox="1"/>
            <p:nvPr/>
          </p:nvSpPr>
          <p:spPr>
            <a:xfrm>
              <a:off x="76200" y="38100"/>
              <a:ext cx="660400" cy="698500"/>
            </a:xfrm>
            <a:prstGeom prst="rect">
              <a:avLst/>
            </a:prstGeom>
          </p:spPr>
          <p:txBody>
            <a:bodyPr lIns="47086" tIns="47086" rIns="47086" bIns="47086" rtlCol="0" anchor="ctr"/>
            <a:lstStyle/>
            <a:p>
              <a:pPr algn="ctr">
                <a:lnSpc>
                  <a:spcPts val="2659"/>
                </a:lnSpc>
                <a:spcBef>
                  <a:spcPct val="0"/>
                </a:spcBef>
              </a:pPr>
              <a:endParaRPr/>
            </a:p>
          </p:txBody>
        </p:sp>
      </p:grpSp>
      <p:grpSp>
        <p:nvGrpSpPr>
          <p:cNvPr id="82" name="Group 82">
            <a:extLst>
              <a:ext uri="{FF2B5EF4-FFF2-40B4-BE49-F238E27FC236}">
                <a16:creationId xmlns:a16="http://schemas.microsoft.com/office/drawing/2014/main" id="{1D529735-FA24-37DC-3D94-C3D6BB9629DF}"/>
              </a:ext>
            </a:extLst>
          </p:cNvPr>
          <p:cNvGrpSpPr/>
          <p:nvPr/>
        </p:nvGrpSpPr>
        <p:grpSpPr>
          <a:xfrm>
            <a:off x="7706458" y="6677758"/>
            <a:ext cx="218342" cy="218342"/>
            <a:chOff x="0" y="0"/>
            <a:chExt cx="812800" cy="812800"/>
          </a:xfrm>
        </p:grpSpPr>
        <p:sp>
          <p:nvSpPr>
            <p:cNvPr id="83" name="Freeform 83">
              <a:extLst>
                <a:ext uri="{FF2B5EF4-FFF2-40B4-BE49-F238E27FC236}">
                  <a16:creationId xmlns:a16="http://schemas.microsoft.com/office/drawing/2014/main" id="{C999899F-EDE6-E86A-A187-07942E6EC770}"/>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A6AD6"/>
            </a:solidFill>
          </p:spPr>
        </p:sp>
        <p:sp>
          <p:nvSpPr>
            <p:cNvPr id="84" name="TextBox 84">
              <a:extLst>
                <a:ext uri="{FF2B5EF4-FFF2-40B4-BE49-F238E27FC236}">
                  <a16:creationId xmlns:a16="http://schemas.microsoft.com/office/drawing/2014/main" id="{94190CC0-5C21-D49B-CB5E-F359CCF21A81}"/>
                </a:ext>
              </a:extLst>
            </p:cNvPr>
            <p:cNvSpPr txBox="1"/>
            <p:nvPr/>
          </p:nvSpPr>
          <p:spPr>
            <a:xfrm>
              <a:off x="76200" y="38100"/>
              <a:ext cx="660400" cy="698500"/>
            </a:xfrm>
            <a:prstGeom prst="rect">
              <a:avLst/>
            </a:prstGeom>
          </p:spPr>
          <p:txBody>
            <a:bodyPr lIns="47086" tIns="47086" rIns="47086" bIns="47086" rtlCol="0" anchor="ctr"/>
            <a:lstStyle/>
            <a:p>
              <a:pPr algn="ctr">
                <a:lnSpc>
                  <a:spcPts val="2659"/>
                </a:lnSpc>
                <a:spcBef>
                  <a:spcPct val="0"/>
                </a:spcBef>
              </a:pPr>
              <a:endParaRPr/>
            </a:p>
          </p:txBody>
        </p:sp>
      </p:grpSp>
      <p:grpSp>
        <p:nvGrpSpPr>
          <p:cNvPr id="85" name="Group 85">
            <a:extLst>
              <a:ext uri="{FF2B5EF4-FFF2-40B4-BE49-F238E27FC236}">
                <a16:creationId xmlns:a16="http://schemas.microsoft.com/office/drawing/2014/main" id="{034464F8-35BA-8330-4D1C-0A472D51A226}"/>
              </a:ext>
            </a:extLst>
          </p:cNvPr>
          <p:cNvGrpSpPr/>
          <p:nvPr/>
        </p:nvGrpSpPr>
        <p:grpSpPr>
          <a:xfrm>
            <a:off x="10412301" y="6677758"/>
            <a:ext cx="218342" cy="218342"/>
            <a:chOff x="0" y="0"/>
            <a:chExt cx="812800" cy="812800"/>
          </a:xfrm>
        </p:grpSpPr>
        <p:sp>
          <p:nvSpPr>
            <p:cNvPr id="86" name="Freeform 86">
              <a:extLst>
                <a:ext uri="{FF2B5EF4-FFF2-40B4-BE49-F238E27FC236}">
                  <a16:creationId xmlns:a16="http://schemas.microsoft.com/office/drawing/2014/main" id="{C2CD2C61-EF77-E2F9-8243-C43C8B020985}"/>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A6AD6"/>
            </a:solidFill>
          </p:spPr>
        </p:sp>
        <p:sp>
          <p:nvSpPr>
            <p:cNvPr id="87" name="TextBox 87">
              <a:extLst>
                <a:ext uri="{FF2B5EF4-FFF2-40B4-BE49-F238E27FC236}">
                  <a16:creationId xmlns:a16="http://schemas.microsoft.com/office/drawing/2014/main" id="{601C37CC-9B23-866F-B94C-2FE36E7C0198}"/>
                </a:ext>
              </a:extLst>
            </p:cNvPr>
            <p:cNvSpPr txBox="1"/>
            <p:nvPr/>
          </p:nvSpPr>
          <p:spPr>
            <a:xfrm>
              <a:off x="76200" y="38100"/>
              <a:ext cx="660400" cy="698500"/>
            </a:xfrm>
            <a:prstGeom prst="rect">
              <a:avLst/>
            </a:prstGeom>
          </p:spPr>
          <p:txBody>
            <a:bodyPr lIns="47086" tIns="47086" rIns="47086" bIns="47086" rtlCol="0" anchor="ctr"/>
            <a:lstStyle/>
            <a:p>
              <a:pPr algn="ctr">
                <a:lnSpc>
                  <a:spcPts val="2659"/>
                </a:lnSpc>
                <a:spcBef>
                  <a:spcPct val="0"/>
                </a:spcBef>
              </a:pPr>
              <a:endParaRPr/>
            </a:p>
          </p:txBody>
        </p:sp>
      </p:grpSp>
      <p:sp>
        <p:nvSpPr>
          <p:cNvPr id="94" name="AutoShape 94">
            <a:extLst>
              <a:ext uri="{FF2B5EF4-FFF2-40B4-BE49-F238E27FC236}">
                <a16:creationId xmlns:a16="http://schemas.microsoft.com/office/drawing/2014/main" id="{6EA0DB8E-56C6-B478-A87A-DE62A5203A76}"/>
              </a:ext>
            </a:extLst>
          </p:cNvPr>
          <p:cNvSpPr/>
          <p:nvPr/>
        </p:nvSpPr>
        <p:spPr>
          <a:xfrm>
            <a:off x="9144000" y="4001667"/>
            <a:ext cx="0" cy="6285333"/>
          </a:xfrm>
          <a:prstGeom prst="line">
            <a:avLst/>
          </a:prstGeom>
          <a:ln w="28575" cap="flat">
            <a:solidFill>
              <a:srgbClr val="F8F8F8"/>
            </a:solidFill>
            <a:prstDash val="solid"/>
            <a:headEnd type="none" w="sm" len="sm"/>
            <a:tailEnd type="none" w="sm" len="sm"/>
          </a:ln>
        </p:spPr>
      </p:sp>
      <p:grpSp>
        <p:nvGrpSpPr>
          <p:cNvPr id="10" name="Group 18">
            <a:extLst>
              <a:ext uri="{FF2B5EF4-FFF2-40B4-BE49-F238E27FC236}">
                <a16:creationId xmlns:a16="http://schemas.microsoft.com/office/drawing/2014/main" id="{3A0A3ADE-C4CC-3EDE-08FB-21BCB4BA0246}"/>
              </a:ext>
            </a:extLst>
          </p:cNvPr>
          <p:cNvGrpSpPr/>
          <p:nvPr/>
        </p:nvGrpSpPr>
        <p:grpSpPr>
          <a:xfrm>
            <a:off x="-45631" y="5656974"/>
            <a:ext cx="7436668" cy="2018545"/>
            <a:chOff x="0" y="0"/>
            <a:chExt cx="1013318" cy="260488"/>
          </a:xfrm>
        </p:grpSpPr>
        <p:sp>
          <p:nvSpPr>
            <p:cNvPr id="11" name="Freeform 19">
              <a:extLst>
                <a:ext uri="{FF2B5EF4-FFF2-40B4-BE49-F238E27FC236}">
                  <a16:creationId xmlns:a16="http://schemas.microsoft.com/office/drawing/2014/main" id="{E908CB95-3581-18E5-BAB7-BACBADBC78BA}"/>
                </a:ext>
              </a:extLst>
            </p:cNvPr>
            <p:cNvSpPr/>
            <p:nvPr/>
          </p:nvSpPr>
          <p:spPr>
            <a:xfrm>
              <a:off x="0" y="0"/>
              <a:ext cx="1013318" cy="260488"/>
            </a:xfrm>
            <a:custGeom>
              <a:avLst/>
              <a:gdLst/>
              <a:ahLst/>
              <a:cxnLst/>
              <a:rect l="l" t="t" r="r" b="b"/>
              <a:pathLst>
                <a:path w="1013318" h="260488">
                  <a:moveTo>
                    <a:pt x="130244" y="0"/>
                  </a:moveTo>
                  <a:lnTo>
                    <a:pt x="883074" y="0"/>
                  </a:lnTo>
                  <a:cubicBezTo>
                    <a:pt x="917617" y="0"/>
                    <a:pt x="950745" y="13722"/>
                    <a:pt x="975171" y="38148"/>
                  </a:cubicBezTo>
                  <a:cubicBezTo>
                    <a:pt x="999596" y="62573"/>
                    <a:pt x="1013318" y="95701"/>
                    <a:pt x="1013318" y="130244"/>
                  </a:cubicBezTo>
                  <a:lnTo>
                    <a:pt x="1013318" y="130244"/>
                  </a:lnTo>
                  <a:cubicBezTo>
                    <a:pt x="1013318" y="202175"/>
                    <a:pt x="955006" y="260488"/>
                    <a:pt x="883074" y="260488"/>
                  </a:cubicBezTo>
                  <a:lnTo>
                    <a:pt x="130244" y="260488"/>
                  </a:lnTo>
                  <a:cubicBezTo>
                    <a:pt x="95701" y="260488"/>
                    <a:pt x="62573" y="246766"/>
                    <a:pt x="38148" y="222340"/>
                  </a:cubicBezTo>
                  <a:cubicBezTo>
                    <a:pt x="13722" y="197915"/>
                    <a:pt x="0" y="164787"/>
                    <a:pt x="0" y="130244"/>
                  </a:cubicBezTo>
                  <a:lnTo>
                    <a:pt x="0" y="130244"/>
                  </a:lnTo>
                  <a:cubicBezTo>
                    <a:pt x="0" y="95701"/>
                    <a:pt x="13722" y="62573"/>
                    <a:pt x="38148" y="38148"/>
                  </a:cubicBezTo>
                  <a:cubicBezTo>
                    <a:pt x="62573" y="13722"/>
                    <a:pt x="95701" y="0"/>
                    <a:pt x="130244" y="0"/>
                  </a:cubicBezTo>
                  <a:close/>
                </a:path>
              </a:pathLst>
            </a:custGeom>
            <a:solidFill>
              <a:srgbClr val="F8F8F8"/>
            </a:solidFill>
          </p:spPr>
        </p:sp>
        <p:sp>
          <p:nvSpPr>
            <p:cNvPr id="12" name="TextBox 20">
              <a:extLst>
                <a:ext uri="{FF2B5EF4-FFF2-40B4-BE49-F238E27FC236}">
                  <a16:creationId xmlns:a16="http://schemas.microsoft.com/office/drawing/2014/main" id="{906E0A56-880E-A772-E3E5-4ED730E55AAA}"/>
                </a:ext>
              </a:extLst>
            </p:cNvPr>
            <p:cNvSpPr txBox="1"/>
            <p:nvPr/>
          </p:nvSpPr>
          <p:spPr>
            <a:xfrm>
              <a:off x="0" y="-38100"/>
              <a:ext cx="1013318" cy="298588"/>
            </a:xfrm>
            <a:prstGeom prst="rect">
              <a:avLst/>
            </a:prstGeom>
          </p:spPr>
          <p:txBody>
            <a:bodyPr lIns="47086" tIns="47086" rIns="47086" bIns="47086" rtlCol="0" anchor="ctr"/>
            <a:lstStyle/>
            <a:p>
              <a:pPr algn="ctr">
                <a:lnSpc>
                  <a:spcPts val="2659"/>
                </a:lnSpc>
              </a:pPr>
              <a:endParaRPr/>
            </a:p>
          </p:txBody>
        </p:sp>
      </p:grpSp>
      <p:sp>
        <p:nvSpPr>
          <p:cNvPr id="13" name="Freeform 21">
            <a:extLst>
              <a:ext uri="{FF2B5EF4-FFF2-40B4-BE49-F238E27FC236}">
                <a16:creationId xmlns:a16="http://schemas.microsoft.com/office/drawing/2014/main" id="{247E22B4-1D60-1EF5-A438-AB5EAD73F55B}"/>
              </a:ext>
            </a:extLst>
          </p:cNvPr>
          <p:cNvSpPr/>
          <p:nvPr/>
        </p:nvSpPr>
        <p:spPr>
          <a:xfrm>
            <a:off x="6235272" y="6188557"/>
            <a:ext cx="1026728" cy="1025445"/>
          </a:xfrm>
          <a:custGeom>
            <a:avLst/>
            <a:gdLst/>
            <a:ahLst/>
            <a:cxnLst/>
            <a:rect l="l" t="t" r="r" b="b"/>
            <a:pathLst>
              <a:path w="1026728" h="1025445">
                <a:moveTo>
                  <a:pt x="0" y="0"/>
                </a:moveTo>
                <a:lnTo>
                  <a:pt x="1026728" y="0"/>
                </a:lnTo>
                <a:lnTo>
                  <a:pt x="1026728" y="1025445"/>
                </a:lnTo>
                <a:lnTo>
                  <a:pt x="0" y="1025445"/>
                </a:lnTo>
                <a:lnTo>
                  <a:pt x="0" y="0"/>
                </a:lnTo>
                <a:close/>
              </a:path>
            </a:pathLst>
          </a:custGeom>
          <a:blipFill>
            <a:blip r:embed="rId2"/>
            <a:stretch>
              <a:fillRect/>
            </a:stretch>
          </a:blipFill>
        </p:spPr>
      </p:sp>
      <p:grpSp>
        <p:nvGrpSpPr>
          <p:cNvPr id="34" name="Group 22">
            <a:extLst>
              <a:ext uri="{FF2B5EF4-FFF2-40B4-BE49-F238E27FC236}">
                <a16:creationId xmlns:a16="http://schemas.microsoft.com/office/drawing/2014/main" id="{29BB71D0-4155-49AD-A0E4-8A9CD4556C0C}"/>
              </a:ext>
            </a:extLst>
          </p:cNvPr>
          <p:cNvGrpSpPr/>
          <p:nvPr/>
        </p:nvGrpSpPr>
        <p:grpSpPr>
          <a:xfrm>
            <a:off x="6211334" y="6147520"/>
            <a:ext cx="1011607" cy="1011607"/>
            <a:chOff x="0" y="0"/>
            <a:chExt cx="812800" cy="812800"/>
          </a:xfrm>
        </p:grpSpPr>
        <p:sp>
          <p:nvSpPr>
            <p:cNvPr id="36" name="Freeform 23">
              <a:extLst>
                <a:ext uri="{FF2B5EF4-FFF2-40B4-BE49-F238E27FC236}">
                  <a16:creationId xmlns:a16="http://schemas.microsoft.com/office/drawing/2014/main" id="{839B31EB-B5D7-663B-D879-7A1606C5DEF2}"/>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id="37" name="TextBox 24">
              <a:extLst>
                <a:ext uri="{FF2B5EF4-FFF2-40B4-BE49-F238E27FC236}">
                  <a16:creationId xmlns:a16="http://schemas.microsoft.com/office/drawing/2014/main" id="{E76CA0CB-64F5-CB63-3E06-C99ED4E1EFB9}"/>
                </a:ext>
              </a:extLst>
            </p:cNvPr>
            <p:cNvSpPr txBox="1"/>
            <p:nvPr/>
          </p:nvSpPr>
          <p:spPr>
            <a:xfrm>
              <a:off x="76200" y="38100"/>
              <a:ext cx="660400" cy="698500"/>
            </a:xfrm>
            <a:prstGeom prst="rect">
              <a:avLst/>
            </a:prstGeom>
          </p:spPr>
          <p:txBody>
            <a:bodyPr lIns="47086" tIns="47086" rIns="47086" bIns="47086" rtlCol="0" anchor="ctr"/>
            <a:lstStyle/>
            <a:p>
              <a:pPr algn="ctr">
                <a:lnSpc>
                  <a:spcPts val="2659"/>
                </a:lnSpc>
                <a:spcBef>
                  <a:spcPct val="0"/>
                </a:spcBef>
              </a:pPr>
              <a:endParaRPr/>
            </a:p>
          </p:txBody>
        </p:sp>
      </p:grpSp>
      <p:sp>
        <p:nvSpPr>
          <p:cNvPr id="38" name="TextBox 25">
            <a:extLst>
              <a:ext uri="{FF2B5EF4-FFF2-40B4-BE49-F238E27FC236}">
                <a16:creationId xmlns:a16="http://schemas.microsoft.com/office/drawing/2014/main" id="{BED0FDB0-35ED-5791-7253-89B0BB254184}"/>
              </a:ext>
            </a:extLst>
          </p:cNvPr>
          <p:cNvSpPr txBox="1"/>
          <p:nvPr/>
        </p:nvSpPr>
        <p:spPr>
          <a:xfrm>
            <a:off x="452357" y="5996348"/>
            <a:ext cx="6178845" cy="1313949"/>
          </a:xfrm>
          <a:prstGeom prst="rect">
            <a:avLst/>
          </a:prstGeom>
        </p:spPr>
        <p:txBody>
          <a:bodyPr wrap="square" lIns="0" tIns="0" rIns="0" bIns="0" rtlCol="0" anchor="t">
            <a:spAutoFit/>
          </a:bodyPr>
          <a:lstStyle/>
          <a:p>
            <a:pPr>
              <a:lnSpc>
                <a:spcPts val="3422"/>
              </a:lnSpc>
              <a:spcBef>
                <a:spcPct val="0"/>
              </a:spcBef>
            </a:pPr>
            <a:r>
              <a:rPr lang="en-GB" sz="3100" b="1" dirty="0">
                <a:solidFill>
                  <a:schemeClr val="bg1">
                    <a:lumMod val="50000"/>
                  </a:schemeClr>
                </a:solidFill>
                <a:latin typeface="Poppins"/>
                <a:ea typeface="Poppins"/>
                <a:cs typeface="Poppins"/>
                <a:sym typeface="Poppins"/>
              </a:rPr>
              <a:t> Evaluation of both accuracy and carbon footprint using </a:t>
            </a:r>
            <a:r>
              <a:rPr lang="en-GB" sz="3100" b="1" dirty="0" err="1">
                <a:solidFill>
                  <a:schemeClr val="bg1">
                    <a:lumMod val="50000"/>
                  </a:schemeClr>
                </a:solidFill>
                <a:latin typeface="Poppins"/>
                <a:ea typeface="Poppins"/>
                <a:cs typeface="Poppins"/>
                <a:sym typeface="Poppins"/>
              </a:rPr>
              <a:t>CodeCarbon</a:t>
            </a:r>
            <a:r>
              <a:rPr lang="en-GB" sz="3100" b="1" dirty="0">
                <a:solidFill>
                  <a:schemeClr val="bg1">
                    <a:lumMod val="50000"/>
                  </a:schemeClr>
                </a:solidFill>
                <a:latin typeface="Poppins"/>
                <a:ea typeface="Poppins"/>
                <a:cs typeface="Poppins"/>
                <a:sym typeface="Poppins"/>
              </a:rPr>
              <a:t>.</a:t>
            </a:r>
          </a:p>
        </p:txBody>
      </p:sp>
      <p:sp>
        <p:nvSpPr>
          <p:cNvPr id="39" name="TextBox 26">
            <a:extLst>
              <a:ext uri="{FF2B5EF4-FFF2-40B4-BE49-F238E27FC236}">
                <a16:creationId xmlns:a16="http://schemas.microsoft.com/office/drawing/2014/main" id="{C090E28E-56CB-10C5-4FE8-CAF825CB9DD3}"/>
              </a:ext>
            </a:extLst>
          </p:cNvPr>
          <p:cNvSpPr txBox="1"/>
          <p:nvPr/>
        </p:nvSpPr>
        <p:spPr>
          <a:xfrm>
            <a:off x="6346615" y="6420708"/>
            <a:ext cx="741046" cy="376513"/>
          </a:xfrm>
          <a:prstGeom prst="rect">
            <a:avLst/>
          </a:prstGeom>
        </p:spPr>
        <p:txBody>
          <a:bodyPr lIns="0" tIns="0" rIns="0" bIns="0" rtlCol="0" anchor="t">
            <a:spAutoFit/>
          </a:bodyPr>
          <a:lstStyle/>
          <a:p>
            <a:pPr algn="ctr">
              <a:lnSpc>
                <a:spcPts val="3055"/>
              </a:lnSpc>
              <a:spcBef>
                <a:spcPct val="0"/>
              </a:spcBef>
            </a:pPr>
            <a:r>
              <a:rPr lang="en-US" sz="2182" b="1" dirty="0">
                <a:solidFill>
                  <a:srgbClr val="3A6AD6"/>
                </a:solidFill>
                <a:latin typeface="Poppins Bold"/>
                <a:ea typeface="Poppins Bold"/>
                <a:cs typeface="Poppins Bold"/>
                <a:sym typeface="Poppins Bold"/>
              </a:rPr>
              <a:t>02</a:t>
            </a:r>
          </a:p>
        </p:txBody>
      </p:sp>
      <p:sp>
        <p:nvSpPr>
          <p:cNvPr id="40" name="TextBox 25">
            <a:extLst>
              <a:ext uri="{FF2B5EF4-FFF2-40B4-BE49-F238E27FC236}">
                <a16:creationId xmlns:a16="http://schemas.microsoft.com/office/drawing/2014/main" id="{0705E4D7-E2F6-4BC3-214E-CCABFEC12FF8}"/>
              </a:ext>
            </a:extLst>
          </p:cNvPr>
          <p:cNvSpPr txBox="1"/>
          <p:nvPr/>
        </p:nvSpPr>
        <p:spPr>
          <a:xfrm>
            <a:off x="12261555" y="2552700"/>
            <a:ext cx="6178845" cy="3058017"/>
          </a:xfrm>
          <a:prstGeom prst="rect">
            <a:avLst/>
          </a:prstGeom>
        </p:spPr>
        <p:txBody>
          <a:bodyPr wrap="square" lIns="0" tIns="0" rIns="0" bIns="0" rtlCol="0" anchor="t">
            <a:spAutoFit/>
          </a:bodyPr>
          <a:lstStyle/>
          <a:p>
            <a:pPr>
              <a:lnSpc>
                <a:spcPts val="3422"/>
              </a:lnSpc>
              <a:spcBef>
                <a:spcPct val="0"/>
              </a:spcBef>
            </a:pPr>
            <a:r>
              <a:rPr lang="en-GB" sz="3100" b="1" dirty="0">
                <a:solidFill>
                  <a:schemeClr val="bg1">
                    <a:lumMod val="50000"/>
                  </a:schemeClr>
                </a:solidFill>
                <a:latin typeface="Poppins"/>
                <a:ea typeface="Poppins"/>
                <a:cs typeface="Poppins"/>
                <a:sym typeface="Poppins"/>
              </a:rPr>
              <a:t> </a:t>
            </a:r>
            <a:r>
              <a:rPr lang="en-GB" sz="3100" b="1" dirty="0">
                <a:solidFill>
                  <a:schemeClr val="accent6">
                    <a:lumMod val="75000"/>
                  </a:schemeClr>
                </a:solidFill>
                <a:latin typeface="Poppins"/>
                <a:ea typeface="Poppins"/>
                <a:cs typeface="Poppins"/>
                <a:sym typeface="Poppins"/>
              </a:rPr>
              <a:t>Datasets: </a:t>
            </a:r>
            <a:r>
              <a:rPr lang="en-GB" sz="3100" b="1" dirty="0">
                <a:solidFill>
                  <a:schemeClr val="bg1">
                    <a:lumMod val="50000"/>
                  </a:schemeClr>
                </a:solidFill>
                <a:latin typeface="Poppins"/>
                <a:ea typeface="Poppins"/>
                <a:cs typeface="Poppins"/>
                <a:sym typeface="Poppins"/>
              </a:rPr>
              <a:t>IMDb, AG News (publicly available).</a:t>
            </a:r>
          </a:p>
          <a:p>
            <a:pPr>
              <a:lnSpc>
                <a:spcPts val="3422"/>
              </a:lnSpc>
              <a:spcBef>
                <a:spcPct val="0"/>
              </a:spcBef>
            </a:pPr>
            <a:r>
              <a:rPr lang="en-GB" sz="3100" b="1" dirty="0">
                <a:solidFill>
                  <a:schemeClr val="bg1">
                    <a:lumMod val="50000"/>
                  </a:schemeClr>
                </a:solidFill>
                <a:latin typeface="Poppins"/>
                <a:ea typeface="Poppins"/>
                <a:cs typeface="Poppins"/>
                <a:sym typeface="Poppins"/>
              </a:rPr>
              <a:t> </a:t>
            </a:r>
          </a:p>
          <a:p>
            <a:pPr>
              <a:lnSpc>
                <a:spcPts val="3422"/>
              </a:lnSpc>
              <a:spcBef>
                <a:spcPct val="0"/>
              </a:spcBef>
            </a:pPr>
            <a:r>
              <a:rPr lang="en-GB" sz="3100" b="1" dirty="0">
                <a:solidFill>
                  <a:schemeClr val="accent6">
                    <a:lumMod val="75000"/>
                  </a:schemeClr>
                </a:solidFill>
                <a:latin typeface="Poppins"/>
                <a:ea typeface="Poppins"/>
                <a:cs typeface="Poppins"/>
                <a:sym typeface="Poppins"/>
              </a:rPr>
              <a:t>Metrics: </a:t>
            </a:r>
            <a:r>
              <a:rPr lang="en-GB" sz="3100" b="1" dirty="0">
                <a:solidFill>
                  <a:schemeClr val="bg1">
                    <a:lumMod val="50000"/>
                  </a:schemeClr>
                </a:solidFill>
                <a:latin typeface="Poppins"/>
                <a:ea typeface="Poppins"/>
                <a:cs typeface="Poppins"/>
                <a:sym typeface="Poppins"/>
              </a:rPr>
              <a:t>Accuracy, F1-score, energy consumption (kWh), CO₂ emissions (</a:t>
            </a:r>
            <a:r>
              <a:rPr lang="en-GB" sz="3100" b="1" dirty="0" err="1">
                <a:solidFill>
                  <a:schemeClr val="bg1">
                    <a:lumMod val="50000"/>
                  </a:schemeClr>
                </a:solidFill>
                <a:latin typeface="Poppins"/>
                <a:ea typeface="Poppins"/>
                <a:cs typeface="Poppins"/>
                <a:sym typeface="Poppins"/>
              </a:rPr>
              <a:t>gCO₂eq</a:t>
            </a:r>
            <a:r>
              <a:rPr lang="en-GB" sz="3100" b="1" dirty="0">
                <a:solidFill>
                  <a:schemeClr val="bg1">
                    <a:lumMod val="50000"/>
                  </a:schemeClr>
                </a:solidFill>
                <a:latin typeface="Poppins"/>
                <a:ea typeface="Poppins"/>
                <a:cs typeface="Poppins"/>
                <a:sym typeface="Poppins"/>
              </a:rPr>
              <a:t>).</a:t>
            </a:r>
          </a:p>
          <a:p>
            <a:pPr>
              <a:lnSpc>
                <a:spcPts val="3422"/>
              </a:lnSpc>
              <a:spcBef>
                <a:spcPct val="0"/>
              </a:spcBef>
            </a:pPr>
            <a:endParaRPr lang="en-GB" sz="3100" b="1" dirty="0">
              <a:solidFill>
                <a:schemeClr val="bg1">
                  <a:lumMod val="50000"/>
                </a:schemeClr>
              </a:solidFill>
              <a:latin typeface="Poppins"/>
              <a:ea typeface="Poppins"/>
              <a:cs typeface="Poppins"/>
              <a:sym typeface="Poppins"/>
            </a:endParaRPr>
          </a:p>
        </p:txBody>
      </p:sp>
      <p:sp>
        <p:nvSpPr>
          <p:cNvPr id="66" name="TextBox 25">
            <a:extLst>
              <a:ext uri="{FF2B5EF4-FFF2-40B4-BE49-F238E27FC236}">
                <a16:creationId xmlns:a16="http://schemas.microsoft.com/office/drawing/2014/main" id="{C72D00C3-A1F7-E1E0-A91F-D5C1F5D7AB56}"/>
              </a:ext>
            </a:extLst>
          </p:cNvPr>
          <p:cNvSpPr txBox="1"/>
          <p:nvPr/>
        </p:nvSpPr>
        <p:spPr>
          <a:xfrm>
            <a:off x="12344400" y="6210300"/>
            <a:ext cx="6178845" cy="1310359"/>
          </a:xfrm>
          <a:prstGeom prst="rect">
            <a:avLst/>
          </a:prstGeom>
        </p:spPr>
        <p:txBody>
          <a:bodyPr wrap="square" lIns="0" tIns="0" rIns="0" bIns="0" rtlCol="0" anchor="t">
            <a:spAutoFit/>
          </a:bodyPr>
          <a:lstStyle/>
          <a:p>
            <a:pPr>
              <a:lnSpc>
                <a:spcPts val="3422"/>
              </a:lnSpc>
              <a:spcBef>
                <a:spcPct val="0"/>
              </a:spcBef>
            </a:pPr>
            <a:r>
              <a:rPr lang="en-GB" sz="3100" b="1" dirty="0">
                <a:solidFill>
                  <a:schemeClr val="bg1">
                    <a:lumMod val="50000"/>
                  </a:schemeClr>
                </a:solidFill>
                <a:latin typeface="Poppins"/>
                <a:ea typeface="Poppins"/>
                <a:cs typeface="Poppins"/>
                <a:sym typeface="Poppins"/>
              </a:rPr>
              <a:t> </a:t>
            </a:r>
            <a:r>
              <a:rPr lang="en-GB" sz="3100" b="1" dirty="0">
                <a:solidFill>
                  <a:schemeClr val="accent6">
                    <a:lumMod val="75000"/>
                  </a:schemeClr>
                </a:solidFill>
                <a:latin typeface="Poppins"/>
                <a:ea typeface="Poppins"/>
                <a:cs typeface="Poppins"/>
                <a:sym typeface="Poppins"/>
              </a:rPr>
              <a:t>Hardware: </a:t>
            </a:r>
            <a:r>
              <a:rPr lang="en-GB" sz="3100" b="1" dirty="0">
                <a:solidFill>
                  <a:schemeClr val="bg1">
                    <a:lumMod val="50000"/>
                  </a:schemeClr>
                </a:solidFill>
                <a:latin typeface="Poppins"/>
                <a:ea typeface="Poppins"/>
                <a:cs typeface="Poppins"/>
                <a:sym typeface="Poppins"/>
              </a:rPr>
              <a:t>Standard workstation environment (GPU-enabled).</a:t>
            </a:r>
          </a:p>
        </p:txBody>
      </p:sp>
      <p:pic>
        <p:nvPicPr>
          <p:cNvPr id="3074" name="Picture 2" descr="Hands and Scope - Free gestures icons">
            <a:extLst>
              <a:ext uri="{FF2B5EF4-FFF2-40B4-BE49-F238E27FC236}">
                <a16:creationId xmlns:a16="http://schemas.microsoft.com/office/drawing/2014/main" id="{DCE4E79C-74B5-687A-3C78-9F5C3A16480B}"/>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189488" y="-158026"/>
            <a:ext cx="1909023" cy="190902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395944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Click="0">
        <p159:morph option="byObject"/>
      </p:transition>
    </mc:Choice>
    <mc:Fallback xmlns="">
      <p:transition spd="slow" advClick="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2" presetClass="emph" presetSubtype="0" fill="hold" grpId="0" nodeType="afterEffect">
                                  <p:stCondLst>
                                    <p:cond delay="0"/>
                                  </p:stCondLst>
                                  <p:childTnLst>
                                    <p:animRot by="120000">
                                      <p:cBhvr>
                                        <p:cTn id="6" dur="200" fill="hold">
                                          <p:stCondLst>
                                            <p:cond delay="0"/>
                                          </p:stCondLst>
                                        </p:cTn>
                                        <p:tgtEl>
                                          <p:spTgt spid="9"/>
                                        </p:tgtEl>
                                        <p:attrNameLst>
                                          <p:attrName>r</p:attrName>
                                        </p:attrNameLst>
                                      </p:cBhvr>
                                    </p:animRot>
                                    <p:animRot by="-240000">
                                      <p:cBhvr>
                                        <p:cTn id="7" dur="400" fill="hold">
                                          <p:stCondLst>
                                            <p:cond delay="400"/>
                                          </p:stCondLst>
                                        </p:cTn>
                                        <p:tgtEl>
                                          <p:spTgt spid="9"/>
                                        </p:tgtEl>
                                        <p:attrNameLst>
                                          <p:attrName>r</p:attrName>
                                        </p:attrNameLst>
                                      </p:cBhvr>
                                    </p:animRot>
                                    <p:animRot by="240000">
                                      <p:cBhvr>
                                        <p:cTn id="8" dur="400" fill="hold">
                                          <p:stCondLst>
                                            <p:cond delay="800"/>
                                          </p:stCondLst>
                                        </p:cTn>
                                        <p:tgtEl>
                                          <p:spTgt spid="9"/>
                                        </p:tgtEl>
                                        <p:attrNameLst>
                                          <p:attrName>r</p:attrName>
                                        </p:attrNameLst>
                                      </p:cBhvr>
                                    </p:animRot>
                                    <p:animRot by="-240000">
                                      <p:cBhvr>
                                        <p:cTn id="9" dur="400" fill="hold">
                                          <p:stCondLst>
                                            <p:cond delay="1200"/>
                                          </p:stCondLst>
                                        </p:cTn>
                                        <p:tgtEl>
                                          <p:spTgt spid="9"/>
                                        </p:tgtEl>
                                        <p:attrNameLst>
                                          <p:attrName>r</p:attrName>
                                        </p:attrNameLst>
                                      </p:cBhvr>
                                    </p:animRot>
                                    <p:animRot by="120000">
                                      <p:cBhvr>
                                        <p:cTn id="10" dur="400" fill="hold">
                                          <p:stCondLst>
                                            <p:cond delay="1600"/>
                                          </p:stCondLst>
                                        </p:cTn>
                                        <p:tgtEl>
                                          <p:spTgt spid="9"/>
                                        </p:tgtEl>
                                        <p:attrNameLst>
                                          <p:attrName>r</p:attrName>
                                        </p:attrNameLst>
                                      </p:cBhvr>
                                    </p:animRot>
                                  </p:childTnLst>
                                </p:cTn>
                              </p:par>
                            </p:childTnLst>
                          </p:cTn>
                        </p:par>
                        <p:par>
                          <p:cTn id="11" fill="hold">
                            <p:stCondLst>
                              <p:cond delay="2000"/>
                            </p:stCondLst>
                            <p:childTnLst>
                              <p:par>
                                <p:cTn id="12" presetID="45" presetClass="entr" presetSubtype="0" fill="hold" nodeType="afterEffect">
                                  <p:stCondLst>
                                    <p:cond delay="0"/>
                                  </p:stCondLst>
                                  <p:childTnLst>
                                    <p:set>
                                      <p:cBhvr>
                                        <p:cTn id="13" dur="1" fill="hold">
                                          <p:stCondLst>
                                            <p:cond delay="0"/>
                                          </p:stCondLst>
                                        </p:cTn>
                                        <p:tgtEl>
                                          <p:spTgt spid="3074"/>
                                        </p:tgtEl>
                                        <p:attrNameLst>
                                          <p:attrName>style.visibility</p:attrName>
                                        </p:attrNameLst>
                                      </p:cBhvr>
                                      <p:to>
                                        <p:strVal val="visible"/>
                                      </p:to>
                                    </p:set>
                                    <p:animEffect transition="in" filter="fade">
                                      <p:cBhvr>
                                        <p:cTn id="14" dur="2000"/>
                                        <p:tgtEl>
                                          <p:spTgt spid="3074"/>
                                        </p:tgtEl>
                                      </p:cBhvr>
                                    </p:animEffect>
                                    <p:anim calcmode="lin" valueType="num">
                                      <p:cBhvr>
                                        <p:cTn id="15" dur="2000" fill="hold"/>
                                        <p:tgtEl>
                                          <p:spTgt spid="3074"/>
                                        </p:tgtEl>
                                        <p:attrNameLst>
                                          <p:attrName>ppt_w</p:attrName>
                                        </p:attrNameLst>
                                      </p:cBhvr>
                                      <p:tavLst>
                                        <p:tav tm="0" fmla="#ppt_w*sin(2.5*pi*$)">
                                          <p:val>
                                            <p:fltVal val="0"/>
                                          </p:val>
                                        </p:tav>
                                        <p:tav tm="100000">
                                          <p:val>
                                            <p:fltVal val="1"/>
                                          </p:val>
                                        </p:tav>
                                      </p:tavLst>
                                    </p:anim>
                                    <p:anim calcmode="lin" valueType="num">
                                      <p:cBhvr>
                                        <p:cTn id="16" dur="2000" fill="hold"/>
                                        <p:tgtEl>
                                          <p:spTgt spid="3074"/>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37AB55-7ACE-1525-47D2-0CA798DB969E}"/>
            </a:ext>
          </a:extLst>
        </p:cNvPr>
        <p:cNvGrpSpPr/>
        <p:nvPr/>
      </p:nvGrpSpPr>
      <p:grpSpPr>
        <a:xfrm>
          <a:off x="0" y="0"/>
          <a:ext cx="0" cy="0"/>
          <a:chOff x="0" y="0"/>
          <a:chExt cx="0" cy="0"/>
        </a:xfrm>
      </p:grpSpPr>
      <p:sp>
        <p:nvSpPr>
          <p:cNvPr id="61" name="TextBox 29">
            <a:extLst>
              <a:ext uri="{FF2B5EF4-FFF2-40B4-BE49-F238E27FC236}">
                <a16:creationId xmlns:a16="http://schemas.microsoft.com/office/drawing/2014/main" id="{A9E458B5-E66E-3418-3327-1865A5E39BC3}"/>
              </a:ext>
            </a:extLst>
          </p:cNvPr>
          <p:cNvSpPr txBox="1"/>
          <p:nvPr/>
        </p:nvSpPr>
        <p:spPr>
          <a:xfrm>
            <a:off x="6518759" y="6404639"/>
            <a:ext cx="5139841" cy="3006061"/>
          </a:xfrm>
          <a:prstGeom prst="rect">
            <a:avLst/>
          </a:prstGeom>
        </p:spPr>
        <p:txBody>
          <a:bodyPr lIns="47086" tIns="47086" rIns="47086" bIns="47086" rtlCol="0" anchor="ctr"/>
          <a:lstStyle/>
          <a:p>
            <a:pPr algn="ctr">
              <a:lnSpc>
                <a:spcPts val="2659"/>
              </a:lnSpc>
            </a:pPr>
            <a:endParaRPr/>
          </a:p>
        </p:txBody>
      </p:sp>
      <p:grpSp>
        <p:nvGrpSpPr>
          <p:cNvPr id="9" name="Group 9">
            <a:extLst>
              <a:ext uri="{FF2B5EF4-FFF2-40B4-BE49-F238E27FC236}">
                <a16:creationId xmlns:a16="http://schemas.microsoft.com/office/drawing/2014/main" id="{8AC0D694-A912-2861-7C84-A8687720F096}"/>
              </a:ext>
            </a:extLst>
          </p:cNvPr>
          <p:cNvGrpSpPr/>
          <p:nvPr/>
        </p:nvGrpSpPr>
        <p:grpSpPr>
          <a:xfrm>
            <a:off x="2702224" y="-6441776"/>
            <a:ext cx="12883553" cy="12883553"/>
            <a:chOff x="0" y="0"/>
            <a:chExt cx="812800" cy="812800"/>
          </a:xfrm>
        </p:grpSpPr>
        <p:sp>
          <p:nvSpPr>
            <p:cNvPr id="10" name="Freeform 10">
              <a:extLst>
                <a:ext uri="{FF2B5EF4-FFF2-40B4-BE49-F238E27FC236}">
                  <a16:creationId xmlns:a16="http://schemas.microsoft.com/office/drawing/2014/main" id="{09F8083D-E72B-034F-2E4A-EBB4C8A7198D}"/>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8F8F8"/>
            </a:solidFill>
          </p:spPr>
        </p:sp>
        <p:sp>
          <p:nvSpPr>
            <p:cNvPr id="11" name="TextBox 11">
              <a:extLst>
                <a:ext uri="{FF2B5EF4-FFF2-40B4-BE49-F238E27FC236}">
                  <a16:creationId xmlns:a16="http://schemas.microsoft.com/office/drawing/2014/main" id="{E8E29F14-6A56-79EE-1794-7A1AC104AACB}"/>
                </a:ext>
              </a:extLst>
            </p:cNvPr>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12" name="Freeform 12">
            <a:extLst>
              <a:ext uri="{FF2B5EF4-FFF2-40B4-BE49-F238E27FC236}">
                <a16:creationId xmlns:a16="http://schemas.microsoft.com/office/drawing/2014/main" id="{31093F5D-C890-9127-A27E-64B9B7B0B931}"/>
              </a:ext>
            </a:extLst>
          </p:cNvPr>
          <p:cNvSpPr/>
          <p:nvPr/>
        </p:nvSpPr>
        <p:spPr>
          <a:xfrm>
            <a:off x="3124200" y="-4838700"/>
            <a:ext cx="11970147" cy="11415282"/>
          </a:xfrm>
          <a:custGeom>
            <a:avLst/>
            <a:gdLst/>
            <a:ahLst/>
            <a:cxnLst/>
            <a:rect l="l" t="t" r="r" b="b"/>
            <a:pathLst>
              <a:path w="11069128" h="11055291">
                <a:moveTo>
                  <a:pt x="0" y="0"/>
                </a:moveTo>
                <a:lnTo>
                  <a:pt x="11069128" y="0"/>
                </a:lnTo>
                <a:lnTo>
                  <a:pt x="11069128" y="11055291"/>
                </a:lnTo>
                <a:lnTo>
                  <a:pt x="0" y="11055291"/>
                </a:lnTo>
                <a:lnTo>
                  <a:pt x="0" y="0"/>
                </a:lnTo>
                <a:close/>
              </a:path>
            </a:pathLst>
          </a:custGeom>
          <a:blipFill>
            <a:blip r:embed="rId2"/>
            <a:stretch>
              <a:fillRect/>
            </a:stretch>
          </a:blipFill>
        </p:spPr>
      </p:sp>
      <p:grpSp>
        <p:nvGrpSpPr>
          <p:cNvPr id="13" name="Group 13">
            <a:extLst>
              <a:ext uri="{FF2B5EF4-FFF2-40B4-BE49-F238E27FC236}">
                <a16:creationId xmlns:a16="http://schemas.microsoft.com/office/drawing/2014/main" id="{4EBBDCF4-7052-F463-85A4-FAF813F6A80D}"/>
              </a:ext>
            </a:extLst>
          </p:cNvPr>
          <p:cNvGrpSpPr/>
          <p:nvPr/>
        </p:nvGrpSpPr>
        <p:grpSpPr>
          <a:xfrm>
            <a:off x="3690946" y="-5453054"/>
            <a:ext cx="10906108" cy="10906108"/>
            <a:chOff x="0" y="0"/>
            <a:chExt cx="812800" cy="812800"/>
          </a:xfrm>
        </p:grpSpPr>
        <p:sp>
          <p:nvSpPr>
            <p:cNvPr id="14" name="Freeform 14">
              <a:extLst>
                <a:ext uri="{FF2B5EF4-FFF2-40B4-BE49-F238E27FC236}">
                  <a16:creationId xmlns:a16="http://schemas.microsoft.com/office/drawing/2014/main" id="{8448025F-89B5-A3B8-4BFE-A63AF0CF59F5}"/>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id="15" name="TextBox 15">
              <a:extLst>
                <a:ext uri="{FF2B5EF4-FFF2-40B4-BE49-F238E27FC236}">
                  <a16:creationId xmlns:a16="http://schemas.microsoft.com/office/drawing/2014/main" id="{C99D487B-7138-B2DC-E5AC-560F6CD6D1DE}"/>
                </a:ext>
              </a:extLst>
            </p:cNvPr>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grpSp>
        <p:nvGrpSpPr>
          <p:cNvPr id="21" name="Group 21">
            <a:extLst>
              <a:ext uri="{FF2B5EF4-FFF2-40B4-BE49-F238E27FC236}">
                <a16:creationId xmlns:a16="http://schemas.microsoft.com/office/drawing/2014/main" id="{9215968D-DE4E-ABEF-8613-43EA5BCBCDCB}"/>
              </a:ext>
            </a:extLst>
          </p:cNvPr>
          <p:cNvGrpSpPr/>
          <p:nvPr/>
        </p:nvGrpSpPr>
        <p:grpSpPr>
          <a:xfrm>
            <a:off x="17491799" y="8458418"/>
            <a:ext cx="951769" cy="799882"/>
            <a:chOff x="0" y="0"/>
            <a:chExt cx="967140" cy="812800"/>
          </a:xfrm>
        </p:grpSpPr>
        <p:sp>
          <p:nvSpPr>
            <p:cNvPr id="22" name="Freeform 22">
              <a:extLst>
                <a:ext uri="{FF2B5EF4-FFF2-40B4-BE49-F238E27FC236}">
                  <a16:creationId xmlns:a16="http://schemas.microsoft.com/office/drawing/2014/main" id="{6ABDEAEE-3411-C1D0-1694-0A26800F6465}"/>
                </a:ext>
              </a:extLst>
            </p:cNvPr>
            <p:cNvSpPr/>
            <p:nvPr/>
          </p:nvSpPr>
          <p:spPr>
            <a:xfrm>
              <a:off x="0" y="0"/>
              <a:ext cx="967140" cy="812800"/>
            </a:xfrm>
            <a:custGeom>
              <a:avLst/>
              <a:gdLst/>
              <a:ahLst/>
              <a:cxnLst/>
              <a:rect l="l" t="t" r="r" b="b"/>
              <a:pathLst>
                <a:path w="967140" h="812800">
                  <a:moveTo>
                    <a:pt x="81342" y="0"/>
                  </a:moveTo>
                  <a:lnTo>
                    <a:pt x="885798" y="0"/>
                  </a:lnTo>
                  <a:cubicBezTo>
                    <a:pt x="907371" y="0"/>
                    <a:pt x="928061" y="8570"/>
                    <a:pt x="943315" y="23825"/>
                  </a:cubicBezTo>
                  <a:cubicBezTo>
                    <a:pt x="958570" y="39079"/>
                    <a:pt x="967140" y="59769"/>
                    <a:pt x="967140" y="81342"/>
                  </a:cubicBezTo>
                  <a:lnTo>
                    <a:pt x="967140" y="731458"/>
                  </a:lnTo>
                  <a:cubicBezTo>
                    <a:pt x="967140" y="776382"/>
                    <a:pt x="930722" y="812800"/>
                    <a:pt x="885798" y="812800"/>
                  </a:cubicBezTo>
                  <a:lnTo>
                    <a:pt x="81342" y="812800"/>
                  </a:lnTo>
                  <a:cubicBezTo>
                    <a:pt x="59769" y="812800"/>
                    <a:pt x="39079" y="804230"/>
                    <a:pt x="23825" y="788975"/>
                  </a:cubicBezTo>
                  <a:cubicBezTo>
                    <a:pt x="8570" y="773721"/>
                    <a:pt x="0" y="753031"/>
                    <a:pt x="0" y="731458"/>
                  </a:cubicBezTo>
                  <a:lnTo>
                    <a:pt x="0" y="81342"/>
                  </a:lnTo>
                  <a:cubicBezTo>
                    <a:pt x="0" y="59769"/>
                    <a:pt x="8570" y="39079"/>
                    <a:pt x="23825" y="23825"/>
                  </a:cubicBezTo>
                  <a:cubicBezTo>
                    <a:pt x="39079" y="8570"/>
                    <a:pt x="59769" y="0"/>
                    <a:pt x="81342" y="0"/>
                  </a:cubicBezTo>
                  <a:close/>
                </a:path>
              </a:pathLst>
            </a:custGeom>
            <a:solidFill>
              <a:srgbClr val="3A6AD6"/>
            </a:solidFill>
          </p:spPr>
          <p:txBody>
            <a:bodyPr/>
            <a:lstStyle/>
            <a:p>
              <a:endParaRPr lang="en-US" dirty="0"/>
            </a:p>
          </p:txBody>
        </p:sp>
        <p:sp>
          <p:nvSpPr>
            <p:cNvPr id="23" name="TextBox 23">
              <a:extLst>
                <a:ext uri="{FF2B5EF4-FFF2-40B4-BE49-F238E27FC236}">
                  <a16:creationId xmlns:a16="http://schemas.microsoft.com/office/drawing/2014/main" id="{9FD3B455-BB1F-821C-472A-D92B5C5F2456}"/>
                </a:ext>
              </a:extLst>
            </p:cNvPr>
            <p:cNvSpPr txBox="1"/>
            <p:nvPr/>
          </p:nvSpPr>
          <p:spPr>
            <a:xfrm>
              <a:off x="0" y="-38100"/>
              <a:ext cx="967140" cy="850900"/>
            </a:xfrm>
            <a:prstGeom prst="rect">
              <a:avLst/>
            </a:prstGeom>
          </p:spPr>
          <p:txBody>
            <a:bodyPr lIns="50800" tIns="50800" rIns="50800" bIns="50800" rtlCol="0" anchor="ctr"/>
            <a:lstStyle/>
            <a:p>
              <a:pPr algn="ctr">
                <a:lnSpc>
                  <a:spcPts val="2659"/>
                </a:lnSpc>
              </a:pPr>
              <a:endParaRPr/>
            </a:p>
          </p:txBody>
        </p:sp>
      </p:grpSp>
      <p:sp>
        <p:nvSpPr>
          <p:cNvPr id="24" name="TextBox 24">
            <a:extLst>
              <a:ext uri="{FF2B5EF4-FFF2-40B4-BE49-F238E27FC236}">
                <a16:creationId xmlns:a16="http://schemas.microsoft.com/office/drawing/2014/main" id="{0DEBB55B-5F0F-D6E9-1B5D-C7C652F31899}"/>
              </a:ext>
            </a:extLst>
          </p:cNvPr>
          <p:cNvSpPr txBox="1"/>
          <p:nvPr/>
        </p:nvSpPr>
        <p:spPr>
          <a:xfrm>
            <a:off x="17674380" y="8710688"/>
            <a:ext cx="442747" cy="257943"/>
          </a:xfrm>
          <a:prstGeom prst="rect">
            <a:avLst/>
          </a:prstGeom>
        </p:spPr>
        <p:txBody>
          <a:bodyPr lIns="0" tIns="0" rIns="0" bIns="0" rtlCol="0" anchor="t">
            <a:spAutoFit/>
          </a:bodyPr>
          <a:lstStyle/>
          <a:p>
            <a:pPr algn="ctr">
              <a:lnSpc>
                <a:spcPts val="2057"/>
              </a:lnSpc>
              <a:spcBef>
                <a:spcPct val="0"/>
              </a:spcBef>
            </a:pPr>
            <a:r>
              <a:rPr lang="en-US" sz="1469" b="1" dirty="0">
                <a:solidFill>
                  <a:srgbClr val="FFFFFF"/>
                </a:solidFill>
                <a:latin typeface="Poppins Bold"/>
                <a:ea typeface="Poppins Bold"/>
                <a:cs typeface="Poppins Bold"/>
                <a:sym typeface="Poppins Bold"/>
              </a:rPr>
              <a:t>10</a:t>
            </a:r>
          </a:p>
        </p:txBody>
      </p:sp>
      <p:sp>
        <p:nvSpPr>
          <p:cNvPr id="25" name="TextBox 25">
            <a:extLst>
              <a:ext uri="{FF2B5EF4-FFF2-40B4-BE49-F238E27FC236}">
                <a16:creationId xmlns:a16="http://schemas.microsoft.com/office/drawing/2014/main" id="{F826362F-90BC-F67F-BE49-E99BE59679DE}"/>
              </a:ext>
            </a:extLst>
          </p:cNvPr>
          <p:cNvSpPr txBox="1"/>
          <p:nvPr/>
        </p:nvSpPr>
        <p:spPr>
          <a:xfrm>
            <a:off x="7380907" y="290253"/>
            <a:ext cx="6030293" cy="814647"/>
          </a:xfrm>
          <a:prstGeom prst="rect">
            <a:avLst/>
          </a:prstGeom>
        </p:spPr>
        <p:txBody>
          <a:bodyPr wrap="square" lIns="0" tIns="0" rIns="0" bIns="0" rtlCol="0" anchor="t">
            <a:spAutoFit/>
          </a:bodyPr>
          <a:lstStyle/>
          <a:p>
            <a:pPr>
              <a:lnSpc>
                <a:spcPts val="7000"/>
              </a:lnSpc>
            </a:pPr>
            <a:r>
              <a:rPr lang="en-US" sz="4400" b="1" dirty="0">
                <a:solidFill>
                  <a:srgbClr val="7068F4"/>
                </a:solidFill>
                <a:latin typeface="Barlow Bold" pitchFamily="34" charset="0"/>
                <a:ea typeface="Barlow Bold" pitchFamily="34" charset="-122"/>
                <a:cs typeface="Barlow Bold" pitchFamily="34" charset="-120"/>
              </a:rPr>
              <a:t>Related Works</a:t>
            </a:r>
          </a:p>
        </p:txBody>
      </p:sp>
      <p:sp>
        <p:nvSpPr>
          <p:cNvPr id="57" name="Freeform 17">
            <a:extLst>
              <a:ext uri="{FF2B5EF4-FFF2-40B4-BE49-F238E27FC236}">
                <a16:creationId xmlns:a16="http://schemas.microsoft.com/office/drawing/2014/main" id="{6836A701-248E-5AD8-139B-D29B864074AA}"/>
              </a:ext>
            </a:extLst>
          </p:cNvPr>
          <p:cNvSpPr/>
          <p:nvPr/>
        </p:nvSpPr>
        <p:spPr>
          <a:xfrm>
            <a:off x="2489120" y="2084798"/>
            <a:ext cx="1634041" cy="1634041"/>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txBody>
          <a:bodyPr/>
          <a:lstStyle/>
          <a:p>
            <a:endParaRPr lang="en-US" dirty="0"/>
          </a:p>
        </p:txBody>
      </p:sp>
      <p:sp>
        <p:nvSpPr>
          <p:cNvPr id="58" name="Freeform 17">
            <a:extLst>
              <a:ext uri="{FF2B5EF4-FFF2-40B4-BE49-F238E27FC236}">
                <a16:creationId xmlns:a16="http://schemas.microsoft.com/office/drawing/2014/main" id="{1B291A27-B7F0-3AF3-79E1-FEF691E4BFBD}"/>
              </a:ext>
            </a:extLst>
          </p:cNvPr>
          <p:cNvSpPr/>
          <p:nvPr/>
        </p:nvSpPr>
        <p:spPr>
          <a:xfrm>
            <a:off x="15313458" y="766259"/>
            <a:ext cx="1634041" cy="1634041"/>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id="75" name="TextBox 29">
            <a:extLst>
              <a:ext uri="{FF2B5EF4-FFF2-40B4-BE49-F238E27FC236}">
                <a16:creationId xmlns:a16="http://schemas.microsoft.com/office/drawing/2014/main" id="{59BC9E17-0ED7-1576-4E98-D103F84862D5}"/>
              </a:ext>
            </a:extLst>
          </p:cNvPr>
          <p:cNvSpPr txBox="1"/>
          <p:nvPr/>
        </p:nvSpPr>
        <p:spPr>
          <a:xfrm>
            <a:off x="4049439" y="4803055"/>
            <a:ext cx="3052956" cy="4632909"/>
          </a:xfrm>
          <a:prstGeom prst="rect">
            <a:avLst/>
          </a:prstGeom>
        </p:spPr>
        <p:txBody>
          <a:bodyPr lIns="47086" tIns="47086" rIns="47086" bIns="47086" rtlCol="0" anchor="ctr"/>
          <a:lstStyle/>
          <a:p>
            <a:pPr algn="ctr">
              <a:lnSpc>
                <a:spcPts val="2659"/>
              </a:lnSpc>
            </a:pPr>
            <a:endParaRPr/>
          </a:p>
        </p:txBody>
      </p:sp>
      <p:sp>
        <p:nvSpPr>
          <p:cNvPr id="80" name="TextBox 29">
            <a:extLst>
              <a:ext uri="{FF2B5EF4-FFF2-40B4-BE49-F238E27FC236}">
                <a16:creationId xmlns:a16="http://schemas.microsoft.com/office/drawing/2014/main" id="{93C16944-4F8C-DC03-BEAA-625DCBA98786}"/>
              </a:ext>
            </a:extLst>
          </p:cNvPr>
          <p:cNvSpPr txBox="1"/>
          <p:nvPr/>
        </p:nvSpPr>
        <p:spPr>
          <a:xfrm>
            <a:off x="7063239" y="3579841"/>
            <a:ext cx="4122367" cy="5562854"/>
          </a:xfrm>
          <a:prstGeom prst="rect">
            <a:avLst/>
          </a:prstGeom>
        </p:spPr>
        <p:txBody>
          <a:bodyPr lIns="47086" tIns="47086" rIns="47086" bIns="47086" rtlCol="0" anchor="ctr"/>
          <a:lstStyle/>
          <a:p>
            <a:pPr algn="ctr">
              <a:lnSpc>
                <a:spcPts val="2659"/>
              </a:lnSpc>
            </a:pPr>
            <a:endParaRPr/>
          </a:p>
        </p:txBody>
      </p:sp>
      <p:graphicFrame>
        <p:nvGraphicFramePr>
          <p:cNvPr id="3" name="Table 0">
            <a:extLst>
              <a:ext uri="{FF2B5EF4-FFF2-40B4-BE49-F238E27FC236}">
                <a16:creationId xmlns:a16="http://schemas.microsoft.com/office/drawing/2014/main" id="{F3808B9C-DE59-4E7F-6886-C004091C2D5D}"/>
              </a:ext>
            </a:extLst>
          </p:cNvPr>
          <p:cNvGraphicFramePr>
            <a:graphicFrameLocks noGrp="1"/>
          </p:cNvGraphicFramePr>
          <p:nvPr>
            <p:extLst>
              <p:ext uri="{D42A27DB-BD31-4B8C-83A1-F6EECF244321}">
                <p14:modId xmlns:p14="http://schemas.microsoft.com/office/powerpoint/2010/main" val="1047727184"/>
              </p:ext>
            </p:extLst>
          </p:nvPr>
        </p:nvGraphicFramePr>
        <p:xfrm>
          <a:off x="228600" y="1130300"/>
          <a:ext cx="17526000" cy="8432800"/>
        </p:xfrm>
        <a:graphic>
          <a:graphicData uri="http://schemas.openxmlformats.org/drawingml/2006/table">
            <a:tbl>
              <a:tblPr>
                <a:tableStyleId>{35758FB7-9AC5-4552-8A53-C91805E547FA}</a:tableStyleId>
              </a:tblPr>
              <a:tblGrid>
                <a:gridCol w="2895600">
                  <a:extLst>
                    <a:ext uri="{9D8B030D-6E8A-4147-A177-3AD203B41FA5}">
                      <a16:colId xmlns:a16="http://schemas.microsoft.com/office/drawing/2014/main" val="20000"/>
                    </a:ext>
                  </a:extLst>
                </a:gridCol>
                <a:gridCol w="2946400">
                  <a:extLst>
                    <a:ext uri="{9D8B030D-6E8A-4147-A177-3AD203B41FA5}">
                      <a16:colId xmlns:a16="http://schemas.microsoft.com/office/drawing/2014/main" val="20001"/>
                    </a:ext>
                  </a:extLst>
                </a:gridCol>
                <a:gridCol w="2921000">
                  <a:extLst>
                    <a:ext uri="{9D8B030D-6E8A-4147-A177-3AD203B41FA5}">
                      <a16:colId xmlns:a16="http://schemas.microsoft.com/office/drawing/2014/main" val="20002"/>
                    </a:ext>
                  </a:extLst>
                </a:gridCol>
                <a:gridCol w="2921000">
                  <a:extLst>
                    <a:ext uri="{9D8B030D-6E8A-4147-A177-3AD203B41FA5}">
                      <a16:colId xmlns:a16="http://schemas.microsoft.com/office/drawing/2014/main" val="20003"/>
                    </a:ext>
                  </a:extLst>
                </a:gridCol>
                <a:gridCol w="2921000">
                  <a:extLst>
                    <a:ext uri="{9D8B030D-6E8A-4147-A177-3AD203B41FA5}">
                      <a16:colId xmlns:a16="http://schemas.microsoft.com/office/drawing/2014/main" val="20004"/>
                    </a:ext>
                  </a:extLst>
                </a:gridCol>
                <a:gridCol w="2921000">
                  <a:extLst>
                    <a:ext uri="{9D8B030D-6E8A-4147-A177-3AD203B41FA5}">
                      <a16:colId xmlns:a16="http://schemas.microsoft.com/office/drawing/2014/main" val="20005"/>
                    </a:ext>
                  </a:extLst>
                </a:gridCol>
              </a:tblGrid>
              <a:tr h="609599">
                <a:tc>
                  <a:txBody>
                    <a:bodyPr/>
                    <a:lstStyle/>
                    <a:p>
                      <a:pPr marL="0" indent="0" algn="l">
                        <a:lnSpc>
                          <a:spcPct val="100000"/>
                        </a:lnSpc>
                        <a:buNone/>
                      </a:pPr>
                      <a:r>
                        <a:rPr lang="en-US" sz="2700" b="1" dirty="0">
                          <a:solidFill>
                            <a:srgbClr val="03141C"/>
                          </a:solidFill>
                        </a:rPr>
                        <a:t>Paper (Year)</a:t>
                      </a:r>
                      <a:endParaRPr lang="en-US" sz="2700" dirty="0">
                        <a:latin typeface="Poppins" panose="00000500000000000000" pitchFamily="2" charset="0"/>
                        <a:cs typeface="Poppins" panose="00000500000000000000" pitchFamily="2" charset="0"/>
                      </a:endParaRPr>
                    </a:p>
                  </a:txBody>
                  <a:tcPr marL="132080" marR="132080" marT="132080" marB="132080"/>
                </a:tc>
                <a:tc>
                  <a:txBody>
                    <a:bodyPr/>
                    <a:lstStyle/>
                    <a:p>
                      <a:pPr marL="0" indent="0" algn="l">
                        <a:lnSpc>
                          <a:spcPct val="100000"/>
                        </a:lnSpc>
                        <a:buNone/>
                      </a:pPr>
                      <a:r>
                        <a:rPr lang="en-US" sz="2700" b="1" dirty="0">
                          <a:solidFill>
                            <a:srgbClr val="03141C"/>
                          </a:solidFill>
                        </a:rPr>
                        <a:t>Method/Algorithm/Technique</a:t>
                      </a:r>
                      <a:endParaRPr lang="en-US" sz="2700" dirty="0">
                        <a:latin typeface="Poppins" panose="00000500000000000000" pitchFamily="2" charset="0"/>
                        <a:cs typeface="Poppins" panose="00000500000000000000" pitchFamily="2" charset="0"/>
                      </a:endParaRPr>
                    </a:p>
                  </a:txBody>
                  <a:tcPr marL="132080" marR="132080" marT="132080" marB="132080"/>
                </a:tc>
                <a:tc>
                  <a:txBody>
                    <a:bodyPr/>
                    <a:lstStyle/>
                    <a:p>
                      <a:pPr marL="0" indent="0" algn="l">
                        <a:lnSpc>
                          <a:spcPct val="100000"/>
                        </a:lnSpc>
                        <a:buNone/>
                      </a:pPr>
                      <a:r>
                        <a:rPr lang="en-US" sz="2700" b="1" dirty="0">
                          <a:solidFill>
                            <a:srgbClr val="03141C"/>
                          </a:solidFill>
                        </a:rPr>
                        <a:t>Advantages</a:t>
                      </a:r>
                      <a:endParaRPr lang="en-US" sz="2700" dirty="0">
                        <a:latin typeface="Poppins" panose="00000500000000000000" pitchFamily="2" charset="0"/>
                        <a:cs typeface="Poppins" panose="00000500000000000000" pitchFamily="2" charset="0"/>
                      </a:endParaRPr>
                    </a:p>
                  </a:txBody>
                  <a:tcPr marL="132080" marR="132080" marT="132080" marB="132080"/>
                </a:tc>
                <a:tc>
                  <a:txBody>
                    <a:bodyPr/>
                    <a:lstStyle/>
                    <a:p>
                      <a:pPr marL="0" indent="0" algn="l">
                        <a:lnSpc>
                          <a:spcPct val="100000"/>
                        </a:lnSpc>
                        <a:buNone/>
                      </a:pPr>
                      <a:r>
                        <a:rPr lang="en-US" sz="2700" b="1" dirty="0">
                          <a:solidFill>
                            <a:srgbClr val="03141C"/>
                          </a:solidFill>
                        </a:rPr>
                        <a:t>Disadvantages</a:t>
                      </a:r>
                      <a:endParaRPr lang="en-US" sz="2700" dirty="0">
                        <a:latin typeface="Poppins" panose="00000500000000000000" pitchFamily="2" charset="0"/>
                        <a:cs typeface="Poppins" panose="00000500000000000000" pitchFamily="2" charset="0"/>
                      </a:endParaRPr>
                    </a:p>
                  </a:txBody>
                  <a:tcPr marL="132080" marR="132080" marT="132080" marB="132080"/>
                </a:tc>
                <a:tc>
                  <a:txBody>
                    <a:bodyPr/>
                    <a:lstStyle/>
                    <a:p>
                      <a:pPr marL="0" indent="0" algn="l">
                        <a:lnSpc>
                          <a:spcPct val="100000"/>
                        </a:lnSpc>
                        <a:buNone/>
                      </a:pPr>
                      <a:r>
                        <a:rPr lang="en-US" sz="2700" b="1" dirty="0">
                          <a:solidFill>
                            <a:srgbClr val="03141C"/>
                          </a:solidFill>
                        </a:rPr>
                        <a:t>Results</a:t>
                      </a:r>
                      <a:endParaRPr lang="en-US" sz="2700" dirty="0">
                        <a:latin typeface="Poppins" panose="00000500000000000000" pitchFamily="2" charset="0"/>
                        <a:cs typeface="Poppins" panose="00000500000000000000" pitchFamily="2" charset="0"/>
                      </a:endParaRPr>
                    </a:p>
                  </a:txBody>
                  <a:tcPr marL="132080" marR="132080" marT="132080" marB="132080"/>
                </a:tc>
                <a:tc>
                  <a:txBody>
                    <a:bodyPr/>
                    <a:lstStyle/>
                    <a:p>
                      <a:pPr marL="0" indent="0" algn="l">
                        <a:lnSpc>
                          <a:spcPct val="100000"/>
                        </a:lnSpc>
                        <a:buNone/>
                      </a:pPr>
                      <a:r>
                        <a:rPr lang="en-US" sz="2700" b="1" dirty="0">
                          <a:solidFill>
                            <a:srgbClr val="03141C"/>
                          </a:solidFill>
                        </a:rPr>
                        <a:t>Research Gap</a:t>
                      </a:r>
                      <a:endParaRPr lang="en-US" sz="2700" dirty="0">
                        <a:latin typeface="Poppins" panose="00000500000000000000" pitchFamily="2" charset="0"/>
                        <a:cs typeface="Poppins" panose="00000500000000000000" pitchFamily="2" charset="0"/>
                      </a:endParaRPr>
                    </a:p>
                  </a:txBody>
                  <a:tcPr marL="132080" marR="132080" marT="132080" marB="132080"/>
                </a:tc>
                <a:extLst>
                  <a:ext uri="{0D108BD9-81ED-4DB2-BD59-A6C34878D82A}">
                    <a16:rowId xmlns:a16="http://schemas.microsoft.com/office/drawing/2014/main" val="10000"/>
                  </a:ext>
                </a:extLst>
              </a:tr>
              <a:tr h="1203088">
                <a:tc>
                  <a:txBody>
                    <a:bodyPr/>
                    <a:lstStyle/>
                    <a:p>
                      <a:pPr marL="0" indent="0" algn="l">
                        <a:lnSpc>
                          <a:spcPct val="100000"/>
                        </a:lnSpc>
                        <a:buNone/>
                      </a:pPr>
                      <a:r>
                        <a:rPr lang="en-US" sz="2100" dirty="0">
                          <a:solidFill>
                            <a:srgbClr val="03141C"/>
                          </a:solidFill>
                        </a:rPr>
                        <a:t>1 Różycki et al. (2025)</a:t>
                      </a:r>
                      <a:endParaRPr lang="en-US" sz="2100" dirty="0">
                        <a:latin typeface="Poppins" panose="00000500000000000000" pitchFamily="2" charset="0"/>
                        <a:cs typeface="Poppins" panose="00000500000000000000" pitchFamily="2" charset="0"/>
                      </a:endParaRPr>
                    </a:p>
                  </a:txBody>
                  <a:tcPr marL="132080" marR="132080" marT="132080" marB="132080"/>
                </a:tc>
                <a:tc>
                  <a:txBody>
                    <a:bodyPr/>
                    <a:lstStyle/>
                    <a:p>
                      <a:pPr marL="0" indent="0" algn="l">
                        <a:lnSpc>
                          <a:spcPct val="100000"/>
                        </a:lnSpc>
                        <a:buNone/>
                      </a:pPr>
                      <a:r>
                        <a:rPr lang="en-US" sz="2100" dirty="0">
                          <a:solidFill>
                            <a:srgbClr val="03141C"/>
                          </a:solidFill>
                        </a:rPr>
                        <a:t>Systematic review of energy-aware ML techniques</a:t>
                      </a:r>
                      <a:endParaRPr lang="en-US" sz="2100" dirty="0">
                        <a:latin typeface="Poppins" panose="00000500000000000000" pitchFamily="2" charset="0"/>
                        <a:cs typeface="Poppins" panose="00000500000000000000" pitchFamily="2" charset="0"/>
                      </a:endParaRPr>
                    </a:p>
                  </a:txBody>
                  <a:tcPr marL="132080" marR="132080" marT="132080" marB="132080"/>
                </a:tc>
                <a:tc>
                  <a:txBody>
                    <a:bodyPr/>
                    <a:lstStyle/>
                    <a:p>
                      <a:pPr marL="0" indent="0" algn="l">
                        <a:lnSpc>
                          <a:spcPct val="100000"/>
                        </a:lnSpc>
                        <a:buNone/>
                      </a:pPr>
                      <a:r>
                        <a:rPr lang="en-US" sz="2100" dirty="0">
                          <a:solidFill>
                            <a:srgbClr val="03141C"/>
                          </a:solidFill>
                        </a:rPr>
                        <a:t>Wide synthesis; identifies cross-domain techniques</a:t>
                      </a:r>
                      <a:endParaRPr lang="en-US" sz="2100" dirty="0">
                        <a:latin typeface="Poppins" panose="00000500000000000000" pitchFamily="2" charset="0"/>
                        <a:cs typeface="Poppins" panose="00000500000000000000" pitchFamily="2" charset="0"/>
                      </a:endParaRPr>
                    </a:p>
                  </a:txBody>
                  <a:tcPr marL="132080" marR="132080" marT="132080" marB="132080"/>
                </a:tc>
                <a:tc>
                  <a:txBody>
                    <a:bodyPr/>
                    <a:lstStyle/>
                    <a:p>
                      <a:pPr marL="0" indent="0" algn="l">
                        <a:lnSpc>
                          <a:spcPct val="100000"/>
                        </a:lnSpc>
                        <a:buNone/>
                      </a:pPr>
                      <a:r>
                        <a:rPr lang="en-US" sz="2100" dirty="0">
                          <a:solidFill>
                            <a:srgbClr val="03141C"/>
                          </a:solidFill>
                        </a:rPr>
                        <a:t>Mostly conceptual; limited NLP specifics</a:t>
                      </a:r>
                      <a:endParaRPr lang="en-US" sz="2100" dirty="0">
                        <a:latin typeface="Poppins" panose="00000500000000000000" pitchFamily="2" charset="0"/>
                        <a:cs typeface="Poppins" panose="00000500000000000000" pitchFamily="2" charset="0"/>
                      </a:endParaRPr>
                    </a:p>
                  </a:txBody>
                  <a:tcPr marL="132080" marR="132080" marT="132080" marB="132080"/>
                </a:tc>
                <a:tc>
                  <a:txBody>
                    <a:bodyPr/>
                    <a:lstStyle/>
                    <a:p>
                      <a:pPr marL="0" indent="0" algn="l">
                        <a:lnSpc>
                          <a:spcPct val="100000"/>
                        </a:lnSpc>
                        <a:buNone/>
                      </a:pPr>
                      <a:r>
                        <a:rPr lang="en-US" sz="2100" dirty="0">
                          <a:solidFill>
                            <a:srgbClr val="03141C"/>
                          </a:solidFill>
                        </a:rPr>
                        <a:t>Maps trends; outlines energy-aware strategies</a:t>
                      </a:r>
                      <a:endParaRPr lang="en-US" sz="2100" dirty="0">
                        <a:latin typeface="Poppins" panose="00000500000000000000" pitchFamily="2" charset="0"/>
                        <a:cs typeface="Poppins" panose="00000500000000000000" pitchFamily="2" charset="0"/>
                      </a:endParaRPr>
                    </a:p>
                  </a:txBody>
                  <a:tcPr marL="132080" marR="132080" marT="132080" marB="132080"/>
                </a:tc>
                <a:tc>
                  <a:txBody>
                    <a:bodyPr/>
                    <a:lstStyle/>
                    <a:p>
                      <a:pPr marL="0" indent="0" algn="l">
                        <a:lnSpc>
                          <a:spcPct val="100000"/>
                        </a:lnSpc>
                        <a:buNone/>
                      </a:pPr>
                      <a:r>
                        <a:rPr lang="en-US" sz="2100" dirty="0">
                          <a:solidFill>
                            <a:srgbClr val="03141C"/>
                          </a:solidFill>
                        </a:rPr>
                        <a:t>Lack of empirical NLP energy benchmarks</a:t>
                      </a:r>
                      <a:endParaRPr lang="en-US" sz="2100" dirty="0">
                        <a:latin typeface="Poppins" panose="00000500000000000000" pitchFamily="2" charset="0"/>
                        <a:cs typeface="Poppins" panose="00000500000000000000" pitchFamily="2" charset="0"/>
                      </a:endParaRPr>
                    </a:p>
                  </a:txBody>
                  <a:tcPr marL="132080" marR="132080" marT="132080" marB="132080"/>
                </a:tc>
                <a:extLst>
                  <a:ext uri="{0D108BD9-81ED-4DB2-BD59-A6C34878D82A}">
                    <a16:rowId xmlns:a16="http://schemas.microsoft.com/office/drawing/2014/main" val="10001"/>
                  </a:ext>
                </a:extLst>
              </a:tr>
              <a:tr h="1203088">
                <a:tc>
                  <a:txBody>
                    <a:bodyPr/>
                    <a:lstStyle/>
                    <a:p>
                      <a:pPr marL="0" indent="0" algn="l">
                        <a:lnSpc>
                          <a:spcPct val="100000"/>
                        </a:lnSpc>
                        <a:buNone/>
                      </a:pPr>
                      <a:r>
                        <a:rPr lang="en-US" sz="2100" dirty="0">
                          <a:solidFill>
                            <a:srgbClr val="03141C"/>
                          </a:solidFill>
                        </a:rPr>
                        <a:t>2 Al Nuaimi et al. (2025)</a:t>
                      </a:r>
                      <a:endParaRPr lang="en-US" sz="2100" dirty="0">
                        <a:latin typeface="Poppins" panose="00000500000000000000" pitchFamily="2" charset="0"/>
                        <a:cs typeface="Poppins" panose="00000500000000000000" pitchFamily="2" charset="0"/>
                      </a:endParaRPr>
                    </a:p>
                  </a:txBody>
                  <a:tcPr marL="132080" marR="132080" marT="132080" marB="132080"/>
                </a:tc>
                <a:tc>
                  <a:txBody>
                    <a:bodyPr/>
                    <a:lstStyle/>
                    <a:p>
                      <a:pPr marL="0" indent="0" algn="l">
                        <a:lnSpc>
                          <a:spcPct val="100000"/>
                        </a:lnSpc>
                        <a:buNone/>
                      </a:pPr>
                      <a:r>
                        <a:rPr lang="en-US" sz="2100" dirty="0">
                          <a:solidFill>
                            <a:srgbClr val="03141C"/>
                          </a:solidFill>
                        </a:rPr>
                        <a:t>ML pipelines for carbon emissions estimation</a:t>
                      </a:r>
                      <a:endParaRPr lang="en-US" sz="2100" dirty="0">
                        <a:latin typeface="Poppins" panose="00000500000000000000" pitchFamily="2" charset="0"/>
                        <a:cs typeface="Poppins" panose="00000500000000000000" pitchFamily="2" charset="0"/>
                      </a:endParaRPr>
                    </a:p>
                  </a:txBody>
                  <a:tcPr marL="132080" marR="132080" marT="132080" marB="132080"/>
                </a:tc>
                <a:tc>
                  <a:txBody>
                    <a:bodyPr/>
                    <a:lstStyle/>
                    <a:p>
                      <a:pPr marL="0" indent="0" algn="l">
                        <a:lnSpc>
                          <a:spcPct val="100000"/>
                        </a:lnSpc>
                        <a:buNone/>
                      </a:pPr>
                      <a:r>
                        <a:rPr lang="en-US" sz="2100" dirty="0">
                          <a:solidFill>
                            <a:srgbClr val="03141C"/>
                          </a:solidFill>
                        </a:rPr>
                        <a:t>Improves estimation accuracy; domain transferability</a:t>
                      </a:r>
                      <a:endParaRPr lang="en-US" sz="2100" dirty="0">
                        <a:latin typeface="Poppins" panose="00000500000000000000" pitchFamily="2" charset="0"/>
                        <a:cs typeface="Poppins" panose="00000500000000000000" pitchFamily="2" charset="0"/>
                      </a:endParaRPr>
                    </a:p>
                  </a:txBody>
                  <a:tcPr marL="132080" marR="132080" marT="132080" marB="132080"/>
                </a:tc>
                <a:tc>
                  <a:txBody>
                    <a:bodyPr/>
                    <a:lstStyle/>
                    <a:p>
                      <a:pPr marL="0" indent="0" algn="l">
                        <a:lnSpc>
                          <a:spcPct val="100000"/>
                        </a:lnSpc>
                        <a:buNone/>
                      </a:pPr>
                      <a:r>
                        <a:rPr lang="en-US" sz="2100" dirty="0">
                          <a:solidFill>
                            <a:srgbClr val="03141C"/>
                          </a:solidFill>
                        </a:rPr>
                        <a:t>Focus on estimation, not training energy</a:t>
                      </a:r>
                      <a:endParaRPr lang="en-US" sz="2100" dirty="0">
                        <a:latin typeface="Poppins" panose="00000500000000000000" pitchFamily="2" charset="0"/>
                        <a:cs typeface="Poppins" panose="00000500000000000000" pitchFamily="2" charset="0"/>
                      </a:endParaRPr>
                    </a:p>
                  </a:txBody>
                  <a:tcPr marL="132080" marR="132080" marT="132080" marB="132080"/>
                </a:tc>
                <a:tc>
                  <a:txBody>
                    <a:bodyPr/>
                    <a:lstStyle/>
                    <a:p>
                      <a:pPr marL="0" indent="0" algn="l">
                        <a:lnSpc>
                          <a:spcPct val="100000"/>
                        </a:lnSpc>
                        <a:buNone/>
                      </a:pPr>
                      <a:r>
                        <a:rPr lang="en-US" sz="2100" dirty="0">
                          <a:solidFill>
                            <a:srgbClr val="03141C"/>
                          </a:solidFill>
                        </a:rPr>
                        <a:t>Accurate predictions across sectors</a:t>
                      </a:r>
                      <a:endParaRPr lang="en-US" sz="2100" dirty="0">
                        <a:latin typeface="Poppins" panose="00000500000000000000" pitchFamily="2" charset="0"/>
                        <a:cs typeface="Poppins" panose="00000500000000000000" pitchFamily="2" charset="0"/>
                      </a:endParaRPr>
                    </a:p>
                  </a:txBody>
                  <a:tcPr marL="132080" marR="132080" marT="132080" marB="132080"/>
                </a:tc>
                <a:tc>
                  <a:txBody>
                    <a:bodyPr/>
                    <a:lstStyle/>
                    <a:p>
                      <a:pPr marL="0" indent="0" algn="l">
                        <a:lnSpc>
                          <a:spcPct val="100000"/>
                        </a:lnSpc>
                        <a:buNone/>
                      </a:pPr>
                      <a:r>
                        <a:rPr lang="en-US" sz="2100" dirty="0">
                          <a:solidFill>
                            <a:srgbClr val="03141C"/>
                          </a:solidFill>
                        </a:rPr>
                        <a:t>No NLP-task energy comparison</a:t>
                      </a:r>
                      <a:endParaRPr lang="en-US" sz="2100" dirty="0">
                        <a:latin typeface="Poppins" panose="00000500000000000000" pitchFamily="2" charset="0"/>
                        <a:cs typeface="Poppins" panose="00000500000000000000" pitchFamily="2" charset="0"/>
                      </a:endParaRPr>
                    </a:p>
                  </a:txBody>
                  <a:tcPr marL="132080" marR="132080" marT="132080" marB="132080"/>
                </a:tc>
                <a:extLst>
                  <a:ext uri="{0D108BD9-81ED-4DB2-BD59-A6C34878D82A}">
                    <a16:rowId xmlns:a16="http://schemas.microsoft.com/office/drawing/2014/main" val="10002"/>
                  </a:ext>
                </a:extLst>
              </a:tr>
              <a:tr h="1203088">
                <a:tc>
                  <a:txBody>
                    <a:bodyPr/>
                    <a:lstStyle/>
                    <a:p>
                      <a:pPr marL="0" indent="0" algn="l">
                        <a:lnSpc>
                          <a:spcPct val="100000"/>
                        </a:lnSpc>
                        <a:buNone/>
                      </a:pPr>
                      <a:r>
                        <a:rPr lang="en-US" sz="2100" dirty="0">
                          <a:solidFill>
                            <a:srgbClr val="03141C"/>
                          </a:solidFill>
                        </a:rPr>
                        <a:t>3 Delanoë et al. (2023)</a:t>
                      </a:r>
                      <a:endParaRPr lang="en-US" sz="2100" dirty="0">
                        <a:latin typeface="Poppins" panose="00000500000000000000" pitchFamily="2" charset="0"/>
                        <a:cs typeface="Poppins" panose="00000500000000000000" pitchFamily="2" charset="0"/>
                      </a:endParaRPr>
                    </a:p>
                  </a:txBody>
                  <a:tcPr marL="132080" marR="132080" marT="132080" marB="132080"/>
                </a:tc>
                <a:tc>
                  <a:txBody>
                    <a:bodyPr/>
                    <a:lstStyle/>
                    <a:p>
                      <a:pPr marL="0" indent="0" algn="l">
                        <a:lnSpc>
                          <a:spcPct val="100000"/>
                        </a:lnSpc>
                        <a:buNone/>
                      </a:pPr>
                      <a:r>
                        <a:rPr lang="en-US" sz="2100" dirty="0">
                          <a:solidFill>
                            <a:srgbClr val="03141C"/>
                          </a:solidFill>
                        </a:rPr>
                        <a:t>Method to evaluate net carbon benefit of AI models</a:t>
                      </a:r>
                      <a:endParaRPr lang="en-US" sz="2100" dirty="0">
                        <a:latin typeface="Poppins" panose="00000500000000000000" pitchFamily="2" charset="0"/>
                        <a:cs typeface="Poppins" panose="00000500000000000000" pitchFamily="2" charset="0"/>
                      </a:endParaRPr>
                    </a:p>
                  </a:txBody>
                  <a:tcPr marL="132080" marR="132080" marT="132080" marB="132080"/>
                </a:tc>
                <a:tc>
                  <a:txBody>
                    <a:bodyPr/>
                    <a:lstStyle/>
                    <a:p>
                      <a:pPr marL="0" indent="0" algn="l">
                        <a:lnSpc>
                          <a:spcPct val="100000"/>
                        </a:lnSpc>
                        <a:buNone/>
                      </a:pPr>
                      <a:r>
                        <a:rPr lang="en-US" sz="2100" dirty="0">
                          <a:solidFill>
                            <a:srgbClr val="03141C"/>
                          </a:solidFill>
                        </a:rPr>
                        <a:t>Accounts for indirect/operational effects</a:t>
                      </a:r>
                      <a:endParaRPr lang="en-US" sz="2100" dirty="0">
                        <a:latin typeface="Poppins" panose="00000500000000000000" pitchFamily="2" charset="0"/>
                        <a:cs typeface="Poppins" panose="00000500000000000000" pitchFamily="2" charset="0"/>
                      </a:endParaRPr>
                    </a:p>
                  </a:txBody>
                  <a:tcPr marL="132080" marR="132080" marT="132080" marB="132080"/>
                </a:tc>
                <a:tc>
                  <a:txBody>
                    <a:bodyPr/>
                    <a:lstStyle/>
                    <a:p>
                      <a:pPr marL="0" indent="0" algn="l">
                        <a:lnSpc>
                          <a:spcPct val="100000"/>
                        </a:lnSpc>
                        <a:buNone/>
                      </a:pPr>
                      <a:r>
                        <a:rPr lang="en-US" sz="2100" dirty="0">
                          <a:solidFill>
                            <a:srgbClr val="03141C"/>
                          </a:solidFill>
                        </a:rPr>
                        <a:t>Complex; domain-specific assumptions</a:t>
                      </a:r>
                      <a:endParaRPr lang="en-US" sz="2100" dirty="0">
                        <a:latin typeface="Poppins" panose="00000500000000000000" pitchFamily="2" charset="0"/>
                        <a:cs typeface="Poppins" panose="00000500000000000000" pitchFamily="2" charset="0"/>
                      </a:endParaRPr>
                    </a:p>
                  </a:txBody>
                  <a:tcPr marL="132080" marR="132080" marT="132080" marB="132080"/>
                </a:tc>
                <a:tc>
                  <a:txBody>
                    <a:bodyPr/>
                    <a:lstStyle/>
                    <a:p>
                      <a:pPr marL="0" indent="0" algn="l">
                        <a:lnSpc>
                          <a:spcPct val="100000"/>
                        </a:lnSpc>
                        <a:buNone/>
                      </a:pPr>
                      <a:r>
                        <a:rPr lang="en-US" sz="2100" dirty="0">
                          <a:solidFill>
                            <a:srgbClr val="03141C"/>
                          </a:solidFill>
                        </a:rPr>
                        <a:t>Simpler models often yield better net CO2 reduction</a:t>
                      </a:r>
                      <a:endParaRPr lang="en-US" sz="2100" dirty="0">
                        <a:latin typeface="Poppins" panose="00000500000000000000" pitchFamily="2" charset="0"/>
                        <a:cs typeface="Poppins" panose="00000500000000000000" pitchFamily="2" charset="0"/>
                      </a:endParaRPr>
                    </a:p>
                  </a:txBody>
                  <a:tcPr marL="132080" marR="132080" marT="132080" marB="132080"/>
                </a:tc>
                <a:tc>
                  <a:txBody>
                    <a:bodyPr/>
                    <a:lstStyle/>
                    <a:p>
                      <a:pPr marL="0" indent="0" algn="l">
                        <a:lnSpc>
                          <a:spcPct val="100000"/>
                        </a:lnSpc>
                        <a:buNone/>
                      </a:pPr>
                      <a:r>
                        <a:rPr lang="en-US" sz="2100" dirty="0">
                          <a:solidFill>
                            <a:srgbClr val="03141C"/>
                          </a:solidFill>
                        </a:rPr>
                        <a:t>No controlled NLP training comparisons</a:t>
                      </a:r>
                      <a:endParaRPr lang="en-US" sz="2100" dirty="0">
                        <a:latin typeface="Poppins" panose="00000500000000000000" pitchFamily="2" charset="0"/>
                        <a:cs typeface="Poppins" panose="00000500000000000000" pitchFamily="2" charset="0"/>
                      </a:endParaRPr>
                    </a:p>
                  </a:txBody>
                  <a:tcPr marL="132080" marR="132080" marT="132080" marB="132080"/>
                </a:tc>
                <a:extLst>
                  <a:ext uri="{0D108BD9-81ED-4DB2-BD59-A6C34878D82A}">
                    <a16:rowId xmlns:a16="http://schemas.microsoft.com/office/drawing/2014/main" val="10003"/>
                  </a:ext>
                </a:extLst>
              </a:tr>
              <a:tr h="1203088">
                <a:tc>
                  <a:txBody>
                    <a:bodyPr/>
                    <a:lstStyle/>
                    <a:p>
                      <a:pPr marL="0" indent="0" algn="l">
                        <a:lnSpc>
                          <a:spcPct val="100000"/>
                        </a:lnSpc>
                        <a:buNone/>
                      </a:pPr>
                      <a:r>
                        <a:rPr lang="en-US" sz="2100" dirty="0">
                          <a:solidFill>
                            <a:srgbClr val="03141C"/>
                          </a:solidFill>
                        </a:rPr>
                        <a:t>4 Stoten et al. (2024)</a:t>
                      </a:r>
                      <a:endParaRPr lang="en-US" sz="2100" dirty="0">
                        <a:latin typeface="Poppins" panose="00000500000000000000" pitchFamily="2" charset="0"/>
                        <a:cs typeface="Poppins" panose="00000500000000000000" pitchFamily="2" charset="0"/>
                      </a:endParaRPr>
                    </a:p>
                  </a:txBody>
                  <a:tcPr marL="132080" marR="132080" marT="132080" marB="132080"/>
                </a:tc>
                <a:tc>
                  <a:txBody>
                    <a:bodyPr/>
                    <a:lstStyle/>
                    <a:p>
                      <a:pPr marL="0" indent="0" algn="l">
                        <a:lnSpc>
                          <a:spcPct val="100000"/>
                        </a:lnSpc>
                        <a:buNone/>
                      </a:pPr>
                      <a:r>
                        <a:rPr lang="en-US" sz="2100" dirty="0">
                          <a:solidFill>
                            <a:srgbClr val="03141C"/>
                          </a:solidFill>
                        </a:rPr>
                        <a:t>Review of carbon emission prediction models using ML</a:t>
                      </a:r>
                      <a:endParaRPr lang="en-US" sz="2100" dirty="0">
                        <a:latin typeface="Poppins" panose="00000500000000000000" pitchFamily="2" charset="0"/>
                        <a:cs typeface="Poppins" panose="00000500000000000000" pitchFamily="2" charset="0"/>
                      </a:endParaRPr>
                    </a:p>
                  </a:txBody>
                  <a:tcPr marL="132080" marR="132080" marT="132080" marB="132080"/>
                </a:tc>
                <a:tc>
                  <a:txBody>
                    <a:bodyPr/>
                    <a:lstStyle/>
                    <a:p>
                      <a:pPr marL="0" indent="0" algn="l">
                        <a:lnSpc>
                          <a:spcPct val="100000"/>
                        </a:lnSpc>
                        <a:buNone/>
                      </a:pPr>
                      <a:r>
                        <a:rPr lang="en-US" sz="2100" dirty="0">
                          <a:solidFill>
                            <a:srgbClr val="03141C"/>
                          </a:solidFill>
                        </a:rPr>
                        <a:t>High-quality synthesis; identifies predictors</a:t>
                      </a:r>
                      <a:endParaRPr lang="en-US" sz="2100" dirty="0">
                        <a:latin typeface="Poppins" panose="00000500000000000000" pitchFamily="2" charset="0"/>
                        <a:cs typeface="Poppins" panose="00000500000000000000" pitchFamily="2" charset="0"/>
                      </a:endParaRPr>
                    </a:p>
                  </a:txBody>
                  <a:tcPr marL="132080" marR="132080" marT="132080" marB="132080"/>
                </a:tc>
                <a:tc>
                  <a:txBody>
                    <a:bodyPr/>
                    <a:lstStyle/>
                    <a:p>
                      <a:pPr marL="0" indent="0" algn="l">
                        <a:lnSpc>
                          <a:spcPct val="100000"/>
                        </a:lnSpc>
                        <a:buNone/>
                      </a:pPr>
                      <a:r>
                        <a:rPr lang="en-US" sz="2100" dirty="0">
                          <a:solidFill>
                            <a:srgbClr val="03141C"/>
                          </a:solidFill>
                        </a:rPr>
                        <a:t>Review focus; no experimental controls</a:t>
                      </a:r>
                      <a:endParaRPr lang="en-US" sz="2100" dirty="0">
                        <a:latin typeface="Poppins" panose="00000500000000000000" pitchFamily="2" charset="0"/>
                        <a:cs typeface="Poppins" panose="00000500000000000000" pitchFamily="2" charset="0"/>
                      </a:endParaRPr>
                    </a:p>
                  </a:txBody>
                  <a:tcPr marL="132080" marR="132080" marT="132080" marB="132080"/>
                </a:tc>
                <a:tc>
                  <a:txBody>
                    <a:bodyPr/>
                    <a:lstStyle/>
                    <a:p>
                      <a:pPr marL="0" indent="0" algn="l">
                        <a:lnSpc>
                          <a:spcPct val="100000"/>
                        </a:lnSpc>
                        <a:buNone/>
                      </a:pPr>
                      <a:r>
                        <a:rPr lang="en-US" sz="2100" dirty="0">
                          <a:solidFill>
                            <a:srgbClr val="03141C"/>
                          </a:solidFill>
                        </a:rPr>
                        <a:t>Catalogs methods and performance factors</a:t>
                      </a:r>
                      <a:endParaRPr lang="en-US" sz="2100" dirty="0">
                        <a:latin typeface="Poppins" panose="00000500000000000000" pitchFamily="2" charset="0"/>
                        <a:cs typeface="Poppins" panose="00000500000000000000" pitchFamily="2" charset="0"/>
                      </a:endParaRPr>
                    </a:p>
                  </a:txBody>
                  <a:tcPr marL="132080" marR="132080" marT="132080" marB="132080"/>
                </a:tc>
                <a:tc>
                  <a:txBody>
                    <a:bodyPr/>
                    <a:lstStyle/>
                    <a:p>
                      <a:pPr marL="0" indent="0" algn="l">
                        <a:lnSpc>
                          <a:spcPct val="100000"/>
                        </a:lnSpc>
                        <a:buNone/>
                      </a:pPr>
                      <a:r>
                        <a:rPr lang="en-US" sz="2100" dirty="0">
                          <a:solidFill>
                            <a:srgbClr val="03141C"/>
                          </a:solidFill>
                        </a:rPr>
                        <a:t>Sparse energy/CO2 reporting for ML training</a:t>
                      </a:r>
                      <a:endParaRPr lang="en-US" sz="2100" dirty="0">
                        <a:latin typeface="Poppins" panose="00000500000000000000" pitchFamily="2" charset="0"/>
                        <a:cs typeface="Poppins" panose="00000500000000000000" pitchFamily="2" charset="0"/>
                      </a:endParaRPr>
                    </a:p>
                  </a:txBody>
                  <a:tcPr marL="132080" marR="132080" marT="132080" marB="132080"/>
                </a:tc>
                <a:extLst>
                  <a:ext uri="{0D108BD9-81ED-4DB2-BD59-A6C34878D82A}">
                    <a16:rowId xmlns:a16="http://schemas.microsoft.com/office/drawing/2014/main" val="10004"/>
                  </a:ext>
                </a:extLst>
              </a:tr>
              <a:tr h="1203088">
                <a:tc>
                  <a:txBody>
                    <a:bodyPr/>
                    <a:lstStyle/>
                    <a:p>
                      <a:pPr marL="0" indent="0" algn="l">
                        <a:lnSpc>
                          <a:spcPct val="100000"/>
                        </a:lnSpc>
                        <a:buNone/>
                      </a:pPr>
                      <a:r>
                        <a:rPr lang="en-US" sz="2100" dirty="0">
                          <a:solidFill>
                            <a:srgbClr val="03141C"/>
                          </a:solidFill>
                        </a:rPr>
                        <a:t>5 ESPR Study (2025)</a:t>
                      </a:r>
                      <a:endParaRPr lang="en-US" sz="2100" dirty="0">
                        <a:latin typeface="Poppins" panose="00000500000000000000" pitchFamily="2" charset="0"/>
                        <a:cs typeface="Poppins" panose="00000500000000000000" pitchFamily="2" charset="0"/>
                      </a:endParaRPr>
                    </a:p>
                  </a:txBody>
                  <a:tcPr marL="132080" marR="132080" marT="132080" marB="132080"/>
                </a:tc>
                <a:tc>
                  <a:txBody>
                    <a:bodyPr/>
                    <a:lstStyle/>
                    <a:p>
                      <a:pPr marL="0" indent="0" algn="l">
                        <a:lnSpc>
                          <a:spcPct val="100000"/>
                        </a:lnSpc>
                        <a:buNone/>
                      </a:pPr>
                      <a:r>
                        <a:rPr lang="en-US" sz="2100" dirty="0">
                          <a:solidFill>
                            <a:srgbClr val="03141C"/>
                          </a:solidFill>
                        </a:rPr>
                        <a:t>Comparative analysis: ML vs DL vs statistical models</a:t>
                      </a:r>
                      <a:endParaRPr lang="en-US" sz="2100" dirty="0">
                        <a:latin typeface="Poppins" panose="00000500000000000000" pitchFamily="2" charset="0"/>
                        <a:cs typeface="Poppins" panose="00000500000000000000" pitchFamily="2" charset="0"/>
                      </a:endParaRPr>
                    </a:p>
                  </a:txBody>
                  <a:tcPr marL="132080" marR="132080" marT="132080" marB="132080"/>
                </a:tc>
                <a:tc>
                  <a:txBody>
                    <a:bodyPr/>
                    <a:lstStyle/>
                    <a:p>
                      <a:pPr marL="0" indent="0" algn="l">
                        <a:lnSpc>
                          <a:spcPct val="100000"/>
                        </a:lnSpc>
                        <a:buNone/>
                      </a:pPr>
                      <a:r>
                        <a:rPr lang="en-US" sz="2100" dirty="0">
                          <a:solidFill>
                            <a:srgbClr val="03141C"/>
                          </a:solidFill>
                        </a:rPr>
                        <a:t>Head-to-head results under same metrics</a:t>
                      </a:r>
                      <a:endParaRPr lang="en-US" sz="2100" dirty="0">
                        <a:latin typeface="Poppins" panose="00000500000000000000" pitchFamily="2" charset="0"/>
                        <a:cs typeface="Poppins" panose="00000500000000000000" pitchFamily="2" charset="0"/>
                      </a:endParaRPr>
                    </a:p>
                  </a:txBody>
                  <a:tcPr marL="132080" marR="132080" marT="132080" marB="132080"/>
                </a:tc>
                <a:tc>
                  <a:txBody>
                    <a:bodyPr/>
                    <a:lstStyle/>
                    <a:p>
                      <a:pPr marL="0" indent="0" algn="l">
                        <a:lnSpc>
                          <a:spcPct val="100000"/>
                        </a:lnSpc>
                        <a:buNone/>
                      </a:pPr>
                      <a:r>
                        <a:rPr lang="en-US" sz="2100" dirty="0">
                          <a:solidFill>
                            <a:srgbClr val="03141C"/>
                          </a:solidFill>
                        </a:rPr>
                        <a:t>Not NLP; hardware/energy metrics limited</a:t>
                      </a:r>
                      <a:endParaRPr lang="en-US" sz="2100" dirty="0">
                        <a:latin typeface="Poppins" panose="00000500000000000000" pitchFamily="2" charset="0"/>
                        <a:cs typeface="Poppins" panose="00000500000000000000" pitchFamily="2" charset="0"/>
                      </a:endParaRPr>
                    </a:p>
                  </a:txBody>
                  <a:tcPr marL="132080" marR="132080" marT="132080" marB="132080"/>
                </a:tc>
                <a:tc>
                  <a:txBody>
                    <a:bodyPr/>
                    <a:lstStyle/>
                    <a:p>
                      <a:pPr marL="0" indent="0" algn="l">
                        <a:lnSpc>
                          <a:spcPct val="100000"/>
                        </a:lnSpc>
                        <a:buNone/>
                      </a:pPr>
                      <a:r>
                        <a:rPr lang="en-US" sz="2100" dirty="0">
                          <a:solidFill>
                            <a:srgbClr val="03141C"/>
                          </a:solidFill>
                        </a:rPr>
                        <a:t>DL best accuracy; classical lighter compute</a:t>
                      </a:r>
                      <a:endParaRPr lang="en-US" sz="2100" dirty="0">
                        <a:latin typeface="Poppins" panose="00000500000000000000" pitchFamily="2" charset="0"/>
                        <a:cs typeface="Poppins" panose="00000500000000000000" pitchFamily="2" charset="0"/>
                      </a:endParaRPr>
                    </a:p>
                  </a:txBody>
                  <a:tcPr marL="132080" marR="132080" marT="132080" marB="132080"/>
                </a:tc>
                <a:tc>
                  <a:txBody>
                    <a:bodyPr/>
                    <a:lstStyle/>
                    <a:p>
                      <a:pPr marL="0" indent="0" algn="l">
                        <a:lnSpc>
                          <a:spcPct val="100000"/>
                        </a:lnSpc>
                        <a:buNone/>
                      </a:pPr>
                      <a:r>
                        <a:rPr lang="en-US" sz="2100" dirty="0">
                          <a:solidFill>
                            <a:srgbClr val="03141C"/>
                          </a:solidFill>
                        </a:rPr>
                        <a:t>No per-run energy/CO2 instrumentation</a:t>
                      </a:r>
                      <a:endParaRPr lang="en-US" sz="2100" dirty="0">
                        <a:latin typeface="Poppins" panose="00000500000000000000" pitchFamily="2" charset="0"/>
                        <a:cs typeface="Poppins" panose="00000500000000000000" pitchFamily="2" charset="0"/>
                      </a:endParaRPr>
                    </a:p>
                  </a:txBody>
                  <a:tcPr marL="132080" marR="132080" marT="132080" marB="132080"/>
                </a:tc>
                <a:extLst>
                  <a:ext uri="{0D108BD9-81ED-4DB2-BD59-A6C34878D82A}">
                    <a16:rowId xmlns:a16="http://schemas.microsoft.com/office/drawing/2014/main" val="10005"/>
                  </a:ext>
                </a:extLst>
              </a:tr>
              <a:tr h="1203088">
                <a:tc>
                  <a:txBody>
                    <a:bodyPr/>
                    <a:lstStyle/>
                    <a:p>
                      <a:pPr marL="0" indent="0" algn="l">
                        <a:lnSpc>
                          <a:spcPct val="100000"/>
                        </a:lnSpc>
                        <a:buNone/>
                      </a:pPr>
                      <a:r>
                        <a:rPr lang="en-US" sz="2100" dirty="0">
                          <a:solidFill>
                            <a:srgbClr val="03141C"/>
                          </a:solidFill>
                        </a:rPr>
                        <a:t>6 Sci. Reports Study (2025)</a:t>
                      </a:r>
                      <a:endParaRPr lang="en-US" sz="2100" dirty="0">
                        <a:latin typeface="Poppins" panose="00000500000000000000" pitchFamily="2" charset="0"/>
                        <a:cs typeface="Poppins" panose="00000500000000000000" pitchFamily="2" charset="0"/>
                      </a:endParaRPr>
                    </a:p>
                  </a:txBody>
                  <a:tcPr marL="132080" marR="132080" marT="132080" marB="132080"/>
                </a:tc>
                <a:tc>
                  <a:txBody>
                    <a:bodyPr/>
                    <a:lstStyle/>
                    <a:p>
                      <a:pPr marL="0" indent="0" algn="l">
                        <a:lnSpc>
                          <a:spcPct val="100000"/>
                        </a:lnSpc>
                        <a:buNone/>
                      </a:pPr>
                      <a:r>
                        <a:rPr lang="en-US" sz="2100" dirty="0">
                          <a:solidFill>
                            <a:srgbClr val="03141C"/>
                          </a:solidFill>
                        </a:rPr>
                        <a:t>Hybrid ML (feature selection + ensemble)</a:t>
                      </a:r>
                      <a:endParaRPr lang="en-US" sz="2100" dirty="0">
                        <a:latin typeface="Poppins" panose="00000500000000000000" pitchFamily="2" charset="0"/>
                        <a:cs typeface="Poppins" panose="00000500000000000000" pitchFamily="2" charset="0"/>
                      </a:endParaRPr>
                    </a:p>
                  </a:txBody>
                  <a:tcPr marL="132080" marR="132080" marT="132080" marB="132080"/>
                </a:tc>
                <a:tc>
                  <a:txBody>
                    <a:bodyPr/>
                    <a:lstStyle/>
                    <a:p>
                      <a:pPr marL="0" indent="0" algn="l">
                        <a:lnSpc>
                          <a:spcPct val="100000"/>
                        </a:lnSpc>
                        <a:buNone/>
                      </a:pPr>
                      <a:r>
                        <a:rPr lang="en-US" sz="2100" dirty="0">
                          <a:solidFill>
                            <a:srgbClr val="03141C"/>
                          </a:solidFill>
                        </a:rPr>
                        <a:t>Strong predictive performance; transparent features</a:t>
                      </a:r>
                      <a:endParaRPr lang="en-US" sz="2100" dirty="0">
                        <a:latin typeface="Poppins" panose="00000500000000000000" pitchFamily="2" charset="0"/>
                        <a:cs typeface="Poppins" panose="00000500000000000000" pitchFamily="2" charset="0"/>
                      </a:endParaRPr>
                    </a:p>
                  </a:txBody>
                  <a:tcPr marL="132080" marR="132080" marT="132080" marB="132080"/>
                </a:tc>
                <a:tc>
                  <a:txBody>
                    <a:bodyPr/>
                    <a:lstStyle/>
                    <a:p>
                      <a:pPr marL="0" indent="0" algn="l">
                        <a:lnSpc>
                          <a:spcPct val="100000"/>
                        </a:lnSpc>
                        <a:buNone/>
                      </a:pPr>
                      <a:r>
                        <a:rPr lang="en-US" sz="2100" dirty="0">
                          <a:solidFill>
                            <a:srgbClr val="03141C"/>
                          </a:solidFill>
                        </a:rPr>
                        <a:t>Macro focus; lacks training energy data</a:t>
                      </a:r>
                      <a:endParaRPr lang="en-US" sz="2100" dirty="0">
                        <a:latin typeface="Poppins" panose="00000500000000000000" pitchFamily="2" charset="0"/>
                        <a:cs typeface="Poppins" panose="00000500000000000000" pitchFamily="2" charset="0"/>
                      </a:endParaRPr>
                    </a:p>
                  </a:txBody>
                  <a:tcPr marL="132080" marR="132080" marT="132080" marB="132080"/>
                </a:tc>
                <a:tc>
                  <a:txBody>
                    <a:bodyPr/>
                    <a:lstStyle/>
                    <a:p>
                      <a:pPr marL="0" indent="0" algn="l">
                        <a:lnSpc>
                          <a:spcPct val="100000"/>
                        </a:lnSpc>
                        <a:buNone/>
                      </a:pPr>
                      <a:r>
                        <a:rPr lang="en-US" sz="2100" dirty="0">
                          <a:solidFill>
                            <a:srgbClr val="03141C"/>
                          </a:solidFill>
                        </a:rPr>
                        <a:t>Robust ML pipelines for emissions</a:t>
                      </a:r>
                      <a:endParaRPr lang="en-US" sz="2100" dirty="0">
                        <a:latin typeface="Poppins" panose="00000500000000000000" pitchFamily="2" charset="0"/>
                        <a:cs typeface="Poppins" panose="00000500000000000000" pitchFamily="2" charset="0"/>
                      </a:endParaRPr>
                    </a:p>
                  </a:txBody>
                  <a:tcPr marL="132080" marR="132080" marT="132080" marB="132080"/>
                </a:tc>
                <a:tc>
                  <a:txBody>
                    <a:bodyPr/>
                    <a:lstStyle/>
                    <a:p>
                      <a:pPr marL="0" indent="0" algn="l">
                        <a:lnSpc>
                          <a:spcPct val="100000"/>
                        </a:lnSpc>
                        <a:buNone/>
                      </a:pPr>
                      <a:r>
                        <a:rPr lang="en-US" sz="2100" dirty="0">
                          <a:solidFill>
                            <a:srgbClr val="03141C"/>
                          </a:solidFill>
                        </a:rPr>
                        <a:t>No comparison of carbon footprints</a:t>
                      </a:r>
                      <a:endParaRPr lang="en-US" sz="2100" dirty="0">
                        <a:latin typeface="Poppins" panose="00000500000000000000" pitchFamily="2" charset="0"/>
                        <a:cs typeface="Poppins" panose="00000500000000000000" pitchFamily="2" charset="0"/>
                      </a:endParaRPr>
                    </a:p>
                  </a:txBody>
                  <a:tcPr marL="132080" marR="132080" marT="132080" marB="132080"/>
                </a:tc>
                <a:extLst>
                  <a:ext uri="{0D108BD9-81ED-4DB2-BD59-A6C34878D82A}">
                    <a16:rowId xmlns:a16="http://schemas.microsoft.com/office/drawing/2014/main" val="10006"/>
                  </a:ext>
                </a:extLst>
              </a:tr>
            </a:tbl>
          </a:graphicData>
        </a:graphic>
      </p:graphicFrame>
      <p:pic>
        <p:nvPicPr>
          <p:cNvPr id="4098" name="Picture 2" descr="Group Work Icon Png Clipart , Png Download - Group Work Png, Transparent Png  - kindpng">
            <a:extLst>
              <a:ext uri="{FF2B5EF4-FFF2-40B4-BE49-F238E27FC236}">
                <a16:creationId xmlns:a16="http://schemas.microsoft.com/office/drawing/2014/main" id="{527E3802-0E3A-A54E-4DCB-1E21D1FC296C}"/>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720174" y="439892"/>
            <a:ext cx="518826" cy="58880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5939138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Click="0">
        <p159:morph option="byObject"/>
      </p:transition>
    </mc:Choice>
    <mc:Fallback xmlns="">
      <p:transition spd="slow" advClick="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6" presetClass="entr" presetSubtype="0" fill="hold" grpId="0" nodeType="withEffect">
                                  <p:stCondLst>
                                    <p:cond delay="0"/>
                                  </p:stCondLst>
                                  <p:childTnLst>
                                    <p:set>
                                      <p:cBhvr>
                                        <p:cTn id="6" dur="1" fill="hold">
                                          <p:stCondLst>
                                            <p:cond delay="0"/>
                                          </p:stCondLst>
                                        </p:cTn>
                                        <p:tgtEl>
                                          <p:spTgt spid="25"/>
                                        </p:tgtEl>
                                        <p:attrNameLst>
                                          <p:attrName>style.visibility</p:attrName>
                                        </p:attrNameLst>
                                      </p:cBhvr>
                                      <p:to>
                                        <p:strVal val="visible"/>
                                      </p:to>
                                    </p:set>
                                    <p:animEffect transition="in" filter="wipe(down)">
                                      <p:cBhvr>
                                        <p:cTn id="7" dur="435">
                                          <p:stCondLst>
                                            <p:cond delay="0"/>
                                          </p:stCondLst>
                                        </p:cTn>
                                        <p:tgtEl>
                                          <p:spTgt spid="25"/>
                                        </p:tgtEl>
                                      </p:cBhvr>
                                    </p:animEffect>
                                    <p:anim calcmode="lin" valueType="num">
                                      <p:cBhvr>
                                        <p:cTn id="8" dur="1367" tmFilter="0,0; 0.14,0.36; 0.43,0.73; 0.71,0.91; 1.0,1.0">
                                          <p:stCondLst>
                                            <p:cond delay="0"/>
                                          </p:stCondLst>
                                        </p:cTn>
                                        <p:tgtEl>
                                          <p:spTgt spid="25"/>
                                        </p:tgtEl>
                                        <p:attrNameLst>
                                          <p:attrName>ppt_x</p:attrName>
                                        </p:attrNameLst>
                                      </p:cBhvr>
                                      <p:tavLst>
                                        <p:tav tm="0">
                                          <p:val>
                                            <p:strVal val="#ppt_x-0.25"/>
                                          </p:val>
                                        </p:tav>
                                        <p:tav tm="100000">
                                          <p:val>
                                            <p:strVal val="#ppt_x"/>
                                          </p:val>
                                        </p:tav>
                                      </p:tavLst>
                                    </p:anim>
                                    <p:anim calcmode="lin" valueType="num">
                                      <p:cBhvr>
                                        <p:cTn id="9" dur="498" tmFilter="0.0,0.0; 0.25,0.07; 0.50,0.2; 0.75,0.467; 1.0,1.0">
                                          <p:stCondLst>
                                            <p:cond delay="0"/>
                                          </p:stCondLst>
                                        </p:cTn>
                                        <p:tgtEl>
                                          <p:spTgt spid="25"/>
                                        </p:tgtEl>
                                        <p:attrNameLst>
                                          <p:attrName>ppt_y</p:attrName>
                                        </p:attrNameLst>
                                      </p:cBhvr>
                                      <p:tavLst>
                                        <p:tav tm="0" fmla="#ppt_y-sin(pi*$)/3">
                                          <p:val>
                                            <p:fltVal val="0.5"/>
                                          </p:val>
                                        </p:tav>
                                        <p:tav tm="100000">
                                          <p:val>
                                            <p:fltVal val="1"/>
                                          </p:val>
                                        </p:tav>
                                      </p:tavLst>
                                    </p:anim>
                                    <p:anim calcmode="lin" valueType="num">
                                      <p:cBhvr>
                                        <p:cTn id="10" dur="498" tmFilter="0, 0; 0.125,0.2665; 0.25,0.4; 0.375,0.465; 0.5,0.5;  0.625,0.535; 0.75,0.6; 0.875,0.7335; 1,1">
                                          <p:stCondLst>
                                            <p:cond delay="498"/>
                                          </p:stCondLst>
                                        </p:cTn>
                                        <p:tgtEl>
                                          <p:spTgt spid="25"/>
                                        </p:tgtEl>
                                        <p:attrNameLst>
                                          <p:attrName>ppt_y</p:attrName>
                                        </p:attrNameLst>
                                      </p:cBhvr>
                                      <p:tavLst>
                                        <p:tav tm="0" fmla="#ppt_y-sin(pi*$)/9">
                                          <p:val>
                                            <p:fltVal val="0"/>
                                          </p:val>
                                        </p:tav>
                                        <p:tav tm="100000">
                                          <p:val>
                                            <p:fltVal val="1"/>
                                          </p:val>
                                        </p:tav>
                                      </p:tavLst>
                                    </p:anim>
                                    <p:anim calcmode="lin" valueType="num">
                                      <p:cBhvr>
                                        <p:cTn id="11" dur="249" tmFilter="0, 0; 0.125,0.2665; 0.25,0.4; 0.375,0.465; 0.5,0.5;  0.625,0.535; 0.75,0.6; 0.875,0.7335; 1,1">
                                          <p:stCondLst>
                                            <p:cond delay="993"/>
                                          </p:stCondLst>
                                        </p:cTn>
                                        <p:tgtEl>
                                          <p:spTgt spid="25"/>
                                        </p:tgtEl>
                                        <p:attrNameLst>
                                          <p:attrName>ppt_y</p:attrName>
                                        </p:attrNameLst>
                                      </p:cBhvr>
                                      <p:tavLst>
                                        <p:tav tm="0" fmla="#ppt_y-sin(pi*$)/27">
                                          <p:val>
                                            <p:fltVal val="0"/>
                                          </p:val>
                                        </p:tav>
                                        <p:tav tm="100000">
                                          <p:val>
                                            <p:fltVal val="1"/>
                                          </p:val>
                                        </p:tav>
                                      </p:tavLst>
                                    </p:anim>
                                    <p:anim calcmode="lin" valueType="num">
                                      <p:cBhvr>
                                        <p:cTn id="12" dur="123" tmFilter="0, 0; 0.125,0.2665; 0.25,0.4; 0.375,0.465; 0.5,0.5;  0.625,0.535; 0.75,0.6; 0.875,0.7335; 1,1">
                                          <p:stCondLst>
                                            <p:cond delay="1242"/>
                                          </p:stCondLst>
                                        </p:cTn>
                                        <p:tgtEl>
                                          <p:spTgt spid="25"/>
                                        </p:tgtEl>
                                        <p:attrNameLst>
                                          <p:attrName>ppt_y</p:attrName>
                                        </p:attrNameLst>
                                      </p:cBhvr>
                                      <p:tavLst>
                                        <p:tav tm="0" fmla="#ppt_y-sin(pi*$)/81">
                                          <p:val>
                                            <p:fltVal val="0"/>
                                          </p:val>
                                        </p:tav>
                                        <p:tav tm="100000">
                                          <p:val>
                                            <p:fltVal val="1"/>
                                          </p:val>
                                        </p:tav>
                                      </p:tavLst>
                                    </p:anim>
                                    <p:animScale>
                                      <p:cBhvr>
                                        <p:cTn id="13" dur="20">
                                          <p:stCondLst>
                                            <p:cond delay="487"/>
                                          </p:stCondLst>
                                        </p:cTn>
                                        <p:tgtEl>
                                          <p:spTgt spid="25"/>
                                        </p:tgtEl>
                                      </p:cBhvr>
                                      <p:to x="100000" y="60000"/>
                                    </p:animScale>
                                    <p:animScale>
                                      <p:cBhvr>
                                        <p:cTn id="14" dur="124" decel="50000">
                                          <p:stCondLst>
                                            <p:cond delay="507"/>
                                          </p:stCondLst>
                                        </p:cTn>
                                        <p:tgtEl>
                                          <p:spTgt spid="25"/>
                                        </p:tgtEl>
                                      </p:cBhvr>
                                      <p:to x="100000" y="100000"/>
                                    </p:animScale>
                                    <p:animScale>
                                      <p:cBhvr>
                                        <p:cTn id="15" dur="20">
                                          <p:stCondLst>
                                            <p:cond delay="984"/>
                                          </p:stCondLst>
                                        </p:cTn>
                                        <p:tgtEl>
                                          <p:spTgt spid="25"/>
                                        </p:tgtEl>
                                      </p:cBhvr>
                                      <p:to x="100000" y="80000"/>
                                    </p:animScale>
                                    <p:animScale>
                                      <p:cBhvr>
                                        <p:cTn id="16" dur="124" decel="50000">
                                          <p:stCondLst>
                                            <p:cond delay="1004"/>
                                          </p:stCondLst>
                                        </p:cTn>
                                        <p:tgtEl>
                                          <p:spTgt spid="25"/>
                                        </p:tgtEl>
                                      </p:cBhvr>
                                      <p:to x="100000" y="100000"/>
                                    </p:animScale>
                                    <p:animScale>
                                      <p:cBhvr>
                                        <p:cTn id="17" dur="20">
                                          <p:stCondLst>
                                            <p:cond delay="1231"/>
                                          </p:stCondLst>
                                        </p:cTn>
                                        <p:tgtEl>
                                          <p:spTgt spid="25"/>
                                        </p:tgtEl>
                                      </p:cBhvr>
                                      <p:to x="100000" y="90000"/>
                                    </p:animScale>
                                    <p:animScale>
                                      <p:cBhvr>
                                        <p:cTn id="18" dur="124" decel="50000">
                                          <p:stCondLst>
                                            <p:cond delay="1251"/>
                                          </p:stCondLst>
                                        </p:cTn>
                                        <p:tgtEl>
                                          <p:spTgt spid="25"/>
                                        </p:tgtEl>
                                      </p:cBhvr>
                                      <p:to x="100000" y="100000"/>
                                    </p:animScale>
                                    <p:animScale>
                                      <p:cBhvr>
                                        <p:cTn id="19" dur="20">
                                          <p:stCondLst>
                                            <p:cond delay="1356"/>
                                          </p:stCondLst>
                                        </p:cTn>
                                        <p:tgtEl>
                                          <p:spTgt spid="25"/>
                                        </p:tgtEl>
                                      </p:cBhvr>
                                      <p:to x="100000" y="95000"/>
                                    </p:animScale>
                                    <p:animScale>
                                      <p:cBhvr>
                                        <p:cTn id="20" dur="124" decel="50000">
                                          <p:stCondLst>
                                            <p:cond delay="1376"/>
                                          </p:stCondLst>
                                        </p:cTn>
                                        <p:tgtEl>
                                          <p:spTgt spid="25"/>
                                        </p:tgtEl>
                                      </p:cBhvr>
                                      <p:to x="100000" y="100000"/>
                                    </p:animScale>
                                  </p:childTnLst>
                                </p:cTn>
                              </p:par>
                            </p:childTnLst>
                          </p:cTn>
                        </p:par>
                        <p:par>
                          <p:cTn id="21" fill="hold">
                            <p:stCondLst>
                              <p:cond delay="1500"/>
                            </p:stCondLst>
                            <p:childTnLst>
                              <p:par>
                                <p:cTn id="22" presetID="45" presetClass="entr" presetSubtype="0" fill="hold" nodeType="afterEffect">
                                  <p:stCondLst>
                                    <p:cond delay="0"/>
                                  </p:stCondLst>
                                  <p:childTnLst>
                                    <p:set>
                                      <p:cBhvr>
                                        <p:cTn id="23" dur="1" fill="hold">
                                          <p:stCondLst>
                                            <p:cond delay="0"/>
                                          </p:stCondLst>
                                        </p:cTn>
                                        <p:tgtEl>
                                          <p:spTgt spid="4098"/>
                                        </p:tgtEl>
                                        <p:attrNameLst>
                                          <p:attrName>style.visibility</p:attrName>
                                        </p:attrNameLst>
                                      </p:cBhvr>
                                      <p:to>
                                        <p:strVal val="visible"/>
                                      </p:to>
                                    </p:set>
                                    <p:animEffect transition="in" filter="fade">
                                      <p:cBhvr>
                                        <p:cTn id="24" dur="2000"/>
                                        <p:tgtEl>
                                          <p:spTgt spid="4098"/>
                                        </p:tgtEl>
                                      </p:cBhvr>
                                    </p:animEffect>
                                    <p:anim calcmode="lin" valueType="num">
                                      <p:cBhvr>
                                        <p:cTn id="25" dur="2000" fill="hold"/>
                                        <p:tgtEl>
                                          <p:spTgt spid="4098"/>
                                        </p:tgtEl>
                                        <p:attrNameLst>
                                          <p:attrName>ppt_w</p:attrName>
                                        </p:attrNameLst>
                                      </p:cBhvr>
                                      <p:tavLst>
                                        <p:tav tm="0" fmla="#ppt_w*sin(2.5*pi*$)">
                                          <p:val>
                                            <p:fltVal val="0"/>
                                          </p:val>
                                        </p:tav>
                                        <p:tav tm="100000">
                                          <p:val>
                                            <p:fltVal val="1"/>
                                          </p:val>
                                        </p:tav>
                                      </p:tavLst>
                                    </p:anim>
                                    <p:anim calcmode="lin" valueType="num">
                                      <p:cBhvr>
                                        <p:cTn id="26" dur="2000" fill="hold"/>
                                        <p:tgtEl>
                                          <p:spTgt spid="4098"/>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BB6D82-29D2-756E-CBAB-744ED1B23CBA}"/>
            </a:ext>
          </a:extLst>
        </p:cNvPr>
        <p:cNvGrpSpPr/>
        <p:nvPr/>
      </p:nvGrpSpPr>
      <p:grpSpPr>
        <a:xfrm>
          <a:off x="0" y="0"/>
          <a:ext cx="0" cy="0"/>
          <a:chOff x="0" y="0"/>
          <a:chExt cx="0" cy="0"/>
        </a:xfrm>
      </p:grpSpPr>
      <p:sp>
        <p:nvSpPr>
          <p:cNvPr id="9" name="AutoShape 9">
            <a:extLst>
              <a:ext uri="{FF2B5EF4-FFF2-40B4-BE49-F238E27FC236}">
                <a16:creationId xmlns:a16="http://schemas.microsoft.com/office/drawing/2014/main" id="{44EF79F1-C20A-8E98-617C-0BC0E6825190}"/>
              </a:ext>
            </a:extLst>
          </p:cNvPr>
          <p:cNvSpPr/>
          <p:nvPr/>
        </p:nvSpPr>
        <p:spPr>
          <a:xfrm flipV="1">
            <a:off x="4419600" y="3623116"/>
            <a:ext cx="2443899" cy="1215584"/>
          </a:xfrm>
          <a:prstGeom prst="line">
            <a:avLst/>
          </a:prstGeom>
          <a:ln w="28575" cap="flat">
            <a:solidFill>
              <a:srgbClr val="F8F8F8"/>
            </a:solidFill>
            <a:prstDash val="solid"/>
            <a:headEnd type="none" w="sm" len="sm"/>
            <a:tailEnd type="none" w="sm" len="sm"/>
          </a:ln>
        </p:spPr>
      </p:sp>
      <p:grpSp>
        <p:nvGrpSpPr>
          <p:cNvPr id="13" name="Group 13">
            <a:extLst>
              <a:ext uri="{FF2B5EF4-FFF2-40B4-BE49-F238E27FC236}">
                <a16:creationId xmlns:a16="http://schemas.microsoft.com/office/drawing/2014/main" id="{68C748ED-FF6C-38F0-48E1-1A34266404C9}"/>
              </a:ext>
            </a:extLst>
          </p:cNvPr>
          <p:cNvGrpSpPr/>
          <p:nvPr/>
        </p:nvGrpSpPr>
        <p:grpSpPr>
          <a:xfrm>
            <a:off x="57409" y="1790335"/>
            <a:ext cx="5710361" cy="5867765"/>
            <a:chOff x="0" y="0"/>
            <a:chExt cx="812800" cy="812800"/>
          </a:xfrm>
        </p:grpSpPr>
        <p:sp>
          <p:nvSpPr>
            <p:cNvPr id="14" name="Freeform 14">
              <a:extLst>
                <a:ext uri="{FF2B5EF4-FFF2-40B4-BE49-F238E27FC236}">
                  <a16:creationId xmlns:a16="http://schemas.microsoft.com/office/drawing/2014/main" id="{6BDD7A6B-B89E-1BFE-066E-81CD21D40AF8}"/>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8F8F8"/>
            </a:solidFill>
          </p:spPr>
        </p:sp>
        <p:sp>
          <p:nvSpPr>
            <p:cNvPr id="15" name="TextBox 15">
              <a:extLst>
                <a:ext uri="{FF2B5EF4-FFF2-40B4-BE49-F238E27FC236}">
                  <a16:creationId xmlns:a16="http://schemas.microsoft.com/office/drawing/2014/main" id="{D0BDF648-299F-D0B3-527E-B855CE4DF598}"/>
                </a:ext>
              </a:extLst>
            </p:cNvPr>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16" name="Freeform 16">
            <a:extLst>
              <a:ext uri="{FF2B5EF4-FFF2-40B4-BE49-F238E27FC236}">
                <a16:creationId xmlns:a16="http://schemas.microsoft.com/office/drawing/2014/main" id="{6D54BBD8-D7AB-4FA3-0597-CACA34147BB8}"/>
              </a:ext>
            </a:extLst>
          </p:cNvPr>
          <p:cNvSpPr/>
          <p:nvPr/>
        </p:nvSpPr>
        <p:spPr>
          <a:xfrm>
            <a:off x="170873" y="1960428"/>
            <a:ext cx="5596898" cy="5545272"/>
          </a:xfrm>
          <a:custGeom>
            <a:avLst/>
            <a:gdLst/>
            <a:ahLst/>
            <a:cxnLst/>
            <a:rect l="l" t="t" r="r" b="b"/>
            <a:pathLst>
              <a:path w="5862965" h="5855636">
                <a:moveTo>
                  <a:pt x="0" y="0"/>
                </a:moveTo>
                <a:lnTo>
                  <a:pt x="5862964" y="0"/>
                </a:lnTo>
                <a:lnTo>
                  <a:pt x="5862964" y="5855636"/>
                </a:lnTo>
                <a:lnTo>
                  <a:pt x="0" y="5855636"/>
                </a:lnTo>
                <a:lnTo>
                  <a:pt x="0" y="0"/>
                </a:lnTo>
                <a:close/>
              </a:path>
            </a:pathLst>
          </a:custGeom>
          <a:blipFill>
            <a:blip r:embed="rId2"/>
            <a:stretch>
              <a:fillRect/>
            </a:stretch>
          </a:blipFill>
        </p:spPr>
      </p:sp>
      <p:grpSp>
        <p:nvGrpSpPr>
          <p:cNvPr id="17" name="Group 17">
            <a:extLst>
              <a:ext uri="{FF2B5EF4-FFF2-40B4-BE49-F238E27FC236}">
                <a16:creationId xmlns:a16="http://schemas.microsoft.com/office/drawing/2014/main" id="{A4CA57DD-3AD4-668A-F2F9-B6E38A1324FD}"/>
              </a:ext>
            </a:extLst>
          </p:cNvPr>
          <p:cNvGrpSpPr/>
          <p:nvPr/>
        </p:nvGrpSpPr>
        <p:grpSpPr>
          <a:xfrm>
            <a:off x="548587" y="2358550"/>
            <a:ext cx="4656530" cy="4714910"/>
            <a:chOff x="0" y="0"/>
            <a:chExt cx="812800" cy="812800"/>
          </a:xfrm>
        </p:grpSpPr>
        <p:sp>
          <p:nvSpPr>
            <p:cNvPr id="18" name="Freeform 18">
              <a:extLst>
                <a:ext uri="{FF2B5EF4-FFF2-40B4-BE49-F238E27FC236}">
                  <a16:creationId xmlns:a16="http://schemas.microsoft.com/office/drawing/2014/main" id="{179322C0-6511-A9D4-3A87-F63058804139}"/>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id="19" name="TextBox 19">
              <a:extLst>
                <a:ext uri="{FF2B5EF4-FFF2-40B4-BE49-F238E27FC236}">
                  <a16:creationId xmlns:a16="http://schemas.microsoft.com/office/drawing/2014/main" id="{0A2C72DD-11D3-E0B9-BA89-D0614A1184C2}"/>
                </a:ext>
              </a:extLst>
            </p:cNvPr>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26" name="TextBox 26">
            <a:extLst>
              <a:ext uri="{FF2B5EF4-FFF2-40B4-BE49-F238E27FC236}">
                <a16:creationId xmlns:a16="http://schemas.microsoft.com/office/drawing/2014/main" id="{D181B90B-E9CD-2131-F74F-8C8DBAD8B2AA}"/>
              </a:ext>
            </a:extLst>
          </p:cNvPr>
          <p:cNvSpPr txBox="1"/>
          <p:nvPr/>
        </p:nvSpPr>
        <p:spPr>
          <a:xfrm>
            <a:off x="685800" y="4686300"/>
            <a:ext cx="4563094" cy="1694053"/>
          </a:xfrm>
          <a:prstGeom prst="rect">
            <a:avLst/>
          </a:prstGeom>
        </p:spPr>
        <p:txBody>
          <a:bodyPr wrap="square" lIns="0" tIns="0" rIns="0" bIns="0" rtlCol="0" anchor="t">
            <a:spAutoFit/>
          </a:bodyPr>
          <a:lstStyle/>
          <a:p>
            <a:pPr algn="ctr">
              <a:lnSpc>
                <a:spcPts val="7000"/>
              </a:lnSpc>
            </a:pPr>
            <a:r>
              <a:rPr lang="en-US" sz="4800" b="1" dirty="0">
                <a:solidFill>
                  <a:srgbClr val="7068F4"/>
                </a:solidFill>
                <a:latin typeface="Barlow Bold" pitchFamily="34" charset="0"/>
                <a:ea typeface="Barlow Bold" pitchFamily="34" charset="-122"/>
                <a:cs typeface="Barlow Bold" pitchFamily="34" charset="-120"/>
              </a:rPr>
              <a:t>Main Research Question</a:t>
            </a:r>
          </a:p>
        </p:txBody>
      </p:sp>
      <p:grpSp>
        <p:nvGrpSpPr>
          <p:cNvPr id="27" name="Group 27">
            <a:extLst>
              <a:ext uri="{FF2B5EF4-FFF2-40B4-BE49-F238E27FC236}">
                <a16:creationId xmlns:a16="http://schemas.microsoft.com/office/drawing/2014/main" id="{F1C8C0FD-8236-FF3B-E9BB-71A015DC43B2}"/>
              </a:ext>
            </a:extLst>
          </p:cNvPr>
          <p:cNvGrpSpPr/>
          <p:nvPr/>
        </p:nvGrpSpPr>
        <p:grpSpPr>
          <a:xfrm>
            <a:off x="5791200" y="2857848"/>
            <a:ext cx="13106400" cy="2895599"/>
            <a:chOff x="0" y="0"/>
            <a:chExt cx="1013318" cy="260488"/>
          </a:xfrm>
        </p:grpSpPr>
        <p:sp>
          <p:nvSpPr>
            <p:cNvPr id="28" name="Freeform 28">
              <a:extLst>
                <a:ext uri="{FF2B5EF4-FFF2-40B4-BE49-F238E27FC236}">
                  <a16:creationId xmlns:a16="http://schemas.microsoft.com/office/drawing/2014/main" id="{B3BF09C5-1DAD-042C-A9F0-89F79BDE91A5}"/>
                </a:ext>
              </a:extLst>
            </p:cNvPr>
            <p:cNvSpPr/>
            <p:nvPr/>
          </p:nvSpPr>
          <p:spPr>
            <a:xfrm>
              <a:off x="0" y="0"/>
              <a:ext cx="1013318" cy="260488"/>
            </a:xfrm>
            <a:custGeom>
              <a:avLst/>
              <a:gdLst/>
              <a:ahLst/>
              <a:cxnLst/>
              <a:rect l="l" t="t" r="r" b="b"/>
              <a:pathLst>
                <a:path w="1013318" h="260488">
                  <a:moveTo>
                    <a:pt x="130244" y="0"/>
                  </a:moveTo>
                  <a:lnTo>
                    <a:pt x="883074" y="0"/>
                  </a:lnTo>
                  <a:cubicBezTo>
                    <a:pt x="917617" y="0"/>
                    <a:pt x="950745" y="13722"/>
                    <a:pt x="975171" y="38148"/>
                  </a:cubicBezTo>
                  <a:cubicBezTo>
                    <a:pt x="999596" y="62573"/>
                    <a:pt x="1013318" y="95701"/>
                    <a:pt x="1013318" y="130244"/>
                  </a:cubicBezTo>
                  <a:lnTo>
                    <a:pt x="1013318" y="130244"/>
                  </a:lnTo>
                  <a:cubicBezTo>
                    <a:pt x="1013318" y="202175"/>
                    <a:pt x="955006" y="260488"/>
                    <a:pt x="883074" y="260488"/>
                  </a:cubicBezTo>
                  <a:lnTo>
                    <a:pt x="130244" y="260488"/>
                  </a:lnTo>
                  <a:cubicBezTo>
                    <a:pt x="95701" y="260488"/>
                    <a:pt x="62573" y="246766"/>
                    <a:pt x="38148" y="222340"/>
                  </a:cubicBezTo>
                  <a:cubicBezTo>
                    <a:pt x="13722" y="197915"/>
                    <a:pt x="0" y="164787"/>
                    <a:pt x="0" y="130244"/>
                  </a:cubicBezTo>
                  <a:lnTo>
                    <a:pt x="0" y="130244"/>
                  </a:lnTo>
                  <a:cubicBezTo>
                    <a:pt x="0" y="95701"/>
                    <a:pt x="13722" y="62573"/>
                    <a:pt x="38148" y="38148"/>
                  </a:cubicBezTo>
                  <a:cubicBezTo>
                    <a:pt x="62573" y="13722"/>
                    <a:pt x="95701" y="0"/>
                    <a:pt x="130244" y="0"/>
                  </a:cubicBezTo>
                  <a:close/>
                </a:path>
              </a:pathLst>
            </a:custGeom>
            <a:solidFill>
              <a:srgbClr val="F8F8F8"/>
            </a:solidFill>
          </p:spPr>
        </p:sp>
        <p:sp>
          <p:nvSpPr>
            <p:cNvPr id="29" name="TextBox 29">
              <a:extLst>
                <a:ext uri="{FF2B5EF4-FFF2-40B4-BE49-F238E27FC236}">
                  <a16:creationId xmlns:a16="http://schemas.microsoft.com/office/drawing/2014/main" id="{6AA3E313-BDC2-D92C-52E2-7ACCFEFBB4B4}"/>
                </a:ext>
              </a:extLst>
            </p:cNvPr>
            <p:cNvSpPr txBox="1"/>
            <p:nvPr/>
          </p:nvSpPr>
          <p:spPr>
            <a:xfrm>
              <a:off x="0" y="-38100"/>
              <a:ext cx="1013318" cy="298588"/>
            </a:xfrm>
            <a:prstGeom prst="rect">
              <a:avLst/>
            </a:prstGeom>
          </p:spPr>
          <p:txBody>
            <a:bodyPr lIns="47086" tIns="47086" rIns="47086" bIns="47086" rtlCol="0" anchor="ctr"/>
            <a:lstStyle/>
            <a:p>
              <a:pPr algn="ctr">
                <a:lnSpc>
                  <a:spcPts val="2659"/>
                </a:lnSpc>
              </a:pPr>
              <a:endParaRPr/>
            </a:p>
          </p:txBody>
        </p:sp>
      </p:grpSp>
      <p:sp>
        <p:nvSpPr>
          <p:cNvPr id="30" name="Freeform 30">
            <a:extLst>
              <a:ext uri="{FF2B5EF4-FFF2-40B4-BE49-F238E27FC236}">
                <a16:creationId xmlns:a16="http://schemas.microsoft.com/office/drawing/2014/main" id="{BE04B9FD-A592-1BF0-2CB8-75E1DD2E5B9E}"/>
              </a:ext>
            </a:extLst>
          </p:cNvPr>
          <p:cNvSpPr/>
          <p:nvPr/>
        </p:nvSpPr>
        <p:spPr>
          <a:xfrm>
            <a:off x="6019800" y="2857500"/>
            <a:ext cx="1607396" cy="1524000"/>
          </a:xfrm>
          <a:custGeom>
            <a:avLst/>
            <a:gdLst/>
            <a:ahLst/>
            <a:cxnLst/>
            <a:rect l="l" t="t" r="r" b="b"/>
            <a:pathLst>
              <a:path w="1026728" h="1025445">
                <a:moveTo>
                  <a:pt x="0" y="0"/>
                </a:moveTo>
                <a:lnTo>
                  <a:pt x="1026729" y="0"/>
                </a:lnTo>
                <a:lnTo>
                  <a:pt x="1026729" y="1025445"/>
                </a:lnTo>
                <a:lnTo>
                  <a:pt x="0" y="1025445"/>
                </a:lnTo>
                <a:lnTo>
                  <a:pt x="0" y="0"/>
                </a:lnTo>
                <a:close/>
              </a:path>
            </a:pathLst>
          </a:custGeom>
          <a:blipFill>
            <a:blip r:embed="rId2"/>
            <a:stretch>
              <a:fillRect/>
            </a:stretch>
          </a:blipFill>
        </p:spPr>
      </p:sp>
      <p:grpSp>
        <p:nvGrpSpPr>
          <p:cNvPr id="31" name="Group 31">
            <a:extLst>
              <a:ext uri="{FF2B5EF4-FFF2-40B4-BE49-F238E27FC236}">
                <a16:creationId xmlns:a16="http://schemas.microsoft.com/office/drawing/2014/main" id="{CA164085-233E-D25F-0C12-DAB75DF9F0A0}"/>
              </a:ext>
            </a:extLst>
          </p:cNvPr>
          <p:cNvGrpSpPr/>
          <p:nvPr/>
        </p:nvGrpSpPr>
        <p:grpSpPr>
          <a:xfrm>
            <a:off x="6379793" y="3086100"/>
            <a:ext cx="1011607" cy="1011607"/>
            <a:chOff x="0" y="0"/>
            <a:chExt cx="812800" cy="812800"/>
          </a:xfrm>
        </p:grpSpPr>
        <p:sp>
          <p:nvSpPr>
            <p:cNvPr id="32" name="Freeform 32">
              <a:extLst>
                <a:ext uri="{FF2B5EF4-FFF2-40B4-BE49-F238E27FC236}">
                  <a16:creationId xmlns:a16="http://schemas.microsoft.com/office/drawing/2014/main" id="{FF329E1A-0936-63C8-44B9-C10A6D27D354}"/>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id="33" name="TextBox 33">
              <a:extLst>
                <a:ext uri="{FF2B5EF4-FFF2-40B4-BE49-F238E27FC236}">
                  <a16:creationId xmlns:a16="http://schemas.microsoft.com/office/drawing/2014/main" id="{31F96E3D-5160-7D60-A42E-42159531D2A4}"/>
                </a:ext>
              </a:extLst>
            </p:cNvPr>
            <p:cNvSpPr txBox="1"/>
            <p:nvPr/>
          </p:nvSpPr>
          <p:spPr>
            <a:xfrm>
              <a:off x="76200" y="38100"/>
              <a:ext cx="660400" cy="698500"/>
            </a:xfrm>
            <a:prstGeom prst="rect">
              <a:avLst/>
            </a:prstGeom>
          </p:spPr>
          <p:txBody>
            <a:bodyPr lIns="47086" tIns="47086" rIns="47086" bIns="47086" rtlCol="0" anchor="ctr"/>
            <a:lstStyle/>
            <a:p>
              <a:pPr algn="ctr">
                <a:lnSpc>
                  <a:spcPts val="2659"/>
                </a:lnSpc>
                <a:spcBef>
                  <a:spcPct val="0"/>
                </a:spcBef>
              </a:pPr>
              <a:endParaRPr/>
            </a:p>
          </p:txBody>
        </p:sp>
      </p:grpSp>
      <p:grpSp>
        <p:nvGrpSpPr>
          <p:cNvPr id="34" name="Group 34">
            <a:extLst>
              <a:ext uri="{FF2B5EF4-FFF2-40B4-BE49-F238E27FC236}">
                <a16:creationId xmlns:a16="http://schemas.microsoft.com/office/drawing/2014/main" id="{A5512431-E4E7-3C4D-24D5-A899F18C5E82}"/>
              </a:ext>
            </a:extLst>
          </p:cNvPr>
          <p:cNvGrpSpPr/>
          <p:nvPr/>
        </p:nvGrpSpPr>
        <p:grpSpPr>
          <a:xfrm>
            <a:off x="6792058" y="3390900"/>
            <a:ext cx="218342" cy="218342"/>
            <a:chOff x="0" y="0"/>
            <a:chExt cx="812800" cy="812800"/>
          </a:xfrm>
        </p:grpSpPr>
        <p:sp>
          <p:nvSpPr>
            <p:cNvPr id="35" name="Freeform 35">
              <a:extLst>
                <a:ext uri="{FF2B5EF4-FFF2-40B4-BE49-F238E27FC236}">
                  <a16:creationId xmlns:a16="http://schemas.microsoft.com/office/drawing/2014/main" id="{CACF8870-CB2E-3484-5464-81AF6B1E3D52}"/>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A6AD6"/>
            </a:solidFill>
          </p:spPr>
        </p:sp>
        <p:sp>
          <p:nvSpPr>
            <p:cNvPr id="36" name="TextBox 36">
              <a:extLst>
                <a:ext uri="{FF2B5EF4-FFF2-40B4-BE49-F238E27FC236}">
                  <a16:creationId xmlns:a16="http://schemas.microsoft.com/office/drawing/2014/main" id="{EFCB6CB3-E000-22B2-310B-7020D528A6A1}"/>
                </a:ext>
              </a:extLst>
            </p:cNvPr>
            <p:cNvSpPr txBox="1"/>
            <p:nvPr/>
          </p:nvSpPr>
          <p:spPr>
            <a:xfrm>
              <a:off x="76200" y="38100"/>
              <a:ext cx="660400" cy="698500"/>
            </a:xfrm>
            <a:prstGeom prst="rect">
              <a:avLst/>
            </a:prstGeom>
          </p:spPr>
          <p:txBody>
            <a:bodyPr lIns="47086" tIns="47086" rIns="47086" bIns="47086" rtlCol="0" anchor="ctr"/>
            <a:lstStyle/>
            <a:p>
              <a:pPr algn="ctr">
                <a:lnSpc>
                  <a:spcPts val="2659"/>
                </a:lnSpc>
                <a:spcBef>
                  <a:spcPct val="0"/>
                </a:spcBef>
              </a:pPr>
              <a:endParaRPr/>
            </a:p>
          </p:txBody>
        </p:sp>
      </p:grpSp>
      <p:grpSp>
        <p:nvGrpSpPr>
          <p:cNvPr id="75" name="Group 75">
            <a:extLst>
              <a:ext uri="{FF2B5EF4-FFF2-40B4-BE49-F238E27FC236}">
                <a16:creationId xmlns:a16="http://schemas.microsoft.com/office/drawing/2014/main" id="{D1070CA4-A93D-5DB0-9E7F-A7B28DA79FC3}"/>
              </a:ext>
            </a:extLst>
          </p:cNvPr>
          <p:cNvGrpSpPr/>
          <p:nvPr/>
        </p:nvGrpSpPr>
        <p:grpSpPr>
          <a:xfrm>
            <a:off x="17491799" y="8458418"/>
            <a:ext cx="951769" cy="799882"/>
            <a:chOff x="0" y="0"/>
            <a:chExt cx="967140" cy="812800"/>
          </a:xfrm>
        </p:grpSpPr>
        <p:sp>
          <p:nvSpPr>
            <p:cNvPr id="76" name="Freeform 76">
              <a:extLst>
                <a:ext uri="{FF2B5EF4-FFF2-40B4-BE49-F238E27FC236}">
                  <a16:creationId xmlns:a16="http://schemas.microsoft.com/office/drawing/2014/main" id="{6029B754-D7A2-7E6B-2708-49AA96F85D55}"/>
                </a:ext>
              </a:extLst>
            </p:cNvPr>
            <p:cNvSpPr/>
            <p:nvPr/>
          </p:nvSpPr>
          <p:spPr>
            <a:xfrm>
              <a:off x="0" y="0"/>
              <a:ext cx="967140" cy="812800"/>
            </a:xfrm>
            <a:custGeom>
              <a:avLst/>
              <a:gdLst/>
              <a:ahLst/>
              <a:cxnLst/>
              <a:rect l="l" t="t" r="r" b="b"/>
              <a:pathLst>
                <a:path w="967140" h="812800">
                  <a:moveTo>
                    <a:pt x="81342" y="0"/>
                  </a:moveTo>
                  <a:lnTo>
                    <a:pt x="885798" y="0"/>
                  </a:lnTo>
                  <a:cubicBezTo>
                    <a:pt x="907371" y="0"/>
                    <a:pt x="928061" y="8570"/>
                    <a:pt x="943315" y="23825"/>
                  </a:cubicBezTo>
                  <a:cubicBezTo>
                    <a:pt x="958570" y="39079"/>
                    <a:pt x="967140" y="59769"/>
                    <a:pt x="967140" y="81342"/>
                  </a:cubicBezTo>
                  <a:lnTo>
                    <a:pt x="967140" y="731458"/>
                  </a:lnTo>
                  <a:cubicBezTo>
                    <a:pt x="967140" y="776382"/>
                    <a:pt x="930722" y="812800"/>
                    <a:pt x="885798" y="812800"/>
                  </a:cubicBezTo>
                  <a:lnTo>
                    <a:pt x="81342" y="812800"/>
                  </a:lnTo>
                  <a:cubicBezTo>
                    <a:pt x="59769" y="812800"/>
                    <a:pt x="39079" y="804230"/>
                    <a:pt x="23825" y="788975"/>
                  </a:cubicBezTo>
                  <a:cubicBezTo>
                    <a:pt x="8570" y="773721"/>
                    <a:pt x="0" y="753031"/>
                    <a:pt x="0" y="731458"/>
                  </a:cubicBezTo>
                  <a:lnTo>
                    <a:pt x="0" y="81342"/>
                  </a:lnTo>
                  <a:cubicBezTo>
                    <a:pt x="0" y="59769"/>
                    <a:pt x="8570" y="39079"/>
                    <a:pt x="23825" y="23825"/>
                  </a:cubicBezTo>
                  <a:cubicBezTo>
                    <a:pt x="39079" y="8570"/>
                    <a:pt x="59769" y="0"/>
                    <a:pt x="81342" y="0"/>
                  </a:cubicBezTo>
                  <a:close/>
                </a:path>
              </a:pathLst>
            </a:custGeom>
            <a:solidFill>
              <a:srgbClr val="3A6AD6"/>
            </a:solidFill>
          </p:spPr>
        </p:sp>
        <p:sp>
          <p:nvSpPr>
            <p:cNvPr id="77" name="TextBox 77">
              <a:extLst>
                <a:ext uri="{FF2B5EF4-FFF2-40B4-BE49-F238E27FC236}">
                  <a16:creationId xmlns:a16="http://schemas.microsoft.com/office/drawing/2014/main" id="{64D7B58C-0778-C4C4-655D-205047456924}"/>
                </a:ext>
              </a:extLst>
            </p:cNvPr>
            <p:cNvSpPr txBox="1"/>
            <p:nvPr/>
          </p:nvSpPr>
          <p:spPr>
            <a:xfrm>
              <a:off x="0" y="-38100"/>
              <a:ext cx="967140" cy="850900"/>
            </a:xfrm>
            <a:prstGeom prst="rect">
              <a:avLst/>
            </a:prstGeom>
          </p:spPr>
          <p:txBody>
            <a:bodyPr lIns="50800" tIns="50800" rIns="50800" bIns="50800" rtlCol="0" anchor="ctr"/>
            <a:lstStyle/>
            <a:p>
              <a:pPr algn="ctr">
                <a:lnSpc>
                  <a:spcPts val="2659"/>
                </a:lnSpc>
              </a:pPr>
              <a:endParaRPr/>
            </a:p>
          </p:txBody>
        </p:sp>
      </p:grpSp>
      <p:sp>
        <p:nvSpPr>
          <p:cNvPr id="78" name="TextBox 78">
            <a:extLst>
              <a:ext uri="{FF2B5EF4-FFF2-40B4-BE49-F238E27FC236}">
                <a16:creationId xmlns:a16="http://schemas.microsoft.com/office/drawing/2014/main" id="{71BC35D7-72A4-DCBD-41ED-E066AF97E54E}"/>
              </a:ext>
            </a:extLst>
          </p:cNvPr>
          <p:cNvSpPr txBox="1"/>
          <p:nvPr/>
        </p:nvSpPr>
        <p:spPr>
          <a:xfrm>
            <a:off x="17674380" y="8710688"/>
            <a:ext cx="442747" cy="257943"/>
          </a:xfrm>
          <a:prstGeom prst="rect">
            <a:avLst/>
          </a:prstGeom>
        </p:spPr>
        <p:txBody>
          <a:bodyPr lIns="0" tIns="0" rIns="0" bIns="0" rtlCol="0" anchor="t">
            <a:spAutoFit/>
          </a:bodyPr>
          <a:lstStyle/>
          <a:p>
            <a:pPr algn="ctr">
              <a:lnSpc>
                <a:spcPts val="2057"/>
              </a:lnSpc>
              <a:spcBef>
                <a:spcPct val="0"/>
              </a:spcBef>
            </a:pPr>
            <a:r>
              <a:rPr lang="en-GB" sz="1469" b="1" dirty="0">
                <a:solidFill>
                  <a:srgbClr val="FFFFFF"/>
                </a:solidFill>
                <a:latin typeface="Poppins Bold"/>
                <a:ea typeface="Poppins Bold"/>
                <a:cs typeface="Poppins Bold"/>
                <a:sym typeface="Poppins Bold"/>
              </a:rPr>
              <a:t>11</a:t>
            </a:r>
            <a:endParaRPr lang="en-US" sz="1469" b="1" dirty="0">
              <a:solidFill>
                <a:srgbClr val="FFFFFF"/>
              </a:solidFill>
              <a:latin typeface="Poppins Bold"/>
              <a:ea typeface="Poppins Bold"/>
              <a:cs typeface="Poppins Bold"/>
              <a:sym typeface="Poppins Bold"/>
            </a:endParaRPr>
          </a:p>
        </p:txBody>
      </p:sp>
      <p:sp>
        <p:nvSpPr>
          <p:cNvPr id="83" name="Text 2">
            <a:extLst>
              <a:ext uri="{FF2B5EF4-FFF2-40B4-BE49-F238E27FC236}">
                <a16:creationId xmlns:a16="http://schemas.microsoft.com/office/drawing/2014/main" id="{EEC29B04-5E2A-A679-D0CF-1CC515803D7B}"/>
              </a:ext>
            </a:extLst>
          </p:cNvPr>
          <p:cNvSpPr/>
          <p:nvPr/>
        </p:nvSpPr>
        <p:spPr>
          <a:xfrm>
            <a:off x="6474631" y="3245977"/>
            <a:ext cx="11642496" cy="3497723"/>
          </a:xfrm>
          <a:prstGeom prst="rect">
            <a:avLst/>
          </a:prstGeom>
          <a:noFill/>
          <a:ln/>
        </p:spPr>
        <p:txBody>
          <a:bodyPr wrap="square" lIns="0" tIns="0" rIns="0" bIns="0" rtlCol="0" anchor="t"/>
          <a:lstStyle/>
          <a:p>
            <a:pPr marL="914400" indent="-571500" algn="just">
              <a:buFont typeface="Arial" panose="020B0604020202020204" pitchFamily="34" charset="0"/>
              <a:buChar char="•"/>
            </a:pPr>
            <a:r>
              <a:rPr lang="en-GB" sz="4000" dirty="0">
                <a:solidFill>
                  <a:srgbClr val="504C49"/>
                </a:solidFill>
                <a:latin typeface="Source Serif Pro" pitchFamily="34" charset="0"/>
                <a:ea typeface="Source Serif Pro" pitchFamily="34" charset="-122"/>
                <a:cs typeface="Source Serif Pro" pitchFamily="34" charset="-120"/>
              </a:rPr>
              <a:t>  How can commonly used NLP models be     selected based on both task performance and carbon efficiency to promote sustainable AI development?</a:t>
            </a:r>
          </a:p>
        </p:txBody>
      </p:sp>
      <p:sp>
        <p:nvSpPr>
          <p:cNvPr id="2" name="Freeform 30">
            <a:extLst>
              <a:ext uri="{FF2B5EF4-FFF2-40B4-BE49-F238E27FC236}">
                <a16:creationId xmlns:a16="http://schemas.microsoft.com/office/drawing/2014/main" id="{2BA6DCA1-80EF-23D5-E256-130665E9A9AD}"/>
              </a:ext>
            </a:extLst>
          </p:cNvPr>
          <p:cNvSpPr/>
          <p:nvPr/>
        </p:nvSpPr>
        <p:spPr>
          <a:xfrm>
            <a:off x="2011612" y="3183718"/>
            <a:ext cx="1607396" cy="1524000"/>
          </a:xfrm>
          <a:custGeom>
            <a:avLst/>
            <a:gdLst/>
            <a:ahLst/>
            <a:cxnLst/>
            <a:rect l="l" t="t" r="r" b="b"/>
            <a:pathLst>
              <a:path w="1026728" h="1025445">
                <a:moveTo>
                  <a:pt x="0" y="0"/>
                </a:moveTo>
                <a:lnTo>
                  <a:pt x="1026729" y="0"/>
                </a:lnTo>
                <a:lnTo>
                  <a:pt x="1026729" y="1025445"/>
                </a:lnTo>
                <a:lnTo>
                  <a:pt x="0" y="1025445"/>
                </a:lnTo>
                <a:lnTo>
                  <a:pt x="0" y="0"/>
                </a:lnTo>
                <a:close/>
              </a:path>
            </a:pathLst>
          </a:custGeom>
          <a:blipFill>
            <a:blip r:embed="rId2"/>
            <a:stretch>
              <a:fillRect/>
            </a:stretch>
          </a:blipFill>
        </p:spPr>
      </p:sp>
      <p:grpSp>
        <p:nvGrpSpPr>
          <p:cNvPr id="3" name="Group 31">
            <a:extLst>
              <a:ext uri="{FF2B5EF4-FFF2-40B4-BE49-F238E27FC236}">
                <a16:creationId xmlns:a16="http://schemas.microsoft.com/office/drawing/2014/main" id="{E41C7B6B-8AC2-7EA4-6762-A914972BE34B}"/>
              </a:ext>
            </a:extLst>
          </p:cNvPr>
          <p:cNvGrpSpPr/>
          <p:nvPr/>
        </p:nvGrpSpPr>
        <p:grpSpPr>
          <a:xfrm>
            <a:off x="2323608" y="3391311"/>
            <a:ext cx="1011607" cy="1011607"/>
            <a:chOff x="0" y="0"/>
            <a:chExt cx="812800" cy="812800"/>
          </a:xfrm>
        </p:grpSpPr>
        <p:sp>
          <p:nvSpPr>
            <p:cNvPr id="4" name="Freeform 32">
              <a:extLst>
                <a:ext uri="{FF2B5EF4-FFF2-40B4-BE49-F238E27FC236}">
                  <a16:creationId xmlns:a16="http://schemas.microsoft.com/office/drawing/2014/main" id="{31064E7F-C321-DA1E-F291-E1C4379B8F74}"/>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id="5" name="TextBox 33">
              <a:extLst>
                <a:ext uri="{FF2B5EF4-FFF2-40B4-BE49-F238E27FC236}">
                  <a16:creationId xmlns:a16="http://schemas.microsoft.com/office/drawing/2014/main" id="{1EE484FF-9989-5FB8-6C4E-D75783462E5B}"/>
                </a:ext>
              </a:extLst>
            </p:cNvPr>
            <p:cNvSpPr txBox="1"/>
            <p:nvPr/>
          </p:nvSpPr>
          <p:spPr>
            <a:xfrm>
              <a:off x="76200" y="38100"/>
              <a:ext cx="660400" cy="698500"/>
            </a:xfrm>
            <a:prstGeom prst="rect">
              <a:avLst/>
            </a:prstGeom>
          </p:spPr>
          <p:txBody>
            <a:bodyPr lIns="47086" tIns="47086" rIns="47086" bIns="47086" rtlCol="0" anchor="ctr"/>
            <a:lstStyle/>
            <a:p>
              <a:pPr algn="ctr">
                <a:lnSpc>
                  <a:spcPts val="2659"/>
                </a:lnSpc>
                <a:spcBef>
                  <a:spcPct val="0"/>
                </a:spcBef>
              </a:pPr>
              <a:endParaRPr/>
            </a:p>
          </p:txBody>
        </p:sp>
      </p:grpSp>
      <p:pic>
        <p:nvPicPr>
          <p:cNvPr id="5122" name="Picture 2" descr="Research - Free computer icons">
            <a:extLst>
              <a:ext uri="{FF2B5EF4-FFF2-40B4-BE49-F238E27FC236}">
                <a16:creationId xmlns:a16="http://schemas.microsoft.com/office/drawing/2014/main" id="{7C5B3AA4-0DA1-2996-F2A6-8BAFDFBDCB47}"/>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133600" y="3343717"/>
            <a:ext cx="1647383" cy="164738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2375158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Click="0">
        <p159:morph option="byObject"/>
      </p:transition>
    </mc:Choice>
    <mc:Fallback xmlns="">
      <p:transition spd="slow" advClick="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5" presetClass="entr" presetSubtype="0" fill="hold" nodeType="afterEffect">
                                  <p:stCondLst>
                                    <p:cond delay="0"/>
                                  </p:stCondLst>
                                  <p:childTnLst>
                                    <p:set>
                                      <p:cBhvr>
                                        <p:cTn id="6" dur="1" fill="hold">
                                          <p:stCondLst>
                                            <p:cond delay="0"/>
                                          </p:stCondLst>
                                        </p:cTn>
                                        <p:tgtEl>
                                          <p:spTgt spid="5122"/>
                                        </p:tgtEl>
                                        <p:attrNameLst>
                                          <p:attrName>style.visibility</p:attrName>
                                        </p:attrNameLst>
                                      </p:cBhvr>
                                      <p:to>
                                        <p:strVal val="visible"/>
                                      </p:to>
                                    </p:set>
                                    <p:animEffect transition="in" filter="fade">
                                      <p:cBhvr>
                                        <p:cTn id="7" dur="2000"/>
                                        <p:tgtEl>
                                          <p:spTgt spid="5122"/>
                                        </p:tgtEl>
                                      </p:cBhvr>
                                    </p:animEffect>
                                    <p:anim calcmode="lin" valueType="num">
                                      <p:cBhvr>
                                        <p:cTn id="8" dur="2000" fill="hold"/>
                                        <p:tgtEl>
                                          <p:spTgt spid="5122"/>
                                        </p:tgtEl>
                                        <p:attrNameLst>
                                          <p:attrName>ppt_w</p:attrName>
                                        </p:attrNameLst>
                                      </p:cBhvr>
                                      <p:tavLst>
                                        <p:tav tm="0" fmla="#ppt_w*sin(2.5*pi*$)">
                                          <p:val>
                                            <p:fltVal val="0"/>
                                          </p:val>
                                        </p:tav>
                                        <p:tav tm="100000">
                                          <p:val>
                                            <p:fltVal val="1"/>
                                          </p:val>
                                        </p:tav>
                                      </p:tavLst>
                                    </p:anim>
                                    <p:anim calcmode="lin" valueType="num">
                                      <p:cBhvr>
                                        <p:cTn id="9" dur="2000" fill="hold"/>
                                        <p:tgtEl>
                                          <p:spTgt spid="5122"/>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A4A2EB-6A5B-3462-3549-205C9B836530}"/>
            </a:ext>
          </a:extLst>
        </p:cNvPr>
        <p:cNvGrpSpPr/>
        <p:nvPr/>
      </p:nvGrpSpPr>
      <p:grpSpPr>
        <a:xfrm>
          <a:off x="0" y="0"/>
          <a:ext cx="0" cy="0"/>
          <a:chOff x="0" y="0"/>
          <a:chExt cx="0" cy="0"/>
        </a:xfrm>
      </p:grpSpPr>
      <p:sp>
        <p:nvSpPr>
          <p:cNvPr id="9" name="AutoShape 9">
            <a:extLst>
              <a:ext uri="{FF2B5EF4-FFF2-40B4-BE49-F238E27FC236}">
                <a16:creationId xmlns:a16="http://schemas.microsoft.com/office/drawing/2014/main" id="{1AD5D1C9-A478-639D-2057-F02FEA662036}"/>
              </a:ext>
            </a:extLst>
          </p:cNvPr>
          <p:cNvSpPr/>
          <p:nvPr/>
        </p:nvSpPr>
        <p:spPr>
          <a:xfrm flipV="1">
            <a:off x="3925252" y="1138305"/>
            <a:ext cx="2443899" cy="1215584"/>
          </a:xfrm>
          <a:prstGeom prst="line">
            <a:avLst/>
          </a:prstGeom>
          <a:ln w="28575" cap="flat">
            <a:solidFill>
              <a:srgbClr val="F8F8F8"/>
            </a:solidFill>
            <a:prstDash val="solid"/>
            <a:headEnd type="none" w="sm" len="sm"/>
            <a:tailEnd type="none" w="sm" len="sm"/>
          </a:ln>
        </p:spPr>
      </p:sp>
      <p:grpSp>
        <p:nvGrpSpPr>
          <p:cNvPr id="13" name="Group 13">
            <a:extLst>
              <a:ext uri="{FF2B5EF4-FFF2-40B4-BE49-F238E27FC236}">
                <a16:creationId xmlns:a16="http://schemas.microsoft.com/office/drawing/2014/main" id="{1A78E197-80DC-07F1-7BA8-ABBE905C3BF8}"/>
              </a:ext>
            </a:extLst>
          </p:cNvPr>
          <p:cNvGrpSpPr/>
          <p:nvPr/>
        </p:nvGrpSpPr>
        <p:grpSpPr>
          <a:xfrm>
            <a:off x="57409" y="1790335"/>
            <a:ext cx="5710361" cy="5867765"/>
            <a:chOff x="0" y="0"/>
            <a:chExt cx="812800" cy="812800"/>
          </a:xfrm>
        </p:grpSpPr>
        <p:sp>
          <p:nvSpPr>
            <p:cNvPr id="14" name="Freeform 14">
              <a:extLst>
                <a:ext uri="{FF2B5EF4-FFF2-40B4-BE49-F238E27FC236}">
                  <a16:creationId xmlns:a16="http://schemas.microsoft.com/office/drawing/2014/main" id="{29533AE1-31EF-BB14-3D28-79D665D43B7C}"/>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8F8F8"/>
            </a:solidFill>
          </p:spPr>
        </p:sp>
        <p:sp>
          <p:nvSpPr>
            <p:cNvPr id="15" name="TextBox 15">
              <a:extLst>
                <a:ext uri="{FF2B5EF4-FFF2-40B4-BE49-F238E27FC236}">
                  <a16:creationId xmlns:a16="http://schemas.microsoft.com/office/drawing/2014/main" id="{E3022EC1-77F7-4AF4-8157-41CEB2B62C2D}"/>
                </a:ext>
              </a:extLst>
            </p:cNvPr>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16" name="Freeform 16">
            <a:extLst>
              <a:ext uri="{FF2B5EF4-FFF2-40B4-BE49-F238E27FC236}">
                <a16:creationId xmlns:a16="http://schemas.microsoft.com/office/drawing/2014/main" id="{74B0D7BA-47EF-4578-4013-B19E6E40413A}"/>
              </a:ext>
            </a:extLst>
          </p:cNvPr>
          <p:cNvSpPr/>
          <p:nvPr/>
        </p:nvSpPr>
        <p:spPr>
          <a:xfrm>
            <a:off x="170873" y="1960428"/>
            <a:ext cx="5596898" cy="5545272"/>
          </a:xfrm>
          <a:custGeom>
            <a:avLst/>
            <a:gdLst/>
            <a:ahLst/>
            <a:cxnLst/>
            <a:rect l="l" t="t" r="r" b="b"/>
            <a:pathLst>
              <a:path w="5862965" h="5855636">
                <a:moveTo>
                  <a:pt x="0" y="0"/>
                </a:moveTo>
                <a:lnTo>
                  <a:pt x="5862964" y="0"/>
                </a:lnTo>
                <a:lnTo>
                  <a:pt x="5862964" y="5855636"/>
                </a:lnTo>
                <a:lnTo>
                  <a:pt x="0" y="5855636"/>
                </a:lnTo>
                <a:lnTo>
                  <a:pt x="0" y="0"/>
                </a:lnTo>
                <a:close/>
              </a:path>
            </a:pathLst>
          </a:custGeom>
          <a:blipFill>
            <a:blip r:embed="rId2"/>
            <a:stretch>
              <a:fillRect/>
            </a:stretch>
          </a:blipFill>
        </p:spPr>
      </p:sp>
      <p:grpSp>
        <p:nvGrpSpPr>
          <p:cNvPr id="17" name="Group 17">
            <a:extLst>
              <a:ext uri="{FF2B5EF4-FFF2-40B4-BE49-F238E27FC236}">
                <a16:creationId xmlns:a16="http://schemas.microsoft.com/office/drawing/2014/main" id="{619B8450-2DED-AA0F-C670-33B6EFFE6CC3}"/>
              </a:ext>
            </a:extLst>
          </p:cNvPr>
          <p:cNvGrpSpPr/>
          <p:nvPr/>
        </p:nvGrpSpPr>
        <p:grpSpPr>
          <a:xfrm>
            <a:off x="548587" y="2358550"/>
            <a:ext cx="4656530" cy="4714910"/>
            <a:chOff x="0" y="0"/>
            <a:chExt cx="812800" cy="812800"/>
          </a:xfrm>
        </p:grpSpPr>
        <p:sp>
          <p:nvSpPr>
            <p:cNvPr id="18" name="Freeform 18">
              <a:extLst>
                <a:ext uri="{FF2B5EF4-FFF2-40B4-BE49-F238E27FC236}">
                  <a16:creationId xmlns:a16="http://schemas.microsoft.com/office/drawing/2014/main" id="{3086ABCF-8A67-1864-9FFD-F16A7CA1C7FF}"/>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id="19" name="TextBox 19">
              <a:extLst>
                <a:ext uri="{FF2B5EF4-FFF2-40B4-BE49-F238E27FC236}">
                  <a16:creationId xmlns:a16="http://schemas.microsoft.com/office/drawing/2014/main" id="{9F7951C4-898F-9743-A7D7-A5AC5B33BF86}"/>
                </a:ext>
              </a:extLst>
            </p:cNvPr>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26" name="TextBox 26">
            <a:extLst>
              <a:ext uri="{FF2B5EF4-FFF2-40B4-BE49-F238E27FC236}">
                <a16:creationId xmlns:a16="http://schemas.microsoft.com/office/drawing/2014/main" id="{9A30B4A7-6986-96EE-C880-AE1A3B63DD95}"/>
              </a:ext>
            </a:extLst>
          </p:cNvPr>
          <p:cNvSpPr txBox="1"/>
          <p:nvPr/>
        </p:nvSpPr>
        <p:spPr>
          <a:xfrm>
            <a:off x="737069" y="4674612"/>
            <a:ext cx="4351040" cy="738664"/>
          </a:xfrm>
          <a:prstGeom prst="rect">
            <a:avLst/>
          </a:prstGeom>
        </p:spPr>
        <p:txBody>
          <a:bodyPr wrap="square" lIns="0" tIns="0" rIns="0" bIns="0" rtlCol="0" anchor="t">
            <a:spAutoFit/>
          </a:bodyPr>
          <a:lstStyle/>
          <a:p>
            <a:pPr algn="ctr"/>
            <a:r>
              <a:rPr lang="en-GB" sz="4800" b="1" dirty="0">
                <a:solidFill>
                  <a:srgbClr val="7068F4"/>
                </a:solidFill>
                <a:latin typeface="Barlow Bold" pitchFamily="34" charset="0"/>
                <a:ea typeface="Barlow Bold" pitchFamily="34" charset="-122"/>
                <a:cs typeface="Barlow Bold" pitchFamily="34" charset="-120"/>
              </a:rPr>
              <a:t>S</a:t>
            </a:r>
            <a:r>
              <a:rPr lang="en-US" sz="4800" b="1" dirty="0" err="1">
                <a:solidFill>
                  <a:srgbClr val="7068F4"/>
                </a:solidFill>
                <a:latin typeface="Barlow Bold" pitchFamily="34" charset="0"/>
                <a:ea typeface="Barlow Bold" pitchFamily="34" charset="-122"/>
                <a:cs typeface="Barlow Bold" pitchFamily="34" charset="-120"/>
              </a:rPr>
              <a:t>ub</a:t>
            </a:r>
            <a:r>
              <a:rPr lang="en-US" sz="4800" b="1" dirty="0">
                <a:solidFill>
                  <a:srgbClr val="7068F4"/>
                </a:solidFill>
                <a:latin typeface="Barlow Bold" pitchFamily="34" charset="0"/>
                <a:ea typeface="Barlow Bold" pitchFamily="34" charset="-122"/>
                <a:cs typeface="Barlow Bold" pitchFamily="34" charset="-120"/>
              </a:rPr>
              <a:t>-Questions</a:t>
            </a:r>
          </a:p>
        </p:txBody>
      </p:sp>
      <p:grpSp>
        <p:nvGrpSpPr>
          <p:cNvPr id="27" name="Group 27">
            <a:extLst>
              <a:ext uri="{FF2B5EF4-FFF2-40B4-BE49-F238E27FC236}">
                <a16:creationId xmlns:a16="http://schemas.microsoft.com/office/drawing/2014/main" id="{8BF5973D-5D10-4C45-9E7E-16157B593B29}"/>
              </a:ext>
            </a:extLst>
          </p:cNvPr>
          <p:cNvGrpSpPr/>
          <p:nvPr/>
        </p:nvGrpSpPr>
        <p:grpSpPr>
          <a:xfrm>
            <a:off x="5562600" y="0"/>
            <a:ext cx="13106400" cy="3695700"/>
            <a:chOff x="0" y="0"/>
            <a:chExt cx="1013318" cy="260488"/>
          </a:xfrm>
        </p:grpSpPr>
        <p:sp>
          <p:nvSpPr>
            <p:cNvPr id="28" name="Freeform 28">
              <a:extLst>
                <a:ext uri="{FF2B5EF4-FFF2-40B4-BE49-F238E27FC236}">
                  <a16:creationId xmlns:a16="http://schemas.microsoft.com/office/drawing/2014/main" id="{0E40CB4C-5FBB-6C0B-E23D-83A81679D537}"/>
                </a:ext>
              </a:extLst>
            </p:cNvPr>
            <p:cNvSpPr/>
            <p:nvPr/>
          </p:nvSpPr>
          <p:spPr>
            <a:xfrm>
              <a:off x="0" y="0"/>
              <a:ext cx="1013318" cy="260488"/>
            </a:xfrm>
            <a:custGeom>
              <a:avLst/>
              <a:gdLst/>
              <a:ahLst/>
              <a:cxnLst/>
              <a:rect l="l" t="t" r="r" b="b"/>
              <a:pathLst>
                <a:path w="1013318" h="260488">
                  <a:moveTo>
                    <a:pt x="130244" y="0"/>
                  </a:moveTo>
                  <a:lnTo>
                    <a:pt x="883074" y="0"/>
                  </a:lnTo>
                  <a:cubicBezTo>
                    <a:pt x="917617" y="0"/>
                    <a:pt x="950745" y="13722"/>
                    <a:pt x="975171" y="38148"/>
                  </a:cubicBezTo>
                  <a:cubicBezTo>
                    <a:pt x="999596" y="62573"/>
                    <a:pt x="1013318" y="95701"/>
                    <a:pt x="1013318" y="130244"/>
                  </a:cubicBezTo>
                  <a:lnTo>
                    <a:pt x="1013318" y="130244"/>
                  </a:lnTo>
                  <a:cubicBezTo>
                    <a:pt x="1013318" y="202175"/>
                    <a:pt x="955006" y="260488"/>
                    <a:pt x="883074" y="260488"/>
                  </a:cubicBezTo>
                  <a:lnTo>
                    <a:pt x="130244" y="260488"/>
                  </a:lnTo>
                  <a:cubicBezTo>
                    <a:pt x="95701" y="260488"/>
                    <a:pt x="62573" y="246766"/>
                    <a:pt x="38148" y="222340"/>
                  </a:cubicBezTo>
                  <a:cubicBezTo>
                    <a:pt x="13722" y="197915"/>
                    <a:pt x="0" y="164787"/>
                    <a:pt x="0" y="130244"/>
                  </a:cubicBezTo>
                  <a:lnTo>
                    <a:pt x="0" y="130244"/>
                  </a:lnTo>
                  <a:cubicBezTo>
                    <a:pt x="0" y="95701"/>
                    <a:pt x="13722" y="62573"/>
                    <a:pt x="38148" y="38148"/>
                  </a:cubicBezTo>
                  <a:cubicBezTo>
                    <a:pt x="62573" y="13722"/>
                    <a:pt x="95701" y="0"/>
                    <a:pt x="130244" y="0"/>
                  </a:cubicBezTo>
                  <a:close/>
                </a:path>
              </a:pathLst>
            </a:custGeom>
            <a:solidFill>
              <a:srgbClr val="F8F8F8"/>
            </a:solidFill>
          </p:spPr>
        </p:sp>
        <p:sp>
          <p:nvSpPr>
            <p:cNvPr id="29" name="TextBox 29">
              <a:extLst>
                <a:ext uri="{FF2B5EF4-FFF2-40B4-BE49-F238E27FC236}">
                  <a16:creationId xmlns:a16="http://schemas.microsoft.com/office/drawing/2014/main" id="{FE58F1F1-3191-4940-CC32-AAEA98BF39A5}"/>
                </a:ext>
              </a:extLst>
            </p:cNvPr>
            <p:cNvSpPr txBox="1"/>
            <p:nvPr/>
          </p:nvSpPr>
          <p:spPr>
            <a:xfrm>
              <a:off x="0" y="-38100"/>
              <a:ext cx="1013318" cy="298588"/>
            </a:xfrm>
            <a:prstGeom prst="rect">
              <a:avLst/>
            </a:prstGeom>
          </p:spPr>
          <p:txBody>
            <a:bodyPr lIns="47086" tIns="47086" rIns="47086" bIns="47086" rtlCol="0" anchor="ctr"/>
            <a:lstStyle/>
            <a:p>
              <a:pPr algn="ctr">
                <a:lnSpc>
                  <a:spcPts val="2659"/>
                </a:lnSpc>
              </a:pPr>
              <a:endParaRPr/>
            </a:p>
          </p:txBody>
        </p:sp>
      </p:grpSp>
      <p:sp>
        <p:nvSpPr>
          <p:cNvPr id="30" name="Freeform 30">
            <a:extLst>
              <a:ext uri="{FF2B5EF4-FFF2-40B4-BE49-F238E27FC236}">
                <a16:creationId xmlns:a16="http://schemas.microsoft.com/office/drawing/2014/main" id="{37B2E421-F8D0-DCAB-7E57-CBC74311BBAB}"/>
              </a:ext>
            </a:extLst>
          </p:cNvPr>
          <p:cNvSpPr/>
          <p:nvPr/>
        </p:nvSpPr>
        <p:spPr>
          <a:xfrm>
            <a:off x="5936404" y="190500"/>
            <a:ext cx="1607396" cy="1524000"/>
          </a:xfrm>
          <a:custGeom>
            <a:avLst/>
            <a:gdLst/>
            <a:ahLst/>
            <a:cxnLst/>
            <a:rect l="l" t="t" r="r" b="b"/>
            <a:pathLst>
              <a:path w="1026728" h="1025445">
                <a:moveTo>
                  <a:pt x="0" y="0"/>
                </a:moveTo>
                <a:lnTo>
                  <a:pt x="1026729" y="0"/>
                </a:lnTo>
                <a:lnTo>
                  <a:pt x="1026729" y="1025445"/>
                </a:lnTo>
                <a:lnTo>
                  <a:pt x="0" y="1025445"/>
                </a:lnTo>
                <a:lnTo>
                  <a:pt x="0" y="0"/>
                </a:lnTo>
                <a:close/>
              </a:path>
            </a:pathLst>
          </a:custGeom>
          <a:blipFill>
            <a:blip r:embed="rId2"/>
            <a:stretch>
              <a:fillRect/>
            </a:stretch>
          </a:blipFill>
        </p:spPr>
      </p:sp>
      <p:grpSp>
        <p:nvGrpSpPr>
          <p:cNvPr id="31" name="Group 31">
            <a:extLst>
              <a:ext uri="{FF2B5EF4-FFF2-40B4-BE49-F238E27FC236}">
                <a16:creationId xmlns:a16="http://schemas.microsoft.com/office/drawing/2014/main" id="{4CD16340-89A0-1CB3-DBFA-78E1C56C50F1}"/>
              </a:ext>
            </a:extLst>
          </p:cNvPr>
          <p:cNvGrpSpPr/>
          <p:nvPr/>
        </p:nvGrpSpPr>
        <p:grpSpPr>
          <a:xfrm>
            <a:off x="6248400" y="398093"/>
            <a:ext cx="1011607" cy="1011607"/>
            <a:chOff x="0" y="0"/>
            <a:chExt cx="812800" cy="812800"/>
          </a:xfrm>
        </p:grpSpPr>
        <p:sp>
          <p:nvSpPr>
            <p:cNvPr id="32" name="Freeform 32">
              <a:extLst>
                <a:ext uri="{FF2B5EF4-FFF2-40B4-BE49-F238E27FC236}">
                  <a16:creationId xmlns:a16="http://schemas.microsoft.com/office/drawing/2014/main" id="{DD086C87-1AF2-0D57-1D84-97FA707BEC2A}"/>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id="33" name="TextBox 33">
              <a:extLst>
                <a:ext uri="{FF2B5EF4-FFF2-40B4-BE49-F238E27FC236}">
                  <a16:creationId xmlns:a16="http://schemas.microsoft.com/office/drawing/2014/main" id="{D03A9712-F79D-5C7E-4062-0859453443A7}"/>
                </a:ext>
              </a:extLst>
            </p:cNvPr>
            <p:cNvSpPr txBox="1"/>
            <p:nvPr/>
          </p:nvSpPr>
          <p:spPr>
            <a:xfrm>
              <a:off x="76200" y="38100"/>
              <a:ext cx="660400" cy="698500"/>
            </a:xfrm>
            <a:prstGeom prst="rect">
              <a:avLst/>
            </a:prstGeom>
          </p:spPr>
          <p:txBody>
            <a:bodyPr lIns="47086" tIns="47086" rIns="47086" bIns="47086" rtlCol="0" anchor="ctr"/>
            <a:lstStyle/>
            <a:p>
              <a:pPr algn="ctr">
                <a:lnSpc>
                  <a:spcPts val="2659"/>
                </a:lnSpc>
                <a:spcBef>
                  <a:spcPct val="0"/>
                </a:spcBef>
              </a:pPr>
              <a:endParaRPr/>
            </a:p>
          </p:txBody>
        </p:sp>
      </p:grpSp>
      <p:grpSp>
        <p:nvGrpSpPr>
          <p:cNvPr id="34" name="Group 34">
            <a:extLst>
              <a:ext uri="{FF2B5EF4-FFF2-40B4-BE49-F238E27FC236}">
                <a16:creationId xmlns:a16="http://schemas.microsoft.com/office/drawing/2014/main" id="{35FA032A-9E1D-0FC5-7B3E-56D8232C46DD}"/>
              </a:ext>
            </a:extLst>
          </p:cNvPr>
          <p:cNvGrpSpPr/>
          <p:nvPr/>
        </p:nvGrpSpPr>
        <p:grpSpPr>
          <a:xfrm>
            <a:off x="6792058" y="734158"/>
            <a:ext cx="218342" cy="218342"/>
            <a:chOff x="0" y="0"/>
            <a:chExt cx="812800" cy="812800"/>
          </a:xfrm>
        </p:grpSpPr>
        <p:sp>
          <p:nvSpPr>
            <p:cNvPr id="35" name="Freeform 35">
              <a:extLst>
                <a:ext uri="{FF2B5EF4-FFF2-40B4-BE49-F238E27FC236}">
                  <a16:creationId xmlns:a16="http://schemas.microsoft.com/office/drawing/2014/main" id="{6ADFB433-A4EC-E609-14EF-5DEECC1FDD7E}"/>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A6AD6"/>
            </a:solidFill>
          </p:spPr>
        </p:sp>
        <p:sp>
          <p:nvSpPr>
            <p:cNvPr id="36" name="TextBox 36">
              <a:extLst>
                <a:ext uri="{FF2B5EF4-FFF2-40B4-BE49-F238E27FC236}">
                  <a16:creationId xmlns:a16="http://schemas.microsoft.com/office/drawing/2014/main" id="{6B12D06F-5C4A-CFE8-9274-33E7B8F53AC5}"/>
                </a:ext>
              </a:extLst>
            </p:cNvPr>
            <p:cNvSpPr txBox="1"/>
            <p:nvPr/>
          </p:nvSpPr>
          <p:spPr>
            <a:xfrm>
              <a:off x="76202" y="38101"/>
              <a:ext cx="660400" cy="698501"/>
            </a:xfrm>
            <a:prstGeom prst="rect">
              <a:avLst/>
            </a:prstGeom>
          </p:spPr>
          <p:txBody>
            <a:bodyPr lIns="47086" tIns="47086" rIns="47086" bIns="47086" rtlCol="0" anchor="ctr"/>
            <a:lstStyle/>
            <a:p>
              <a:pPr algn="ctr">
                <a:lnSpc>
                  <a:spcPts val="2659"/>
                </a:lnSpc>
                <a:spcBef>
                  <a:spcPct val="0"/>
                </a:spcBef>
              </a:pPr>
              <a:endParaRPr dirty="0"/>
            </a:p>
          </p:txBody>
        </p:sp>
      </p:grpSp>
      <p:grpSp>
        <p:nvGrpSpPr>
          <p:cNvPr id="75" name="Group 75">
            <a:extLst>
              <a:ext uri="{FF2B5EF4-FFF2-40B4-BE49-F238E27FC236}">
                <a16:creationId xmlns:a16="http://schemas.microsoft.com/office/drawing/2014/main" id="{83CCFF4F-9723-1827-C176-8DE0BC7C713D}"/>
              </a:ext>
            </a:extLst>
          </p:cNvPr>
          <p:cNvGrpSpPr/>
          <p:nvPr/>
        </p:nvGrpSpPr>
        <p:grpSpPr>
          <a:xfrm>
            <a:off x="17491799" y="8420924"/>
            <a:ext cx="951769" cy="837377"/>
            <a:chOff x="0" y="-38100"/>
            <a:chExt cx="967140" cy="850900"/>
          </a:xfrm>
        </p:grpSpPr>
        <p:sp>
          <p:nvSpPr>
            <p:cNvPr id="76" name="Freeform 76">
              <a:extLst>
                <a:ext uri="{FF2B5EF4-FFF2-40B4-BE49-F238E27FC236}">
                  <a16:creationId xmlns:a16="http://schemas.microsoft.com/office/drawing/2014/main" id="{9F625363-B91D-E1FD-8092-11CA5EAEE836}"/>
                </a:ext>
              </a:extLst>
            </p:cNvPr>
            <p:cNvSpPr/>
            <p:nvPr/>
          </p:nvSpPr>
          <p:spPr>
            <a:xfrm>
              <a:off x="0" y="0"/>
              <a:ext cx="967140" cy="812800"/>
            </a:xfrm>
            <a:custGeom>
              <a:avLst/>
              <a:gdLst/>
              <a:ahLst/>
              <a:cxnLst/>
              <a:rect l="l" t="t" r="r" b="b"/>
              <a:pathLst>
                <a:path w="967140" h="812800">
                  <a:moveTo>
                    <a:pt x="81342" y="0"/>
                  </a:moveTo>
                  <a:lnTo>
                    <a:pt x="885798" y="0"/>
                  </a:lnTo>
                  <a:cubicBezTo>
                    <a:pt x="907371" y="0"/>
                    <a:pt x="928061" y="8570"/>
                    <a:pt x="943315" y="23825"/>
                  </a:cubicBezTo>
                  <a:cubicBezTo>
                    <a:pt x="958570" y="39079"/>
                    <a:pt x="967140" y="59769"/>
                    <a:pt x="967140" y="81342"/>
                  </a:cubicBezTo>
                  <a:lnTo>
                    <a:pt x="967140" y="731458"/>
                  </a:lnTo>
                  <a:cubicBezTo>
                    <a:pt x="967140" y="776382"/>
                    <a:pt x="930722" y="812800"/>
                    <a:pt x="885798" y="812800"/>
                  </a:cubicBezTo>
                  <a:lnTo>
                    <a:pt x="81342" y="812800"/>
                  </a:lnTo>
                  <a:cubicBezTo>
                    <a:pt x="59769" y="812800"/>
                    <a:pt x="39079" y="804230"/>
                    <a:pt x="23825" y="788975"/>
                  </a:cubicBezTo>
                  <a:cubicBezTo>
                    <a:pt x="8570" y="773721"/>
                    <a:pt x="0" y="753031"/>
                    <a:pt x="0" y="731458"/>
                  </a:cubicBezTo>
                  <a:lnTo>
                    <a:pt x="0" y="81342"/>
                  </a:lnTo>
                  <a:cubicBezTo>
                    <a:pt x="0" y="59769"/>
                    <a:pt x="8570" y="39079"/>
                    <a:pt x="23825" y="23825"/>
                  </a:cubicBezTo>
                  <a:cubicBezTo>
                    <a:pt x="39079" y="8570"/>
                    <a:pt x="59769" y="0"/>
                    <a:pt x="81342" y="0"/>
                  </a:cubicBezTo>
                  <a:close/>
                </a:path>
              </a:pathLst>
            </a:custGeom>
            <a:solidFill>
              <a:srgbClr val="3A6AD6"/>
            </a:solidFill>
          </p:spPr>
        </p:sp>
        <p:sp>
          <p:nvSpPr>
            <p:cNvPr id="77" name="TextBox 77">
              <a:extLst>
                <a:ext uri="{FF2B5EF4-FFF2-40B4-BE49-F238E27FC236}">
                  <a16:creationId xmlns:a16="http://schemas.microsoft.com/office/drawing/2014/main" id="{9BC27716-E2E0-BA05-3187-DAC4DE4CFF36}"/>
                </a:ext>
              </a:extLst>
            </p:cNvPr>
            <p:cNvSpPr txBox="1"/>
            <p:nvPr/>
          </p:nvSpPr>
          <p:spPr>
            <a:xfrm>
              <a:off x="0" y="-38100"/>
              <a:ext cx="967140" cy="850900"/>
            </a:xfrm>
            <a:prstGeom prst="rect">
              <a:avLst/>
            </a:prstGeom>
          </p:spPr>
          <p:txBody>
            <a:bodyPr lIns="50800" tIns="50800" rIns="50800" bIns="50800" rtlCol="0" anchor="ctr"/>
            <a:lstStyle/>
            <a:p>
              <a:pPr algn="ctr">
                <a:lnSpc>
                  <a:spcPts val="2659"/>
                </a:lnSpc>
              </a:pPr>
              <a:endParaRPr/>
            </a:p>
          </p:txBody>
        </p:sp>
      </p:grpSp>
      <p:sp>
        <p:nvSpPr>
          <p:cNvPr id="78" name="TextBox 78">
            <a:extLst>
              <a:ext uri="{FF2B5EF4-FFF2-40B4-BE49-F238E27FC236}">
                <a16:creationId xmlns:a16="http://schemas.microsoft.com/office/drawing/2014/main" id="{AE0A2FE7-1214-3701-C764-3E2E14161A5C}"/>
              </a:ext>
            </a:extLst>
          </p:cNvPr>
          <p:cNvSpPr txBox="1"/>
          <p:nvPr/>
        </p:nvSpPr>
        <p:spPr>
          <a:xfrm>
            <a:off x="17674380" y="8710688"/>
            <a:ext cx="442747" cy="257943"/>
          </a:xfrm>
          <a:prstGeom prst="rect">
            <a:avLst/>
          </a:prstGeom>
        </p:spPr>
        <p:txBody>
          <a:bodyPr lIns="0" tIns="0" rIns="0" bIns="0" rtlCol="0" anchor="t">
            <a:spAutoFit/>
          </a:bodyPr>
          <a:lstStyle/>
          <a:p>
            <a:pPr algn="ctr">
              <a:lnSpc>
                <a:spcPts val="2057"/>
              </a:lnSpc>
              <a:spcBef>
                <a:spcPct val="0"/>
              </a:spcBef>
            </a:pPr>
            <a:r>
              <a:rPr lang="en-GB" sz="1469" b="1" dirty="0">
                <a:solidFill>
                  <a:srgbClr val="FFFFFF"/>
                </a:solidFill>
                <a:latin typeface="Poppins Bold"/>
                <a:ea typeface="Poppins Bold"/>
                <a:cs typeface="Poppins Bold"/>
                <a:sym typeface="Poppins Bold"/>
              </a:rPr>
              <a:t>12</a:t>
            </a:r>
            <a:endParaRPr lang="en-US" sz="1469" b="1" dirty="0">
              <a:solidFill>
                <a:srgbClr val="FFFFFF"/>
              </a:solidFill>
              <a:latin typeface="Poppins Bold"/>
              <a:ea typeface="Poppins Bold"/>
              <a:cs typeface="Poppins Bold"/>
              <a:sym typeface="Poppins Bold"/>
            </a:endParaRPr>
          </a:p>
        </p:txBody>
      </p:sp>
      <p:sp>
        <p:nvSpPr>
          <p:cNvPr id="83" name="Text 2">
            <a:extLst>
              <a:ext uri="{FF2B5EF4-FFF2-40B4-BE49-F238E27FC236}">
                <a16:creationId xmlns:a16="http://schemas.microsoft.com/office/drawing/2014/main" id="{AB0FAE42-9D3E-51FF-82C3-70341DE125AB}"/>
              </a:ext>
            </a:extLst>
          </p:cNvPr>
          <p:cNvSpPr/>
          <p:nvPr/>
        </p:nvSpPr>
        <p:spPr>
          <a:xfrm>
            <a:off x="6463989" y="571500"/>
            <a:ext cx="11519211" cy="2829635"/>
          </a:xfrm>
          <a:prstGeom prst="rect">
            <a:avLst/>
          </a:prstGeom>
          <a:noFill/>
          <a:ln/>
        </p:spPr>
        <p:txBody>
          <a:bodyPr wrap="square" lIns="0" tIns="0" rIns="0" bIns="0" rtlCol="0" anchor="t"/>
          <a:lstStyle/>
          <a:p>
            <a:pPr marL="914400" indent="-571500" algn="just">
              <a:buFont typeface="Arial" panose="020B0604020202020204" pitchFamily="34" charset="0"/>
              <a:buChar char="•"/>
            </a:pPr>
            <a:r>
              <a:rPr lang="en-GB" sz="4000" dirty="0">
                <a:solidFill>
                  <a:srgbClr val="504C49"/>
                </a:solidFill>
                <a:latin typeface="Source Serif Pro" pitchFamily="34" charset="0"/>
                <a:ea typeface="Source Serif Pro" pitchFamily="34" charset="-122"/>
                <a:cs typeface="Source Serif Pro" pitchFamily="34" charset="-120"/>
              </a:rPr>
              <a:t>What are the energy consumption and CO2 emission profiles of commonly used NLP models on standard text classification tasks?</a:t>
            </a:r>
          </a:p>
        </p:txBody>
      </p:sp>
      <p:sp>
        <p:nvSpPr>
          <p:cNvPr id="2" name="AutoShape 9">
            <a:extLst>
              <a:ext uri="{FF2B5EF4-FFF2-40B4-BE49-F238E27FC236}">
                <a16:creationId xmlns:a16="http://schemas.microsoft.com/office/drawing/2014/main" id="{B6E6A019-B905-6485-D3FC-3A4BC98B4834}"/>
              </a:ext>
            </a:extLst>
          </p:cNvPr>
          <p:cNvSpPr/>
          <p:nvPr/>
        </p:nvSpPr>
        <p:spPr>
          <a:xfrm>
            <a:off x="4701181" y="5977040"/>
            <a:ext cx="1488471" cy="2079182"/>
          </a:xfrm>
          <a:prstGeom prst="line">
            <a:avLst/>
          </a:prstGeom>
          <a:ln w="28575" cap="flat">
            <a:solidFill>
              <a:srgbClr val="F8F8F8"/>
            </a:solidFill>
            <a:prstDash val="solid"/>
            <a:headEnd type="none" w="sm" len="sm"/>
            <a:tailEnd type="none" w="sm" len="sm"/>
          </a:ln>
        </p:spPr>
      </p:sp>
      <p:grpSp>
        <p:nvGrpSpPr>
          <p:cNvPr id="3" name="Group 27">
            <a:extLst>
              <a:ext uri="{FF2B5EF4-FFF2-40B4-BE49-F238E27FC236}">
                <a16:creationId xmlns:a16="http://schemas.microsoft.com/office/drawing/2014/main" id="{644D76AA-7880-9572-F19A-3CFF7A28D2DA}"/>
              </a:ext>
            </a:extLst>
          </p:cNvPr>
          <p:cNvGrpSpPr/>
          <p:nvPr/>
        </p:nvGrpSpPr>
        <p:grpSpPr>
          <a:xfrm>
            <a:off x="5562600" y="4259464"/>
            <a:ext cx="13106400" cy="3054726"/>
            <a:chOff x="0" y="0"/>
            <a:chExt cx="1013318" cy="260488"/>
          </a:xfrm>
        </p:grpSpPr>
        <p:sp>
          <p:nvSpPr>
            <p:cNvPr id="4" name="Freeform 28">
              <a:extLst>
                <a:ext uri="{FF2B5EF4-FFF2-40B4-BE49-F238E27FC236}">
                  <a16:creationId xmlns:a16="http://schemas.microsoft.com/office/drawing/2014/main" id="{161A47B8-B57D-9890-C68F-3CEFF309A773}"/>
                </a:ext>
              </a:extLst>
            </p:cNvPr>
            <p:cNvSpPr/>
            <p:nvPr/>
          </p:nvSpPr>
          <p:spPr>
            <a:xfrm>
              <a:off x="0" y="0"/>
              <a:ext cx="1013318" cy="260488"/>
            </a:xfrm>
            <a:custGeom>
              <a:avLst/>
              <a:gdLst/>
              <a:ahLst/>
              <a:cxnLst/>
              <a:rect l="l" t="t" r="r" b="b"/>
              <a:pathLst>
                <a:path w="1013318" h="260488">
                  <a:moveTo>
                    <a:pt x="130244" y="0"/>
                  </a:moveTo>
                  <a:lnTo>
                    <a:pt x="883074" y="0"/>
                  </a:lnTo>
                  <a:cubicBezTo>
                    <a:pt x="917617" y="0"/>
                    <a:pt x="950745" y="13722"/>
                    <a:pt x="975171" y="38148"/>
                  </a:cubicBezTo>
                  <a:cubicBezTo>
                    <a:pt x="999596" y="62573"/>
                    <a:pt x="1013318" y="95701"/>
                    <a:pt x="1013318" y="130244"/>
                  </a:cubicBezTo>
                  <a:lnTo>
                    <a:pt x="1013318" y="130244"/>
                  </a:lnTo>
                  <a:cubicBezTo>
                    <a:pt x="1013318" y="202175"/>
                    <a:pt x="955006" y="260488"/>
                    <a:pt x="883074" y="260488"/>
                  </a:cubicBezTo>
                  <a:lnTo>
                    <a:pt x="130244" y="260488"/>
                  </a:lnTo>
                  <a:cubicBezTo>
                    <a:pt x="95701" y="260488"/>
                    <a:pt x="62573" y="246766"/>
                    <a:pt x="38148" y="222340"/>
                  </a:cubicBezTo>
                  <a:cubicBezTo>
                    <a:pt x="13722" y="197915"/>
                    <a:pt x="0" y="164787"/>
                    <a:pt x="0" y="130244"/>
                  </a:cubicBezTo>
                  <a:lnTo>
                    <a:pt x="0" y="130244"/>
                  </a:lnTo>
                  <a:cubicBezTo>
                    <a:pt x="0" y="95701"/>
                    <a:pt x="13722" y="62573"/>
                    <a:pt x="38148" y="38148"/>
                  </a:cubicBezTo>
                  <a:cubicBezTo>
                    <a:pt x="62573" y="13722"/>
                    <a:pt x="95701" y="0"/>
                    <a:pt x="130244" y="0"/>
                  </a:cubicBezTo>
                  <a:close/>
                </a:path>
              </a:pathLst>
            </a:custGeom>
            <a:solidFill>
              <a:srgbClr val="F8F8F8"/>
            </a:solidFill>
          </p:spPr>
        </p:sp>
        <p:sp>
          <p:nvSpPr>
            <p:cNvPr id="5" name="TextBox 29">
              <a:extLst>
                <a:ext uri="{FF2B5EF4-FFF2-40B4-BE49-F238E27FC236}">
                  <a16:creationId xmlns:a16="http://schemas.microsoft.com/office/drawing/2014/main" id="{D5BA3FA9-B888-3DF9-40B3-F4B75255D752}"/>
                </a:ext>
              </a:extLst>
            </p:cNvPr>
            <p:cNvSpPr txBox="1"/>
            <p:nvPr/>
          </p:nvSpPr>
          <p:spPr>
            <a:xfrm>
              <a:off x="0" y="-38100"/>
              <a:ext cx="1013318" cy="298588"/>
            </a:xfrm>
            <a:prstGeom prst="rect">
              <a:avLst/>
            </a:prstGeom>
          </p:spPr>
          <p:txBody>
            <a:bodyPr lIns="47086" tIns="47086" rIns="47086" bIns="47086" rtlCol="0" anchor="ctr"/>
            <a:lstStyle/>
            <a:p>
              <a:pPr algn="ctr">
                <a:lnSpc>
                  <a:spcPts val="2659"/>
                </a:lnSpc>
              </a:pPr>
              <a:endParaRPr/>
            </a:p>
          </p:txBody>
        </p:sp>
      </p:grpSp>
      <p:sp>
        <p:nvSpPr>
          <p:cNvPr id="6" name="Freeform 30">
            <a:extLst>
              <a:ext uri="{FF2B5EF4-FFF2-40B4-BE49-F238E27FC236}">
                <a16:creationId xmlns:a16="http://schemas.microsoft.com/office/drawing/2014/main" id="{3FEB2B22-529D-1D86-BF5B-A1FC6B4F04C6}"/>
              </a:ext>
            </a:extLst>
          </p:cNvPr>
          <p:cNvSpPr/>
          <p:nvPr/>
        </p:nvSpPr>
        <p:spPr>
          <a:xfrm>
            <a:off x="5936404" y="4419600"/>
            <a:ext cx="1607396" cy="1524000"/>
          </a:xfrm>
          <a:custGeom>
            <a:avLst/>
            <a:gdLst/>
            <a:ahLst/>
            <a:cxnLst/>
            <a:rect l="l" t="t" r="r" b="b"/>
            <a:pathLst>
              <a:path w="1026728" h="1025445">
                <a:moveTo>
                  <a:pt x="0" y="0"/>
                </a:moveTo>
                <a:lnTo>
                  <a:pt x="1026729" y="0"/>
                </a:lnTo>
                <a:lnTo>
                  <a:pt x="1026729" y="1025445"/>
                </a:lnTo>
                <a:lnTo>
                  <a:pt x="0" y="1025445"/>
                </a:lnTo>
                <a:lnTo>
                  <a:pt x="0" y="0"/>
                </a:lnTo>
                <a:close/>
              </a:path>
            </a:pathLst>
          </a:custGeom>
          <a:blipFill>
            <a:blip r:embed="rId2"/>
            <a:stretch>
              <a:fillRect/>
            </a:stretch>
          </a:blipFill>
        </p:spPr>
      </p:sp>
      <p:grpSp>
        <p:nvGrpSpPr>
          <p:cNvPr id="7" name="Group 31">
            <a:extLst>
              <a:ext uri="{FF2B5EF4-FFF2-40B4-BE49-F238E27FC236}">
                <a16:creationId xmlns:a16="http://schemas.microsoft.com/office/drawing/2014/main" id="{AB0B74E3-7608-F871-A815-6D9A365B1544}"/>
              </a:ext>
            </a:extLst>
          </p:cNvPr>
          <p:cNvGrpSpPr/>
          <p:nvPr/>
        </p:nvGrpSpPr>
        <p:grpSpPr>
          <a:xfrm>
            <a:off x="6248400" y="4627193"/>
            <a:ext cx="1011607" cy="1011607"/>
            <a:chOff x="0" y="0"/>
            <a:chExt cx="812800" cy="812800"/>
          </a:xfrm>
        </p:grpSpPr>
        <p:sp>
          <p:nvSpPr>
            <p:cNvPr id="8" name="Freeform 32">
              <a:extLst>
                <a:ext uri="{FF2B5EF4-FFF2-40B4-BE49-F238E27FC236}">
                  <a16:creationId xmlns:a16="http://schemas.microsoft.com/office/drawing/2014/main" id="{B53A7B6F-F677-2EF9-41B7-A99C42EA8AEC}"/>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id="10" name="TextBox 33">
              <a:extLst>
                <a:ext uri="{FF2B5EF4-FFF2-40B4-BE49-F238E27FC236}">
                  <a16:creationId xmlns:a16="http://schemas.microsoft.com/office/drawing/2014/main" id="{75277CFE-2BBD-043E-9924-A3E49C3AB403}"/>
                </a:ext>
              </a:extLst>
            </p:cNvPr>
            <p:cNvSpPr txBox="1"/>
            <p:nvPr/>
          </p:nvSpPr>
          <p:spPr>
            <a:xfrm>
              <a:off x="76200" y="38100"/>
              <a:ext cx="660400" cy="698500"/>
            </a:xfrm>
            <a:prstGeom prst="rect">
              <a:avLst/>
            </a:prstGeom>
          </p:spPr>
          <p:txBody>
            <a:bodyPr lIns="47086" tIns="47086" rIns="47086" bIns="47086" rtlCol="0" anchor="ctr"/>
            <a:lstStyle/>
            <a:p>
              <a:pPr algn="ctr">
                <a:lnSpc>
                  <a:spcPts val="2659"/>
                </a:lnSpc>
                <a:spcBef>
                  <a:spcPct val="0"/>
                </a:spcBef>
              </a:pPr>
              <a:endParaRPr/>
            </a:p>
          </p:txBody>
        </p:sp>
      </p:grpSp>
      <p:grpSp>
        <p:nvGrpSpPr>
          <p:cNvPr id="11" name="Group 34">
            <a:extLst>
              <a:ext uri="{FF2B5EF4-FFF2-40B4-BE49-F238E27FC236}">
                <a16:creationId xmlns:a16="http://schemas.microsoft.com/office/drawing/2014/main" id="{57C387E2-248E-EEA5-0853-BD83006A3E67}"/>
              </a:ext>
            </a:extLst>
          </p:cNvPr>
          <p:cNvGrpSpPr/>
          <p:nvPr/>
        </p:nvGrpSpPr>
        <p:grpSpPr>
          <a:xfrm>
            <a:off x="6792058" y="4963258"/>
            <a:ext cx="218342" cy="218342"/>
            <a:chOff x="0" y="0"/>
            <a:chExt cx="812800" cy="812800"/>
          </a:xfrm>
        </p:grpSpPr>
        <p:sp>
          <p:nvSpPr>
            <p:cNvPr id="12" name="Freeform 35">
              <a:extLst>
                <a:ext uri="{FF2B5EF4-FFF2-40B4-BE49-F238E27FC236}">
                  <a16:creationId xmlns:a16="http://schemas.microsoft.com/office/drawing/2014/main" id="{7C3F8BEB-4451-5B6A-0CDE-F88DB2249898}"/>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A6AD6"/>
            </a:solidFill>
          </p:spPr>
        </p:sp>
        <p:sp>
          <p:nvSpPr>
            <p:cNvPr id="20" name="TextBox 36">
              <a:extLst>
                <a:ext uri="{FF2B5EF4-FFF2-40B4-BE49-F238E27FC236}">
                  <a16:creationId xmlns:a16="http://schemas.microsoft.com/office/drawing/2014/main" id="{0227EE11-7A8D-D6E1-5C5E-59BDB0956AF3}"/>
                </a:ext>
              </a:extLst>
            </p:cNvPr>
            <p:cNvSpPr txBox="1"/>
            <p:nvPr/>
          </p:nvSpPr>
          <p:spPr>
            <a:xfrm>
              <a:off x="76202" y="38101"/>
              <a:ext cx="660400" cy="698501"/>
            </a:xfrm>
            <a:prstGeom prst="rect">
              <a:avLst/>
            </a:prstGeom>
          </p:spPr>
          <p:txBody>
            <a:bodyPr lIns="47086" tIns="47086" rIns="47086" bIns="47086" rtlCol="0" anchor="ctr"/>
            <a:lstStyle/>
            <a:p>
              <a:pPr algn="ctr">
                <a:lnSpc>
                  <a:spcPts val="2659"/>
                </a:lnSpc>
                <a:spcBef>
                  <a:spcPct val="0"/>
                </a:spcBef>
              </a:pPr>
              <a:endParaRPr dirty="0"/>
            </a:p>
          </p:txBody>
        </p:sp>
      </p:grpSp>
      <p:sp>
        <p:nvSpPr>
          <p:cNvPr id="21" name="Text 2">
            <a:extLst>
              <a:ext uri="{FF2B5EF4-FFF2-40B4-BE49-F238E27FC236}">
                <a16:creationId xmlns:a16="http://schemas.microsoft.com/office/drawing/2014/main" id="{56431554-73D0-C7DD-6B5A-64B9016489F8}"/>
              </a:ext>
            </a:extLst>
          </p:cNvPr>
          <p:cNvSpPr/>
          <p:nvPr/>
        </p:nvSpPr>
        <p:spPr>
          <a:xfrm>
            <a:off x="6463989" y="4800600"/>
            <a:ext cx="11653138" cy="2829635"/>
          </a:xfrm>
          <a:prstGeom prst="rect">
            <a:avLst/>
          </a:prstGeom>
          <a:noFill/>
          <a:ln/>
        </p:spPr>
        <p:txBody>
          <a:bodyPr wrap="square" lIns="0" tIns="0" rIns="0" bIns="0" rtlCol="0" anchor="t"/>
          <a:lstStyle/>
          <a:p>
            <a:pPr marL="914400" indent="-571500" algn="just">
              <a:buFont typeface="Arial" panose="020B0604020202020204" pitchFamily="34" charset="0"/>
              <a:buChar char="•"/>
            </a:pPr>
            <a:r>
              <a:rPr lang="en-GB" sz="4000" dirty="0">
                <a:solidFill>
                  <a:srgbClr val="504C49"/>
                </a:solidFill>
                <a:latin typeface="Source Serif Pro" pitchFamily="34" charset="0"/>
                <a:ea typeface="Source Serif Pro" pitchFamily="34" charset="-122"/>
                <a:cs typeface="Source Serif Pro" pitchFamily="34" charset="-120"/>
              </a:rPr>
              <a:t>How do changes in training parameters (e.g., batch size, epochs, model depth) impact the energy usage and performance of NLP models?</a:t>
            </a:r>
          </a:p>
        </p:txBody>
      </p:sp>
      <p:pic>
        <p:nvPicPr>
          <p:cNvPr id="6146" name="Picture 2" descr="Question - Free communications icons">
            <a:extLst>
              <a:ext uri="{FF2B5EF4-FFF2-40B4-BE49-F238E27FC236}">
                <a16:creationId xmlns:a16="http://schemas.microsoft.com/office/drawing/2014/main" id="{2C826DCD-B49B-A036-09B8-D2FDD03FA5BC}"/>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030807" y="2826664"/>
            <a:ext cx="1922055" cy="192205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4089978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Click="0">
        <p159:morph option="byObject"/>
      </p:transition>
    </mc:Choice>
    <mc:Fallback xmlns="">
      <p:transition spd="slow" advClick="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5" presetClass="entr" presetSubtype="0" fill="hold" nodeType="afterEffect">
                                  <p:stCondLst>
                                    <p:cond delay="0"/>
                                  </p:stCondLst>
                                  <p:childTnLst>
                                    <p:set>
                                      <p:cBhvr>
                                        <p:cTn id="6" dur="1" fill="hold">
                                          <p:stCondLst>
                                            <p:cond delay="0"/>
                                          </p:stCondLst>
                                        </p:cTn>
                                        <p:tgtEl>
                                          <p:spTgt spid="6146"/>
                                        </p:tgtEl>
                                        <p:attrNameLst>
                                          <p:attrName>style.visibility</p:attrName>
                                        </p:attrNameLst>
                                      </p:cBhvr>
                                      <p:to>
                                        <p:strVal val="visible"/>
                                      </p:to>
                                    </p:set>
                                    <p:animEffect transition="in" filter="fade">
                                      <p:cBhvr>
                                        <p:cTn id="7" dur="2000"/>
                                        <p:tgtEl>
                                          <p:spTgt spid="6146"/>
                                        </p:tgtEl>
                                      </p:cBhvr>
                                    </p:animEffect>
                                    <p:anim calcmode="lin" valueType="num">
                                      <p:cBhvr>
                                        <p:cTn id="8" dur="2000" fill="hold"/>
                                        <p:tgtEl>
                                          <p:spTgt spid="6146"/>
                                        </p:tgtEl>
                                        <p:attrNameLst>
                                          <p:attrName>ppt_w</p:attrName>
                                        </p:attrNameLst>
                                      </p:cBhvr>
                                      <p:tavLst>
                                        <p:tav tm="0" fmla="#ppt_w*sin(2.5*pi*$)">
                                          <p:val>
                                            <p:fltVal val="0"/>
                                          </p:val>
                                        </p:tav>
                                        <p:tav tm="100000">
                                          <p:val>
                                            <p:fltVal val="1"/>
                                          </p:val>
                                        </p:tav>
                                      </p:tavLst>
                                    </p:anim>
                                    <p:anim calcmode="lin" valueType="num">
                                      <p:cBhvr>
                                        <p:cTn id="9" dur="2000" fill="hold"/>
                                        <p:tgtEl>
                                          <p:spTgt spid="6146"/>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AF985D-BFBF-B193-39AB-878D44973D26}"/>
            </a:ext>
          </a:extLst>
        </p:cNvPr>
        <p:cNvGrpSpPr/>
        <p:nvPr/>
      </p:nvGrpSpPr>
      <p:grpSpPr>
        <a:xfrm>
          <a:off x="0" y="0"/>
          <a:ext cx="0" cy="0"/>
          <a:chOff x="0" y="0"/>
          <a:chExt cx="0" cy="0"/>
        </a:xfrm>
      </p:grpSpPr>
      <p:sp>
        <p:nvSpPr>
          <p:cNvPr id="67" name="Freeform 17">
            <a:extLst>
              <a:ext uri="{FF2B5EF4-FFF2-40B4-BE49-F238E27FC236}">
                <a16:creationId xmlns:a16="http://schemas.microsoft.com/office/drawing/2014/main" id="{91A2EA7B-5B6D-3A0B-1C2B-DD711D887137}"/>
              </a:ext>
            </a:extLst>
          </p:cNvPr>
          <p:cNvSpPr/>
          <p:nvPr/>
        </p:nvSpPr>
        <p:spPr>
          <a:xfrm>
            <a:off x="2744136" y="4643528"/>
            <a:ext cx="1634041" cy="1634041"/>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id="68" name="Freeform 17">
            <a:extLst>
              <a:ext uri="{FF2B5EF4-FFF2-40B4-BE49-F238E27FC236}">
                <a16:creationId xmlns:a16="http://schemas.microsoft.com/office/drawing/2014/main" id="{472ACD7F-E6A2-5980-3AFE-FFD01B7C9ED8}"/>
              </a:ext>
            </a:extLst>
          </p:cNvPr>
          <p:cNvSpPr/>
          <p:nvPr/>
        </p:nvSpPr>
        <p:spPr>
          <a:xfrm>
            <a:off x="13685849" y="4660357"/>
            <a:ext cx="1634041" cy="1634041"/>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grpSp>
        <p:nvGrpSpPr>
          <p:cNvPr id="2" name="Group 13">
            <a:extLst>
              <a:ext uri="{FF2B5EF4-FFF2-40B4-BE49-F238E27FC236}">
                <a16:creationId xmlns:a16="http://schemas.microsoft.com/office/drawing/2014/main" id="{676A80BE-E056-D7F4-12CA-8E8D7283AD9B}"/>
              </a:ext>
            </a:extLst>
          </p:cNvPr>
          <p:cNvGrpSpPr/>
          <p:nvPr/>
        </p:nvGrpSpPr>
        <p:grpSpPr>
          <a:xfrm>
            <a:off x="5748992" y="-952500"/>
            <a:ext cx="6824008" cy="6824008"/>
            <a:chOff x="0" y="0"/>
            <a:chExt cx="812800" cy="812800"/>
          </a:xfrm>
        </p:grpSpPr>
        <p:sp>
          <p:nvSpPr>
            <p:cNvPr id="3" name="Freeform 14">
              <a:extLst>
                <a:ext uri="{FF2B5EF4-FFF2-40B4-BE49-F238E27FC236}">
                  <a16:creationId xmlns:a16="http://schemas.microsoft.com/office/drawing/2014/main" id="{41E7EC16-1185-04CB-6ADC-9051686DC904}"/>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8F8F8"/>
            </a:solidFill>
          </p:spPr>
        </p:sp>
        <p:sp>
          <p:nvSpPr>
            <p:cNvPr id="4" name="TextBox 15">
              <a:extLst>
                <a:ext uri="{FF2B5EF4-FFF2-40B4-BE49-F238E27FC236}">
                  <a16:creationId xmlns:a16="http://schemas.microsoft.com/office/drawing/2014/main" id="{D4BD568E-52D6-EAA1-218E-65644CB526F5}"/>
                </a:ext>
              </a:extLst>
            </p:cNvPr>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5" name="Freeform 16">
            <a:extLst>
              <a:ext uri="{FF2B5EF4-FFF2-40B4-BE49-F238E27FC236}">
                <a16:creationId xmlns:a16="http://schemas.microsoft.com/office/drawing/2014/main" id="{4E3E1249-147C-0F9F-1823-BDC89AEC2C9F}"/>
              </a:ext>
            </a:extLst>
          </p:cNvPr>
          <p:cNvSpPr/>
          <p:nvPr/>
        </p:nvSpPr>
        <p:spPr>
          <a:xfrm>
            <a:off x="5720022" y="-1065542"/>
            <a:ext cx="6700578" cy="6666242"/>
          </a:xfrm>
          <a:custGeom>
            <a:avLst/>
            <a:gdLst/>
            <a:ahLst/>
            <a:cxnLst/>
            <a:rect l="l" t="t" r="r" b="b"/>
            <a:pathLst>
              <a:path w="5862965" h="5855636">
                <a:moveTo>
                  <a:pt x="0" y="0"/>
                </a:moveTo>
                <a:lnTo>
                  <a:pt x="5862964" y="0"/>
                </a:lnTo>
                <a:lnTo>
                  <a:pt x="5862964" y="5855636"/>
                </a:lnTo>
                <a:lnTo>
                  <a:pt x="0" y="5855636"/>
                </a:lnTo>
                <a:lnTo>
                  <a:pt x="0" y="0"/>
                </a:lnTo>
                <a:close/>
              </a:path>
            </a:pathLst>
          </a:custGeom>
          <a:blipFill>
            <a:blip r:embed="rId2"/>
            <a:stretch>
              <a:fillRect/>
            </a:stretch>
          </a:blipFill>
        </p:spPr>
      </p:sp>
      <p:grpSp>
        <p:nvGrpSpPr>
          <p:cNvPr id="63" name="Group 18">
            <a:extLst>
              <a:ext uri="{FF2B5EF4-FFF2-40B4-BE49-F238E27FC236}">
                <a16:creationId xmlns:a16="http://schemas.microsoft.com/office/drawing/2014/main" id="{88F0F098-D0D5-89FD-5A4D-B22ADC634695}"/>
              </a:ext>
            </a:extLst>
          </p:cNvPr>
          <p:cNvGrpSpPr/>
          <p:nvPr/>
        </p:nvGrpSpPr>
        <p:grpSpPr>
          <a:xfrm>
            <a:off x="10896600" y="5755452"/>
            <a:ext cx="7436668" cy="2167651"/>
            <a:chOff x="0" y="0"/>
            <a:chExt cx="1013318" cy="260488"/>
          </a:xfrm>
        </p:grpSpPr>
        <p:sp>
          <p:nvSpPr>
            <p:cNvPr id="64" name="Freeform 19">
              <a:extLst>
                <a:ext uri="{FF2B5EF4-FFF2-40B4-BE49-F238E27FC236}">
                  <a16:creationId xmlns:a16="http://schemas.microsoft.com/office/drawing/2014/main" id="{65B1415F-8301-E0DA-1B17-989732D0A6C4}"/>
                </a:ext>
              </a:extLst>
            </p:cNvPr>
            <p:cNvSpPr/>
            <p:nvPr/>
          </p:nvSpPr>
          <p:spPr>
            <a:xfrm>
              <a:off x="0" y="0"/>
              <a:ext cx="1013318" cy="260488"/>
            </a:xfrm>
            <a:custGeom>
              <a:avLst/>
              <a:gdLst/>
              <a:ahLst/>
              <a:cxnLst/>
              <a:rect l="l" t="t" r="r" b="b"/>
              <a:pathLst>
                <a:path w="1013318" h="260488">
                  <a:moveTo>
                    <a:pt x="130244" y="0"/>
                  </a:moveTo>
                  <a:lnTo>
                    <a:pt x="883074" y="0"/>
                  </a:lnTo>
                  <a:cubicBezTo>
                    <a:pt x="917617" y="0"/>
                    <a:pt x="950745" y="13722"/>
                    <a:pt x="975171" y="38148"/>
                  </a:cubicBezTo>
                  <a:cubicBezTo>
                    <a:pt x="999596" y="62573"/>
                    <a:pt x="1013318" y="95701"/>
                    <a:pt x="1013318" y="130244"/>
                  </a:cubicBezTo>
                  <a:lnTo>
                    <a:pt x="1013318" y="130244"/>
                  </a:lnTo>
                  <a:cubicBezTo>
                    <a:pt x="1013318" y="202175"/>
                    <a:pt x="955006" y="260488"/>
                    <a:pt x="883074" y="260488"/>
                  </a:cubicBezTo>
                  <a:lnTo>
                    <a:pt x="130244" y="260488"/>
                  </a:lnTo>
                  <a:cubicBezTo>
                    <a:pt x="95701" y="260488"/>
                    <a:pt x="62573" y="246766"/>
                    <a:pt x="38148" y="222340"/>
                  </a:cubicBezTo>
                  <a:cubicBezTo>
                    <a:pt x="13722" y="197915"/>
                    <a:pt x="0" y="164787"/>
                    <a:pt x="0" y="130244"/>
                  </a:cubicBezTo>
                  <a:lnTo>
                    <a:pt x="0" y="130244"/>
                  </a:lnTo>
                  <a:cubicBezTo>
                    <a:pt x="0" y="95701"/>
                    <a:pt x="13722" y="62573"/>
                    <a:pt x="38148" y="38148"/>
                  </a:cubicBezTo>
                  <a:cubicBezTo>
                    <a:pt x="62573" y="13722"/>
                    <a:pt x="95701" y="0"/>
                    <a:pt x="130244" y="0"/>
                  </a:cubicBezTo>
                  <a:close/>
                </a:path>
              </a:pathLst>
            </a:custGeom>
            <a:solidFill>
              <a:srgbClr val="F8F8F8"/>
            </a:solidFill>
          </p:spPr>
        </p:sp>
        <p:sp>
          <p:nvSpPr>
            <p:cNvPr id="65" name="TextBox 20">
              <a:extLst>
                <a:ext uri="{FF2B5EF4-FFF2-40B4-BE49-F238E27FC236}">
                  <a16:creationId xmlns:a16="http://schemas.microsoft.com/office/drawing/2014/main" id="{E5E88595-83D2-27F7-03D7-5412C818EC17}"/>
                </a:ext>
              </a:extLst>
            </p:cNvPr>
            <p:cNvSpPr txBox="1"/>
            <p:nvPr/>
          </p:nvSpPr>
          <p:spPr>
            <a:xfrm>
              <a:off x="0" y="-38100"/>
              <a:ext cx="1013318" cy="298588"/>
            </a:xfrm>
            <a:prstGeom prst="rect">
              <a:avLst/>
            </a:prstGeom>
          </p:spPr>
          <p:txBody>
            <a:bodyPr lIns="47086" tIns="47086" rIns="47086" bIns="47086" rtlCol="0" anchor="ctr"/>
            <a:lstStyle/>
            <a:p>
              <a:pPr algn="ctr">
                <a:lnSpc>
                  <a:spcPts val="2659"/>
                </a:lnSpc>
              </a:pPr>
              <a:endParaRPr/>
            </a:p>
          </p:txBody>
        </p:sp>
      </p:grpSp>
      <p:grpSp>
        <p:nvGrpSpPr>
          <p:cNvPr id="6" name="Group 17">
            <a:extLst>
              <a:ext uri="{FF2B5EF4-FFF2-40B4-BE49-F238E27FC236}">
                <a16:creationId xmlns:a16="http://schemas.microsoft.com/office/drawing/2014/main" id="{109B6CBD-E7B7-1018-A2A0-F7BB85CE2B3E}"/>
              </a:ext>
            </a:extLst>
          </p:cNvPr>
          <p:cNvGrpSpPr/>
          <p:nvPr/>
        </p:nvGrpSpPr>
        <p:grpSpPr>
          <a:xfrm>
            <a:off x="6272686" y="-428805"/>
            <a:ext cx="5776619" cy="5776619"/>
            <a:chOff x="0" y="0"/>
            <a:chExt cx="812800" cy="812800"/>
          </a:xfrm>
        </p:grpSpPr>
        <p:sp>
          <p:nvSpPr>
            <p:cNvPr id="7" name="Freeform 18">
              <a:extLst>
                <a:ext uri="{FF2B5EF4-FFF2-40B4-BE49-F238E27FC236}">
                  <a16:creationId xmlns:a16="http://schemas.microsoft.com/office/drawing/2014/main" id="{AFDA7B00-C978-DD69-45BD-1E6725788E8A}"/>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id="8" name="TextBox 19">
              <a:extLst>
                <a:ext uri="{FF2B5EF4-FFF2-40B4-BE49-F238E27FC236}">
                  <a16:creationId xmlns:a16="http://schemas.microsoft.com/office/drawing/2014/main" id="{85E06AAF-4109-4A77-8566-22FC595C85F0}"/>
                </a:ext>
              </a:extLst>
            </p:cNvPr>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9" name="TextBox 26">
            <a:extLst>
              <a:ext uri="{FF2B5EF4-FFF2-40B4-BE49-F238E27FC236}">
                <a16:creationId xmlns:a16="http://schemas.microsoft.com/office/drawing/2014/main" id="{0FDD0406-ECDE-2B71-A3FD-93ADB5534469}"/>
              </a:ext>
            </a:extLst>
          </p:cNvPr>
          <p:cNvSpPr txBox="1"/>
          <p:nvPr/>
        </p:nvSpPr>
        <p:spPr>
          <a:xfrm>
            <a:off x="6620341" y="1842680"/>
            <a:ext cx="5088480" cy="1608646"/>
          </a:xfrm>
          <a:prstGeom prst="rect">
            <a:avLst/>
          </a:prstGeom>
        </p:spPr>
        <p:txBody>
          <a:bodyPr wrap="square" lIns="0" tIns="0" rIns="0" bIns="0" rtlCol="0" anchor="t">
            <a:spAutoFit/>
          </a:bodyPr>
          <a:lstStyle/>
          <a:p>
            <a:pPr algn="ctr">
              <a:lnSpc>
                <a:spcPts val="6385"/>
              </a:lnSpc>
            </a:pPr>
            <a:r>
              <a:rPr lang="en-US" sz="4800" b="1" dirty="0">
                <a:solidFill>
                  <a:srgbClr val="3A6AD6"/>
                </a:solidFill>
                <a:latin typeface="Poppins Bold"/>
                <a:ea typeface="Poppins Bold"/>
                <a:cs typeface="Poppins Bold"/>
                <a:sym typeface="Poppins Bold"/>
              </a:rPr>
              <a:t>Planned Methodology</a:t>
            </a:r>
          </a:p>
        </p:txBody>
      </p:sp>
      <p:grpSp>
        <p:nvGrpSpPr>
          <p:cNvPr id="14" name="Group 14">
            <a:extLst>
              <a:ext uri="{FF2B5EF4-FFF2-40B4-BE49-F238E27FC236}">
                <a16:creationId xmlns:a16="http://schemas.microsoft.com/office/drawing/2014/main" id="{5C749F98-1BB0-16A6-9127-60483CDF3733}"/>
              </a:ext>
            </a:extLst>
          </p:cNvPr>
          <p:cNvGrpSpPr/>
          <p:nvPr/>
        </p:nvGrpSpPr>
        <p:grpSpPr>
          <a:xfrm>
            <a:off x="17491799" y="8458418"/>
            <a:ext cx="951769" cy="799882"/>
            <a:chOff x="0" y="0"/>
            <a:chExt cx="967140" cy="812800"/>
          </a:xfrm>
        </p:grpSpPr>
        <p:sp>
          <p:nvSpPr>
            <p:cNvPr id="15" name="Freeform 15">
              <a:extLst>
                <a:ext uri="{FF2B5EF4-FFF2-40B4-BE49-F238E27FC236}">
                  <a16:creationId xmlns:a16="http://schemas.microsoft.com/office/drawing/2014/main" id="{F4B100D9-8C77-6773-5745-D18A08FE3918}"/>
                </a:ext>
              </a:extLst>
            </p:cNvPr>
            <p:cNvSpPr/>
            <p:nvPr/>
          </p:nvSpPr>
          <p:spPr>
            <a:xfrm>
              <a:off x="0" y="0"/>
              <a:ext cx="967140" cy="812800"/>
            </a:xfrm>
            <a:custGeom>
              <a:avLst/>
              <a:gdLst/>
              <a:ahLst/>
              <a:cxnLst/>
              <a:rect l="l" t="t" r="r" b="b"/>
              <a:pathLst>
                <a:path w="967140" h="812800">
                  <a:moveTo>
                    <a:pt x="81342" y="0"/>
                  </a:moveTo>
                  <a:lnTo>
                    <a:pt x="885798" y="0"/>
                  </a:lnTo>
                  <a:cubicBezTo>
                    <a:pt x="907371" y="0"/>
                    <a:pt x="928061" y="8570"/>
                    <a:pt x="943315" y="23825"/>
                  </a:cubicBezTo>
                  <a:cubicBezTo>
                    <a:pt x="958570" y="39079"/>
                    <a:pt x="967140" y="59769"/>
                    <a:pt x="967140" y="81342"/>
                  </a:cubicBezTo>
                  <a:lnTo>
                    <a:pt x="967140" y="731458"/>
                  </a:lnTo>
                  <a:cubicBezTo>
                    <a:pt x="967140" y="776382"/>
                    <a:pt x="930722" y="812800"/>
                    <a:pt x="885798" y="812800"/>
                  </a:cubicBezTo>
                  <a:lnTo>
                    <a:pt x="81342" y="812800"/>
                  </a:lnTo>
                  <a:cubicBezTo>
                    <a:pt x="59769" y="812800"/>
                    <a:pt x="39079" y="804230"/>
                    <a:pt x="23825" y="788975"/>
                  </a:cubicBezTo>
                  <a:cubicBezTo>
                    <a:pt x="8570" y="773721"/>
                    <a:pt x="0" y="753031"/>
                    <a:pt x="0" y="731458"/>
                  </a:cubicBezTo>
                  <a:lnTo>
                    <a:pt x="0" y="81342"/>
                  </a:lnTo>
                  <a:cubicBezTo>
                    <a:pt x="0" y="59769"/>
                    <a:pt x="8570" y="39079"/>
                    <a:pt x="23825" y="23825"/>
                  </a:cubicBezTo>
                  <a:cubicBezTo>
                    <a:pt x="39079" y="8570"/>
                    <a:pt x="59769" y="0"/>
                    <a:pt x="81342" y="0"/>
                  </a:cubicBezTo>
                  <a:close/>
                </a:path>
              </a:pathLst>
            </a:custGeom>
            <a:solidFill>
              <a:srgbClr val="3A6AD6"/>
            </a:solidFill>
          </p:spPr>
        </p:sp>
        <p:sp>
          <p:nvSpPr>
            <p:cNvPr id="16" name="TextBox 16">
              <a:extLst>
                <a:ext uri="{FF2B5EF4-FFF2-40B4-BE49-F238E27FC236}">
                  <a16:creationId xmlns:a16="http://schemas.microsoft.com/office/drawing/2014/main" id="{F281DF60-58EF-311B-6643-64D465BD63E6}"/>
                </a:ext>
              </a:extLst>
            </p:cNvPr>
            <p:cNvSpPr txBox="1"/>
            <p:nvPr/>
          </p:nvSpPr>
          <p:spPr>
            <a:xfrm>
              <a:off x="0" y="-38100"/>
              <a:ext cx="967140" cy="850900"/>
            </a:xfrm>
            <a:prstGeom prst="rect">
              <a:avLst/>
            </a:prstGeom>
          </p:spPr>
          <p:txBody>
            <a:bodyPr lIns="50800" tIns="50800" rIns="50800" bIns="50800" rtlCol="0" anchor="ctr"/>
            <a:lstStyle/>
            <a:p>
              <a:pPr algn="ctr">
                <a:lnSpc>
                  <a:spcPts val="2659"/>
                </a:lnSpc>
              </a:pPr>
              <a:endParaRPr/>
            </a:p>
          </p:txBody>
        </p:sp>
      </p:grpSp>
      <p:sp>
        <p:nvSpPr>
          <p:cNvPr id="17" name="TextBox 17">
            <a:extLst>
              <a:ext uri="{FF2B5EF4-FFF2-40B4-BE49-F238E27FC236}">
                <a16:creationId xmlns:a16="http://schemas.microsoft.com/office/drawing/2014/main" id="{2E7E6750-B32B-D3D8-C88A-3BBDE12E7609}"/>
              </a:ext>
            </a:extLst>
          </p:cNvPr>
          <p:cNvSpPr txBox="1"/>
          <p:nvPr/>
        </p:nvSpPr>
        <p:spPr>
          <a:xfrm>
            <a:off x="17674380" y="8710688"/>
            <a:ext cx="442747" cy="257943"/>
          </a:xfrm>
          <a:prstGeom prst="rect">
            <a:avLst/>
          </a:prstGeom>
        </p:spPr>
        <p:txBody>
          <a:bodyPr lIns="0" tIns="0" rIns="0" bIns="0" rtlCol="0" anchor="t">
            <a:spAutoFit/>
          </a:bodyPr>
          <a:lstStyle/>
          <a:p>
            <a:pPr algn="ctr">
              <a:lnSpc>
                <a:spcPts val="2057"/>
              </a:lnSpc>
              <a:spcBef>
                <a:spcPct val="0"/>
              </a:spcBef>
            </a:pPr>
            <a:r>
              <a:rPr lang="en-US" sz="1469" b="1" dirty="0">
                <a:solidFill>
                  <a:srgbClr val="FFFFFF"/>
                </a:solidFill>
                <a:latin typeface="Poppins Bold"/>
                <a:ea typeface="Poppins Bold"/>
                <a:cs typeface="Poppins Bold"/>
                <a:sym typeface="Poppins Bold"/>
              </a:rPr>
              <a:t>13</a:t>
            </a:r>
          </a:p>
        </p:txBody>
      </p:sp>
      <p:grpSp>
        <p:nvGrpSpPr>
          <p:cNvPr id="18" name="Group 18">
            <a:extLst>
              <a:ext uri="{FF2B5EF4-FFF2-40B4-BE49-F238E27FC236}">
                <a16:creationId xmlns:a16="http://schemas.microsoft.com/office/drawing/2014/main" id="{61C47F80-66B1-F53A-24EA-BFA32DF51D94}"/>
              </a:ext>
            </a:extLst>
          </p:cNvPr>
          <p:cNvGrpSpPr/>
          <p:nvPr/>
        </p:nvGrpSpPr>
        <p:grpSpPr>
          <a:xfrm>
            <a:off x="-76193" y="2975849"/>
            <a:ext cx="7436668" cy="2167651"/>
            <a:chOff x="0" y="0"/>
            <a:chExt cx="1013318" cy="260488"/>
          </a:xfrm>
        </p:grpSpPr>
        <p:sp>
          <p:nvSpPr>
            <p:cNvPr id="19" name="Freeform 19">
              <a:extLst>
                <a:ext uri="{FF2B5EF4-FFF2-40B4-BE49-F238E27FC236}">
                  <a16:creationId xmlns:a16="http://schemas.microsoft.com/office/drawing/2014/main" id="{DC2A8D9F-4924-9D50-BF40-E5F850762E7E}"/>
                </a:ext>
              </a:extLst>
            </p:cNvPr>
            <p:cNvSpPr/>
            <p:nvPr/>
          </p:nvSpPr>
          <p:spPr>
            <a:xfrm>
              <a:off x="0" y="0"/>
              <a:ext cx="1013318" cy="260488"/>
            </a:xfrm>
            <a:custGeom>
              <a:avLst/>
              <a:gdLst/>
              <a:ahLst/>
              <a:cxnLst/>
              <a:rect l="l" t="t" r="r" b="b"/>
              <a:pathLst>
                <a:path w="1013318" h="260488">
                  <a:moveTo>
                    <a:pt x="130244" y="0"/>
                  </a:moveTo>
                  <a:lnTo>
                    <a:pt x="883074" y="0"/>
                  </a:lnTo>
                  <a:cubicBezTo>
                    <a:pt x="917617" y="0"/>
                    <a:pt x="950745" y="13722"/>
                    <a:pt x="975171" y="38148"/>
                  </a:cubicBezTo>
                  <a:cubicBezTo>
                    <a:pt x="999596" y="62573"/>
                    <a:pt x="1013318" y="95701"/>
                    <a:pt x="1013318" y="130244"/>
                  </a:cubicBezTo>
                  <a:lnTo>
                    <a:pt x="1013318" y="130244"/>
                  </a:lnTo>
                  <a:cubicBezTo>
                    <a:pt x="1013318" y="202175"/>
                    <a:pt x="955006" y="260488"/>
                    <a:pt x="883074" y="260488"/>
                  </a:cubicBezTo>
                  <a:lnTo>
                    <a:pt x="130244" y="260488"/>
                  </a:lnTo>
                  <a:cubicBezTo>
                    <a:pt x="95701" y="260488"/>
                    <a:pt x="62573" y="246766"/>
                    <a:pt x="38148" y="222340"/>
                  </a:cubicBezTo>
                  <a:cubicBezTo>
                    <a:pt x="13722" y="197915"/>
                    <a:pt x="0" y="164787"/>
                    <a:pt x="0" y="130244"/>
                  </a:cubicBezTo>
                  <a:lnTo>
                    <a:pt x="0" y="130244"/>
                  </a:lnTo>
                  <a:cubicBezTo>
                    <a:pt x="0" y="95701"/>
                    <a:pt x="13722" y="62573"/>
                    <a:pt x="38148" y="38148"/>
                  </a:cubicBezTo>
                  <a:cubicBezTo>
                    <a:pt x="62573" y="13722"/>
                    <a:pt x="95701" y="0"/>
                    <a:pt x="130244" y="0"/>
                  </a:cubicBezTo>
                  <a:close/>
                </a:path>
              </a:pathLst>
            </a:custGeom>
            <a:solidFill>
              <a:srgbClr val="F8F8F8"/>
            </a:solidFill>
          </p:spPr>
        </p:sp>
        <p:sp>
          <p:nvSpPr>
            <p:cNvPr id="20" name="TextBox 20">
              <a:extLst>
                <a:ext uri="{FF2B5EF4-FFF2-40B4-BE49-F238E27FC236}">
                  <a16:creationId xmlns:a16="http://schemas.microsoft.com/office/drawing/2014/main" id="{6F3EB000-8301-2F5F-5EDD-F8FDB9E3BAC1}"/>
                </a:ext>
              </a:extLst>
            </p:cNvPr>
            <p:cNvSpPr txBox="1"/>
            <p:nvPr/>
          </p:nvSpPr>
          <p:spPr>
            <a:xfrm>
              <a:off x="0" y="-38100"/>
              <a:ext cx="1013318" cy="298588"/>
            </a:xfrm>
            <a:prstGeom prst="rect">
              <a:avLst/>
            </a:prstGeom>
          </p:spPr>
          <p:txBody>
            <a:bodyPr lIns="47086" tIns="47086" rIns="47086" bIns="47086" rtlCol="0" anchor="ctr"/>
            <a:lstStyle/>
            <a:p>
              <a:pPr algn="ctr">
                <a:lnSpc>
                  <a:spcPts val="2659"/>
                </a:lnSpc>
              </a:pPr>
              <a:endParaRPr/>
            </a:p>
          </p:txBody>
        </p:sp>
      </p:grpSp>
      <p:sp>
        <p:nvSpPr>
          <p:cNvPr id="21" name="Freeform 21">
            <a:extLst>
              <a:ext uri="{FF2B5EF4-FFF2-40B4-BE49-F238E27FC236}">
                <a16:creationId xmlns:a16="http://schemas.microsoft.com/office/drawing/2014/main" id="{F3A62C00-0F3D-DF1E-2621-21B23285588F}"/>
              </a:ext>
            </a:extLst>
          </p:cNvPr>
          <p:cNvSpPr/>
          <p:nvPr/>
        </p:nvSpPr>
        <p:spPr>
          <a:xfrm>
            <a:off x="6204710" y="3507432"/>
            <a:ext cx="1026728" cy="1025445"/>
          </a:xfrm>
          <a:custGeom>
            <a:avLst/>
            <a:gdLst/>
            <a:ahLst/>
            <a:cxnLst/>
            <a:rect l="l" t="t" r="r" b="b"/>
            <a:pathLst>
              <a:path w="1026728" h="1025445">
                <a:moveTo>
                  <a:pt x="0" y="0"/>
                </a:moveTo>
                <a:lnTo>
                  <a:pt x="1026728" y="0"/>
                </a:lnTo>
                <a:lnTo>
                  <a:pt x="1026728" y="1025445"/>
                </a:lnTo>
                <a:lnTo>
                  <a:pt x="0" y="1025445"/>
                </a:lnTo>
                <a:lnTo>
                  <a:pt x="0" y="0"/>
                </a:lnTo>
                <a:close/>
              </a:path>
            </a:pathLst>
          </a:custGeom>
          <a:blipFill>
            <a:blip r:embed="rId2"/>
            <a:stretch>
              <a:fillRect/>
            </a:stretch>
          </a:blipFill>
        </p:spPr>
      </p:sp>
      <p:grpSp>
        <p:nvGrpSpPr>
          <p:cNvPr id="22" name="Group 22">
            <a:extLst>
              <a:ext uri="{FF2B5EF4-FFF2-40B4-BE49-F238E27FC236}">
                <a16:creationId xmlns:a16="http://schemas.microsoft.com/office/drawing/2014/main" id="{E673DD73-986D-65E0-B683-D8F1FE91092E}"/>
              </a:ext>
            </a:extLst>
          </p:cNvPr>
          <p:cNvGrpSpPr/>
          <p:nvPr/>
        </p:nvGrpSpPr>
        <p:grpSpPr>
          <a:xfrm>
            <a:off x="6180772" y="3466395"/>
            <a:ext cx="1011607" cy="1011607"/>
            <a:chOff x="0" y="0"/>
            <a:chExt cx="812800" cy="812800"/>
          </a:xfrm>
        </p:grpSpPr>
        <p:sp>
          <p:nvSpPr>
            <p:cNvPr id="23" name="Freeform 23">
              <a:extLst>
                <a:ext uri="{FF2B5EF4-FFF2-40B4-BE49-F238E27FC236}">
                  <a16:creationId xmlns:a16="http://schemas.microsoft.com/office/drawing/2014/main" id="{CFCA1C2D-0A1F-32EB-D7C0-83DE67119D8B}"/>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id="24" name="TextBox 24">
              <a:extLst>
                <a:ext uri="{FF2B5EF4-FFF2-40B4-BE49-F238E27FC236}">
                  <a16:creationId xmlns:a16="http://schemas.microsoft.com/office/drawing/2014/main" id="{EC196DFF-EC76-5124-5699-2A8F28EA7DA4}"/>
                </a:ext>
              </a:extLst>
            </p:cNvPr>
            <p:cNvSpPr txBox="1"/>
            <p:nvPr/>
          </p:nvSpPr>
          <p:spPr>
            <a:xfrm>
              <a:off x="76200" y="38100"/>
              <a:ext cx="660400" cy="698500"/>
            </a:xfrm>
            <a:prstGeom prst="rect">
              <a:avLst/>
            </a:prstGeom>
          </p:spPr>
          <p:txBody>
            <a:bodyPr lIns="47086" tIns="47086" rIns="47086" bIns="47086" rtlCol="0" anchor="ctr"/>
            <a:lstStyle/>
            <a:p>
              <a:pPr algn="ctr">
                <a:lnSpc>
                  <a:spcPts val="2659"/>
                </a:lnSpc>
                <a:spcBef>
                  <a:spcPct val="0"/>
                </a:spcBef>
              </a:pPr>
              <a:endParaRPr/>
            </a:p>
          </p:txBody>
        </p:sp>
      </p:grpSp>
      <p:grpSp>
        <p:nvGrpSpPr>
          <p:cNvPr id="44" name="Group 18">
            <a:extLst>
              <a:ext uri="{FF2B5EF4-FFF2-40B4-BE49-F238E27FC236}">
                <a16:creationId xmlns:a16="http://schemas.microsoft.com/office/drawing/2014/main" id="{994FC7FC-778B-75CF-BF29-528B95D3B287}"/>
              </a:ext>
            </a:extLst>
          </p:cNvPr>
          <p:cNvGrpSpPr/>
          <p:nvPr/>
        </p:nvGrpSpPr>
        <p:grpSpPr>
          <a:xfrm>
            <a:off x="10922364" y="2975849"/>
            <a:ext cx="7436668" cy="2167651"/>
            <a:chOff x="0" y="0"/>
            <a:chExt cx="1013318" cy="260488"/>
          </a:xfrm>
        </p:grpSpPr>
        <p:sp>
          <p:nvSpPr>
            <p:cNvPr id="52" name="Freeform 19">
              <a:extLst>
                <a:ext uri="{FF2B5EF4-FFF2-40B4-BE49-F238E27FC236}">
                  <a16:creationId xmlns:a16="http://schemas.microsoft.com/office/drawing/2014/main" id="{EE6CF048-DEB0-7CA7-4286-8812480E939D}"/>
                </a:ext>
              </a:extLst>
            </p:cNvPr>
            <p:cNvSpPr/>
            <p:nvPr/>
          </p:nvSpPr>
          <p:spPr>
            <a:xfrm>
              <a:off x="0" y="0"/>
              <a:ext cx="1013318" cy="260488"/>
            </a:xfrm>
            <a:custGeom>
              <a:avLst/>
              <a:gdLst/>
              <a:ahLst/>
              <a:cxnLst/>
              <a:rect l="l" t="t" r="r" b="b"/>
              <a:pathLst>
                <a:path w="1013318" h="260488">
                  <a:moveTo>
                    <a:pt x="130244" y="0"/>
                  </a:moveTo>
                  <a:lnTo>
                    <a:pt x="883074" y="0"/>
                  </a:lnTo>
                  <a:cubicBezTo>
                    <a:pt x="917617" y="0"/>
                    <a:pt x="950745" y="13722"/>
                    <a:pt x="975171" y="38148"/>
                  </a:cubicBezTo>
                  <a:cubicBezTo>
                    <a:pt x="999596" y="62573"/>
                    <a:pt x="1013318" y="95701"/>
                    <a:pt x="1013318" y="130244"/>
                  </a:cubicBezTo>
                  <a:lnTo>
                    <a:pt x="1013318" y="130244"/>
                  </a:lnTo>
                  <a:cubicBezTo>
                    <a:pt x="1013318" y="202175"/>
                    <a:pt x="955006" y="260488"/>
                    <a:pt x="883074" y="260488"/>
                  </a:cubicBezTo>
                  <a:lnTo>
                    <a:pt x="130244" y="260488"/>
                  </a:lnTo>
                  <a:cubicBezTo>
                    <a:pt x="95701" y="260488"/>
                    <a:pt x="62573" y="246766"/>
                    <a:pt x="38148" y="222340"/>
                  </a:cubicBezTo>
                  <a:cubicBezTo>
                    <a:pt x="13722" y="197915"/>
                    <a:pt x="0" y="164787"/>
                    <a:pt x="0" y="130244"/>
                  </a:cubicBezTo>
                  <a:lnTo>
                    <a:pt x="0" y="130244"/>
                  </a:lnTo>
                  <a:cubicBezTo>
                    <a:pt x="0" y="95701"/>
                    <a:pt x="13722" y="62573"/>
                    <a:pt x="38148" y="38148"/>
                  </a:cubicBezTo>
                  <a:cubicBezTo>
                    <a:pt x="62573" y="13722"/>
                    <a:pt x="95701" y="0"/>
                    <a:pt x="130244" y="0"/>
                  </a:cubicBezTo>
                  <a:close/>
                </a:path>
              </a:pathLst>
            </a:custGeom>
            <a:solidFill>
              <a:srgbClr val="F8F8F8"/>
            </a:solidFill>
          </p:spPr>
        </p:sp>
        <p:sp>
          <p:nvSpPr>
            <p:cNvPr id="61" name="TextBox 20">
              <a:extLst>
                <a:ext uri="{FF2B5EF4-FFF2-40B4-BE49-F238E27FC236}">
                  <a16:creationId xmlns:a16="http://schemas.microsoft.com/office/drawing/2014/main" id="{F4047702-CA3E-F91F-1C7B-98DDD98D4BA0}"/>
                </a:ext>
              </a:extLst>
            </p:cNvPr>
            <p:cNvSpPr txBox="1"/>
            <p:nvPr/>
          </p:nvSpPr>
          <p:spPr>
            <a:xfrm>
              <a:off x="0" y="-38100"/>
              <a:ext cx="1013318" cy="298588"/>
            </a:xfrm>
            <a:prstGeom prst="rect">
              <a:avLst/>
            </a:prstGeom>
          </p:spPr>
          <p:txBody>
            <a:bodyPr lIns="47086" tIns="47086" rIns="47086" bIns="47086" rtlCol="0" anchor="ctr"/>
            <a:lstStyle/>
            <a:p>
              <a:pPr algn="ctr">
                <a:lnSpc>
                  <a:spcPts val="2659"/>
                </a:lnSpc>
              </a:pPr>
              <a:endParaRPr/>
            </a:p>
          </p:txBody>
        </p:sp>
      </p:grpSp>
      <p:sp>
        <p:nvSpPr>
          <p:cNvPr id="25" name="TextBox 25">
            <a:extLst>
              <a:ext uri="{FF2B5EF4-FFF2-40B4-BE49-F238E27FC236}">
                <a16:creationId xmlns:a16="http://schemas.microsoft.com/office/drawing/2014/main" id="{29DDC570-6D5E-A556-6E04-64152ECF2AAF}"/>
              </a:ext>
            </a:extLst>
          </p:cNvPr>
          <p:cNvSpPr txBox="1"/>
          <p:nvPr/>
        </p:nvSpPr>
        <p:spPr>
          <a:xfrm>
            <a:off x="755355" y="3579767"/>
            <a:ext cx="6178845" cy="877933"/>
          </a:xfrm>
          <a:prstGeom prst="rect">
            <a:avLst/>
          </a:prstGeom>
        </p:spPr>
        <p:txBody>
          <a:bodyPr wrap="square" lIns="0" tIns="0" rIns="0" bIns="0" rtlCol="0" anchor="t">
            <a:spAutoFit/>
          </a:bodyPr>
          <a:lstStyle/>
          <a:p>
            <a:pPr>
              <a:lnSpc>
                <a:spcPts val="3422"/>
              </a:lnSpc>
              <a:spcBef>
                <a:spcPct val="0"/>
              </a:spcBef>
            </a:pPr>
            <a:r>
              <a:rPr lang="en-GB" sz="3200" b="1" dirty="0">
                <a:solidFill>
                  <a:schemeClr val="accent6">
                    <a:lumMod val="75000"/>
                  </a:schemeClr>
                </a:solidFill>
                <a:latin typeface="Poppins"/>
                <a:ea typeface="Poppins"/>
                <a:cs typeface="Poppins"/>
                <a:sym typeface="Poppins"/>
              </a:rPr>
              <a:t>Approach: </a:t>
            </a:r>
            <a:r>
              <a:rPr lang="en-GB" sz="3200" b="1" dirty="0">
                <a:solidFill>
                  <a:schemeClr val="bg1">
                    <a:lumMod val="50000"/>
                  </a:schemeClr>
                </a:solidFill>
                <a:latin typeface="Poppins"/>
                <a:ea typeface="Poppins"/>
                <a:cs typeface="Poppins"/>
                <a:sym typeface="Poppins"/>
              </a:rPr>
              <a:t>Quantitative experimental evaluation.</a:t>
            </a:r>
          </a:p>
        </p:txBody>
      </p:sp>
      <p:sp>
        <p:nvSpPr>
          <p:cNvPr id="48" name="Freeform 48">
            <a:extLst>
              <a:ext uri="{FF2B5EF4-FFF2-40B4-BE49-F238E27FC236}">
                <a16:creationId xmlns:a16="http://schemas.microsoft.com/office/drawing/2014/main" id="{9F695751-E61C-3534-606A-357B33871F59}"/>
              </a:ext>
            </a:extLst>
          </p:cNvPr>
          <p:cNvSpPr/>
          <p:nvPr/>
        </p:nvSpPr>
        <p:spPr>
          <a:xfrm>
            <a:off x="11100568" y="3507432"/>
            <a:ext cx="1026728" cy="1025445"/>
          </a:xfrm>
          <a:custGeom>
            <a:avLst/>
            <a:gdLst/>
            <a:ahLst/>
            <a:cxnLst/>
            <a:rect l="l" t="t" r="r" b="b"/>
            <a:pathLst>
              <a:path w="1026728" h="1025445">
                <a:moveTo>
                  <a:pt x="0" y="0"/>
                </a:moveTo>
                <a:lnTo>
                  <a:pt x="1026728" y="0"/>
                </a:lnTo>
                <a:lnTo>
                  <a:pt x="1026728" y="1025445"/>
                </a:lnTo>
                <a:lnTo>
                  <a:pt x="0" y="1025445"/>
                </a:lnTo>
                <a:lnTo>
                  <a:pt x="0" y="0"/>
                </a:lnTo>
                <a:close/>
              </a:path>
            </a:pathLst>
          </a:custGeom>
          <a:blipFill>
            <a:blip r:embed="rId2"/>
            <a:stretch>
              <a:fillRect/>
            </a:stretch>
          </a:blipFill>
        </p:spPr>
      </p:sp>
      <p:grpSp>
        <p:nvGrpSpPr>
          <p:cNvPr id="49" name="Group 49">
            <a:extLst>
              <a:ext uri="{FF2B5EF4-FFF2-40B4-BE49-F238E27FC236}">
                <a16:creationId xmlns:a16="http://schemas.microsoft.com/office/drawing/2014/main" id="{D6315B1A-DA30-17EE-C541-F49ABD20BD94}"/>
              </a:ext>
            </a:extLst>
          </p:cNvPr>
          <p:cNvGrpSpPr/>
          <p:nvPr/>
        </p:nvGrpSpPr>
        <p:grpSpPr>
          <a:xfrm>
            <a:off x="11076630" y="3466395"/>
            <a:ext cx="1011607" cy="1011607"/>
            <a:chOff x="0" y="0"/>
            <a:chExt cx="812800" cy="812800"/>
          </a:xfrm>
        </p:grpSpPr>
        <p:sp>
          <p:nvSpPr>
            <p:cNvPr id="50" name="Freeform 50">
              <a:extLst>
                <a:ext uri="{FF2B5EF4-FFF2-40B4-BE49-F238E27FC236}">
                  <a16:creationId xmlns:a16="http://schemas.microsoft.com/office/drawing/2014/main" id="{4E3604DA-C6C0-E6C7-DA8F-B2CD7F87760B}"/>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id="51" name="TextBox 51">
              <a:extLst>
                <a:ext uri="{FF2B5EF4-FFF2-40B4-BE49-F238E27FC236}">
                  <a16:creationId xmlns:a16="http://schemas.microsoft.com/office/drawing/2014/main" id="{3DDBE51D-B126-F230-55F1-A4EC698CBFF6}"/>
                </a:ext>
              </a:extLst>
            </p:cNvPr>
            <p:cNvSpPr txBox="1"/>
            <p:nvPr/>
          </p:nvSpPr>
          <p:spPr>
            <a:xfrm>
              <a:off x="76200" y="38100"/>
              <a:ext cx="660400" cy="698500"/>
            </a:xfrm>
            <a:prstGeom prst="rect">
              <a:avLst/>
            </a:prstGeom>
          </p:spPr>
          <p:txBody>
            <a:bodyPr lIns="47086" tIns="47086" rIns="47086" bIns="47086" rtlCol="0" anchor="ctr"/>
            <a:lstStyle/>
            <a:p>
              <a:pPr algn="ctr">
                <a:lnSpc>
                  <a:spcPts val="2659"/>
                </a:lnSpc>
                <a:spcBef>
                  <a:spcPct val="0"/>
                </a:spcBef>
              </a:pPr>
              <a:endParaRPr/>
            </a:p>
          </p:txBody>
        </p:sp>
      </p:grpSp>
      <p:sp>
        <p:nvSpPr>
          <p:cNvPr id="57" name="Freeform 57">
            <a:extLst>
              <a:ext uri="{FF2B5EF4-FFF2-40B4-BE49-F238E27FC236}">
                <a16:creationId xmlns:a16="http://schemas.microsoft.com/office/drawing/2014/main" id="{2BFCC28F-2582-8F6E-A340-AC7391FFA54B}"/>
              </a:ext>
            </a:extLst>
          </p:cNvPr>
          <p:cNvSpPr/>
          <p:nvPr/>
        </p:nvSpPr>
        <p:spPr>
          <a:xfrm>
            <a:off x="11100568" y="6323106"/>
            <a:ext cx="1026728" cy="1025445"/>
          </a:xfrm>
          <a:custGeom>
            <a:avLst/>
            <a:gdLst/>
            <a:ahLst/>
            <a:cxnLst/>
            <a:rect l="l" t="t" r="r" b="b"/>
            <a:pathLst>
              <a:path w="1026728" h="1025445">
                <a:moveTo>
                  <a:pt x="0" y="0"/>
                </a:moveTo>
                <a:lnTo>
                  <a:pt x="1026728" y="0"/>
                </a:lnTo>
                <a:lnTo>
                  <a:pt x="1026728" y="1025445"/>
                </a:lnTo>
                <a:lnTo>
                  <a:pt x="0" y="1025445"/>
                </a:lnTo>
                <a:lnTo>
                  <a:pt x="0" y="0"/>
                </a:lnTo>
                <a:close/>
              </a:path>
            </a:pathLst>
          </a:custGeom>
          <a:blipFill>
            <a:blip r:embed="rId2"/>
            <a:stretch>
              <a:fillRect/>
            </a:stretch>
          </a:blipFill>
        </p:spPr>
      </p:sp>
      <p:grpSp>
        <p:nvGrpSpPr>
          <p:cNvPr id="58" name="Group 58">
            <a:extLst>
              <a:ext uri="{FF2B5EF4-FFF2-40B4-BE49-F238E27FC236}">
                <a16:creationId xmlns:a16="http://schemas.microsoft.com/office/drawing/2014/main" id="{8F76FE1C-1DAF-1B2C-7876-FB470B127F5E}"/>
              </a:ext>
            </a:extLst>
          </p:cNvPr>
          <p:cNvGrpSpPr/>
          <p:nvPr/>
        </p:nvGrpSpPr>
        <p:grpSpPr>
          <a:xfrm>
            <a:off x="11076630" y="6282070"/>
            <a:ext cx="1011607" cy="1011607"/>
            <a:chOff x="0" y="0"/>
            <a:chExt cx="812800" cy="812800"/>
          </a:xfrm>
        </p:grpSpPr>
        <p:sp>
          <p:nvSpPr>
            <p:cNvPr id="59" name="Freeform 59">
              <a:extLst>
                <a:ext uri="{FF2B5EF4-FFF2-40B4-BE49-F238E27FC236}">
                  <a16:creationId xmlns:a16="http://schemas.microsoft.com/office/drawing/2014/main" id="{8C5F82A3-FDC7-ACF1-9589-1E3FEEFCA51E}"/>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id="60" name="TextBox 60">
              <a:extLst>
                <a:ext uri="{FF2B5EF4-FFF2-40B4-BE49-F238E27FC236}">
                  <a16:creationId xmlns:a16="http://schemas.microsoft.com/office/drawing/2014/main" id="{13E567F3-661C-5888-6D0D-8B34229A371C}"/>
                </a:ext>
              </a:extLst>
            </p:cNvPr>
            <p:cNvSpPr txBox="1"/>
            <p:nvPr/>
          </p:nvSpPr>
          <p:spPr>
            <a:xfrm>
              <a:off x="76200" y="38100"/>
              <a:ext cx="660400" cy="698500"/>
            </a:xfrm>
            <a:prstGeom prst="rect">
              <a:avLst/>
            </a:prstGeom>
          </p:spPr>
          <p:txBody>
            <a:bodyPr lIns="47086" tIns="47086" rIns="47086" bIns="47086" rtlCol="0" anchor="ctr"/>
            <a:lstStyle/>
            <a:p>
              <a:pPr algn="ctr">
                <a:lnSpc>
                  <a:spcPts val="2659"/>
                </a:lnSpc>
                <a:spcBef>
                  <a:spcPct val="0"/>
                </a:spcBef>
              </a:pPr>
              <a:endParaRPr/>
            </a:p>
          </p:txBody>
        </p:sp>
      </p:grpSp>
      <p:sp>
        <p:nvSpPr>
          <p:cNvPr id="73" name="AutoShape 73">
            <a:extLst>
              <a:ext uri="{FF2B5EF4-FFF2-40B4-BE49-F238E27FC236}">
                <a16:creationId xmlns:a16="http://schemas.microsoft.com/office/drawing/2014/main" id="{32B332A3-6ED5-149E-059F-D22033504872}"/>
              </a:ext>
            </a:extLst>
          </p:cNvPr>
          <p:cNvSpPr/>
          <p:nvPr/>
        </p:nvSpPr>
        <p:spPr>
          <a:xfrm>
            <a:off x="7766528" y="3987380"/>
            <a:ext cx="2754945" cy="0"/>
          </a:xfrm>
          <a:prstGeom prst="line">
            <a:avLst/>
          </a:prstGeom>
          <a:ln w="28575" cap="flat">
            <a:solidFill>
              <a:srgbClr val="F8F8F8"/>
            </a:solidFill>
            <a:prstDash val="solid"/>
            <a:headEnd type="none" w="sm" len="sm"/>
            <a:tailEnd type="none" w="sm" len="sm"/>
          </a:ln>
        </p:spPr>
      </p:sp>
      <p:sp>
        <p:nvSpPr>
          <p:cNvPr id="74" name="AutoShape 74">
            <a:extLst>
              <a:ext uri="{FF2B5EF4-FFF2-40B4-BE49-F238E27FC236}">
                <a16:creationId xmlns:a16="http://schemas.microsoft.com/office/drawing/2014/main" id="{D9A51C38-1F5A-7E82-DE80-8E8F402741ED}"/>
              </a:ext>
            </a:extLst>
          </p:cNvPr>
          <p:cNvSpPr/>
          <p:nvPr/>
        </p:nvSpPr>
        <p:spPr>
          <a:xfrm>
            <a:off x="7766528" y="6803054"/>
            <a:ext cx="2754945" cy="0"/>
          </a:xfrm>
          <a:prstGeom prst="line">
            <a:avLst/>
          </a:prstGeom>
          <a:ln w="28575" cap="flat">
            <a:solidFill>
              <a:srgbClr val="F8F8F8"/>
            </a:solidFill>
            <a:prstDash val="solid"/>
            <a:headEnd type="none" w="sm" len="sm"/>
            <a:tailEnd type="none" w="sm" len="sm"/>
          </a:ln>
        </p:spPr>
      </p:sp>
      <p:grpSp>
        <p:nvGrpSpPr>
          <p:cNvPr id="76" name="Group 76">
            <a:extLst>
              <a:ext uri="{FF2B5EF4-FFF2-40B4-BE49-F238E27FC236}">
                <a16:creationId xmlns:a16="http://schemas.microsoft.com/office/drawing/2014/main" id="{15D9F613-7AC2-C29E-B3D3-7749845B995B}"/>
              </a:ext>
            </a:extLst>
          </p:cNvPr>
          <p:cNvGrpSpPr/>
          <p:nvPr/>
        </p:nvGrpSpPr>
        <p:grpSpPr>
          <a:xfrm>
            <a:off x="7657357" y="3878209"/>
            <a:ext cx="218342" cy="218342"/>
            <a:chOff x="0" y="0"/>
            <a:chExt cx="812800" cy="812800"/>
          </a:xfrm>
        </p:grpSpPr>
        <p:sp>
          <p:nvSpPr>
            <p:cNvPr id="77" name="Freeform 77">
              <a:extLst>
                <a:ext uri="{FF2B5EF4-FFF2-40B4-BE49-F238E27FC236}">
                  <a16:creationId xmlns:a16="http://schemas.microsoft.com/office/drawing/2014/main" id="{8DBCC2F6-A019-4E9D-5B59-CA85194A654D}"/>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A6AD6"/>
            </a:solidFill>
          </p:spPr>
        </p:sp>
        <p:sp>
          <p:nvSpPr>
            <p:cNvPr id="78" name="TextBox 78">
              <a:extLst>
                <a:ext uri="{FF2B5EF4-FFF2-40B4-BE49-F238E27FC236}">
                  <a16:creationId xmlns:a16="http://schemas.microsoft.com/office/drawing/2014/main" id="{AD2074F5-6CFA-4C36-76A5-60B698F37D27}"/>
                </a:ext>
              </a:extLst>
            </p:cNvPr>
            <p:cNvSpPr txBox="1"/>
            <p:nvPr/>
          </p:nvSpPr>
          <p:spPr>
            <a:xfrm>
              <a:off x="76200" y="38100"/>
              <a:ext cx="660400" cy="698500"/>
            </a:xfrm>
            <a:prstGeom prst="rect">
              <a:avLst/>
            </a:prstGeom>
          </p:spPr>
          <p:txBody>
            <a:bodyPr lIns="47086" tIns="47086" rIns="47086" bIns="47086" rtlCol="0" anchor="ctr"/>
            <a:lstStyle/>
            <a:p>
              <a:pPr algn="ctr">
                <a:lnSpc>
                  <a:spcPts val="2659"/>
                </a:lnSpc>
                <a:spcBef>
                  <a:spcPct val="0"/>
                </a:spcBef>
              </a:pPr>
              <a:endParaRPr/>
            </a:p>
          </p:txBody>
        </p:sp>
      </p:grpSp>
      <p:grpSp>
        <p:nvGrpSpPr>
          <p:cNvPr id="79" name="Group 79">
            <a:extLst>
              <a:ext uri="{FF2B5EF4-FFF2-40B4-BE49-F238E27FC236}">
                <a16:creationId xmlns:a16="http://schemas.microsoft.com/office/drawing/2014/main" id="{E23406BE-3274-F89F-44F4-2E369AF66B3B}"/>
              </a:ext>
            </a:extLst>
          </p:cNvPr>
          <p:cNvGrpSpPr/>
          <p:nvPr/>
        </p:nvGrpSpPr>
        <p:grpSpPr>
          <a:xfrm>
            <a:off x="10412301" y="3878209"/>
            <a:ext cx="218342" cy="218342"/>
            <a:chOff x="0" y="0"/>
            <a:chExt cx="812800" cy="812800"/>
          </a:xfrm>
        </p:grpSpPr>
        <p:sp>
          <p:nvSpPr>
            <p:cNvPr id="80" name="Freeform 80">
              <a:extLst>
                <a:ext uri="{FF2B5EF4-FFF2-40B4-BE49-F238E27FC236}">
                  <a16:creationId xmlns:a16="http://schemas.microsoft.com/office/drawing/2014/main" id="{A93FF479-CF5E-603A-27BE-52C553F1440A}"/>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A6AD6"/>
            </a:solidFill>
          </p:spPr>
        </p:sp>
        <p:sp>
          <p:nvSpPr>
            <p:cNvPr id="81" name="TextBox 81">
              <a:extLst>
                <a:ext uri="{FF2B5EF4-FFF2-40B4-BE49-F238E27FC236}">
                  <a16:creationId xmlns:a16="http://schemas.microsoft.com/office/drawing/2014/main" id="{6F7FC5DD-A49E-EDB6-DAE8-F3472AECCE22}"/>
                </a:ext>
              </a:extLst>
            </p:cNvPr>
            <p:cNvSpPr txBox="1"/>
            <p:nvPr/>
          </p:nvSpPr>
          <p:spPr>
            <a:xfrm>
              <a:off x="76200" y="38100"/>
              <a:ext cx="660400" cy="698500"/>
            </a:xfrm>
            <a:prstGeom prst="rect">
              <a:avLst/>
            </a:prstGeom>
          </p:spPr>
          <p:txBody>
            <a:bodyPr lIns="47086" tIns="47086" rIns="47086" bIns="47086" rtlCol="0" anchor="ctr"/>
            <a:lstStyle/>
            <a:p>
              <a:pPr algn="ctr">
                <a:lnSpc>
                  <a:spcPts val="2659"/>
                </a:lnSpc>
                <a:spcBef>
                  <a:spcPct val="0"/>
                </a:spcBef>
              </a:pPr>
              <a:endParaRPr/>
            </a:p>
          </p:txBody>
        </p:sp>
      </p:grpSp>
      <p:grpSp>
        <p:nvGrpSpPr>
          <p:cNvPr id="82" name="Group 82">
            <a:extLst>
              <a:ext uri="{FF2B5EF4-FFF2-40B4-BE49-F238E27FC236}">
                <a16:creationId xmlns:a16="http://schemas.microsoft.com/office/drawing/2014/main" id="{965B7425-A2D0-A8CE-349D-DFC0534449A2}"/>
              </a:ext>
            </a:extLst>
          </p:cNvPr>
          <p:cNvGrpSpPr/>
          <p:nvPr/>
        </p:nvGrpSpPr>
        <p:grpSpPr>
          <a:xfrm>
            <a:off x="7706458" y="6677758"/>
            <a:ext cx="218342" cy="218342"/>
            <a:chOff x="0" y="0"/>
            <a:chExt cx="812800" cy="812800"/>
          </a:xfrm>
        </p:grpSpPr>
        <p:sp>
          <p:nvSpPr>
            <p:cNvPr id="83" name="Freeform 83">
              <a:extLst>
                <a:ext uri="{FF2B5EF4-FFF2-40B4-BE49-F238E27FC236}">
                  <a16:creationId xmlns:a16="http://schemas.microsoft.com/office/drawing/2014/main" id="{372F3F9C-D8EB-87D0-E72E-FD4002C78BBA}"/>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A6AD6"/>
            </a:solidFill>
          </p:spPr>
        </p:sp>
        <p:sp>
          <p:nvSpPr>
            <p:cNvPr id="84" name="TextBox 84">
              <a:extLst>
                <a:ext uri="{FF2B5EF4-FFF2-40B4-BE49-F238E27FC236}">
                  <a16:creationId xmlns:a16="http://schemas.microsoft.com/office/drawing/2014/main" id="{920E8627-8CC6-2F65-77D9-C53376E516BF}"/>
                </a:ext>
              </a:extLst>
            </p:cNvPr>
            <p:cNvSpPr txBox="1"/>
            <p:nvPr/>
          </p:nvSpPr>
          <p:spPr>
            <a:xfrm>
              <a:off x="76200" y="38100"/>
              <a:ext cx="660400" cy="698500"/>
            </a:xfrm>
            <a:prstGeom prst="rect">
              <a:avLst/>
            </a:prstGeom>
          </p:spPr>
          <p:txBody>
            <a:bodyPr lIns="47086" tIns="47086" rIns="47086" bIns="47086" rtlCol="0" anchor="ctr"/>
            <a:lstStyle/>
            <a:p>
              <a:pPr algn="ctr">
                <a:lnSpc>
                  <a:spcPts val="2659"/>
                </a:lnSpc>
                <a:spcBef>
                  <a:spcPct val="0"/>
                </a:spcBef>
              </a:pPr>
              <a:endParaRPr/>
            </a:p>
          </p:txBody>
        </p:sp>
      </p:grpSp>
      <p:grpSp>
        <p:nvGrpSpPr>
          <p:cNvPr id="85" name="Group 85">
            <a:extLst>
              <a:ext uri="{FF2B5EF4-FFF2-40B4-BE49-F238E27FC236}">
                <a16:creationId xmlns:a16="http://schemas.microsoft.com/office/drawing/2014/main" id="{E3CCAD9C-298D-4957-8320-301F72B09A99}"/>
              </a:ext>
            </a:extLst>
          </p:cNvPr>
          <p:cNvGrpSpPr/>
          <p:nvPr/>
        </p:nvGrpSpPr>
        <p:grpSpPr>
          <a:xfrm>
            <a:off x="10412301" y="6677758"/>
            <a:ext cx="218342" cy="218342"/>
            <a:chOff x="0" y="0"/>
            <a:chExt cx="812800" cy="812800"/>
          </a:xfrm>
        </p:grpSpPr>
        <p:sp>
          <p:nvSpPr>
            <p:cNvPr id="86" name="Freeform 86">
              <a:extLst>
                <a:ext uri="{FF2B5EF4-FFF2-40B4-BE49-F238E27FC236}">
                  <a16:creationId xmlns:a16="http://schemas.microsoft.com/office/drawing/2014/main" id="{5DA9CD5D-292A-F06C-5101-E1DB252C5104}"/>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A6AD6"/>
            </a:solidFill>
          </p:spPr>
        </p:sp>
        <p:sp>
          <p:nvSpPr>
            <p:cNvPr id="87" name="TextBox 87">
              <a:extLst>
                <a:ext uri="{FF2B5EF4-FFF2-40B4-BE49-F238E27FC236}">
                  <a16:creationId xmlns:a16="http://schemas.microsoft.com/office/drawing/2014/main" id="{5CB12D41-0215-4CC3-D01B-170698586420}"/>
                </a:ext>
              </a:extLst>
            </p:cNvPr>
            <p:cNvSpPr txBox="1"/>
            <p:nvPr/>
          </p:nvSpPr>
          <p:spPr>
            <a:xfrm>
              <a:off x="76200" y="38100"/>
              <a:ext cx="660400" cy="698500"/>
            </a:xfrm>
            <a:prstGeom prst="rect">
              <a:avLst/>
            </a:prstGeom>
          </p:spPr>
          <p:txBody>
            <a:bodyPr lIns="47086" tIns="47086" rIns="47086" bIns="47086" rtlCol="0" anchor="ctr"/>
            <a:lstStyle/>
            <a:p>
              <a:pPr algn="ctr">
                <a:lnSpc>
                  <a:spcPts val="2659"/>
                </a:lnSpc>
                <a:spcBef>
                  <a:spcPct val="0"/>
                </a:spcBef>
              </a:pPr>
              <a:endParaRPr/>
            </a:p>
          </p:txBody>
        </p:sp>
      </p:grpSp>
      <p:sp>
        <p:nvSpPr>
          <p:cNvPr id="94" name="AutoShape 94">
            <a:extLst>
              <a:ext uri="{FF2B5EF4-FFF2-40B4-BE49-F238E27FC236}">
                <a16:creationId xmlns:a16="http://schemas.microsoft.com/office/drawing/2014/main" id="{5E2BADC7-B548-B785-460B-9DABE3D4E29C}"/>
              </a:ext>
            </a:extLst>
          </p:cNvPr>
          <p:cNvSpPr/>
          <p:nvPr/>
        </p:nvSpPr>
        <p:spPr>
          <a:xfrm>
            <a:off x="9144000" y="4001667"/>
            <a:ext cx="0" cy="6285333"/>
          </a:xfrm>
          <a:prstGeom prst="line">
            <a:avLst/>
          </a:prstGeom>
          <a:ln w="28575" cap="flat">
            <a:solidFill>
              <a:srgbClr val="F8F8F8"/>
            </a:solidFill>
            <a:prstDash val="solid"/>
            <a:headEnd type="none" w="sm" len="sm"/>
            <a:tailEnd type="none" w="sm" len="sm"/>
          </a:ln>
        </p:spPr>
      </p:sp>
      <p:grpSp>
        <p:nvGrpSpPr>
          <p:cNvPr id="10" name="Group 18">
            <a:extLst>
              <a:ext uri="{FF2B5EF4-FFF2-40B4-BE49-F238E27FC236}">
                <a16:creationId xmlns:a16="http://schemas.microsoft.com/office/drawing/2014/main" id="{4FEAA33A-0712-6143-2B0D-1491EFCC00E0}"/>
              </a:ext>
            </a:extLst>
          </p:cNvPr>
          <p:cNvGrpSpPr/>
          <p:nvPr/>
        </p:nvGrpSpPr>
        <p:grpSpPr>
          <a:xfrm>
            <a:off x="-45631" y="5656974"/>
            <a:ext cx="7436668" cy="2167651"/>
            <a:chOff x="0" y="0"/>
            <a:chExt cx="1013318" cy="260488"/>
          </a:xfrm>
        </p:grpSpPr>
        <p:sp>
          <p:nvSpPr>
            <p:cNvPr id="11" name="Freeform 19">
              <a:extLst>
                <a:ext uri="{FF2B5EF4-FFF2-40B4-BE49-F238E27FC236}">
                  <a16:creationId xmlns:a16="http://schemas.microsoft.com/office/drawing/2014/main" id="{D3E9933C-C454-A4A5-655A-2A86AC28117F}"/>
                </a:ext>
              </a:extLst>
            </p:cNvPr>
            <p:cNvSpPr/>
            <p:nvPr/>
          </p:nvSpPr>
          <p:spPr>
            <a:xfrm>
              <a:off x="0" y="0"/>
              <a:ext cx="1013318" cy="260488"/>
            </a:xfrm>
            <a:custGeom>
              <a:avLst/>
              <a:gdLst/>
              <a:ahLst/>
              <a:cxnLst/>
              <a:rect l="l" t="t" r="r" b="b"/>
              <a:pathLst>
                <a:path w="1013318" h="260488">
                  <a:moveTo>
                    <a:pt x="130244" y="0"/>
                  </a:moveTo>
                  <a:lnTo>
                    <a:pt x="883074" y="0"/>
                  </a:lnTo>
                  <a:cubicBezTo>
                    <a:pt x="917617" y="0"/>
                    <a:pt x="950745" y="13722"/>
                    <a:pt x="975171" y="38148"/>
                  </a:cubicBezTo>
                  <a:cubicBezTo>
                    <a:pt x="999596" y="62573"/>
                    <a:pt x="1013318" y="95701"/>
                    <a:pt x="1013318" y="130244"/>
                  </a:cubicBezTo>
                  <a:lnTo>
                    <a:pt x="1013318" y="130244"/>
                  </a:lnTo>
                  <a:cubicBezTo>
                    <a:pt x="1013318" y="202175"/>
                    <a:pt x="955006" y="260488"/>
                    <a:pt x="883074" y="260488"/>
                  </a:cubicBezTo>
                  <a:lnTo>
                    <a:pt x="130244" y="260488"/>
                  </a:lnTo>
                  <a:cubicBezTo>
                    <a:pt x="95701" y="260488"/>
                    <a:pt x="62573" y="246766"/>
                    <a:pt x="38148" y="222340"/>
                  </a:cubicBezTo>
                  <a:cubicBezTo>
                    <a:pt x="13722" y="197915"/>
                    <a:pt x="0" y="164787"/>
                    <a:pt x="0" y="130244"/>
                  </a:cubicBezTo>
                  <a:lnTo>
                    <a:pt x="0" y="130244"/>
                  </a:lnTo>
                  <a:cubicBezTo>
                    <a:pt x="0" y="95701"/>
                    <a:pt x="13722" y="62573"/>
                    <a:pt x="38148" y="38148"/>
                  </a:cubicBezTo>
                  <a:cubicBezTo>
                    <a:pt x="62573" y="13722"/>
                    <a:pt x="95701" y="0"/>
                    <a:pt x="130244" y="0"/>
                  </a:cubicBezTo>
                  <a:close/>
                </a:path>
              </a:pathLst>
            </a:custGeom>
            <a:solidFill>
              <a:srgbClr val="F8F8F8"/>
            </a:solidFill>
          </p:spPr>
        </p:sp>
        <p:sp>
          <p:nvSpPr>
            <p:cNvPr id="12" name="TextBox 20">
              <a:extLst>
                <a:ext uri="{FF2B5EF4-FFF2-40B4-BE49-F238E27FC236}">
                  <a16:creationId xmlns:a16="http://schemas.microsoft.com/office/drawing/2014/main" id="{3CA74C84-5006-C5C0-DB5E-F7989F2EB0C1}"/>
                </a:ext>
              </a:extLst>
            </p:cNvPr>
            <p:cNvSpPr txBox="1"/>
            <p:nvPr/>
          </p:nvSpPr>
          <p:spPr>
            <a:xfrm>
              <a:off x="0" y="-38100"/>
              <a:ext cx="1013318" cy="298588"/>
            </a:xfrm>
            <a:prstGeom prst="rect">
              <a:avLst/>
            </a:prstGeom>
          </p:spPr>
          <p:txBody>
            <a:bodyPr lIns="47086" tIns="47086" rIns="47086" bIns="47086" rtlCol="0" anchor="ctr"/>
            <a:lstStyle/>
            <a:p>
              <a:pPr algn="ctr">
                <a:lnSpc>
                  <a:spcPts val="2659"/>
                </a:lnSpc>
              </a:pPr>
              <a:endParaRPr/>
            </a:p>
          </p:txBody>
        </p:sp>
      </p:grpSp>
      <p:sp>
        <p:nvSpPr>
          <p:cNvPr id="13" name="Freeform 21">
            <a:extLst>
              <a:ext uri="{FF2B5EF4-FFF2-40B4-BE49-F238E27FC236}">
                <a16:creationId xmlns:a16="http://schemas.microsoft.com/office/drawing/2014/main" id="{78A2382F-DFDE-2EF1-3774-8394BE49878F}"/>
              </a:ext>
            </a:extLst>
          </p:cNvPr>
          <p:cNvSpPr/>
          <p:nvPr/>
        </p:nvSpPr>
        <p:spPr>
          <a:xfrm>
            <a:off x="6235272" y="6188557"/>
            <a:ext cx="1026728" cy="1025445"/>
          </a:xfrm>
          <a:custGeom>
            <a:avLst/>
            <a:gdLst/>
            <a:ahLst/>
            <a:cxnLst/>
            <a:rect l="l" t="t" r="r" b="b"/>
            <a:pathLst>
              <a:path w="1026728" h="1025445">
                <a:moveTo>
                  <a:pt x="0" y="0"/>
                </a:moveTo>
                <a:lnTo>
                  <a:pt x="1026728" y="0"/>
                </a:lnTo>
                <a:lnTo>
                  <a:pt x="1026728" y="1025445"/>
                </a:lnTo>
                <a:lnTo>
                  <a:pt x="0" y="1025445"/>
                </a:lnTo>
                <a:lnTo>
                  <a:pt x="0" y="0"/>
                </a:lnTo>
                <a:close/>
              </a:path>
            </a:pathLst>
          </a:custGeom>
          <a:blipFill>
            <a:blip r:embed="rId2"/>
            <a:stretch>
              <a:fillRect/>
            </a:stretch>
          </a:blipFill>
        </p:spPr>
      </p:sp>
      <p:grpSp>
        <p:nvGrpSpPr>
          <p:cNvPr id="34" name="Group 22">
            <a:extLst>
              <a:ext uri="{FF2B5EF4-FFF2-40B4-BE49-F238E27FC236}">
                <a16:creationId xmlns:a16="http://schemas.microsoft.com/office/drawing/2014/main" id="{FFEF93DC-9903-C4BD-3608-D4419C6CD63E}"/>
              </a:ext>
            </a:extLst>
          </p:cNvPr>
          <p:cNvGrpSpPr/>
          <p:nvPr/>
        </p:nvGrpSpPr>
        <p:grpSpPr>
          <a:xfrm>
            <a:off x="6211334" y="6147520"/>
            <a:ext cx="1011607" cy="1011607"/>
            <a:chOff x="0" y="0"/>
            <a:chExt cx="812800" cy="812800"/>
          </a:xfrm>
        </p:grpSpPr>
        <p:sp>
          <p:nvSpPr>
            <p:cNvPr id="36" name="Freeform 23">
              <a:extLst>
                <a:ext uri="{FF2B5EF4-FFF2-40B4-BE49-F238E27FC236}">
                  <a16:creationId xmlns:a16="http://schemas.microsoft.com/office/drawing/2014/main" id="{C48027CA-F1FE-7BA0-F53F-121CE2526FA6}"/>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id="37" name="TextBox 24">
              <a:extLst>
                <a:ext uri="{FF2B5EF4-FFF2-40B4-BE49-F238E27FC236}">
                  <a16:creationId xmlns:a16="http://schemas.microsoft.com/office/drawing/2014/main" id="{F71D6344-AC65-758D-36FC-6F5F516C4F8B}"/>
                </a:ext>
              </a:extLst>
            </p:cNvPr>
            <p:cNvSpPr txBox="1"/>
            <p:nvPr/>
          </p:nvSpPr>
          <p:spPr>
            <a:xfrm>
              <a:off x="76200" y="38100"/>
              <a:ext cx="660400" cy="698500"/>
            </a:xfrm>
            <a:prstGeom prst="rect">
              <a:avLst/>
            </a:prstGeom>
          </p:spPr>
          <p:txBody>
            <a:bodyPr lIns="47086" tIns="47086" rIns="47086" bIns="47086" rtlCol="0" anchor="ctr"/>
            <a:lstStyle/>
            <a:p>
              <a:pPr algn="ctr">
                <a:lnSpc>
                  <a:spcPts val="2659"/>
                </a:lnSpc>
                <a:spcBef>
                  <a:spcPct val="0"/>
                </a:spcBef>
              </a:pPr>
              <a:endParaRPr/>
            </a:p>
          </p:txBody>
        </p:sp>
      </p:grpSp>
      <p:sp>
        <p:nvSpPr>
          <p:cNvPr id="38" name="TextBox 25">
            <a:extLst>
              <a:ext uri="{FF2B5EF4-FFF2-40B4-BE49-F238E27FC236}">
                <a16:creationId xmlns:a16="http://schemas.microsoft.com/office/drawing/2014/main" id="{2281D7B9-7C6F-D731-5426-3129E9B1C714}"/>
              </a:ext>
            </a:extLst>
          </p:cNvPr>
          <p:cNvSpPr txBox="1"/>
          <p:nvPr/>
        </p:nvSpPr>
        <p:spPr>
          <a:xfrm>
            <a:off x="11627161" y="6020783"/>
            <a:ext cx="5975546" cy="1313949"/>
          </a:xfrm>
          <a:prstGeom prst="rect">
            <a:avLst/>
          </a:prstGeom>
        </p:spPr>
        <p:txBody>
          <a:bodyPr wrap="square" lIns="0" tIns="0" rIns="0" bIns="0" rtlCol="0" anchor="t">
            <a:spAutoFit/>
          </a:bodyPr>
          <a:lstStyle/>
          <a:p>
            <a:pPr>
              <a:lnSpc>
                <a:spcPts val="3422"/>
              </a:lnSpc>
              <a:spcBef>
                <a:spcPct val="0"/>
              </a:spcBef>
            </a:pPr>
            <a:r>
              <a:rPr lang="en-GB" sz="3200" b="1" dirty="0">
                <a:solidFill>
                  <a:schemeClr val="accent6">
                    <a:lumMod val="75000"/>
                  </a:schemeClr>
                </a:solidFill>
                <a:latin typeface="Poppins"/>
                <a:ea typeface="Poppins"/>
                <a:cs typeface="Poppins"/>
                <a:sym typeface="Poppins"/>
              </a:rPr>
              <a:t>Measurement: </a:t>
            </a:r>
            <a:r>
              <a:rPr lang="en-GB" sz="3200" b="1" dirty="0">
                <a:solidFill>
                  <a:schemeClr val="bg1">
                    <a:lumMod val="50000"/>
                  </a:schemeClr>
                </a:solidFill>
                <a:latin typeface="Poppins"/>
                <a:ea typeface="Poppins"/>
                <a:cs typeface="Poppins"/>
                <a:sym typeface="Poppins"/>
              </a:rPr>
              <a:t>Software tools track resource use &amp; emissions precisely.</a:t>
            </a:r>
          </a:p>
        </p:txBody>
      </p:sp>
      <p:sp>
        <p:nvSpPr>
          <p:cNvPr id="39" name="TextBox 26">
            <a:extLst>
              <a:ext uri="{FF2B5EF4-FFF2-40B4-BE49-F238E27FC236}">
                <a16:creationId xmlns:a16="http://schemas.microsoft.com/office/drawing/2014/main" id="{81C9F942-2AA8-8CB1-7EE3-91C4F23A0B24}"/>
              </a:ext>
            </a:extLst>
          </p:cNvPr>
          <p:cNvSpPr txBox="1"/>
          <p:nvPr/>
        </p:nvSpPr>
        <p:spPr>
          <a:xfrm>
            <a:off x="6346615" y="6420708"/>
            <a:ext cx="741046" cy="376513"/>
          </a:xfrm>
          <a:prstGeom prst="rect">
            <a:avLst/>
          </a:prstGeom>
        </p:spPr>
        <p:txBody>
          <a:bodyPr lIns="0" tIns="0" rIns="0" bIns="0" rtlCol="0" anchor="t">
            <a:spAutoFit/>
          </a:bodyPr>
          <a:lstStyle/>
          <a:p>
            <a:pPr algn="ctr">
              <a:lnSpc>
                <a:spcPts val="3055"/>
              </a:lnSpc>
              <a:spcBef>
                <a:spcPct val="0"/>
              </a:spcBef>
            </a:pPr>
            <a:endParaRPr lang="en-US" sz="2182" b="1" dirty="0">
              <a:solidFill>
                <a:srgbClr val="3A6AD6"/>
              </a:solidFill>
              <a:latin typeface="Poppins Bold"/>
              <a:ea typeface="Poppins Bold"/>
              <a:cs typeface="Poppins Bold"/>
              <a:sym typeface="Poppins Bold"/>
            </a:endParaRPr>
          </a:p>
        </p:txBody>
      </p:sp>
      <p:sp>
        <p:nvSpPr>
          <p:cNvPr id="40" name="TextBox 25">
            <a:extLst>
              <a:ext uri="{FF2B5EF4-FFF2-40B4-BE49-F238E27FC236}">
                <a16:creationId xmlns:a16="http://schemas.microsoft.com/office/drawing/2014/main" id="{00E06804-AE8D-65F7-B93F-67C6B134916A}"/>
              </a:ext>
            </a:extLst>
          </p:cNvPr>
          <p:cNvSpPr txBox="1"/>
          <p:nvPr/>
        </p:nvSpPr>
        <p:spPr>
          <a:xfrm>
            <a:off x="11430000" y="3467100"/>
            <a:ext cx="6844434" cy="1313949"/>
          </a:xfrm>
          <a:prstGeom prst="rect">
            <a:avLst/>
          </a:prstGeom>
        </p:spPr>
        <p:txBody>
          <a:bodyPr wrap="square" lIns="0" tIns="0" rIns="0" bIns="0" rtlCol="0" anchor="t">
            <a:spAutoFit/>
          </a:bodyPr>
          <a:lstStyle/>
          <a:p>
            <a:pPr>
              <a:lnSpc>
                <a:spcPts val="3422"/>
              </a:lnSpc>
              <a:spcBef>
                <a:spcPct val="0"/>
              </a:spcBef>
            </a:pPr>
            <a:r>
              <a:rPr lang="en-GB" sz="3200" b="1" dirty="0">
                <a:solidFill>
                  <a:schemeClr val="accent6">
                    <a:lumMod val="75000"/>
                  </a:schemeClr>
                </a:solidFill>
                <a:latin typeface="Poppins"/>
                <a:ea typeface="Poppins"/>
                <a:cs typeface="Poppins"/>
                <a:sym typeface="Poppins"/>
              </a:rPr>
              <a:t>Experiments: </a:t>
            </a:r>
            <a:r>
              <a:rPr lang="en-GB" sz="3200" b="1" dirty="0">
                <a:solidFill>
                  <a:schemeClr val="bg1">
                    <a:lumMod val="50000"/>
                  </a:schemeClr>
                </a:solidFill>
                <a:latin typeface="Poppins"/>
                <a:ea typeface="Poppins"/>
                <a:cs typeface="Poppins"/>
                <a:sym typeface="Poppins"/>
              </a:rPr>
              <a:t>Controlled training &amp; inference on standard NLP datasets.</a:t>
            </a:r>
          </a:p>
        </p:txBody>
      </p:sp>
      <p:sp>
        <p:nvSpPr>
          <p:cNvPr id="66" name="TextBox 25">
            <a:extLst>
              <a:ext uri="{FF2B5EF4-FFF2-40B4-BE49-F238E27FC236}">
                <a16:creationId xmlns:a16="http://schemas.microsoft.com/office/drawing/2014/main" id="{9525021E-A37E-19AE-33FF-3EB7C0EFC8FF}"/>
              </a:ext>
            </a:extLst>
          </p:cNvPr>
          <p:cNvSpPr txBox="1"/>
          <p:nvPr/>
        </p:nvSpPr>
        <p:spPr>
          <a:xfrm>
            <a:off x="383278" y="6098952"/>
            <a:ext cx="6647855" cy="1313949"/>
          </a:xfrm>
          <a:prstGeom prst="rect">
            <a:avLst/>
          </a:prstGeom>
        </p:spPr>
        <p:txBody>
          <a:bodyPr wrap="square" lIns="0" tIns="0" rIns="0" bIns="0" rtlCol="0" anchor="t">
            <a:spAutoFit/>
          </a:bodyPr>
          <a:lstStyle/>
          <a:p>
            <a:pPr>
              <a:lnSpc>
                <a:spcPts val="3422"/>
              </a:lnSpc>
              <a:spcBef>
                <a:spcPct val="0"/>
              </a:spcBef>
            </a:pPr>
            <a:r>
              <a:rPr lang="en-GB" sz="3200" b="1" dirty="0">
                <a:solidFill>
                  <a:schemeClr val="accent6">
                    <a:lumMod val="75000"/>
                  </a:schemeClr>
                </a:solidFill>
                <a:latin typeface="Poppins"/>
                <a:ea typeface="Poppins"/>
                <a:cs typeface="Poppins"/>
                <a:sym typeface="Poppins"/>
              </a:rPr>
              <a:t>Sampling: </a:t>
            </a:r>
            <a:r>
              <a:rPr lang="en-GB" sz="3200" b="1" dirty="0">
                <a:solidFill>
                  <a:schemeClr val="bg1">
                    <a:lumMod val="50000"/>
                  </a:schemeClr>
                </a:solidFill>
                <a:latin typeface="Poppins"/>
                <a:ea typeface="Poppins"/>
                <a:cs typeface="Poppins"/>
                <a:sym typeface="Poppins"/>
              </a:rPr>
              <a:t>Purposive selection of representative NLP models &amp; datasets.</a:t>
            </a:r>
          </a:p>
        </p:txBody>
      </p:sp>
      <p:pic>
        <p:nvPicPr>
          <p:cNvPr id="7170" name="Picture 2" descr="Method, plan, story, storytelling, teach icon - Download on Iconfinder">
            <a:extLst>
              <a:ext uri="{FF2B5EF4-FFF2-40B4-BE49-F238E27FC236}">
                <a16:creationId xmlns:a16="http://schemas.microsoft.com/office/drawing/2014/main" id="{36788E03-978C-DFE9-6BBE-92FEFF0059BB}"/>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610600" y="647700"/>
            <a:ext cx="1311568" cy="1311568"/>
          </a:xfrm>
          <a:prstGeom prst="rect">
            <a:avLst/>
          </a:prstGeom>
          <a:noFill/>
          <a:extLst>
            <a:ext uri="{909E8E84-426E-40DD-AFC4-6F175D3DCCD1}">
              <a14:hiddenFill xmlns:a14="http://schemas.microsoft.com/office/drawing/2010/main">
                <a:solidFill>
                  <a:srgbClr val="FFFFFF"/>
                </a:solidFill>
              </a14:hiddenFill>
            </a:ext>
          </a:extLst>
        </p:spPr>
      </p:pic>
      <p:grpSp>
        <p:nvGrpSpPr>
          <p:cNvPr id="35" name="Group 18">
            <a:extLst>
              <a:ext uri="{FF2B5EF4-FFF2-40B4-BE49-F238E27FC236}">
                <a16:creationId xmlns:a16="http://schemas.microsoft.com/office/drawing/2014/main" id="{1A0FF119-025B-C35F-E2DE-1C24A603C304}"/>
              </a:ext>
            </a:extLst>
          </p:cNvPr>
          <p:cNvGrpSpPr/>
          <p:nvPr/>
        </p:nvGrpSpPr>
        <p:grpSpPr>
          <a:xfrm>
            <a:off x="5516969" y="7928849"/>
            <a:ext cx="7436668" cy="2167651"/>
            <a:chOff x="0" y="0"/>
            <a:chExt cx="1013318" cy="260488"/>
          </a:xfrm>
        </p:grpSpPr>
        <p:sp>
          <p:nvSpPr>
            <p:cNvPr id="41" name="Freeform 19">
              <a:extLst>
                <a:ext uri="{FF2B5EF4-FFF2-40B4-BE49-F238E27FC236}">
                  <a16:creationId xmlns:a16="http://schemas.microsoft.com/office/drawing/2014/main" id="{0BB570C6-AE3E-DD75-33AA-AF3E2126BC9C}"/>
                </a:ext>
              </a:extLst>
            </p:cNvPr>
            <p:cNvSpPr/>
            <p:nvPr/>
          </p:nvSpPr>
          <p:spPr>
            <a:xfrm>
              <a:off x="0" y="0"/>
              <a:ext cx="1013318" cy="260488"/>
            </a:xfrm>
            <a:custGeom>
              <a:avLst/>
              <a:gdLst/>
              <a:ahLst/>
              <a:cxnLst/>
              <a:rect l="l" t="t" r="r" b="b"/>
              <a:pathLst>
                <a:path w="1013318" h="260488">
                  <a:moveTo>
                    <a:pt x="130244" y="0"/>
                  </a:moveTo>
                  <a:lnTo>
                    <a:pt x="883074" y="0"/>
                  </a:lnTo>
                  <a:cubicBezTo>
                    <a:pt x="917617" y="0"/>
                    <a:pt x="950745" y="13722"/>
                    <a:pt x="975171" y="38148"/>
                  </a:cubicBezTo>
                  <a:cubicBezTo>
                    <a:pt x="999596" y="62573"/>
                    <a:pt x="1013318" y="95701"/>
                    <a:pt x="1013318" y="130244"/>
                  </a:cubicBezTo>
                  <a:lnTo>
                    <a:pt x="1013318" y="130244"/>
                  </a:lnTo>
                  <a:cubicBezTo>
                    <a:pt x="1013318" y="202175"/>
                    <a:pt x="955006" y="260488"/>
                    <a:pt x="883074" y="260488"/>
                  </a:cubicBezTo>
                  <a:lnTo>
                    <a:pt x="130244" y="260488"/>
                  </a:lnTo>
                  <a:cubicBezTo>
                    <a:pt x="95701" y="260488"/>
                    <a:pt x="62573" y="246766"/>
                    <a:pt x="38148" y="222340"/>
                  </a:cubicBezTo>
                  <a:cubicBezTo>
                    <a:pt x="13722" y="197915"/>
                    <a:pt x="0" y="164787"/>
                    <a:pt x="0" y="130244"/>
                  </a:cubicBezTo>
                  <a:lnTo>
                    <a:pt x="0" y="130244"/>
                  </a:lnTo>
                  <a:cubicBezTo>
                    <a:pt x="0" y="95701"/>
                    <a:pt x="13722" y="62573"/>
                    <a:pt x="38148" y="38148"/>
                  </a:cubicBezTo>
                  <a:cubicBezTo>
                    <a:pt x="62573" y="13722"/>
                    <a:pt x="95701" y="0"/>
                    <a:pt x="130244" y="0"/>
                  </a:cubicBezTo>
                  <a:close/>
                </a:path>
              </a:pathLst>
            </a:custGeom>
            <a:solidFill>
              <a:srgbClr val="F8F8F8"/>
            </a:solidFill>
          </p:spPr>
        </p:sp>
        <p:sp>
          <p:nvSpPr>
            <p:cNvPr id="42" name="TextBox 20">
              <a:extLst>
                <a:ext uri="{FF2B5EF4-FFF2-40B4-BE49-F238E27FC236}">
                  <a16:creationId xmlns:a16="http://schemas.microsoft.com/office/drawing/2014/main" id="{21BF4E88-B23E-355F-3737-BD49BC93042B}"/>
                </a:ext>
              </a:extLst>
            </p:cNvPr>
            <p:cNvSpPr txBox="1"/>
            <p:nvPr/>
          </p:nvSpPr>
          <p:spPr>
            <a:xfrm>
              <a:off x="0" y="-38100"/>
              <a:ext cx="1013318" cy="298588"/>
            </a:xfrm>
            <a:prstGeom prst="rect">
              <a:avLst/>
            </a:prstGeom>
          </p:spPr>
          <p:txBody>
            <a:bodyPr lIns="47086" tIns="47086" rIns="47086" bIns="47086" rtlCol="0" anchor="ctr"/>
            <a:lstStyle/>
            <a:p>
              <a:pPr algn="ctr">
                <a:lnSpc>
                  <a:spcPts val="2659"/>
                </a:lnSpc>
              </a:pPr>
              <a:endParaRPr/>
            </a:p>
          </p:txBody>
        </p:sp>
      </p:grpSp>
      <p:sp>
        <p:nvSpPr>
          <p:cNvPr id="55" name="TextBox 26">
            <a:extLst>
              <a:ext uri="{FF2B5EF4-FFF2-40B4-BE49-F238E27FC236}">
                <a16:creationId xmlns:a16="http://schemas.microsoft.com/office/drawing/2014/main" id="{8DB3C94C-A9CF-B987-3A57-D2554929278B}"/>
              </a:ext>
            </a:extLst>
          </p:cNvPr>
          <p:cNvSpPr txBox="1"/>
          <p:nvPr/>
        </p:nvSpPr>
        <p:spPr>
          <a:xfrm>
            <a:off x="11909215" y="8692583"/>
            <a:ext cx="741046" cy="376513"/>
          </a:xfrm>
          <a:prstGeom prst="rect">
            <a:avLst/>
          </a:prstGeom>
        </p:spPr>
        <p:txBody>
          <a:bodyPr lIns="0" tIns="0" rIns="0" bIns="0" rtlCol="0" anchor="t">
            <a:spAutoFit/>
          </a:bodyPr>
          <a:lstStyle/>
          <a:p>
            <a:pPr algn="ctr">
              <a:lnSpc>
                <a:spcPts val="3055"/>
              </a:lnSpc>
              <a:spcBef>
                <a:spcPct val="0"/>
              </a:spcBef>
            </a:pPr>
            <a:endParaRPr lang="en-US" sz="2182" b="1" dirty="0">
              <a:solidFill>
                <a:srgbClr val="3A6AD6"/>
              </a:solidFill>
              <a:latin typeface="Poppins Bold"/>
              <a:ea typeface="Poppins Bold"/>
              <a:cs typeface="Poppins Bold"/>
              <a:sym typeface="Poppins Bold"/>
            </a:endParaRPr>
          </a:p>
        </p:txBody>
      </p:sp>
      <p:sp>
        <p:nvSpPr>
          <p:cNvPr id="56" name="TextBox 25">
            <a:extLst>
              <a:ext uri="{FF2B5EF4-FFF2-40B4-BE49-F238E27FC236}">
                <a16:creationId xmlns:a16="http://schemas.microsoft.com/office/drawing/2014/main" id="{4AA0D4C3-B04D-E34D-A2CC-240BD53C637C}"/>
              </a:ext>
            </a:extLst>
          </p:cNvPr>
          <p:cNvSpPr txBox="1"/>
          <p:nvPr/>
        </p:nvSpPr>
        <p:spPr>
          <a:xfrm>
            <a:off x="5867400" y="8267700"/>
            <a:ext cx="7058673" cy="1313949"/>
          </a:xfrm>
          <a:prstGeom prst="rect">
            <a:avLst/>
          </a:prstGeom>
        </p:spPr>
        <p:txBody>
          <a:bodyPr wrap="square" lIns="0" tIns="0" rIns="0" bIns="0" rtlCol="0" anchor="t">
            <a:spAutoFit/>
          </a:bodyPr>
          <a:lstStyle/>
          <a:p>
            <a:pPr>
              <a:lnSpc>
                <a:spcPts val="3422"/>
              </a:lnSpc>
              <a:spcBef>
                <a:spcPct val="0"/>
              </a:spcBef>
            </a:pPr>
            <a:r>
              <a:rPr lang="en-GB" sz="3200" b="1" dirty="0">
                <a:solidFill>
                  <a:schemeClr val="accent6">
                    <a:lumMod val="75000"/>
                  </a:schemeClr>
                </a:solidFill>
                <a:latin typeface="Poppins"/>
                <a:ea typeface="Poppins"/>
                <a:cs typeface="Poppins"/>
                <a:sym typeface="Poppins"/>
              </a:rPr>
              <a:t>Analysis: </a:t>
            </a:r>
            <a:r>
              <a:rPr lang="en-GB" sz="3200" b="1" dirty="0">
                <a:solidFill>
                  <a:schemeClr val="bg1">
                    <a:lumMod val="50000"/>
                  </a:schemeClr>
                </a:solidFill>
                <a:latin typeface="Poppins"/>
                <a:ea typeface="Poppins"/>
                <a:cs typeface="Poppins"/>
                <a:sym typeface="Poppins"/>
              </a:rPr>
              <a:t>Statistical comparison of trade-offs (accuracy vs. sustainability).</a:t>
            </a:r>
          </a:p>
        </p:txBody>
      </p:sp>
    </p:spTree>
    <p:extLst>
      <p:ext uri="{BB962C8B-B14F-4D97-AF65-F5344CB8AC3E}">
        <p14:creationId xmlns:p14="http://schemas.microsoft.com/office/powerpoint/2010/main" val="421148033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Click="0">
        <p159:morph option="byObject"/>
      </p:transition>
    </mc:Choice>
    <mc:Fallback xmlns="">
      <p:transition spd="slow" advClick="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2" presetClass="emph" presetSubtype="0" fill="hold" grpId="0" nodeType="afterEffect">
                                  <p:stCondLst>
                                    <p:cond delay="0"/>
                                  </p:stCondLst>
                                  <p:childTnLst>
                                    <p:animRot by="120000">
                                      <p:cBhvr>
                                        <p:cTn id="6" dur="200" fill="hold">
                                          <p:stCondLst>
                                            <p:cond delay="0"/>
                                          </p:stCondLst>
                                        </p:cTn>
                                        <p:tgtEl>
                                          <p:spTgt spid="9"/>
                                        </p:tgtEl>
                                        <p:attrNameLst>
                                          <p:attrName>r</p:attrName>
                                        </p:attrNameLst>
                                      </p:cBhvr>
                                    </p:animRot>
                                    <p:animRot by="-240000">
                                      <p:cBhvr>
                                        <p:cTn id="7" dur="400" fill="hold">
                                          <p:stCondLst>
                                            <p:cond delay="400"/>
                                          </p:stCondLst>
                                        </p:cTn>
                                        <p:tgtEl>
                                          <p:spTgt spid="9"/>
                                        </p:tgtEl>
                                        <p:attrNameLst>
                                          <p:attrName>r</p:attrName>
                                        </p:attrNameLst>
                                      </p:cBhvr>
                                    </p:animRot>
                                    <p:animRot by="240000">
                                      <p:cBhvr>
                                        <p:cTn id="8" dur="400" fill="hold">
                                          <p:stCondLst>
                                            <p:cond delay="800"/>
                                          </p:stCondLst>
                                        </p:cTn>
                                        <p:tgtEl>
                                          <p:spTgt spid="9"/>
                                        </p:tgtEl>
                                        <p:attrNameLst>
                                          <p:attrName>r</p:attrName>
                                        </p:attrNameLst>
                                      </p:cBhvr>
                                    </p:animRot>
                                    <p:animRot by="-240000">
                                      <p:cBhvr>
                                        <p:cTn id="9" dur="400" fill="hold">
                                          <p:stCondLst>
                                            <p:cond delay="1200"/>
                                          </p:stCondLst>
                                        </p:cTn>
                                        <p:tgtEl>
                                          <p:spTgt spid="9"/>
                                        </p:tgtEl>
                                        <p:attrNameLst>
                                          <p:attrName>r</p:attrName>
                                        </p:attrNameLst>
                                      </p:cBhvr>
                                    </p:animRot>
                                    <p:animRot by="120000">
                                      <p:cBhvr>
                                        <p:cTn id="10" dur="400" fill="hold">
                                          <p:stCondLst>
                                            <p:cond delay="1600"/>
                                          </p:stCondLst>
                                        </p:cTn>
                                        <p:tgtEl>
                                          <p:spTgt spid="9"/>
                                        </p:tgtEl>
                                        <p:attrNameLst>
                                          <p:attrName>r</p:attrName>
                                        </p:attrNameLst>
                                      </p:cBhvr>
                                    </p:animRot>
                                  </p:childTnLst>
                                </p:cTn>
                              </p:par>
                            </p:childTnLst>
                          </p:cTn>
                        </p:par>
                        <p:par>
                          <p:cTn id="11" fill="hold">
                            <p:stCondLst>
                              <p:cond delay="2000"/>
                            </p:stCondLst>
                            <p:childTnLst>
                              <p:par>
                                <p:cTn id="12" presetID="45" presetClass="entr" presetSubtype="0" fill="hold" nodeType="afterEffect">
                                  <p:stCondLst>
                                    <p:cond delay="0"/>
                                  </p:stCondLst>
                                  <p:childTnLst>
                                    <p:set>
                                      <p:cBhvr>
                                        <p:cTn id="13" dur="1" fill="hold">
                                          <p:stCondLst>
                                            <p:cond delay="0"/>
                                          </p:stCondLst>
                                        </p:cTn>
                                        <p:tgtEl>
                                          <p:spTgt spid="7170"/>
                                        </p:tgtEl>
                                        <p:attrNameLst>
                                          <p:attrName>style.visibility</p:attrName>
                                        </p:attrNameLst>
                                      </p:cBhvr>
                                      <p:to>
                                        <p:strVal val="visible"/>
                                      </p:to>
                                    </p:set>
                                    <p:animEffect transition="in" filter="fade">
                                      <p:cBhvr>
                                        <p:cTn id="14" dur="2000"/>
                                        <p:tgtEl>
                                          <p:spTgt spid="7170"/>
                                        </p:tgtEl>
                                      </p:cBhvr>
                                    </p:animEffect>
                                    <p:anim calcmode="lin" valueType="num">
                                      <p:cBhvr>
                                        <p:cTn id="15" dur="2000" fill="hold"/>
                                        <p:tgtEl>
                                          <p:spTgt spid="7170"/>
                                        </p:tgtEl>
                                        <p:attrNameLst>
                                          <p:attrName>ppt_w</p:attrName>
                                        </p:attrNameLst>
                                      </p:cBhvr>
                                      <p:tavLst>
                                        <p:tav tm="0" fmla="#ppt_w*sin(2.5*pi*$)">
                                          <p:val>
                                            <p:fltVal val="0"/>
                                          </p:val>
                                        </p:tav>
                                        <p:tav tm="100000">
                                          <p:val>
                                            <p:fltVal val="1"/>
                                          </p:val>
                                        </p:tav>
                                      </p:tavLst>
                                    </p:anim>
                                    <p:anim calcmode="lin" valueType="num">
                                      <p:cBhvr>
                                        <p:cTn id="16" dur="2000" fill="hold"/>
                                        <p:tgtEl>
                                          <p:spTgt spid="7170"/>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DB09DC-C2C8-88E9-493F-164D02FD999F}"/>
            </a:ext>
          </a:extLst>
        </p:cNvPr>
        <p:cNvGrpSpPr/>
        <p:nvPr/>
      </p:nvGrpSpPr>
      <p:grpSpPr>
        <a:xfrm>
          <a:off x="0" y="0"/>
          <a:ext cx="0" cy="0"/>
          <a:chOff x="0" y="0"/>
          <a:chExt cx="0" cy="0"/>
        </a:xfrm>
      </p:grpSpPr>
      <p:sp>
        <p:nvSpPr>
          <p:cNvPr id="61" name="TextBox 29">
            <a:extLst>
              <a:ext uri="{FF2B5EF4-FFF2-40B4-BE49-F238E27FC236}">
                <a16:creationId xmlns:a16="http://schemas.microsoft.com/office/drawing/2014/main" id="{9F5ACDCD-76FF-A3F8-9316-3960909A7DB6}"/>
              </a:ext>
            </a:extLst>
          </p:cNvPr>
          <p:cNvSpPr txBox="1"/>
          <p:nvPr/>
        </p:nvSpPr>
        <p:spPr>
          <a:xfrm>
            <a:off x="6518759" y="6404639"/>
            <a:ext cx="5139841" cy="3006061"/>
          </a:xfrm>
          <a:prstGeom prst="rect">
            <a:avLst/>
          </a:prstGeom>
        </p:spPr>
        <p:txBody>
          <a:bodyPr lIns="47086" tIns="47086" rIns="47086" bIns="47086" rtlCol="0" anchor="ctr"/>
          <a:lstStyle/>
          <a:p>
            <a:pPr algn="ctr">
              <a:lnSpc>
                <a:spcPts val="2659"/>
              </a:lnSpc>
            </a:pPr>
            <a:endParaRPr/>
          </a:p>
        </p:txBody>
      </p:sp>
      <p:grpSp>
        <p:nvGrpSpPr>
          <p:cNvPr id="9" name="Group 9">
            <a:extLst>
              <a:ext uri="{FF2B5EF4-FFF2-40B4-BE49-F238E27FC236}">
                <a16:creationId xmlns:a16="http://schemas.microsoft.com/office/drawing/2014/main" id="{63CC90E1-42BB-689D-016A-EBB7E9338810}"/>
              </a:ext>
            </a:extLst>
          </p:cNvPr>
          <p:cNvGrpSpPr/>
          <p:nvPr/>
        </p:nvGrpSpPr>
        <p:grpSpPr>
          <a:xfrm>
            <a:off x="2702224" y="-6441776"/>
            <a:ext cx="12883553" cy="12883553"/>
            <a:chOff x="0" y="0"/>
            <a:chExt cx="812800" cy="812800"/>
          </a:xfrm>
        </p:grpSpPr>
        <p:sp>
          <p:nvSpPr>
            <p:cNvPr id="10" name="Freeform 10">
              <a:extLst>
                <a:ext uri="{FF2B5EF4-FFF2-40B4-BE49-F238E27FC236}">
                  <a16:creationId xmlns:a16="http://schemas.microsoft.com/office/drawing/2014/main" id="{116AA00F-FD37-BCAA-A85D-F540BCDC0470}"/>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8F8F8"/>
            </a:solidFill>
          </p:spPr>
        </p:sp>
        <p:sp>
          <p:nvSpPr>
            <p:cNvPr id="11" name="TextBox 11">
              <a:extLst>
                <a:ext uri="{FF2B5EF4-FFF2-40B4-BE49-F238E27FC236}">
                  <a16:creationId xmlns:a16="http://schemas.microsoft.com/office/drawing/2014/main" id="{71DEF0A9-F83F-24DA-0BD5-92F3FBA9B676}"/>
                </a:ext>
              </a:extLst>
            </p:cNvPr>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12" name="Freeform 12">
            <a:extLst>
              <a:ext uri="{FF2B5EF4-FFF2-40B4-BE49-F238E27FC236}">
                <a16:creationId xmlns:a16="http://schemas.microsoft.com/office/drawing/2014/main" id="{01FFC4DE-5C11-C76E-1BAF-3799DE7D72B6}"/>
              </a:ext>
            </a:extLst>
          </p:cNvPr>
          <p:cNvSpPr/>
          <p:nvPr/>
        </p:nvSpPr>
        <p:spPr>
          <a:xfrm>
            <a:off x="3124200" y="-4838700"/>
            <a:ext cx="11970147" cy="11415282"/>
          </a:xfrm>
          <a:custGeom>
            <a:avLst/>
            <a:gdLst/>
            <a:ahLst/>
            <a:cxnLst/>
            <a:rect l="l" t="t" r="r" b="b"/>
            <a:pathLst>
              <a:path w="11069128" h="11055291">
                <a:moveTo>
                  <a:pt x="0" y="0"/>
                </a:moveTo>
                <a:lnTo>
                  <a:pt x="11069128" y="0"/>
                </a:lnTo>
                <a:lnTo>
                  <a:pt x="11069128" y="11055291"/>
                </a:lnTo>
                <a:lnTo>
                  <a:pt x="0" y="11055291"/>
                </a:lnTo>
                <a:lnTo>
                  <a:pt x="0" y="0"/>
                </a:lnTo>
                <a:close/>
              </a:path>
            </a:pathLst>
          </a:custGeom>
          <a:blipFill>
            <a:blip r:embed="rId2"/>
            <a:stretch>
              <a:fillRect/>
            </a:stretch>
          </a:blipFill>
        </p:spPr>
      </p:sp>
      <p:grpSp>
        <p:nvGrpSpPr>
          <p:cNvPr id="13" name="Group 13">
            <a:extLst>
              <a:ext uri="{FF2B5EF4-FFF2-40B4-BE49-F238E27FC236}">
                <a16:creationId xmlns:a16="http://schemas.microsoft.com/office/drawing/2014/main" id="{D67110A2-B042-72B3-07B5-AA4D92664F49}"/>
              </a:ext>
            </a:extLst>
          </p:cNvPr>
          <p:cNvGrpSpPr/>
          <p:nvPr/>
        </p:nvGrpSpPr>
        <p:grpSpPr>
          <a:xfrm>
            <a:off x="3690946" y="-5453054"/>
            <a:ext cx="10906108" cy="10906108"/>
            <a:chOff x="0" y="0"/>
            <a:chExt cx="812800" cy="812800"/>
          </a:xfrm>
        </p:grpSpPr>
        <p:sp>
          <p:nvSpPr>
            <p:cNvPr id="14" name="Freeform 14">
              <a:extLst>
                <a:ext uri="{FF2B5EF4-FFF2-40B4-BE49-F238E27FC236}">
                  <a16:creationId xmlns:a16="http://schemas.microsoft.com/office/drawing/2014/main" id="{FA712F2C-D3D3-37C2-431F-A173FEB3EE71}"/>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id="15" name="TextBox 15">
              <a:extLst>
                <a:ext uri="{FF2B5EF4-FFF2-40B4-BE49-F238E27FC236}">
                  <a16:creationId xmlns:a16="http://schemas.microsoft.com/office/drawing/2014/main" id="{B6B07428-C4F9-359D-39EF-DD65335F5DE0}"/>
                </a:ext>
              </a:extLst>
            </p:cNvPr>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grpSp>
        <p:nvGrpSpPr>
          <p:cNvPr id="21" name="Group 21">
            <a:extLst>
              <a:ext uri="{FF2B5EF4-FFF2-40B4-BE49-F238E27FC236}">
                <a16:creationId xmlns:a16="http://schemas.microsoft.com/office/drawing/2014/main" id="{98E5194E-D583-8A42-2B93-281A56371DCC}"/>
              </a:ext>
            </a:extLst>
          </p:cNvPr>
          <p:cNvGrpSpPr/>
          <p:nvPr/>
        </p:nvGrpSpPr>
        <p:grpSpPr>
          <a:xfrm>
            <a:off x="17491799" y="8458418"/>
            <a:ext cx="951769" cy="799882"/>
            <a:chOff x="0" y="0"/>
            <a:chExt cx="967140" cy="812800"/>
          </a:xfrm>
        </p:grpSpPr>
        <p:sp>
          <p:nvSpPr>
            <p:cNvPr id="22" name="Freeform 22">
              <a:extLst>
                <a:ext uri="{FF2B5EF4-FFF2-40B4-BE49-F238E27FC236}">
                  <a16:creationId xmlns:a16="http://schemas.microsoft.com/office/drawing/2014/main" id="{75F0EEF4-F68E-D345-30BC-1CE182E4970B}"/>
                </a:ext>
              </a:extLst>
            </p:cNvPr>
            <p:cNvSpPr/>
            <p:nvPr/>
          </p:nvSpPr>
          <p:spPr>
            <a:xfrm>
              <a:off x="0" y="0"/>
              <a:ext cx="967140" cy="812800"/>
            </a:xfrm>
            <a:custGeom>
              <a:avLst/>
              <a:gdLst/>
              <a:ahLst/>
              <a:cxnLst/>
              <a:rect l="l" t="t" r="r" b="b"/>
              <a:pathLst>
                <a:path w="967140" h="812800">
                  <a:moveTo>
                    <a:pt x="81342" y="0"/>
                  </a:moveTo>
                  <a:lnTo>
                    <a:pt x="885798" y="0"/>
                  </a:lnTo>
                  <a:cubicBezTo>
                    <a:pt x="907371" y="0"/>
                    <a:pt x="928061" y="8570"/>
                    <a:pt x="943315" y="23825"/>
                  </a:cubicBezTo>
                  <a:cubicBezTo>
                    <a:pt x="958570" y="39079"/>
                    <a:pt x="967140" y="59769"/>
                    <a:pt x="967140" y="81342"/>
                  </a:cubicBezTo>
                  <a:lnTo>
                    <a:pt x="967140" y="731458"/>
                  </a:lnTo>
                  <a:cubicBezTo>
                    <a:pt x="967140" y="776382"/>
                    <a:pt x="930722" y="812800"/>
                    <a:pt x="885798" y="812800"/>
                  </a:cubicBezTo>
                  <a:lnTo>
                    <a:pt x="81342" y="812800"/>
                  </a:lnTo>
                  <a:cubicBezTo>
                    <a:pt x="59769" y="812800"/>
                    <a:pt x="39079" y="804230"/>
                    <a:pt x="23825" y="788975"/>
                  </a:cubicBezTo>
                  <a:cubicBezTo>
                    <a:pt x="8570" y="773721"/>
                    <a:pt x="0" y="753031"/>
                    <a:pt x="0" y="731458"/>
                  </a:cubicBezTo>
                  <a:lnTo>
                    <a:pt x="0" y="81342"/>
                  </a:lnTo>
                  <a:cubicBezTo>
                    <a:pt x="0" y="59769"/>
                    <a:pt x="8570" y="39079"/>
                    <a:pt x="23825" y="23825"/>
                  </a:cubicBezTo>
                  <a:cubicBezTo>
                    <a:pt x="39079" y="8570"/>
                    <a:pt x="59769" y="0"/>
                    <a:pt x="81342" y="0"/>
                  </a:cubicBezTo>
                  <a:close/>
                </a:path>
              </a:pathLst>
            </a:custGeom>
            <a:solidFill>
              <a:srgbClr val="3A6AD6"/>
            </a:solidFill>
          </p:spPr>
          <p:txBody>
            <a:bodyPr/>
            <a:lstStyle/>
            <a:p>
              <a:endParaRPr lang="en-US" dirty="0"/>
            </a:p>
          </p:txBody>
        </p:sp>
        <p:sp>
          <p:nvSpPr>
            <p:cNvPr id="23" name="TextBox 23">
              <a:extLst>
                <a:ext uri="{FF2B5EF4-FFF2-40B4-BE49-F238E27FC236}">
                  <a16:creationId xmlns:a16="http://schemas.microsoft.com/office/drawing/2014/main" id="{33E1A4F0-0A42-06F0-AADE-08363DD30874}"/>
                </a:ext>
              </a:extLst>
            </p:cNvPr>
            <p:cNvSpPr txBox="1"/>
            <p:nvPr/>
          </p:nvSpPr>
          <p:spPr>
            <a:xfrm>
              <a:off x="0" y="-38100"/>
              <a:ext cx="967140" cy="850900"/>
            </a:xfrm>
            <a:prstGeom prst="rect">
              <a:avLst/>
            </a:prstGeom>
          </p:spPr>
          <p:txBody>
            <a:bodyPr lIns="50800" tIns="50800" rIns="50800" bIns="50800" rtlCol="0" anchor="ctr"/>
            <a:lstStyle/>
            <a:p>
              <a:pPr algn="ctr">
                <a:lnSpc>
                  <a:spcPts val="2659"/>
                </a:lnSpc>
              </a:pPr>
              <a:endParaRPr/>
            </a:p>
          </p:txBody>
        </p:sp>
      </p:grpSp>
      <p:sp>
        <p:nvSpPr>
          <p:cNvPr id="24" name="TextBox 24">
            <a:extLst>
              <a:ext uri="{FF2B5EF4-FFF2-40B4-BE49-F238E27FC236}">
                <a16:creationId xmlns:a16="http://schemas.microsoft.com/office/drawing/2014/main" id="{E26337B8-B02E-F71B-37A4-C87F59FF7547}"/>
              </a:ext>
            </a:extLst>
          </p:cNvPr>
          <p:cNvSpPr txBox="1"/>
          <p:nvPr/>
        </p:nvSpPr>
        <p:spPr>
          <a:xfrm>
            <a:off x="17674380" y="8710688"/>
            <a:ext cx="442747" cy="257943"/>
          </a:xfrm>
          <a:prstGeom prst="rect">
            <a:avLst/>
          </a:prstGeom>
        </p:spPr>
        <p:txBody>
          <a:bodyPr lIns="0" tIns="0" rIns="0" bIns="0" rtlCol="0" anchor="t">
            <a:spAutoFit/>
          </a:bodyPr>
          <a:lstStyle/>
          <a:p>
            <a:pPr algn="ctr">
              <a:lnSpc>
                <a:spcPts val="2057"/>
              </a:lnSpc>
              <a:spcBef>
                <a:spcPct val="0"/>
              </a:spcBef>
            </a:pPr>
            <a:r>
              <a:rPr lang="en-US" sz="1469" b="1" dirty="0">
                <a:solidFill>
                  <a:srgbClr val="FFFFFF"/>
                </a:solidFill>
                <a:latin typeface="Poppins Bold"/>
                <a:ea typeface="Poppins Bold"/>
                <a:cs typeface="Poppins Bold"/>
                <a:sym typeface="Poppins Bold"/>
              </a:rPr>
              <a:t>10</a:t>
            </a:r>
          </a:p>
        </p:txBody>
      </p:sp>
      <p:sp>
        <p:nvSpPr>
          <p:cNvPr id="25" name="TextBox 25">
            <a:extLst>
              <a:ext uri="{FF2B5EF4-FFF2-40B4-BE49-F238E27FC236}">
                <a16:creationId xmlns:a16="http://schemas.microsoft.com/office/drawing/2014/main" id="{DCC3AF60-80D2-1711-6566-F8CCCD16BF64}"/>
              </a:ext>
            </a:extLst>
          </p:cNvPr>
          <p:cNvSpPr txBox="1"/>
          <p:nvPr/>
        </p:nvSpPr>
        <p:spPr>
          <a:xfrm>
            <a:off x="5717306" y="1156987"/>
            <a:ext cx="6783933" cy="786113"/>
          </a:xfrm>
          <a:prstGeom prst="rect">
            <a:avLst/>
          </a:prstGeom>
        </p:spPr>
        <p:txBody>
          <a:bodyPr wrap="square" lIns="0" tIns="0" rIns="0" bIns="0" rtlCol="0" anchor="t">
            <a:spAutoFit/>
          </a:bodyPr>
          <a:lstStyle/>
          <a:p>
            <a:pPr>
              <a:lnSpc>
                <a:spcPts val="7000"/>
              </a:lnSpc>
            </a:pPr>
            <a:r>
              <a:rPr lang="en-US" sz="4400" b="1" dirty="0">
                <a:solidFill>
                  <a:srgbClr val="7068F4"/>
                </a:solidFill>
                <a:latin typeface="Barlow Bold" pitchFamily="34" charset="0"/>
                <a:ea typeface="Barlow Bold" pitchFamily="34" charset="-122"/>
                <a:cs typeface="Barlow Bold" pitchFamily="34" charset="-120"/>
              </a:rPr>
              <a:t>Data Collection Methods</a:t>
            </a:r>
          </a:p>
        </p:txBody>
      </p:sp>
      <p:sp>
        <p:nvSpPr>
          <p:cNvPr id="57" name="Freeform 17">
            <a:extLst>
              <a:ext uri="{FF2B5EF4-FFF2-40B4-BE49-F238E27FC236}">
                <a16:creationId xmlns:a16="http://schemas.microsoft.com/office/drawing/2014/main" id="{48A837A7-0C94-296A-C8E5-6BB5EF87493B}"/>
              </a:ext>
            </a:extLst>
          </p:cNvPr>
          <p:cNvSpPr/>
          <p:nvPr/>
        </p:nvSpPr>
        <p:spPr>
          <a:xfrm>
            <a:off x="2489120" y="2084798"/>
            <a:ext cx="1634041" cy="1634041"/>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txBody>
          <a:bodyPr/>
          <a:lstStyle/>
          <a:p>
            <a:endParaRPr lang="en-US" dirty="0"/>
          </a:p>
        </p:txBody>
      </p:sp>
      <p:sp>
        <p:nvSpPr>
          <p:cNvPr id="58" name="Freeform 17">
            <a:extLst>
              <a:ext uri="{FF2B5EF4-FFF2-40B4-BE49-F238E27FC236}">
                <a16:creationId xmlns:a16="http://schemas.microsoft.com/office/drawing/2014/main" id="{45B73675-6572-F9DB-0FA6-F28186CD74D0}"/>
              </a:ext>
            </a:extLst>
          </p:cNvPr>
          <p:cNvSpPr/>
          <p:nvPr/>
        </p:nvSpPr>
        <p:spPr>
          <a:xfrm>
            <a:off x="15313458" y="766259"/>
            <a:ext cx="1634041" cy="1634041"/>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id="75" name="TextBox 29">
            <a:extLst>
              <a:ext uri="{FF2B5EF4-FFF2-40B4-BE49-F238E27FC236}">
                <a16:creationId xmlns:a16="http://schemas.microsoft.com/office/drawing/2014/main" id="{F6552D49-4948-ABF8-A5FD-51B4D9A5DC4B}"/>
              </a:ext>
            </a:extLst>
          </p:cNvPr>
          <p:cNvSpPr txBox="1"/>
          <p:nvPr/>
        </p:nvSpPr>
        <p:spPr>
          <a:xfrm>
            <a:off x="4049439" y="4803055"/>
            <a:ext cx="3052956" cy="4632909"/>
          </a:xfrm>
          <a:prstGeom prst="rect">
            <a:avLst/>
          </a:prstGeom>
        </p:spPr>
        <p:txBody>
          <a:bodyPr lIns="47086" tIns="47086" rIns="47086" bIns="47086" rtlCol="0" anchor="ctr"/>
          <a:lstStyle/>
          <a:p>
            <a:pPr algn="ctr">
              <a:lnSpc>
                <a:spcPts val="2659"/>
              </a:lnSpc>
            </a:pPr>
            <a:endParaRPr/>
          </a:p>
        </p:txBody>
      </p:sp>
      <p:sp>
        <p:nvSpPr>
          <p:cNvPr id="80" name="TextBox 29">
            <a:extLst>
              <a:ext uri="{FF2B5EF4-FFF2-40B4-BE49-F238E27FC236}">
                <a16:creationId xmlns:a16="http://schemas.microsoft.com/office/drawing/2014/main" id="{AD2CB703-AF19-21FE-BF18-CD7629B480A9}"/>
              </a:ext>
            </a:extLst>
          </p:cNvPr>
          <p:cNvSpPr txBox="1"/>
          <p:nvPr/>
        </p:nvSpPr>
        <p:spPr>
          <a:xfrm>
            <a:off x="7063239" y="3579841"/>
            <a:ext cx="4122367" cy="5562854"/>
          </a:xfrm>
          <a:prstGeom prst="rect">
            <a:avLst/>
          </a:prstGeom>
        </p:spPr>
        <p:txBody>
          <a:bodyPr lIns="47086" tIns="47086" rIns="47086" bIns="47086" rtlCol="0" anchor="ctr"/>
          <a:lstStyle/>
          <a:p>
            <a:pPr algn="ctr">
              <a:lnSpc>
                <a:spcPts val="2659"/>
              </a:lnSpc>
            </a:pPr>
            <a:endParaRPr/>
          </a:p>
        </p:txBody>
      </p:sp>
      <p:pic>
        <p:nvPicPr>
          <p:cNvPr id="8194" name="Picture 2" descr="Data collection - Free computer icons">
            <a:extLst>
              <a:ext uri="{FF2B5EF4-FFF2-40B4-BE49-F238E27FC236}">
                <a16:creationId xmlns:a16="http://schemas.microsoft.com/office/drawing/2014/main" id="{388B5F39-897E-140D-9E4B-B953F07051D7}"/>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153400" y="190500"/>
            <a:ext cx="1219200" cy="1219200"/>
          </a:xfrm>
          <a:prstGeom prst="rect">
            <a:avLst/>
          </a:prstGeom>
          <a:noFill/>
          <a:extLst>
            <a:ext uri="{909E8E84-426E-40DD-AFC4-6F175D3DCCD1}">
              <a14:hiddenFill xmlns:a14="http://schemas.microsoft.com/office/drawing/2010/main">
                <a:solidFill>
                  <a:srgbClr val="FFFFFF"/>
                </a:solidFill>
              </a14:hiddenFill>
            </a:ext>
          </a:extLst>
        </p:spPr>
      </p:pic>
      <p:grpSp>
        <p:nvGrpSpPr>
          <p:cNvPr id="4" name="Group 22">
            <a:extLst>
              <a:ext uri="{FF2B5EF4-FFF2-40B4-BE49-F238E27FC236}">
                <a16:creationId xmlns:a16="http://schemas.microsoft.com/office/drawing/2014/main" id="{F702E8D2-8ACC-42A0-ED95-A7C41E2BB9AE}"/>
              </a:ext>
            </a:extLst>
          </p:cNvPr>
          <p:cNvGrpSpPr/>
          <p:nvPr/>
        </p:nvGrpSpPr>
        <p:grpSpPr>
          <a:xfrm>
            <a:off x="13854517" y="1164273"/>
            <a:ext cx="1011607" cy="1011607"/>
            <a:chOff x="0" y="0"/>
            <a:chExt cx="812800" cy="812800"/>
          </a:xfrm>
        </p:grpSpPr>
        <p:sp>
          <p:nvSpPr>
            <p:cNvPr id="5" name="Freeform 23">
              <a:extLst>
                <a:ext uri="{FF2B5EF4-FFF2-40B4-BE49-F238E27FC236}">
                  <a16:creationId xmlns:a16="http://schemas.microsoft.com/office/drawing/2014/main" id="{337B9AA4-AA52-88AE-3431-4676B1F4C60D}"/>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txBody>
            <a:bodyPr/>
            <a:lstStyle/>
            <a:p>
              <a:endParaRPr lang="en-US" dirty="0"/>
            </a:p>
          </p:txBody>
        </p:sp>
        <p:sp>
          <p:nvSpPr>
            <p:cNvPr id="6" name="TextBox 24">
              <a:extLst>
                <a:ext uri="{FF2B5EF4-FFF2-40B4-BE49-F238E27FC236}">
                  <a16:creationId xmlns:a16="http://schemas.microsoft.com/office/drawing/2014/main" id="{F1E4F049-6471-E6BB-C047-5A4504DBB7CB}"/>
                </a:ext>
              </a:extLst>
            </p:cNvPr>
            <p:cNvSpPr txBox="1"/>
            <p:nvPr/>
          </p:nvSpPr>
          <p:spPr>
            <a:xfrm>
              <a:off x="76200" y="38100"/>
              <a:ext cx="660400" cy="698500"/>
            </a:xfrm>
            <a:prstGeom prst="rect">
              <a:avLst/>
            </a:prstGeom>
          </p:spPr>
          <p:txBody>
            <a:bodyPr lIns="47086" tIns="47086" rIns="47086" bIns="47086" rtlCol="0" anchor="ctr"/>
            <a:lstStyle/>
            <a:p>
              <a:pPr algn="ctr">
                <a:lnSpc>
                  <a:spcPts val="2659"/>
                </a:lnSpc>
                <a:spcBef>
                  <a:spcPct val="0"/>
                </a:spcBef>
              </a:pPr>
              <a:endParaRPr/>
            </a:p>
          </p:txBody>
        </p:sp>
      </p:grpSp>
      <p:graphicFrame>
        <p:nvGraphicFramePr>
          <p:cNvPr id="2" name="Table 0">
            <a:extLst>
              <a:ext uri="{FF2B5EF4-FFF2-40B4-BE49-F238E27FC236}">
                <a16:creationId xmlns:a16="http://schemas.microsoft.com/office/drawing/2014/main" id="{82A66720-1CEE-63D1-D228-1499EAA82D12}"/>
              </a:ext>
            </a:extLst>
          </p:cNvPr>
          <p:cNvGraphicFramePr>
            <a:graphicFrameLocks noGrp="1"/>
          </p:cNvGraphicFramePr>
          <p:nvPr>
            <p:extLst>
              <p:ext uri="{D42A27DB-BD31-4B8C-83A1-F6EECF244321}">
                <p14:modId xmlns:p14="http://schemas.microsoft.com/office/powerpoint/2010/main" val="1655672174"/>
              </p:ext>
            </p:extLst>
          </p:nvPr>
        </p:nvGraphicFramePr>
        <p:xfrm>
          <a:off x="76200" y="2027652"/>
          <a:ext cx="17674380" cy="7764048"/>
        </p:xfrm>
        <a:graphic>
          <a:graphicData uri="http://schemas.openxmlformats.org/drawingml/2006/table">
            <a:tbl>
              <a:tblPr>
                <a:tableStyleId>{35758FB7-9AC5-4552-8A53-C91805E547FA}</a:tableStyleId>
              </a:tblPr>
              <a:tblGrid>
                <a:gridCol w="2895600">
                  <a:extLst>
                    <a:ext uri="{9D8B030D-6E8A-4147-A177-3AD203B41FA5}">
                      <a16:colId xmlns:a16="http://schemas.microsoft.com/office/drawing/2014/main" val="20000"/>
                    </a:ext>
                  </a:extLst>
                </a:gridCol>
                <a:gridCol w="5867400">
                  <a:extLst>
                    <a:ext uri="{9D8B030D-6E8A-4147-A177-3AD203B41FA5}">
                      <a16:colId xmlns:a16="http://schemas.microsoft.com/office/drawing/2014/main" val="20001"/>
                    </a:ext>
                  </a:extLst>
                </a:gridCol>
                <a:gridCol w="4492785">
                  <a:extLst>
                    <a:ext uri="{9D8B030D-6E8A-4147-A177-3AD203B41FA5}">
                      <a16:colId xmlns:a16="http://schemas.microsoft.com/office/drawing/2014/main" val="20002"/>
                    </a:ext>
                  </a:extLst>
                </a:gridCol>
                <a:gridCol w="4418595">
                  <a:extLst>
                    <a:ext uri="{9D8B030D-6E8A-4147-A177-3AD203B41FA5}">
                      <a16:colId xmlns:a16="http://schemas.microsoft.com/office/drawing/2014/main" val="20003"/>
                    </a:ext>
                  </a:extLst>
                </a:gridCol>
              </a:tblGrid>
              <a:tr h="797055">
                <a:tc>
                  <a:txBody>
                    <a:bodyPr/>
                    <a:lstStyle/>
                    <a:p>
                      <a:pPr marL="0" indent="0" algn="l">
                        <a:lnSpc>
                          <a:spcPct val="100000"/>
                        </a:lnSpc>
                        <a:buNone/>
                      </a:pPr>
                      <a:r>
                        <a:rPr lang="en-US" sz="2800" b="1" dirty="0">
                          <a:solidFill>
                            <a:srgbClr val="03141C"/>
                          </a:solidFill>
                        </a:rPr>
                        <a:t>Method</a:t>
                      </a:r>
                      <a:endParaRPr lang="en-US" sz="2800" dirty="0"/>
                    </a:p>
                  </a:txBody>
                  <a:tcPr marL="187960" marR="187960" marT="187960" marB="187960"/>
                </a:tc>
                <a:tc>
                  <a:txBody>
                    <a:bodyPr/>
                    <a:lstStyle/>
                    <a:p>
                      <a:pPr marL="0" indent="0" algn="l">
                        <a:lnSpc>
                          <a:spcPct val="100000"/>
                        </a:lnSpc>
                        <a:buNone/>
                      </a:pPr>
                      <a:r>
                        <a:rPr lang="en-US" sz="2800" b="1" dirty="0">
                          <a:solidFill>
                            <a:srgbClr val="03141C"/>
                          </a:solidFill>
                        </a:rPr>
                        <a:t>Description</a:t>
                      </a:r>
                      <a:endParaRPr lang="en-US" sz="2800" dirty="0"/>
                    </a:p>
                  </a:txBody>
                  <a:tcPr marL="187960" marR="187960" marT="187960" marB="187960"/>
                </a:tc>
                <a:tc>
                  <a:txBody>
                    <a:bodyPr/>
                    <a:lstStyle/>
                    <a:p>
                      <a:pPr marL="0" indent="0" algn="l">
                        <a:lnSpc>
                          <a:spcPct val="100000"/>
                        </a:lnSpc>
                        <a:buNone/>
                      </a:pPr>
                      <a:r>
                        <a:rPr lang="en-US" sz="2800" b="1" dirty="0">
                          <a:solidFill>
                            <a:srgbClr val="03141C"/>
                          </a:solidFill>
                        </a:rPr>
                        <a:t>Strengths</a:t>
                      </a:r>
                      <a:endParaRPr lang="en-US" sz="2800" dirty="0"/>
                    </a:p>
                  </a:txBody>
                  <a:tcPr marL="187960" marR="187960" marT="187960" marB="187960"/>
                </a:tc>
                <a:tc>
                  <a:txBody>
                    <a:bodyPr/>
                    <a:lstStyle/>
                    <a:p>
                      <a:pPr marL="0" indent="0" algn="l">
                        <a:lnSpc>
                          <a:spcPct val="100000"/>
                        </a:lnSpc>
                        <a:buNone/>
                      </a:pPr>
                      <a:r>
                        <a:rPr lang="en-US" sz="2800" b="1" dirty="0">
                          <a:solidFill>
                            <a:srgbClr val="03141C"/>
                          </a:solidFill>
                        </a:rPr>
                        <a:t>Weaknesses</a:t>
                      </a:r>
                      <a:endParaRPr lang="en-US" sz="2800" dirty="0"/>
                    </a:p>
                  </a:txBody>
                  <a:tcPr marL="187960" marR="187960" marT="187960" marB="187960"/>
                </a:tc>
                <a:extLst>
                  <a:ext uri="{0D108BD9-81ED-4DB2-BD59-A6C34878D82A}">
                    <a16:rowId xmlns:a16="http://schemas.microsoft.com/office/drawing/2014/main" val="10000"/>
                  </a:ext>
                </a:extLst>
              </a:tr>
              <a:tr h="2801167">
                <a:tc>
                  <a:txBody>
                    <a:bodyPr/>
                    <a:lstStyle/>
                    <a:p>
                      <a:pPr marL="0" indent="0" algn="l">
                        <a:lnSpc>
                          <a:spcPct val="100000"/>
                        </a:lnSpc>
                        <a:buNone/>
                      </a:pPr>
                      <a:r>
                        <a:rPr lang="en-US" sz="2800" b="1" dirty="0">
                          <a:solidFill>
                            <a:srgbClr val="03141C"/>
                          </a:solidFill>
                        </a:rPr>
                        <a:t>Instrumentation</a:t>
                      </a:r>
                      <a:endParaRPr lang="en-US" sz="2800" dirty="0"/>
                    </a:p>
                  </a:txBody>
                  <a:tcPr marL="187960" marR="187960" marT="187960" marB="187960"/>
                </a:tc>
                <a:tc>
                  <a:txBody>
                    <a:bodyPr/>
                    <a:lstStyle/>
                    <a:p>
                      <a:pPr marL="0" indent="0" algn="l">
                        <a:lnSpc>
                          <a:spcPct val="100000"/>
                        </a:lnSpc>
                        <a:buNone/>
                      </a:pPr>
                      <a:r>
                        <a:rPr lang="en-US" sz="2800" dirty="0">
                          <a:solidFill>
                            <a:srgbClr val="03141C"/>
                          </a:solidFill>
                        </a:rPr>
                        <a:t>Uses tools (e.g., CodeCarbon) to measure energy consumption and estimate CO₂ emissions based on regional electricity carbon intensity.</a:t>
                      </a:r>
                      <a:endParaRPr lang="en-US" sz="2800" dirty="0"/>
                    </a:p>
                  </a:txBody>
                  <a:tcPr marL="187960" marR="187960" marT="187960" marB="187960"/>
                </a:tc>
                <a:tc>
                  <a:txBody>
                    <a:bodyPr/>
                    <a:lstStyle/>
                    <a:p>
                      <a:pPr marL="0" indent="0" algn="l">
                        <a:lnSpc>
                          <a:spcPct val="100000"/>
                        </a:lnSpc>
                        <a:buNone/>
                      </a:pPr>
                      <a:r>
                        <a:rPr lang="en-US" sz="2800" dirty="0">
                          <a:solidFill>
                            <a:srgbClr val="03141C"/>
                          </a:solidFill>
                        </a:rPr>
                        <a:t>Objective, precise, reproducible; directly produces required data; automated and scalable.</a:t>
                      </a:r>
                      <a:endParaRPr lang="en-US" sz="2800" dirty="0"/>
                    </a:p>
                  </a:txBody>
                  <a:tcPr marL="187960" marR="187960" marT="187960" marB="187960"/>
                </a:tc>
                <a:tc>
                  <a:txBody>
                    <a:bodyPr/>
                    <a:lstStyle/>
                    <a:p>
                      <a:pPr marL="0" indent="0" algn="l">
                        <a:lnSpc>
                          <a:spcPct val="100000"/>
                        </a:lnSpc>
                        <a:buNone/>
                      </a:pPr>
                      <a:r>
                        <a:rPr lang="en-US" sz="2800" dirty="0">
                          <a:solidFill>
                            <a:srgbClr val="03141C"/>
                          </a:solidFill>
                        </a:rPr>
                        <a:t>May miss system-level energy losses; requires validation.</a:t>
                      </a:r>
                      <a:endParaRPr lang="en-US" sz="2800" dirty="0"/>
                    </a:p>
                  </a:txBody>
                  <a:tcPr marL="187960" marR="187960" marT="187960" marB="187960"/>
                </a:tc>
                <a:extLst>
                  <a:ext uri="{0D108BD9-81ED-4DB2-BD59-A6C34878D82A}">
                    <a16:rowId xmlns:a16="http://schemas.microsoft.com/office/drawing/2014/main" val="10001"/>
                  </a:ext>
                </a:extLst>
              </a:tr>
              <a:tr h="2504161">
                <a:tc>
                  <a:txBody>
                    <a:bodyPr/>
                    <a:lstStyle/>
                    <a:p>
                      <a:pPr marL="0" indent="0" algn="l">
                        <a:lnSpc>
                          <a:spcPct val="100000"/>
                        </a:lnSpc>
                        <a:buNone/>
                      </a:pPr>
                      <a:r>
                        <a:rPr lang="en-US" sz="2800" b="1" dirty="0">
                          <a:solidFill>
                            <a:srgbClr val="03141C"/>
                          </a:solidFill>
                        </a:rPr>
                        <a:t>Observation &amp; Manual Logging</a:t>
                      </a:r>
                      <a:endParaRPr lang="en-US" sz="2800" dirty="0"/>
                    </a:p>
                  </a:txBody>
                  <a:tcPr marL="187960" marR="187960" marT="187960" marB="187960"/>
                </a:tc>
                <a:tc>
                  <a:txBody>
                    <a:bodyPr/>
                    <a:lstStyle/>
                    <a:p>
                      <a:pPr marL="0" indent="0" algn="l">
                        <a:lnSpc>
                          <a:spcPct val="100000"/>
                        </a:lnSpc>
                        <a:buNone/>
                      </a:pPr>
                      <a:r>
                        <a:rPr lang="en-US" sz="2800" dirty="0">
                          <a:solidFill>
                            <a:srgbClr val="03141C"/>
                          </a:solidFill>
                        </a:rPr>
                        <a:t>Manually record training parameters, task metrics, and observed emissions during/after experiments.</a:t>
                      </a:r>
                      <a:endParaRPr lang="en-US" sz="2800" dirty="0"/>
                    </a:p>
                  </a:txBody>
                  <a:tcPr marL="187960" marR="187960" marT="187960" marB="187960"/>
                </a:tc>
                <a:tc>
                  <a:txBody>
                    <a:bodyPr/>
                    <a:lstStyle/>
                    <a:p>
                      <a:pPr marL="0" indent="0" algn="l">
                        <a:lnSpc>
                          <a:spcPct val="100000"/>
                        </a:lnSpc>
                        <a:buNone/>
                      </a:pPr>
                      <a:r>
                        <a:rPr lang="en-US" sz="2800" dirty="0">
                          <a:solidFill>
                            <a:srgbClr val="03141C"/>
                          </a:solidFill>
                        </a:rPr>
                        <a:t>Flexible; can capture unexpected observations.</a:t>
                      </a:r>
                      <a:endParaRPr lang="en-US" sz="2800" dirty="0"/>
                    </a:p>
                  </a:txBody>
                  <a:tcPr marL="187960" marR="187960" marT="187960" marB="187960"/>
                </a:tc>
                <a:tc>
                  <a:txBody>
                    <a:bodyPr/>
                    <a:lstStyle/>
                    <a:p>
                      <a:pPr marL="0" indent="0" algn="l">
                        <a:lnSpc>
                          <a:spcPct val="100000"/>
                        </a:lnSpc>
                        <a:buNone/>
                      </a:pPr>
                      <a:r>
                        <a:rPr lang="en-US" sz="2800" dirty="0">
                          <a:solidFill>
                            <a:srgbClr val="03141C"/>
                          </a:solidFill>
                        </a:rPr>
                        <a:t>Prone to human error; time-consuming; less precise.</a:t>
                      </a:r>
                      <a:endParaRPr lang="en-US" sz="2800" dirty="0"/>
                    </a:p>
                  </a:txBody>
                  <a:tcPr marL="187960" marR="187960" marT="187960" marB="187960"/>
                </a:tc>
                <a:extLst>
                  <a:ext uri="{0D108BD9-81ED-4DB2-BD59-A6C34878D82A}">
                    <a16:rowId xmlns:a16="http://schemas.microsoft.com/office/drawing/2014/main" val="10002"/>
                  </a:ext>
                </a:extLst>
              </a:tr>
              <a:tr h="1613145">
                <a:tc>
                  <a:txBody>
                    <a:bodyPr/>
                    <a:lstStyle/>
                    <a:p>
                      <a:pPr marL="0" indent="0" algn="l">
                        <a:lnSpc>
                          <a:spcPct val="100000"/>
                        </a:lnSpc>
                        <a:buNone/>
                      </a:pPr>
                      <a:r>
                        <a:rPr lang="en-US" sz="2800" b="1" dirty="0">
                          <a:solidFill>
                            <a:srgbClr val="03141C"/>
                          </a:solidFill>
                        </a:rPr>
                        <a:t>Document &amp; Log File Analysis</a:t>
                      </a:r>
                      <a:endParaRPr lang="en-US" sz="2800" dirty="0"/>
                    </a:p>
                  </a:txBody>
                  <a:tcPr marL="187960" marR="187960" marT="187960" marB="187960"/>
                </a:tc>
                <a:tc>
                  <a:txBody>
                    <a:bodyPr/>
                    <a:lstStyle/>
                    <a:p>
                      <a:pPr marL="0" indent="0" algn="l">
                        <a:lnSpc>
                          <a:spcPct val="100000"/>
                        </a:lnSpc>
                        <a:buNone/>
                      </a:pPr>
                      <a:r>
                        <a:rPr lang="en-US" sz="2800" dirty="0">
                          <a:solidFill>
                            <a:srgbClr val="03141C"/>
                          </a:solidFill>
                        </a:rPr>
                        <a:t>Analyze experiment log files to extract performance/configuration data.</a:t>
                      </a:r>
                      <a:endParaRPr lang="en-US" sz="2800" dirty="0"/>
                    </a:p>
                  </a:txBody>
                  <a:tcPr marL="187960" marR="187960" marT="187960" marB="187960"/>
                </a:tc>
                <a:tc>
                  <a:txBody>
                    <a:bodyPr/>
                    <a:lstStyle/>
                    <a:p>
                      <a:pPr marL="0" indent="0" algn="l">
                        <a:lnSpc>
                          <a:spcPct val="100000"/>
                        </a:lnSpc>
                        <a:buNone/>
                      </a:pPr>
                      <a:r>
                        <a:rPr lang="en-US" sz="2800" dirty="0">
                          <a:solidFill>
                            <a:srgbClr val="03141C"/>
                          </a:solidFill>
                        </a:rPr>
                        <a:t>Non-intrusive; suitable for post-hoc analysis.</a:t>
                      </a:r>
                      <a:endParaRPr lang="en-US" sz="2800" dirty="0"/>
                    </a:p>
                  </a:txBody>
                  <a:tcPr marL="187960" marR="187960" marT="187960" marB="187960"/>
                </a:tc>
                <a:tc>
                  <a:txBody>
                    <a:bodyPr/>
                    <a:lstStyle/>
                    <a:p>
                      <a:pPr marL="0" indent="0" algn="l">
                        <a:lnSpc>
                          <a:spcPct val="100000"/>
                        </a:lnSpc>
                        <a:buNone/>
                      </a:pPr>
                      <a:r>
                        <a:rPr lang="en-US" sz="2800" dirty="0">
                          <a:solidFill>
                            <a:srgbClr val="03141C"/>
                          </a:solidFill>
                        </a:rPr>
                        <a:t>Usually lacks energy/emissions data unless explicitly logged.</a:t>
                      </a:r>
                      <a:endParaRPr lang="en-US" sz="2800" dirty="0"/>
                    </a:p>
                  </a:txBody>
                  <a:tcPr marL="187960" marR="187960" marT="187960" marB="187960"/>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123871942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Click="0">
        <p159:morph option="byObject"/>
      </p:transition>
    </mc:Choice>
    <mc:Fallback xmlns="">
      <p:transition spd="slow" advClick="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6" presetClass="entr" presetSubtype="0" fill="hold" grpId="0" nodeType="afterEffect">
                                  <p:stCondLst>
                                    <p:cond delay="0"/>
                                  </p:stCondLst>
                                  <p:childTnLst>
                                    <p:set>
                                      <p:cBhvr>
                                        <p:cTn id="6" dur="1" fill="hold">
                                          <p:stCondLst>
                                            <p:cond delay="0"/>
                                          </p:stCondLst>
                                        </p:cTn>
                                        <p:tgtEl>
                                          <p:spTgt spid="25"/>
                                        </p:tgtEl>
                                        <p:attrNameLst>
                                          <p:attrName>style.visibility</p:attrName>
                                        </p:attrNameLst>
                                      </p:cBhvr>
                                      <p:to>
                                        <p:strVal val="visible"/>
                                      </p:to>
                                    </p:set>
                                    <p:animEffect transition="in" filter="wipe(down)">
                                      <p:cBhvr>
                                        <p:cTn id="7" dur="363">
                                          <p:stCondLst>
                                            <p:cond delay="0"/>
                                          </p:stCondLst>
                                        </p:cTn>
                                        <p:tgtEl>
                                          <p:spTgt spid="25"/>
                                        </p:tgtEl>
                                      </p:cBhvr>
                                    </p:animEffect>
                                    <p:anim calcmode="lin" valueType="num">
                                      <p:cBhvr>
                                        <p:cTn id="8" dur="1139" tmFilter="0,0; 0.14,0.36; 0.43,0.73; 0.71,0.91; 1.0,1.0">
                                          <p:stCondLst>
                                            <p:cond delay="0"/>
                                          </p:stCondLst>
                                        </p:cTn>
                                        <p:tgtEl>
                                          <p:spTgt spid="25"/>
                                        </p:tgtEl>
                                        <p:attrNameLst>
                                          <p:attrName>ppt_x</p:attrName>
                                        </p:attrNameLst>
                                      </p:cBhvr>
                                      <p:tavLst>
                                        <p:tav tm="0">
                                          <p:val>
                                            <p:strVal val="#ppt_x-0.25"/>
                                          </p:val>
                                        </p:tav>
                                        <p:tav tm="100000">
                                          <p:val>
                                            <p:strVal val="#ppt_x"/>
                                          </p:val>
                                        </p:tav>
                                      </p:tavLst>
                                    </p:anim>
                                    <p:anim calcmode="lin" valueType="num">
                                      <p:cBhvr>
                                        <p:cTn id="9" dur="415" tmFilter="0.0,0.0; 0.25,0.07; 0.50,0.2; 0.75,0.467; 1.0,1.0">
                                          <p:stCondLst>
                                            <p:cond delay="0"/>
                                          </p:stCondLst>
                                        </p:cTn>
                                        <p:tgtEl>
                                          <p:spTgt spid="25"/>
                                        </p:tgtEl>
                                        <p:attrNameLst>
                                          <p:attrName>ppt_y</p:attrName>
                                        </p:attrNameLst>
                                      </p:cBhvr>
                                      <p:tavLst>
                                        <p:tav tm="0" fmla="#ppt_y-sin(pi*$)/3">
                                          <p:val>
                                            <p:fltVal val="0.5"/>
                                          </p:val>
                                        </p:tav>
                                        <p:tav tm="100000">
                                          <p:val>
                                            <p:fltVal val="1"/>
                                          </p:val>
                                        </p:tav>
                                      </p:tavLst>
                                    </p:anim>
                                    <p:anim calcmode="lin" valueType="num">
                                      <p:cBhvr>
                                        <p:cTn id="10" dur="415" tmFilter="0, 0; 0.125,0.2665; 0.25,0.4; 0.375,0.465; 0.5,0.5;  0.625,0.535; 0.75,0.6; 0.875,0.7335; 1,1">
                                          <p:stCondLst>
                                            <p:cond delay="415"/>
                                          </p:stCondLst>
                                        </p:cTn>
                                        <p:tgtEl>
                                          <p:spTgt spid="25"/>
                                        </p:tgtEl>
                                        <p:attrNameLst>
                                          <p:attrName>ppt_y</p:attrName>
                                        </p:attrNameLst>
                                      </p:cBhvr>
                                      <p:tavLst>
                                        <p:tav tm="0" fmla="#ppt_y-sin(pi*$)/9">
                                          <p:val>
                                            <p:fltVal val="0"/>
                                          </p:val>
                                        </p:tav>
                                        <p:tav tm="100000">
                                          <p:val>
                                            <p:fltVal val="1"/>
                                          </p:val>
                                        </p:tav>
                                      </p:tavLst>
                                    </p:anim>
                                    <p:anim calcmode="lin" valueType="num">
                                      <p:cBhvr>
                                        <p:cTn id="11" dur="208" tmFilter="0, 0; 0.125,0.2665; 0.25,0.4; 0.375,0.465; 0.5,0.5;  0.625,0.535; 0.75,0.6; 0.875,0.7335; 1,1">
                                          <p:stCondLst>
                                            <p:cond delay="828"/>
                                          </p:stCondLst>
                                        </p:cTn>
                                        <p:tgtEl>
                                          <p:spTgt spid="25"/>
                                        </p:tgtEl>
                                        <p:attrNameLst>
                                          <p:attrName>ppt_y</p:attrName>
                                        </p:attrNameLst>
                                      </p:cBhvr>
                                      <p:tavLst>
                                        <p:tav tm="0" fmla="#ppt_y-sin(pi*$)/27">
                                          <p:val>
                                            <p:fltVal val="0"/>
                                          </p:val>
                                        </p:tav>
                                        <p:tav tm="100000">
                                          <p:val>
                                            <p:fltVal val="1"/>
                                          </p:val>
                                        </p:tav>
                                      </p:tavLst>
                                    </p:anim>
                                    <p:anim calcmode="lin" valueType="num">
                                      <p:cBhvr>
                                        <p:cTn id="12" dur="103" tmFilter="0, 0; 0.125,0.2665; 0.25,0.4; 0.375,0.465; 0.5,0.5;  0.625,0.535; 0.75,0.6; 0.875,0.7335; 1,1">
                                          <p:stCondLst>
                                            <p:cond delay="1035"/>
                                          </p:stCondLst>
                                        </p:cTn>
                                        <p:tgtEl>
                                          <p:spTgt spid="25"/>
                                        </p:tgtEl>
                                        <p:attrNameLst>
                                          <p:attrName>ppt_y</p:attrName>
                                        </p:attrNameLst>
                                      </p:cBhvr>
                                      <p:tavLst>
                                        <p:tav tm="0" fmla="#ppt_y-sin(pi*$)/81">
                                          <p:val>
                                            <p:fltVal val="0"/>
                                          </p:val>
                                        </p:tav>
                                        <p:tav tm="100000">
                                          <p:val>
                                            <p:fltVal val="1"/>
                                          </p:val>
                                        </p:tav>
                                      </p:tavLst>
                                    </p:anim>
                                    <p:animScale>
                                      <p:cBhvr>
                                        <p:cTn id="13" dur="17">
                                          <p:stCondLst>
                                            <p:cond delay="406"/>
                                          </p:stCondLst>
                                        </p:cTn>
                                        <p:tgtEl>
                                          <p:spTgt spid="25"/>
                                        </p:tgtEl>
                                      </p:cBhvr>
                                      <p:to x="100000" y="60000"/>
                                    </p:animScale>
                                    <p:animScale>
                                      <p:cBhvr>
                                        <p:cTn id="14" dur="103" decel="50000">
                                          <p:stCondLst>
                                            <p:cond delay="423"/>
                                          </p:stCondLst>
                                        </p:cTn>
                                        <p:tgtEl>
                                          <p:spTgt spid="25"/>
                                        </p:tgtEl>
                                      </p:cBhvr>
                                      <p:to x="100000" y="100000"/>
                                    </p:animScale>
                                    <p:animScale>
                                      <p:cBhvr>
                                        <p:cTn id="15" dur="17">
                                          <p:stCondLst>
                                            <p:cond delay="820"/>
                                          </p:stCondLst>
                                        </p:cTn>
                                        <p:tgtEl>
                                          <p:spTgt spid="25"/>
                                        </p:tgtEl>
                                      </p:cBhvr>
                                      <p:to x="100000" y="80000"/>
                                    </p:animScale>
                                    <p:animScale>
                                      <p:cBhvr>
                                        <p:cTn id="16" dur="103" decel="50000">
                                          <p:stCondLst>
                                            <p:cond delay="837"/>
                                          </p:stCondLst>
                                        </p:cTn>
                                        <p:tgtEl>
                                          <p:spTgt spid="25"/>
                                        </p:tgtEl>
                                      </p:cBhvr>
                                      <p:to x="100000" y="100000"/>
                                    </p:animScale>
                                    <p:animScale>
                                      <p:cBhvr>
                                        <p:cTn id="17" dur="17">
                                          <p:stCondLst>
                                            <p:cond delay="1026"/>
                                          </p:stCondLst>
                                        </p:cTn>
                                        <p:tgtEl>
                                          <p:spTgt spid="25"/>
                                        </p:tgtEl>
                                      </p:cBhvr>
                                      <p:to x="100000" y="90000"/>
                                    </p:animScale>
                                    <p:animScale>
                                      <p:cBhvr>
                                        <p:cTn id="18" dur="103" decel="50000">
                                          <p:stCondLst>
                                            <p:cond delay="1043"/>
                                          </p:stCondLst>
                                        </p:cTn>
                                        <p:tgtEl>
                                          <p:spTgt spid="25"/>
                                        </p:tgtEl>
                                      </p:cBhvr>
                                      <p:to x="100000" y="100000"/>
                                    </p:animScale>
                                    <p:animScale>
                                      <p:cBhvr>
                                        <p:cTn id="19" dur="17">
                                          <p:stCondLst>
                                            <p:cond delay="1130"/>
                                          </p:stCondLst>
                                        </p:cTn>
                                        <p:tgtEl>
                                          <p:spTgt spid="25"/>
                                        </p:tgtEl>
                                      </p:cBhvr>
                                      <p:to x="100000" y="95000"/>
                                    </p:animScale>
                                    <p:animScale>
                                      <p:cBhvr>
                                        <p:cTn id="20" dur="103" decel="50000">
                                          <p:stCondLst>
                                            <p:cond delay="1147"/>
                                          </p:stCondLst>
                                        </p:cTn>
                                        <p:tgtEl>
                                          <p:spTgt spid="25"/>
                                        </p:tgtEl>
                                      </p:cBhvr>
                                      <p:to x="100000" y="100000"/>
                                    </p:animScale>
                                  </p:childTnLst>
                                </p:cTn>
                              </p:par>
                            </p:childTnLst>
                          </p:cTn>
                        </p:par>
                        <p:par>
                          <p:cTn id="21" fill="hold">
                            <p:stCondLst>
                              <p:cond delay="1250"/>
                            </p:stCondLst>
                            <p:childTnLst>
                              <p:par>
                                <p:cTn id="22" presetID="45" presetClass="entr" presetSubtype="0" fill="hold" nodeType="afterEffect">
                                  <p:stCondLst>
                                    <p:cond delay="0"/>
                                  </p:stCondLst>
                                  <p:childTnLst>
                                    <p:set>
                                      <p:cBhvr>
                                        <p:cTn id="23" dur="1" fill="hold">
                                          <p:stCondLst>
                                            <p:cond delay="0"/>
                                          </p:stCondLst>
                                        </p:cTn>
                                        <p:tgtEl>
                                          <p:spTgt spid="8194"/>
                                        </p:tgtEl>
                                        <p:attrNameLst>
                                          <p:attrName>style.visibility</p:attrName>
                                        </p:attrNameLst>
                                      </p:cBhvr>
                                      <p:to>
                                        <p:strVal val="visible"/>
                                      </p:to>
                                    </p:set>
                                    <p:animEffect transition="in" filter="fade">
                                      <p:cBhvr>
                                        <p:cTn id="24" dur="2000"/>
                                        <p:tgtEl>
                                          <p:spTgt spid="8194"/>
                                        </p:tgtEl>
                                      </p:cBhvr>
                                    </p:animEffect>
                                    <p:anim calcmode="lin" valueType="num">
                                      <p:cBhvr>
                                        <p:cTn id="25" dur="2000" fill="hold"/>
                                        <p:tgtEl>
                                          <p:spTgt spid="8194"/>
                                        </p:tgtEl>
                                        <p:attrNameLst>
                                          <p:attrName>ppt_w</p:attrName>
                                        </p:attrNameLst>
                                      </p:cBhvr>
                                      <p:tavLst>
                                        <p:tav tm="0" fmla="#ppt_w*sin(2.5*pi*$)">
                                          <p:val>
                                            <p:fltVal val="0"/>
                                          </p:val>
                                        </p:tav>
                                        <p:tav tm="100000">
                                          <p:val>
                                            <p:fltVal val="1"/>
                                          </p:val>
                                        </p:tav>
                                      </p:tavLst>
                                    </p:anim>
                                    <p:anim calcmode="lin" valueType="num">
                                      <p:cBhvr>
                                        <p:cTn id="26" dur="2000" fill="hold"/>
                                        <p:tgtEl>
                                          <p:spTgt spid="8194"/>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A944FC-A3C0-A806-F775-65E7C3D1E6E7}"/>
            </a:ext>
          </a:extLst>
        </p:cNvPr>
        <p:cNvGrpSpPr/>
        <p:nvPr/>
      </p:nvGrpSpPr>
      <p:grpSpPr>
        <a:xfrm>
          <a:off x="0" y="0"/>
          <a:ext cx="0" cy="0"/>
          <a:chOff x="0" y="0"/>
          <a:chExt cx="0" cy="0"/>
        </a:xfrm>
      </p:grpSpPr>
      <p:sp>
        <p:nvSpPr>
          <p:cNvPr id="67" name="Freeform 17">
            <a:extLst>
              <a:ext uri="{FF2B5EF4-FFF2-40B4-BE49-F238E27FC236}">
                <a16:creationId xmlns:a16="http://schemas.microsoft.com/office/drawing/2014/main" id="{07427B63-5C93-FF7B-77EE-53778A432A24}"/>
              </a:ext>
            </a:extLst>
          </p:cNvPr>
          <p:cNvSpPr/>
          <p:nvPr/>
        </p:nvSpPr>
        <p:spPr>
          <a:xfrm>
            <a:off x="2744136" y="4643528"/>
            <a:ext cx="1634041" cy="1634041"/>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id="68" name="Freeform 17">
            <a:extLst>
              <a:ext uri="{FF2B5EF4-FFF2-40B4-BE49-F238E27FC236}">
                <a16:creationId xmlns:a16="http://schemas.microsoft.com/office/drawing/2014/main" id="{F299671B-ECEE-FDAF-42DA-7D9CE38458CD}"/>
              </a:ext>
            </a:extLst>
          </p:cNvPr>
          <p:cNvSpPr/>
          <p:nvPr/>
        </p:nvSpPr>
        <p:spPr>
          <a:xfrm>
            <a:off x="13685849" y="4660357"/>
            <a:ext cx="1634041" cy="1634041"/>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grpSp>
        <p:nvGrpSpPr>
          <p:cNvPr id="2" name="Group 13">
            <a:extLst>
              <a:ext uri="{FF2B5EF4-FFF2-40B4-BE49-F238E27FC236}">
                <a16:creationId xmlns:a16="http://schemas.microsoft.com/office/drawing/2014/main" id="{034897B4-3B1E-E592-1F6F-27C10D6E78E0}"/>
              </a:ext>
            </a:extLst>
          </p:cNvPr>
          <p:cNvGrpSpPr/>
          <p:nvPr/>
        </p:nvGrpSpPr>
        <p:grpSpPr>
          <a:xfrm>
            <a:off x="5748992" y="-952500"/>
            <a:ext cx="6824008" cy="6824008"/>
            <a:chOff x="0" y="0"/>
            <a:chExt cx="812800" cy="812800"/>
          </a:xfrm>
        </p:grpSpPr>
        <p:sp>
          <p:nvSpPr>
            <p:cNvPr id="3" name="Freeform 14">
              <a:extLst>
                <a:ext uri="{FF2B5EF4-FFF2-40B4-BE49-F238E27FC236}">
                  <a16:creationId xmlns:a16="http://schemas.microsoft.com/office/drawing/2014/main" id="{22A9FEB8-4F9F-28EF-6C1D-EC8B01B9E8C3}"/>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8F8F8"/>
            </a:solidFill>
          </p:spPr>
        </p:sp>
        <p:sp>
          <p:nvSpPr>
            <p:cNvPr id="4" name="TextBox 15">
              <a:extLst>
                <a:ext uri="{FF2B5EF4-FFF2-40B4-BE49-F238E27FC236}">
                  <a16:creationId xmlns:a16="http://schemas.microsoft.com/office/drawing/2014/main" id="{5A395CBF-5F54-5806-C040-23148AEA9250}"/>
                </a:ext>
              </a:extLst>
            </p:cNvPr>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5" name="Freeform 16">
            <a:extLst>
              <a:ext uri="{FF2B5EF4-FFF2-40B4-BE49-F238E27FC236}">
                <a16:creationId xmlns:a16="http://schemas.microsoft.com/office/drawing/2014/main" id="{B6BD923E-D7CD-D0D0-03BB-AC53A2EACFF6}"/>
              </a:ext>
            </a:extLst>
          </p:cNvPr>
          <p:cNvSpPr/>
          <p:nvPr/>
        </p:nvSpPr>
        <p:spPr>
          <a:xfrm>
            <a:off x="5720022" y="-1065542"/>
            <a:ext cx="6700578" cy="6666242"/>
          </a:xfrm>
          <a:custGeom>
            <a:avLst/>
            <a:gdLst/>
            <a:ahLst/>
            <a:cxnLst/>
            <a:rect l="l" t="t" r="r" b="b"/>
            <a:pathLst>
              <a:path w="5862965" h="5855636">
                <a:moveTo>
                  <a:pt x="0" y="0"/>
                </a:moveTo>
                <a:lnTo>
                  <a:pt x="5862964" y="0"/>
                </a:lnTo>
                <a:lnTo>
                  <a:pt x="5862964" y="5855636"/>
                </a:lnTo>
                <a:lnTo>
                  <a:pt x="0" y="5855636"/>
                </a:lnTo>
                <a:lnTo>
                  <a:pt x="0" y="0"/>
                </a:lnTo>
                <a:close/>
              </a:path>
            </a:pathLst>
          </a:custGeom>
          <a:blipFill>
            <a:blip r:embed="rId2"/>
            <a:stretch>
              <a:fillRect/>
            </a:stretch>
          </a:blipFill>
        </p:spPr>
      </p:sp>
      <p:grpSp>
        <p:nvGrpSpPr>
          <p:cNvPr id="63" name="Group 18">
            <a:extLst>
              <a:ext uri="{FF2B5EF4-FFF2-40B4-BE49-F238E27FC236}">
                <a16:creationId xmlns:a16="http://schemas.microsoft.com/office/drawing/2014/main" id="{488F0840-693B-7CBE-5A6D-60440D87E983}"/>
              </a:ext>
            </a:extLst>
          </p:cNvPr>
          <p:cNvGrpSpPr/>
          <p:nvPr/>
        </p:nvGrpSpPr>
        <p:grpSpPr>
          <a:xfrm>
            <a:off x="10755134" y="5829300"/>
            <a:ext cx="7152926" cy="1822406"/>
            <a:chOff x="0" y="0"/>
            <a:chExt cx="1013318" cy="260488"/>
          </a:xfrm>
        </p:grpSpPr>
        <p:sp>
          <p:nvSpPr>
            <p:cNvPr id="64" name="Freeform 19">
              <a:extLst>
                <a:ext uri="{FF2B5EF4-FFF2-40B4-BE49-F238E27FC236}">
                  <a16:creationId xmlns:a16="http://schemas.microsoft.com/office/drawing/2014/main" id="{937262F9-7EAA-AD6D-5BF9-2A72B9F7ED4A}"/>
                </a:ext>
              </a:extLst>
            </p:cNvPr>
            <p:cNvSpPr/>
            <p:nvPr/>
          </p:nvSpPr>
          <p:spPr>
            <a:xfrm>
              <a:off x="0" y="0"/>
              <a:ext cx="1013318" cy="260488"/>
            </a:xfrm>
            <a:custGeom>
              <a:avLst/>
              <a:gdLst/>
              <a:ahLst/>
              <a:cxnLst/>
              <a:rect l="l" t="t" r="r" b="b"/>
              <a:pathLst>
                <a:path w="1013318" h="260488">
                  <a:moveTo>
                    <a:pt x="130244" y="0"/>
                  </a:moveTo>
                  <a:lnTo>
                    <a:pt x="883074" y="0"/>
                  </a:lnTo>
                  <a:cubicBezTo>
                    <a:pt x="917617" y="0"/>
                    <a:pt x="950745" y="13722"/>
                    <a:pt x="975171" y="38148"/>
                  </a:cubicBezTo>
                  <a:cubicBezTo>
                    <a:pt x="999596" y="62573"/>
                    <a:pt x="1013318" y="95701"/>
                    <a:pt x="1013318" y="130244"/>
                  </a:cubicBezTo>
                  <a:lnTo>
                    <a:pt x="1013318" y="130244"/>
                  </a:lnTo>
                  <a:cubicBezTo>
                    <a:pt x="1013318" y="202175"/>
                    <a:pt x="955006" y="260488"/>
                    <a:pt x="883074" y="260488"/>
                  </a:cubicBezTo>
                  <a:lnTo>
                    <a:pt x="130244" y="260488"/>
                  </a:lnTo>
                  <a:cubicBezTo>
                    <a:pt x="95701" y="260488"/>
                    <a:pt x="62573" y="246766"/>
                    <a:pt x="38148" y="222340"/>
                  </a:cubicBezTo>
                  <a:cubicBezTo>
                    <a:pt x="13722" y="197915"/>
                    <a:pt x="0" y="164787"/>
                    <a:pt x="0" y="130244"/>
                  </a:cubicBezTo>
                  <a:lnTo>
                    <a:pt x="0" y="130244"/>
                  </a:lnTo>
                  <a:cubicBezTo>
                    <a:pt x="0" y="95701"/>
                    <a:pt x="13722" y="62573"/>
                    <a:pt x="38148" y="38148"/>
                  </a:cubicBezTo>
                  <a:cubicBezTo>
                    <a:pt x="62573" y="13722"/>
                    <a:pt x="95701" y="0"/>
                    <a:pt x="130244" y="0"/>
                  </a:cubicBezTo>
                  <a:close/>
                </a:path>
              </a:pathLst>
            </a:custGeom>
            <a:solidFill>
              <a:srgbClr val="F8F8F8"/>
            </a:solidFill>
          </p:spPr>
        </p:sp>
        <p:sp>
          <p:nvSpPr>
            <p:cNvPr id="65" name="TextBox 20">
              <a:extLst>
                <a:ext uri="{FF2B5EF4-FFF2-40B4-BE49-F238E27FC236}">
                  <a16:creationId xmlns:a16="http://schemas.microsoft.com/office/drawing/2014/main" id="{7C7FB90B-20BB-A2B5-C8DC-FEAC3F8FB3C2}"/>
                </a:ext>
              </a:extLst>
            </p:cNvPr>
            <p:cNvSpPr txBox="1"/>
            <p:nvPr/>
          </p:nvSpPr>
          <p:spPr>
            <a:xfrm>
              <a:off x="0" y="-38100"/>
              <a:ext cx="1013318" cy="298588"/>
            </a:xfrm>
            <a:prstGeom prst="rect">
              <a:avLst/>
            </a:prstGeom>
          </p:spPr>
          <p:txBody>
            <a:bodyPr lIns="47086" tIns="47086" rIns="47086" bIns="47086" rtlCol="0" anchor="ctr"/>
            <a:lstStyle/>
            <a:p>
              <a:pPr algn="ctr">
                <a:lnSpc>
                  <a:spcPts val="2659"/>
                </a:lnSpc>
              </a:pPr>
              <a:endParaRPr/>
            </a:p>
          </p:txBody>
        </p:sp>
      </p:grpSp>
      <p:grpSp>
        <p:nvGrpSpPr>
          <p:cNvPr id="6" name="Group 17">
            <a:extLst>
              <a:ext uri="{FF2B5EF4-FFF2-40B4-BE49-F238E27FC236}">
                <a16:creationId xmlns:a16="http://schemas.microsoft.com/office/drawing/2014/main" id="{DDAFB0B2-EEDC-3C46-F01C-4C7685F4BA1D}"/>
              </a:ext>
            </a:extLst>
          </p:cNvPr>
          <p:cNvGrpSpPr/>
          <p:nvPr/>
        </p:nvGrpSpPr>
        <p:grpSpPr>
          <a:xfrm>
            <a:off x="6272686" y="-428805"/>
            <a:ext cx="5776619" cy="5776619"/>
            <a:chOff x="0" y="0"/>
            <a:chExt cx="812800" cy="812800"/>
          </a:xfrm>
        </p:grpSpPr>
        <p:sp>
          <p:nvSpPr>
            <p:cNvPr id="7" name="Freeform 18">
              <a:extLst>
                <a:ext uri="{FF2B5EF4-FFF2-40B4-BE49-F238E27FC236}">
                  <a16:creationId xmlns:a16="http://schemas.microsoft.com/office/drawing/2014/main" id="{43FF198C-C8A4-58FC-3A35-EF5B4CDE2A96}"/>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id="8" name="TextBox 19">
              <a:extLst>
                <a:ext uri="{FF2B5EF4-FFF2-40B4-BE49-F238E27FC236}">
                  <a16:creationId xmlns:a16="http://schemas.microsoft.com/office/drawing/2014/main" id="{F155DEA5-BE07-8E64-96A3-362536840721}"/>
                </a:ext>
              </a:extLst>
            </p:cNvPr>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9" name="TextBox 26">
            <a:extLst>
              <a:ext uri="{FF2B5EF4-FFF2-40B4-BE49-F238E27FC236}">
                <a16:creationId xmlns:a16="http://schemas.microsoft.com/office/drawing/2014/main" id="{DB8CC491-74E2-5BE5-16FA-928B9311923B}"/>
              </a:ext>
            </a:extLst>
          </p:cNvPr>
          <p:cNvSpPr txBox="1"/>
          <p:nvPr/>
        </p:nvSpPr>
        <p:spPr>
          <a:xfrm>
            <a:off x="6727972" y="1285321"/>
            <a:ext cx="5088480" cy="1608646"/>
          </a:xfrm>
          <a:prstGeom prst="rect">
            <a:avLst/>
          </a:prstGeom>
        </p:spPr>
        <p:txBody>
          <a:bodyPr wrap="square" lIns="0" tIns="0" rIns="0" bIns="0" rtlCol="0" anchor="t">
            <a:spAutoFit/>
          </a:bodyPr>
          <a:lstStyle/>
          <a:p>
            <a:pPr algn="ctr">
              <a:lnSpc>
                <a:spcPts val="6385"/>
              </a:lnSpc>
            </a:pPr>
            <a:r>
              <a:rPr lang="en-US" sz="4800" b="1" dirty="0">
                <a:solidFill>
                  <a:srgbClr val="3A6AD6"/>
                </a:solidFill>
                <a:latin typeface="Poppins Bold"/>
                <a:ea typeface="Poppins Bold"/>
                <a:cs typeface="Poppins Bold"/>
                <a:sym typeface="Poppins Bold"/>
              </a:rPr>
              <a:t>Data Collection Chosen Method</a:t>
            </a:r>
          </a:p>
        </p:txBody>
      </p:sp>
      <p:grpSp>
        <p:nvGrpSpPr>
          <p:cNvPr id="14" name="Group 14">
            <a:extLst>
              <a:ext uri="{FF2B5EF4-FFF2-40B4-BE49-F238E27FC236}">
                <a16:creationId xmlns:a16="http://schemas.microsoft.com/office/drawing/2014/main" id="{E1D48E2B-1CC4-3F81-7665-4CE81712B69C}"/>
              </a:ext>
            </a:extLst>
          </p:cNvPr>
          <p:cNvGrpSpPr/>
          <p:nvPr/>
        </p:nvGrpSpPr>
        <p:grpSpPr>
          <a:xfrm>
            <a:off x="17491799" y="8458418"/>
            <a:ext cx="951769" cy="799882"/>
            <a:chOff x="0" y="0"/>
            <a:chExt cx="967140" cy="812800"/>
          </a:xfrm>
        </p:grpSpPr>
        <p:sp>
          <p:nvSpPr>
            <p:cNvPr id="15" name="Freeform 15">
              <a:extLst>
                <a:ext uri="{FF2B5EF4-FFF2-40B4-BE49-F238E27FC236}">
                  <a16:creationId xmlns:a16="http://schemas.microsoft.com/office/drawing/2014/main" id="{D358943C-3DC3-2C61-2C1D-ACF49E4A3A7E}"/>
                </a:ext>
              </a:extLst>
            </p:cNvPr>
            <p:cNvSpPr/>
            <p:nvPr/>
          </p:nvSpPr>
          <p:spPr>
            <a:xfrm>
              <a:off x="0" y="0"/>
              <a:ext cx="967140" cy="812800"/>
            </a:xfrm>
            <a:custGeom>
              <a:avLst/>
              <a:gdLst/>
              <a:ahLst/>
              <a:cxnLst/>
              <a:rect l="l" t="t" r="r" b="b"/>
              <a:pathLst>
                <a:path w="967140" h="812800">
                  <a:moveTo>
                    <a:pt x="81342" y="0"/>
                  </a:moveTo>
                  <a:lnTo>
                    <a:pt x="885798" y="0"/>
                  </a:lnTo>
                  <a:cubicBezTo>
                    <a:pt x="907371" y="0"/>
                    <a:pt x="928061" y="8570"/>
                    <a:pt x="943315" y="23825"/>
                  </a:cubicBezTo>
                  <a:cubicBezTo>
                    <a:pt x="958570" y="39079"/>
                    <a:pt x="967140" y="59769"/>
                    <a:pt x="967140" y="81342"/>
                  </a:cubicBezTo>
                  <a:lnTo>
                    <a:pt x="967140" y="731458"/>
                  </a:lnTo>
                  <a:cubicBezTo>
                    <a:pt x="967140" y="776382"/>
                    <a:pt x="930722" y="812800"/>
                    <a:pt x="885798" y="812800"/>
                  </a:cubicBezTo>
                  <a:lnTo>
                    <a:pt x="81342" y="812800"/>
                  </a:lnTo>
                  <a:cubicBezTo>
                    <a:pt x="59769" y="812800"/>
                    <a:pt x="39079" y="804230"/>
                    <a:pt x="23825" y="788975"/>
                  </a:cubicBezTo>
                  <a:cubicBezTo>
                    <a:pt x="8570" y="773721"/>
                    <a:pt x="0" y="753031"/>
                    <a:pt x="0" y="731458"/>
                  </a:cubicBezTo>
                  <a:lnTo>
                    <a:pt x="0" y="81342"/>
                  </a:lnTo>
                  <a:cubicBezTo>
                    <a:pt x="0" y="59769"/>
                    <a:pt x="8570" y="39079"/>
                    <a:pt x="23825" y="23825"/>
                  </a:cubicBezTo>
                  <a:cubicBezTo>
                    <a:pt x="39079" y="8570"/>
                    <a:pt x="59769" y="0"/>
                    <a:pt x="81342" y="0"/>
                  </a:cubicBezTo>
                  <a:close/>
                </a:path>
              </a:pathLst>
            </a:custGeom>
            <a:solidFill>
              <a:srgbClr val="3A6AD6"/>
            </a:solidFill>
          </p:spPr>
        </p:sp>
        <p:sp>
          <p:nvSpPr>
            <p:cNvPr id="16" name="TextBox 16">
              <a:extLst>
                <a:ext uri="{FF2B5EF4-FFF2-40B4-BE49-F238E27FC236}">
                  <a16:creationId xmlns:a16="http://schemas.microsoft.com/office/drawing/2014/main" id="{3BCE754B-C16A-DED5-7233-AF3D9D0049D7}"/>
                </a:ext>
              </a:extLst>
            </p:cNvPr>
            <p:cNvSpPr txBox="1"/>
            <p:nvPr/>
          </p:nvSpPr>
          <p:spPr>
            <a:xfrm>
              <a:off x="0" y="-38100"/>
              <a:ext cx="967140" cy="850900"/>
            </a:xfrm>
            <a:prstGeom prst="rect">
              <a:avLst/>
            </a:prstGeom>
          </p:spPr>
          <p:txBody>
            <a:bodyPr lIns="50800" tIns="50800" rIns="50800" bIns="50800" rtlCol="0" anchor="ctr"/>
            <a:lstStyle/>
            <a:p>
              <a:pPr algn="ctr">
                <a:lnSpc>
                  <a:spcPts val="2659"/>
                </a:lnSpc>
              </a:pPr>
              <a:endParaRPr/>
            </a:p>
          </p:txBody>
        </p:sp>
      </p:grpSp>
      <p:sp>
        <p:nvSpPr>
          <p:cNvPr id="17" name="TextBox 17">
            <a:extLst>
              <a:ext uri="{FF2B5EF4-FFF2-40B4-BE49-F238E27FC236}">
                <a16:creationId xmlns:a16="http://schemas.microsoft.com/office/drawing/2014/main" id="{A4A98927-5375-CAD8-8031-BDD237BCA805}"/>
              </a:ext>
            </a:extLst>
          </p:cNvPr>
          <p:cNvSpPr txBox="1"/>
          <p:nvPr/>
        </p:nvSpPr>
        <p:spPr>
          <a:xfrm>
            <a:off x="17674380" y="8710688"/>
            <a:ext cx="442747" cy="257943"/>
          </a:xfrm>
          <a:prstGeom prst="rect">
            <a:avLst/>
          </a:prstGeom>
        </p:spPr>
        <p:txBody>
          <a:bodyPr lIns="0" tIns="0" rIns="0" bIns="0" rtlCol="0" anchor="t">
            <a:spAutoFit/>
          </a:bodyPr>
          <a:lstStyle/>
          <a:p>
            <a:pPr algn="ctr">
              <a:lnSpc>
                <a:spcPts val="2057"/>
              </a:lnSpc>
              <a:spcBef>
                <a:spcPct val="0"/>
              </a:spcBef>
            </a:pPr>
            <a:r>
              <a:rPr lang="en-US" sz="1469" b="1" dirty="0">
                <a:solidFill>
                  <a:srgbClr val="FFFFFF"/>
                </a:solidFill>
                <a:latin typeface="Poppins Bold"/>
                <a:ea typeface="Poppins Bold"/>
                <a:cs typeface="Poppins Bold"/>
                <a:sym typeface="Poppins Bold"/>
              </a:rPr>
              <a:t>15</a:t>
            </a:r>
          </a:p>
        </p:txBody>
      </p:sp>
      <p:sp>
        <p:nvSpPr>
          <p:cNvPr id="21" name="Freeform 21">
            <a:extLst>
              <a:ext uri="{FF2B5EF4-FFF2-40B4-BE49-F238E27FC236}">
                <a16:creationId xmlns:a16="http://schemas.microsoft.com/office/drawing/2014/main" id="{C2A310C8-773D-8945-CA10-0EE3437BE497}"/>
              </a:ext>
            </a:extLst>
          </p:cNvPr>
          <p:cNvSpPr/>
          <p:nvPr/>
        </p:nvSpPr>
        <p:spPr>
          <a:xfrm>
            <a:off x="8576481" y="4856862"/>
            <a:ext cx="1026728" cy="1025445"/>
          </a:xfrm>
          <a:custGeom>
            <a:avLst/>
            <a:gdLst/>
            <a:ahLst/>
            <a:cxnLst/>
            <a:rect l="l" t="t" r="r" b="b"/>
            <a:pathLst>
              <a:path w="1026728" h="1025445">
                <a:moveTo>
                  <a:pt x="0" y="0"/>
                </a:moveTo>
                <a:lnTo>
                  <a:pt x="1026728" y="0"/>
                </a:lnTo>
                <a:lnTo>
                  <a:pt x="1026728" y="1025445"/>
                </a:lnTo>
                <a:lnTo>
                  <a:pt x="0" y="1025445"/>
                </a:lnTo>
                <a:lnTo>
                  <a:pt x="0" y="0"/>
                </a:lnTo>
                <a:close/>
              </a:path>
            </a:pathLst>
          </a:custGeom>
          <a:blipFill>
            <a:blip r:embed="rId2"/>
            <a:stretch>
              <a:fillRect/>
            </a:stretch>
          </a:blipFill>
        </p:spPr>
        <p:txBody>
          <a:bodyPr/>
          <a:lstStyle/>
          <a:p>
            <a:endParaRPr lang="en-US" dirty="0"/>
          </a:p>
        </p:txBody>
      </p:sp>
      <p:grpSp>
        <p:nvGrpSpPr>
          <p:cNvPr id="22" name="Group 22">
            <a:extLst>
              <a:ext uri="{FF2B5EF4-FFF2-40B4-BE49-F238E27FC236}">
                <a16:creationId xmlns:a16="http://schemas.microsoft.com/office/drawing/2014/main" id="{02835B50-E082-BA1A-6249-2BEDA729EAF1}"/>
              </a:ext>
            </a:extLst>
          </p:cNvPr>
          <p:cNvGrpSpPr/>
          <p:nvPr/>
        </p:nvGrpSpPr>
        <p:grpSpPr>
          <a:xfrm>
            <a:off x="8638196" y="4692509"/>
            <a:ext cx="1011607" cy="1011607"/>
            <a:chOff x="0" y="0"/>
            <a:chExt cx="812800" cy="812800"/>
          </a:xfrm>
        </p:grpSpPr>
        <p:sp>
          <p:nvSpPr>
            <p:cNvPr id="23" name="Freeform 23">
              <a:extLst>
                <a:ext uri="{FF2B5EF4-FFF2-40B4-BE49-F238E27FC236}">
                  <a16:creationId xmlns:a16="http://schemas.microsoft.com/office/drawing/2014/main" id="{2C915A1C-78C6-8864-FB22-0379E0105EB0}"/>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id="24" name="TextBox 24">
              <a:extLst>
                <a:ext uri="{FF2B5EF4-FFF2-40B4-BE49-F238E27FC236}">
                  <a16:creationId xmlns:a16="http://schemas.microsoft.com/office/drawing/2014/main" id="{3B7BFDB8-5F52-95C8-5DF7-39E69EDD9F72}"/>
                </a:ext>
              </a:extLst>
            </p:cNvPr>
            <p:cNvSpPr txBox="1"/>
            <p:nvPr/>
          </p:nvSpPr>
          <p:spPr>
            <a:xfrm>
              <a:off x="76200" y="38100"/>
              <a:ext cx="660400" cy="698500"/>
            </a:xfrm>
            <a:prstGeom prst="rect">
              <a:avLst/>
            </a:prstGeom>
          </p:spPr>
          <p:txBody>
            <a:bodyPr lIns="47086" tIns="47086" rIns="47086" bIns="47086" rtlCol="0" anchor="ctr"/>
            <a:lstStyle/>
            <a:p>
              <a:pPr algn="ctr">
                <a:lnSpc>
                  <a:spcPts val="2659"/>
                </a:lnSpc>
                <a:spcBef>
                  <a:spcPct val="0"/>
                </a:spcBef>
              </a:pPr>
              <a:endParaRPr/>
            </a:p>
          </p:txBody>
        </p:sp>
      </p:grpSp>
      <p:sp>
        <p:nvSpPr>
          <p:cNvPr id="74" name="AutoShape 74">
            <a:extLst>
              <a:ext uri="{FF2B5EF4-FFF2-40B4-BE49-F238E27FC236}">
                <a16:creationId xmlns:a16="http://schemas.microsoft.com/office/drawing/2014/main" id="{11FDFCBE-22F4-3166-279E-2E9338FF105F}"/>
              </a:ext>
            </a:extLst>
          </p:cNvPr>
          <p:cNvSpPr/>
          <p:nvPr/>
        </p:nvSpPr>
        <p:spPr>
          <a:xfrm>
            <a:off x="7766528" y="6803054"/>
            <a:ext cx="2754945" cy="0"/>
          </a:xfrm>
          <a:prstGeom prst="line">
            <a:avLst/>
          </a:prstGeom>
          <a:ln w="28575" cap="flat">
            <a:solidFill>
              <a:srgbClr val="F8F8F8"/>
            </a:solidFill>
            <a:prstDash val="solid"/>
            <a:headEnd type="none" w="sm" len="sm"/>
            <a:tailEnd type="none" w="sm" len="sm"/>
          </a:ln>
        </p:spPr>
      </p:sp>
      <p:grpSp>
        <p:nvGrpSpPr>
          <p:cNvPr id="82" name="Group 82">
            <a:extLst>
              <a:ext uri="{FF2B5EF4-FFF2-40B4-BE49-F238E27FC236}">
                <a16:creationId xmlns:a16="http://schemas.microsoft.com/office/drawing/2014/main" id="{AFFFB4CA-D797-238E-F6E3-20CEC999BAEF}"/>
              </a:ext>
            </a:extLst>
          </p:cNvPr>
          <p:cNvGrpSpPr/>
          <p:nvPr/>
        </p:nvGrpSpPr>
        <p:grpSpPr>
          <a:xfrm>
            <a:off x="7706458" y="6677758"/>
            <a:ext cx="218342" cy="218342"/>
            <a:chOff x="0" y="0"/>
            <a:chExt cx="812800" cy="812800"/>
          </a:xfrm>
        </p:grpSpPr>
        <p:sp>
          <p:nvSpPr>
            <p:cNvPr id="83" name="Freeform 83">
              <a:extLst>
                <a:ext uri="{FF2B5EF4-FFF2-40B4-BE49-F238E27FC236}">
                  <a16:creationId xmlns:a16="http://schemas.microsoft.com/office/drawing/2014/main" id="{5A343FD2-5477-A4C3-4795-01F4D03C1618}"/>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A6AD6"/>
            </a:solidFill>
          </p:spPr>
        </p:sp>
        <p:sp>
          <p:nvSpPr>
            <p:cNvPr id="84" name="TextBox 84">
              <a:extLst>
                <a:ext uri="{FF2B5EF4-FFF2-40B4-BE49-F238E27FC236}">
                  <a16:creationId xmlns:a16="http://schemas.microsoft.com/office/drawing/2014/main" id="{B48C18BE-5D2B-39D9-935B-D6007EF3CB6F}"/>
                </a:ext>
              </a:extLst>
            </p:cNvPr>
            <p:cNvSpPr txBox="1"/>
            <p:nvPr/>
          </p:nvSpPr>
          <p:spPr>
            <a:xfrm>
              <a:off x="76200" y="38100"/>
              <a:ext cx="660400" cy="698500"/>
            </a:xfrm>
            <a:prstGeom prst="rect">
              <a:avLst/>
            </a:prstGeom>
          </p:spPr>
          <p:txBody>
            <a:bodyPr lIns="47086" tIns="47086" rIns="47086" bIns="47086" rtlCol="0" anchor="ctr"/>
            <a:lstStyle/>
            <a:p>
              <a:pPr algn="ctr">
                <a:lnSpc>
                  <a:spcPts val="2659"/>
                </a:lnSpc>
                <a:spcBef>
                  <a:spcPct val="0"/>
                </a:spcBef>
              </a:pPr>
              <a:endParaRPr/>
            </a:p>
          </p:txBody>
        </p:sp>
      </p:grpSp>
      <p:grpSp>
        <p:nvGrpSpPr>
          <p:cNvPr id="85" name="Group 85">
            <a:extLst>
              <a:ext uri="{FF2B5EF4-FFF2-40B4-BE49-F238E27FC236}">
                <a16:creationId xmlns:a16="http://schemas.microsoft.com/office/drawing/2014/main" id="{FB4E8817-2543-0027-A7DD-168D47FB87AD}"/>
              </a:ext>
            </a:extLst>
          </p:cNvPr>
          <p:cNvGrpSpPr/>
          <p:nvPr/>
        </p:nvGrpSpPr>
        <p:grpSpPr>
          <a:xfrm>
            <a:off x="10412301" y="6677758"/>
            <a:ext cx="218342" cy="218342"/>
            <a:chOff x="0" y="0"/>
            <a:chExt cx="812800" cy="812800"/>
          </a:xfrm>
        </p:grpSpPr>
        <p:sp>
          <p:nvSpPr>
            <p:cNvPr id="86" name="Freeform 86">
              <a:extLst>
                <a:ext uri="{FF2B5EF4-FFF2-40B4-BE49-F238E27FC236}">
                  <a16:creationId xmlns:a16="http://schemas.microsoft.com/office/drawing/2014/main" id="{2ED8F338-C161-B741-9685-40513D5B874F}"/>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A6AD6"/>
            </a:solidFill>
          </p:spPr>
        </p:sp>
        <p:sp>
          <p:nvSpPr>
            <p:cNvPr id="87" name="TextBox 87">
              <a:extLst>
                <a:ext uri="{FF2B5EF4-FFF2-40B4-BE49-F238E27FC236}">
                  <a16:creationId xmlns:a16="http://schemas.microsoft.com/office/drawing/2014/main" id="{34E21D60-3AA0-7644-B957-930D82931B64}"/>
                </a:ext>
              </a:extLst>
            </p:cNvPr>
            <p:cNvSpPr txBox="1"/>
            <p:nvPr/>
          </p:nvSpPr>
          <p:spPr>
            <a:xfrm>
              <a:off x="76200" y="38100"/>
              <a:ext cx="660400" cy="698500"/>
            </a:xfrm>
            <a:prstGeom prst="rect">
              <a:avLst/>
            </a:prstGeom>
          </p:spPr>
          <p:txBody>
            <a:bodyPr lIns="47086" tIns="47086" rIns="47086" bIns="47086" rtlCol="0" anchor="ctr"/>
            <a:lstStyle/>
            <a:p>
              <a:pPr algn="ctr">
                <a:lnSpc>
                  <a:spcPts val="2659"/>
                </a:lnSpc>
                <a:spcBef>
                  <a:spcPct val="0"/>
                </a:spcBef>
              </a:pPr>
              <a:endParaRPr/>
            </a:p>
          </p:txBody>
        </p:sp>
      </p:grpSp>
      <p:grpSp>
        <p:nvGrpSpPr>
          <p:cNvPr id="10" name="Group 18">
            <a:extLst>
              <a:ext uri="{FF2B5EF4-FFF2-40B4-BE49-F238E27FC236}">
                <a16:creationId xmlns:a16="http://schemas.microsoft.com/office/drawing/2014/main" id="{CFF28B5B-F4DE-D497-5AA4-5D08465DDCFD}"/>
              </a:ext>
            </a:extLst>
          </p:cNvPr>
          <p:cNvGrpSpPr/>
          <p:nvPr/>
        </p:nvGrpSpPr>
        <p:grpSpPr>
          <a:xfrm>
            <a:off x="26964" y="5713395"/>
            <a:ext cx="7436668" cy="2167651"/>
            <a:chOff x="0" y="0"/>
            <a:chExt cx="1013318" cy="260488"/>
          </a:xfrm>
        </p:grpSpPr>
        <p:sp>
          <p:nvSpPr>
            <p:cNvPr id="11" name="Freeform 19">
              <a:extLst>
                <a:ext uri="{FF2B5EF4-FFF2-40B4-BE49-F238E27FC236}">
                  <a16:creationId xmlns:a16="http://schemas.microsoft.com/office/drawing/2014/main" id="{5BCDEC40-E7CF-A1D3-04E5-7DA79B0407AE}"/>
                </a:ext>
              </a:extLst>
            </p:cNvPr>
            <p:cNvSpPr/>
            <p:nvPr/>
          </p:nvSpPr>
          <p:spPr>
            <a:xfrm>
              <a:off x="0" y="0"/>
              <a:ext cx="1013318" cy="260488"/>
            </a:xfrm>
            <a:custGeom>
              <a:avLst/>
              <a:gdLst/>
              <a:ahLst/>
              <a:cxnLst/>
              <a:rect l="l" t="t" r="r" b="b"/>
              <a:pathLst>
                <a:path w="1013318" h="260488">
                  <a:moveTo>
                    <a:pt x="130244" y="0"/>
                  </a:moveTo>
                  <a:lnTo>
                    <a:pt x="883074" y="0"/>
                  </a:lnTo>
                  <a:cubicBezTo>
                    <a:pt x="917617" y="0"/>
                    <a:pt x="950745" y="13722"/>
                    <a:pt x="975171" y="38148"/>
                  </a:cubicBezTo>
                  <a:cubicBezTo>
                    <a:pt x="999596" y="62573"/>
                    <a:pt x="1013318" y="95701"/>
                    <a:pt x="1013318" y="130244"/>
                  </a:cubicBezTo>
                  <a:lnTo>
                    <a:pt x="1013318" y="130244"/>
                  </a:lnTo>
                  <a:cubicBezTo>
                    <a:pt x="1013318" y="202175"/>
                    <a:pt x="955006" y="260488"/>
                    <a:pt x="883074" y="260488"/>
                  </a:cubicBezTo>
                  <a:lnTo>
                    <a:pt x="130244" y="260488"/>
                  </a:lnTo>
                  <a:cubicBezTo>
                    <a:pt x="95701" y="260488"/>
                    <a:pt x="62573" y="246766"/>
                    <a:pt x="38148" y="222340"/>
                  </a:cubicBezTo>
                  <a:cubicBezTo>
                    <a:pt x="13722" y="197915"/>
                    <a:pt x="0" y="164787"/>
                    <a:pt x="0" y="130244"/>
                  </a:cubicBezTo>
                  <a:lnTo>
                    <a:pt x="0" y="130244"/>
                  </a:lnTo>
                  <a:cubicBezTo>
                    <a:pt x="0" y="95701"/>
                    <a:pt x="13722" y="62573"/>
                    <a:pt x="38148" y="38148"/>
                  </a:cubicBezTo>
                  <a:cubicBezTo>
                    <a:pt x="62573" y="13722"/>
                    <a:pt x="95701" y="0"/>
                    <a:pt x="130244" y="0"/>
                  </a:cubicBezTo>
                  <a:close/>
                </a:path>
              </a:pathLst>
            </a:custGeom>
            <a:solidFill>
              <a:srgbClr val="F8F8F8"/>
            </a:solidFill>
          </p:spPr>
        </p:sp>
        <p:sp>
          <p:nvSpPr>
            <p:cNvPr id="12" name="TextBox 20">
              <a:extLst>
                <a:ext uri="{FF2B5EF4-FFF2-40B4-BE49-F238E27FC236}">
                  <a16:creationId xmlns:a16="http://schemas.microsoft.com/office/drawing/2014/main" id="{8E2FCAC2-41DA-2094-A371-FBD900F277DF}"/>
                </a:ext>
              </a:extLst>
            </p:cNvPr>
            <p:cNvSpPr txBox="1"/>
            <p:nvPr/>
          </p:nvSpPr>
          <p:spPr>
            <a:xfrm>
              <a:off x="0" y="-38100"/>
              <a:ext cx="1013318" cy="298588"/>
            </a:xfrm>
            <a:prstGeom prst="rect">
              <a:avLst/>
            </a:prstGeom>
          </p:spPr>
          <p:txBody>
            <a:bodyPr lIns="47086" tIns="47086" rIns="47086" bIns="47086" rtlCol="0" anchor="ctr"/>
            <a:lstStyle/>
            <a:p>
              <a:pPr algn="ctr">
                <a:lnSpc>
                  <a:spcPts val="2659"/>
                </a:lnSpc>
              </a:pPr>
              <a:endParaRPr/>
            </a:p>
          </p:txBody>
        </p:sp>
      </p:grpSp>
      <p:sp>
        <p:nvSpPr>
          <p:cNvPr id="38" name="TextBox 25">
            <a:extLst>
              <a:ext uri="{FF2B5EF4-FFF2-40B4-BE49-F238E27FC236}">
                <a16:creationId xmlns:a16="http://schemas.microsoft.com/office/drawing/2014/main" id="{07751E69-D015-B9F2-D3FA-B7A479BF07D8}"/>
              </a:ext>
            </a:extLst>
          </p:cNvPr>
          <p:cNvSpPr txBox="1"/>
          <p:nvPr/>
        </p:nvSpPr>
        <p:spPr>
          <a:xfrm>
            <a:off x="11326381" y="6348102"/>
            <a:ext cx="6047219" cy="852798"/>
          </a:xfrm>
          <a:prstGeom prst="rect">
            <a:avLst/>
          </a:prstGeom>
        </p:spPr>
        <p:txBody>
          <a:bodyPr wrap="square" lIns="0" tIns="0" rIns="0" bIns="0" rtlCol="0" anchor="t">
            <a:spAutoFit/>
          </a:bodyPr>
          <a:lstStyle/>
          <a:p>
            <a:pPr>
              <a:lnSpc>
                <a:spcPts val="3422"/>
              </a:lnSpc>
              <a:spcBef>
                <a:spcPct val="0"/>
              </a:spcBef>
            </a:pPr>
            <a:r>
              <a:rPr lang="en-GB" sz="2500" b="1" dirty="0">
                <a:solidFill>
                  <a:schemeClr val="bg1">
                    <a:lumMod val="50000"/>
                  </a:schemeClr>
                </a:solidFill>
                <a:latin typeface="Poppins"/>
                <a:ea typeface="Poppins"/>
                <a:cs typeface="Poppins"/>
                <a:sym typeface="Poppins"/>
              </a:rPr>
              <a:t> </a:t>
            </a:r>
            <a:r>
              <a:rPr lang="en-GB" sz="2500" b="1" dirty="0">
                <a:solidFill>
                  <a:schemeClr val="accent6">
                    <a:lumMod val="75000"/>
                  </a:schemeClr>
                </a:solidFill>
                <a:latin typeface="Poppins"/>
                <a:ea typeface="Poppins"/>
                <a:cs typeface="Poppins"/>
                <a:sym typeface="Poppins"/>
              </a:rPr>
              <a:t>Proven approach: </a:t>
            </a:r>
            <a:r>
              <a:rPr lang="en-GB" sz="2500" b="1" dirty="0">
                <a:solidFill>
                  <a:schemeClr val="bg1">
                    <a:lumMod val="50000"/>
                  </a:schemeClr>
                </a:solidFill>
                <a:latin typeface="Poppins"/>
                <a:ea typeface="Poppins"/>
                <a:cs typeface="Poppins"/>
                <a:sym typeface="Poppins"/>
              </a:rPr>
              <a:t>Successfully used in similar sustainability studies.</a:t>
            </a:r>
          </a:p>
        </p:txBody>
      </p:sp>
      <p:sp>
        <p:nvSpPr>
          <p:cNvPr id="39" name="TextBox 26">
            <a:extLst>
              <a:ext uri="{FF2B5EF4-FFF2-40B4-BE49-F238E27FC236}">
                <a16:creationId xmlns:a16="http://schemas.microsoft.com/office/drawing/2014/main" id="{2B9E4F39-A607-81D9-E985-099E180B9D53}"/>
              </a:ext>
            </a:extLst>
          </p:cNvPr>
          <p:cNvSpPr txBox="1"/>
          <p:nvPr/>
        </p:nvSpPr>
        <p:spPr>
          <a:xfrm>
            <a:off x="6346615" y="6420708"/>
            <a:ext cx="741046" cy="376513"/>
          </a:xfrm>
          <a:prstGeom prst="rect">
            <a:avLst/>
          </a:prstGeom>
        </p:spPr>
        <p:txBody>
          <a:bodyPr lIns="0" tIns="0" rIns="0" bIns="0" rtlCol="0" anchor="t">
            <a:spAutoFit/>
          </a:bodyPr>
          <a:lstStyle/>
          <a:p>
            <a:pPr algn="ctr">
              <a:lnSpc>
                <a:spcPts val="3055"/>
              </a:lnSpc>
              <a:spcBef>
                <a:spcPct val="0"/>
              </a:spcBef>
            </a:pPr>
            <a:endParaRPr lang="en-US" sz="2182" b="1" dirty="0">
              <a:solidFill>
                <a:srgbClr val="3A6AD6"/>
              </a:solidFill>
              <a:latin typeface="Poppins Bold"/>
              <a:ea typeface="Poppins Bold"/>
              <a:cs typeface="Poppins Bold"/>
              <a:sym typeface="Poppins Bold"/>
            </a:endParaRPr>
          </a:p>
        </p:txBody>
      </p:sp>
      <p:sp>
        <p:nvSpPr>
          <p:cNvPr id="66" name="TextBox 25">
            <a:extLst>
              <a:ext uri="{FF2B5EF4-FFF2-40B4-BE49-F238E27FC236}">
                <a16:creationId xmlns:a16="http://schemas.microsoft.com/office/drawing/2014/main" id="{83912B95-AFF5-AE11-9E49-2C45AF3C7FB9}"/>
              </a:ext>
            </a:extLst>
          </p:cNvPr>
          <p:cNvSpPr txBox="1"/>
          <p:nvPr/>
        </p:nvSpPr>
        <p:spPr>
          <a:xfrm>
            <a:off x="533400" y="6134100"/>
            <a:ext cx="7011460" cy="1299587"/>
          </a:xfrm>
          <a:prstGeom prst="rect">
            <a:avLst/>
          </a:prstGeom>
        </p:spPr>
        <p:txBody>
          <a:bodyPr wrap="square" lIns="0" tIns="0" rIns="0" bIns="0" rtlCol="0" anchor="t">
            <a:spAutoFit/>
          </a:bodyPr>
          <a:lstStyle/>
          <a:p>
            <a:pPr>
              <a:lnSpc>
                <a:spcPts val="3422"/>
              </a:lnSpc>
              <a:spcBef>
                <a:spcPct val="0"/>
              </a:spcBef>
            </a:pPr>
            <a:r>
              <a:rPr lang="en-GB" sz="2500" b="1" dirty="0">
                <a:solidFill>
                  <a:schemeClr val="bg1">
                    <a:lumMod val="50000"/>
                  </a:schemeClr>
                </a:solidFill>
                <a:latin typeface="Poppins"/>
                <a:ea typeface="Poppins"/>
                <a:cs typeface="Poppins"/>
                <a:sym typeface="Poppins"/>
              </a:rPr>
              <a:t> </a:t>
            </a:r>
            <a:r>
              <a:rPr lang="en-GB" sz="2500" b="1" dirty="0">
                <a:solidFill>
                  <a:schemeClr val="accent6">
                    <a:lumMod val="75000"/>
                  </a:schemeClr>
                </a:solidFill>
                <a:latin typeface="Poppins"/>
                <a:ea typeface="Poppins"/>
                <a:cs typeface="Poppins"/>
                <a:sym typeface="Poppins"/>
              </a:rPr>
              <a:t>Reason for choice: </a:t>
            </a:r>
            <a:r>
              <a:rPr lang="en-GB" sz="2500" b="1" dirty="0">
                <a:solidFill>
                  <a:schemeClr val="bg1">
                    <a:lumMod val="50000"/>
                  </a:schemeClr>
                </a:solidFill>
                <a:latin typeface="Poppins"/>
                <a:ea typeface="Poppins"/>
                <a:cs typeface="Poppins"/>
                <a:sym typeface="Poppins"/>
              </a:rPr>
              <a:t>Aligns with research aim measures emissions &amp; performance objectively and efficiently.</a:t>
            </a:r>
          </a:p>
        </p:txBody>
      </p:sp>
      <p:grpSp>
        <p:nvGrpSpPr>
          <p:cNvPr id="35" name="Group 18">
            <a:extLst>
              <a:ext uri="{FF2B5EF4-FFF2-40B4-BE49-F238E27FC236}">
                <a16:creationId xmlns:a16="http://schemas.microsoft.com/office/drawing/2014/main" id="{96CED473-0A26-1714-BC22-43CC28DE0F72}"/>
              </a:ext>
            </a:extLst>
          </p:cNvPr>
          <p:cNvGrpSpPr/>
          <p:nvPr/>
        </p:nvGrpSpPr>
        <p:grpSpPr>
          <a:xfrm>
            <a:off x="5516968" y="7969294"/>
            <a:ext cx="8732431" cy="1822406"/>
            <a:chOff x="0" y="0"/>
            <a:chExt cx="1013318" cy="260488"/>
          </a:xfrm>
        </p:grpSpPr>
        <p:sp>
          <p:nvSpPr>
            <p:cNvPr id="41" name="Freeform 19">
              <a:extLst>
                <a:ext uri="{FF2B5EF4-FFF2-40B4-BE49-F238E27FC236}">
                  <a16:creationId xmlns:a16="http://schemas.microsoft.com/office/drawing/2014/main" id="{EF454D70-4EB8-4381-61C3-E3D725AEA02B}"/>
                </a:ext>
              </a:extLst>
            </p:cNvPr>
            <p:cNvSpPr/>
            <p:nvPr/>
          </p:nvSpPr>
          <p:spPr>
            <a:xfrm>
              <a:off x="0" y="0"/>
              <a:ext cx="1013318" cy="260488"/>
            </a:xfrm>
            <a:custGeom>
              <a:avLst/>
              <a:gdLst/>
              <a:ahLst/>
              <a:cxnLst/>
              <a:rect l="l" t="t" r="r" b="b"/>
              <a:pathLst>
                <a:path w="1013318" h="260488">
                  <a:moveTo>
                    <a:pt x="130244" y="0"/>
                  </a:moveTo>
                  <a:lnTo>
                    <a:pt x="883074" y="0"/>
                  </a:lnTo>
                  <a:cubicBezTo>
                    <a:pt x="917617" y="0"/>
                    <a:pt x="950745" y="13722"/>
                    <a:pt x="975171" y="38148"/>
                  </a:cubicBezTo>
                  <a:cubicBezTo>
                    <a:pt x="999596" y="62573"/>
                    <a:pt x="1013318" y="95701"/>
                    <a:pt x="1013318" y="130244"/>
                  </a:cubicBezTo>
                  <a:lnTo>
                    <a:pt x="1013318" y="130244"/>
                  </a:lnTo>
                  <a:cubicBezTo>
                    <a:pt x="1013318" y="202175"/>
                    <a:pt x="955006" y="260488"/>
                    <a:pt x="883074" y="260488"/>
                  </a:cubicBezTo>
                  <a:lnTo>
                    <a:pt x="130244" y="260488"/>
                  </a:lnTo>
                  <a:cubicBezTo>
                    <a:pt x="95701" y="260488"/>
                    <a:pt x="62573" y="246766"/>
                    <a:pt x="38148" y="222340"/>
                  </a:cubicBezTo>
                  <a:cubicBezTo>
                    <a:pt x="13722" y="197915"/>
                    <a:pt x="0" y="164787"/>
                    <a:pt x="0" y="130244"/>
                  </a:cubicBezTo>
                  <a:lnTo>
                    <a:pt x="0" y="130244"/>
                  </a:lnTo>
                  <a:cubicBezTo>
                    <a:pt x="0" y="95701"/>
                    <a:pt x="13722" y="62573"/>
                    <a:pt x="38148" y="38148"/>
                  </a:cubicBezTo>
                  <a:cubicBezTo>
                    <a:pt x="62573" y="13722"/>
                    <a:pt x="95701" y="0"/>
                    <a:pt x="130244" y="0"/>
                  </a:cubicBezTo>
                  <a:close/>
                </a:path>
              </a:pathLst>
            </a:custGeom>
            <a:solidFill>
              <a:srgbClr val="F8F8F8"/>
            </a:solidFill>
          </p:spPr>
        </p:sp>
        <p:sp>
          <p:nvSpPr>
            <p:cNvPr id="42" name="TextBox 20">
              <a:extLst>
                <a:ext uri="{FF2B5EF4-FFF2-40B4-BE49-F238E27FC236}">
                  <a16:creationId xmlns:a16="http://schemas.microsoft.com/office/drawing/2014/main" id="{623E2A19-DF25-E45A-0F17-2C6878068E84}"/>
                </a:ext>
              </a:extLst>
            </p:cNvPr>
            <p:cNvSpPr txBox="1"/>
            <p:nvPr/>
          </p:nvSpPr>
          <p:spPr>
            <a:xfrm>
              <a:off x="0" y="-38100"/>
              <a:ext cx="1013318" cy="298588"/>
            </a:xfrm>
            <a:prstGeom prst="rect">
              <a:avLst/>
            </a:prstGeom>
          </p:spPr>
          <p:txBody>
            <a:bodyPr lIns="47086" tIns="47086" rIns="47086" bIns="47086" rtlCol="0" anchor="ctr"/>
            <a:lstStyle/>
            <a:p>
              <a:pPr algn="ctr">
                <a:lnSpc>
                  <a:spcPts val="2659"/>
                </a:lnSpc>
              </a:pPr>
              <a:endParaRPr/>
            </a:p>
          </p:txBody>
        </p:sp>
      </p:grpSp>
      <p:sp>
        <p:nvSpPr>
          <p:cNvPr id="55" name="TextBox 26">
            <a:extLst>
              <a:ext uri="{FF2B5EF4-FFF2-40B4-BE49-F238E27FC236}">
                <a16:creationId xmlns:a16="http://schemas.microsoft.com/office/drawing/2014/main" id="{87D3C5FD-518A-40BA-379D-2283D58170D9}"/>
              </a:ext>
            </a:extLst>
          </p:cNvPr>
          <p:cNvSpPr txBox="1"/>
          <p:nvPr/>
        </p:nvSpPr>
        <p:spPr>
          <a:xfrm>
            <a:off x="11909215" y="8692583"/>
            <a:ext cx="741046" cy="376513"/>
          </a:xfrm>
          <a:prstGeom prst="rect">
            <a:avLst/>
          </a:prstGeom>
        </p:spPr>
        <p:txBody>
          <a:bodyPr lIns="0" tIns="0" rIns="0" bIns="0" rtlCol="0" anchor="t">
            <a:spAutoFit/>
          </a:bodyPr>
          <a:lstStyle/>
          <a:p>
            <a:pPr algn="ctr">
              <a:lnSpc>
                <a:spcPts val="3055"/>
              </a:lnSpc>
              <a:spcBef>
                <a:spcPct val="0"/>
              </a:spcBef>
            </a:pPr>
            <a:endParaRPr lang="en-US" sz="2182" b="1" dirty="0">
              <a:solidFill>
                <a:srgbClr val="3A6AD6"/>
              </a:solidFill>
              <a:latin typeface="Poppins Bold"/>
              <a:ea typeface="Poppins Bold"/>
              <a:cs typeface="Poppins Bold"/>
              <a:sym typeface="Poppins Bold"/>
            </a:endParaRPr>
          </a:p>
        </p:txBody>
      </p:sp>
      <p:sp>
        <p:nvSpPr>
          <p:cNvPr id="56" name="TextBox 25">
            <a:extLst>
              <a:ext uri="{FF2B5EF4-FFF2-40B4-BE49-F238E27FC236}">
                <a16:creationId xmlns:a16="http://schemas.microsoft.com/office/drawing/2014/main" id="{175DF67F-641D-9E66-2701-75F62D2495B1}"/>
              </a:ext>
            </a:extLst>
          </p:cNvPr>
          <p:cNvSpPr txBox="1"/>
          <p:nvPr/>
        </p:nvSpPr>
        <p:spPr>
          <a:xfrm>
            <a:off x="6019800" y="8267700"/>
            <a:ext cx="8153400" cy="1724831"/>
          </a:xfrm>
          <a:prstGeom prst="rect">
            <a:avLst/>
          </a:prstGeom>
        </p:spPr>
        <p:txBody>
          <a:bodyPr wrap="square" lIns="0" tIns="0" rIns="0" bIns="0" rtlCol="0" anchor="t">
            <a:spAutoFit/>
          </a:bodyPr>
          <a:lstStyle/>
          <a:p>
            <a:pPr>
              <a:lnSpc>
                <a:spcPts val="3422"/>
              </a:lnSpc>
              <a:spcBef>
                <a:spcPct val="0"/>
              </a:spcBef>
            </a:pPr>
            <a:r>
              <a:rPr lang="en-GB" sz="2500" b="1" dirty="0">
                <a:solidFill>
                  <a:schemeClr val="accent6">
                    <a:lumMod val="75000"/>
                  </a:schemeClr>
                </a:solidFill>
                <a:latin typeface="Poppins"/>
                <a:ea typeface="Poppins"/>
                <a:cs typeface="Poppins"/>
                <a:sym typeface="Poppins"/>
              </a:rPr>
              <a:t> Advantages over other methods: </a:t>
            </a:r>
            <a:r>
              <a:rPr lang="en-GB" sz="2500" b="1" dirty="0">
                <a:solidFill>
                  <a:schemeClr val="bg1">
                    <a:lumMod val="50000"/>
                  </a:schemeClr>
                </a:solidFill>
                <a:latin typeface="Poppins"/>
                <a:ea typeface="Poppins"/>
                <a:cs typeface="Poppins"/>
                <a:sym typeface="Poppins"/>
              </a:rPr>
              <a:t>More accurate, less error-prone, scalable vs. manual logging or log file analysis.</a:t>
            </a:r>
          </a:p>
          <a:p>
            <a:pPr>
              <a:lnSpc>
                <a:spcPts val="3422"/>
              </a:lnSpc>
              <a:spcBef>
                <a:spcPct val="0"/>
              </a:spcBef>
            </a:pPr>
            <a:endParaRPr lang="en-GB" sz="2500" b="1" dirty="0">
              <a:solidFill>
                <a:schemeClr val="bg1">
                  <a:lumMod val="50000"/>
                </a:schemeClr>
              </a:solidFill>
              <a:latin typeface="Poppins"/>
              <a:ea typeface="Poppins"/>
              <a:cs typeface="Poppins"/>
              <a:sym typeface="Poppins"/>
            </a:endParaRPr>
          </a:p>
        </p:txBody>
      </p:sp>
      <p:pic>
        <p:nvPicPr>
          <p:cNvPr id="9218" name="Picture 2" descr="Chosen Svg Png Icon Free Download (#544042) - OnlineWebFonts.COM">
            <a:extLst>
              <a:ext uri="{FF2B5EF4-FFF2-40B4-BE49-F238E27FC236}">
                <a16:creationId xmlns:a16="http://schemas.microsoft.com/office/drawing/2014/main" id="{E19CC254-3712-61F4-8CCC-A1D47CED691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458200" y="176529"/>
            <a:ext cx="1233171" cy="1233171"/>
          </a:xfrm>
          <a:prstGeom prst="rect">
            <a:avLst/>
          </a:prstGeom>
          <a:noFill/>
          <a:extLst>
            <a:ext uri="{909E8E84-426E-40DD-AFC4-6F175D3DCCD1}">
              <a14:hiddenFill xmlns:a14="http://schemas.microsoft.com/office/drawing/2010/main">
                <a:solidFill>
                  <a:srgbClr val="FFFFFF"/>
                </a:solidFill>
              </a14:hiddenFill>
            </a:ext>
          </a:extLst>
        </p:spPr>
      </p:pic>
      <p:grpSp>
        <p:nvGrpSpPr>
          <p:cNvPr id="18" name="Group 18">
            <a:extLst>
              <a:ext uri="{FF2B5EF4-FFF2-40B4-BE49-F238E27FC236}">
                <a16:creationId xmlns:a16="http://schemas.microsoft.com/office/drawing/2014/main" id="{B1476E58-01F2-B643-70CE-788BAA56DC76}"/>
              </a:ext>
            </a:extLst>
          </p:cNvPr>
          <p:cNvGrpSpPr/>
          <p:nvPr/>
        </p:nvGrpSpPr>
        <p:grpSpPr>
          <a:xfrm>
            <a:off x="3962400" y="3100800"/>
            <a:ext cx="10591800" cy="2167651"/>
            <a:chOff x="0" y="0"/>
            <a:chExt cx="1013318" cy="260488"/>
          </a:xfrm>
        </p:grpSpPr>
        <p:sp>
          <p:nvSpPr>
            <p:cNvPr id="19" name="Freeform 19">
              <a:extLst>
                <a:ext uri="{FF2B5EF4-FFF2-40B4-BE49-F238E27FC236}">
                  <a16:creationId xmlns:a16="http://schemas.microsoft.com/office/drawing/2014/main" id="{DE147AEA-8CA8-6C92-8951-48A9D3DB2859}"/>
                </a:ext>
              </a:extLst>
            </p:cNvPr>
            <p:cNvSpPr/>
            <p:nvPr/>
          </p:nvSpPr>
          <p:spPr>
            <a:xfrm>
              <a:off x="0" y="0"/>
              <a:ext cx="1013318" cy="260488"/>
            </a:xfrm>
            <a:custGeom>
              <a:avLst/>
              <a:gdLst/>
              <a:ahLst/>
              <a:cxnLst/>
              <a:rect l="l" t="t" r="r" b="b"/>
              <a:pathLst>
                <a:path w="1013318" h="260488">
                  <a:moveTo>
                    <a:pt x="130244" y="0"/>
                  </a:moveTo>
                  <a:lnTo>
                    <a:pt x="883074" y="0"/>
                  </a:lnTo>
                  <a:cubicBezTo>
                    <a:pt x="917617" y="0"/>
                    <a:pt x="950745" y="13722"/>
                    <a:pt x="975171" y="38148"/>
                  </a:cubicBezTo>
                  <a:cubicBezTo>
                    <a:pt x="999596" y="62573"/>
                    <a:pt x="1013318" y="95701"/>
                    <a:pt x="1013318" y="130244"/>
                  </a:cubicBezTo>
                  <a:lnTo>
                    <a:pt x="1013318" y="130244"/>
                  </a:lnTo>
                  <a:cubicBezTo>
                    <a:pt x="1013318" y="202175"/>
                    <a:pt x="955006" y="260488"/>
                    <a:pt x="883074" y="260488"/>
                  </a:cubicBezTo>
                  <a:lnTo>
                    <a:pt x="130244" y="260488"/>
                  </a:lnTo>
                  <a:cubicBezTo>
                    <a:pt x="95701" y="260488"/>
                    <a:pt x="62573" y="246766"/>
                    <a:pt x="38148" y="222340"/>
                  </a:cubicBezTo>
                  <a:cubicBezTo>
                    <a:pt x="13722" y="197915"/>
                    <a:pt x="0" y="164787"/>
                    <a:pt x="0" y="130244"/>
                  </a:cubicBezTo>
                  <a:lnTo>
                    <a:pt x="0" y="130244"/>
                  </a:lnTo>
                  <a:cubicBezTo>
                    <a:pt x="0" y="95701"/>
                    <a:pt x="13722" y="62573"/>
                    <a:pt x="38148" y="38148"/>
                  </a:cubicBezTo>
                  <a:cubicBezTo>
                    <a:pt x="62573" y="13722"/>
                    <a:pt x="95701" y="0"/>
                    <a:pt x="130244" y="0"/>
                  </a:cubicBezTo>
                  <a:close/>
                </a:path>
              </a:pathLst>
            </a:custGeom>
            <a:solidFill>
              <a:srgbClr val="F8F8F8"/>
            </a:solidFill>
          </p:spPr>
        </p:sp>
        <p:sp>
          <p:nvSpPr>
            <p:cNvPr id="20" name="TextBox 20">
              <a:extLst>
                <a:ext uri="{FF2B5EF4-FFF2-40B4-BE49-F238E27FC236}">
                  <a16:creationId xmlns:a16="http://schemas.microsoft.com/office/drawing/2014/main" id="{13DB283F-00A7-DF8A-408F-3BC5BC0D9238}"/>
                </a:ext>
              </a:extLst>
            </p:cNvPr>
            <p:cNvSpPr txBox="1"/>
            <p:nvPr/>
          </p:nvSpPr>
          <p:spPr>
            <a:xfrm>
              <a:off x="0" y="-38100"/>
              <a:ext cx="1013318" cy="298588"/>
            </a:xfrm>
            <a:prstGeom prst="rect">
              <a:avLst/>
            </a:prstGeom>
          </p:spPr>
          <p:txBody>
            <a:bodyPr lIns="47086" tIns="47086" rIns="47086" bIns="47086" rtlCol="0" anchor="ctr"/>
            <a:lstStyle/>
            <a:p>
              <a:pPr algn="ctr">
                <a:lnSpc>
                  <a:spcPts val="2659"/>
                </a:lnSpc>
              </a:pPr>
              <a:endParaRPr/>
            </a:p>
          </p:txBody>
        </p:sp>
      </p:grpSp>
      <p:sp>
        <p:nvSpPr>
          <p:cNvPr id="25" name="TextBox 25">
            <a:extLst>
              <a:ext uri="{FF2B5EF4-FFF2-40B4-BE49-F238E27FC236}">
                <a16:creationId xmlns:a16="http://schemas.microsoft.com/office/drawing/2014/main" id="{46D7B935-F0E6-4E49-96CB-EF32EA2A656A}"/>
              </a:ext>
            </a:extLst>
          </p:cNvPr>
          <p:cNvSpPr txBox="1"/>
          <p:nvPr/>
        </p:nvSpPr>
        <p:spPr>
          <a:xfrm>
            <a:off x="3420030" y="3579256"/>
            <a:ext cx="11899860" cy="877933"/>
          </a:xfrm>
          <a:prstGeom prst="rect">
            <a:avLst/>
          </a:prstGeom>
        </p:spPr>
        <p:txBody>
          <a:bodyPr wrap="square" lIns="0" tIns="0" rIns="0" bIns="0" rtlCol="0" anchor="t">
            <a:spAutoFit/>
          </a:bodyPr>
          <a:lstStyle/>
          <a:p>
            <a:pPr algn="ctr">
              <a:lnSpc>
                <a:spcPts val="3422"/>
              </a:lnSpc>
              <a:spcBef>
                <a:spcPct val="0"/>
              </a:spcBef>
            </a:pPr>
            <a:r>
              <a:rPr lang="en-GB" sz="3200" b="1" dirty="0">
                <a:solidFill>
                  <a:schemeClr val="accent6">
                    <a:lumMod val="75000"/>
                  </a:schemeClr>
                </a:solidFill>
                <a:latin typeface="Poppins"/>
                <a:ea typeface="Poppins"/>
                <a:cs typeface="Poppins"/>
                <a:sym typeface="Poppins"/>
              </a:rPr>
              <a:t>Chosen Method: </a:t>
            </a:r>
          </a:p>
          <a:p>
            <a:pPr algn="ctr">
              <a:lnSpc>
                <a:spcPts val="3422"/>
              </a:lnSpc>
              <a:spcBef>
                <a:spcPct val="0"/>
              </a:spcBef>
            </a:pPr>
            <a:r>
              <a:rPr lang="en-GB" sz="3200" b="1" dirty="0">
                <a:solidFill>
                  <a:schemeClr val="accent6">
                    <a:lumMod val="75000"/>
                  </a:schemeClr>
                </a:solidFill>
                <a:latin typeface="Poppins"/>
                <a:ea typeface="Poppins"/>
                <a:cs typeface="Poppins"/>
                <a:sym typeface="Poppins"/>
              </a:rPr>
              <a:t>Software-based Instrumentation (</a:t>
            </a:r>
            <a:r>
              <a:rPr lang="en-GB" sz="3200" b="1" dirty="0" err="1">
                <a:solidFill>
                  <a:schemeClr val="accent6">
                    <a:lumMod val="75000"/>
                  </a:schemeClr>
                </a:solidFill>
                <a:latin typeface="Poppins"/>
                <a:ea typeface="Poppins"/>
                <a:cs typeface="Poppins"/>
                <a:sym typeface="Poppins"/>
              </a:rPr>
              <a:t>CodeCarbon</a:t>
            </a:r>
            <a:r>
              <a:rPr lang="en-GB" sz="3200" b="1" dirty="0">
                <a:solidFill>
                  <a:schemeClr val="accent6">
                    <a:lumMod val="75000"/>
                  </a:schemeClr>
                </a:solidFill>
                <a:latin typeface="Poppins"/>
                <a:ea typeface="Poppins"/>
                <a:cs typeface="Poppins"/>
                <a:sym typeface="Poppins"/>
              </a:rPr>
              <a:t>)</a:t>
            </a:r>
          </a:p>
        </p:txBody>
      </p:sp>
    </p:spTree>
    <p:extLst>
      <p:ext uri="{BB962C8B-B14F-4D97-AF65-F5344CB8AC3E}">
        <p14:creationId xmlns:p14="http://schemas.microsoft.com/office/powerpoint/2010/main" val="275450606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Click="0">
        <p159:morph option="byObject"/>
      </p:transition>
    </mc:Choice>
    <mc:Fallback xmlns="">
      <p:transition spd="slow" advClick="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2" presetClass="emph" presetSubtype="0" fill="hold" grpId="0" nodeType="afterEffect">
                                  <p:stCondLst>
                                    <p:cond delay="0"/>
                                  </p:stCondLst>
                                  <p:childTnLst>
                                    <p:animRot by="120000">
                                      <p:cBhvr>
                                        <p:cTn id="6" dur="200" fill="hold">
                                          <p:stCondLst>
                                            <p:cond delay="0"/>
                                          </p:stCondLst>
                                        </p:cTn>
                                        <p:tgtEl>
                                          <p:spTgt spid="9"/>
                                        </p:tgtEl>
                                        <p:attrNameLst>
                                          <p:attrName>r</p:attrName>
                                        </p:attrNameLst>
                                      </p:cBhvr>
                                    </p:animRot>
                                    <p:animRot by="-240000">
                                      <p:cBhvr>
                                        <p:cTn id="7" dur="400" fill="hold">
                                          <p:stCondLst>
                                            <p:cond delay="400"/>
                                          </p:stCondLst>
                                        </p:cTn>
                                        <p:tgtEl>
                                          <p:spTgt spid="9"/>
                                        </p:tgtEl>
                                        <p:attrNameLst>
                                          <p:attrName>r</p:attrName>
                                        </p:attrNameLst>
                                      </p:cBhvr>
                                    </p:animRot>
                                    <p:animRot by="240000">
                                      <p:cBhvr>
                                        <p:cTn id="8" dur="400" fill="hold">
                                          <p:stCondLst>
                                            <p:cond delay="800"/>
                                          </p:stCondLst>
                                        </p:cTn>
                                        <p:tgtEl>
                                          <p:spTgt spid="9"/>
                                        </p:tgtEl>
                                        <p:attrNameLst>
                                          <p:attrName>r</p:attrName>
                                        </p:attrNameLst>
                                      </p:cBhvr>
                                    </p:animRot>
                                    <p:animRot by="-240000">
                                      <p:cBhvr>
                                        <p:cTn id="9" dur="400" fill="hold">
                                          <p:stCondLst>
                                            <p:cond delay="1200"/>
                                          </p:stCondLst>
                                        </p:cTn>
                                        <p:tgtEl>
                                          <p:spTgt spid="9"/>
                                        </p:tgtEl>
                                        <p:attrNameLst>
                                          <p:attrName>r</p:attrName>
                                        </p:attrNameLst>
                                      </p:cBhvr>
                                    </p:animRot>
                                    <p:animRot by="120000">
                                      <p:cBhvr>
                                        <p:cTn id="10" dur="400" fill="hold">
                                          <p:stCondLst>
                                            <p:cond delay="1600"/>
                                          </p:stCondLst>
                                        </p:cTn>
                                        <p:tgtEl>
                                          <p:spTgt spid="9"/>
                                        </p:tgtEl>
                                        <p:attrNameLst>
                                          <p:attrName>r</p:attrName>
                                        </p:attrNameLst>
                                      </p:cBhvr>
                                    </p:animRot>
                                  </p:childTnLst>
                                </p:cTn>
                              </p:par>
                            </p:childTnLst>
                          </p:cTn>
                        </p:par>
                        <p:par>
                          <p:cTn id="11" fill="hold">
                            <p:stCondLst>
                              <p:cond delay="2000"/>
                            </p:stCondLst>
                            <p:childTnLst>
                              <p:par>
                                <p:cTn id="12" presetID="45" presetClass="entr" presetSubtype="0" fill="hold" nodeType="afterEffect">
                                  <p:stCondLst>
                                    <p:cond delay="0"/>
                                  </p:stCondLst>
                                  <p:childTnLst>
                                    <p:set>
                                      <p:cBhvr>
                                        <p:cTn id="13" dur="1" fill="hold">
                                          <p:stCondLst>
                                            <p:cond delay="0"/>
                                          </p:stCondLst>
                                        </p:cTn>
                                        <p:tgtEl>
                                          <p:spTgt spid="9218"/>
                                        </p:tgtEl>
                                        <p:attrNameLst>
                                          <p:attrName>style.visibility</p:attrName>
                                        </p:attrNameLst>
                                      </p:cBhvr>
                                      <p:to>
                                        <p:strVal val="visible"/>
                                      </p:to>
                                    </p:set>
                                    <p:animEffect transition="in" filter="fade">
                                      <p:cBhvr>
                                        <p:cTn id="14" dur="2000"/>
                                        <p:tgtEl>
                                          <p:spTgt spid="9218"/>
                                        </p:tgtEl>
                                      </p:cBhvr>
                                    </p:animEffect>
                                    <p:anim calcmode="lin" valueType="num">
                                      <p:cBhvr>
                                        <p:cTn id="15" dur="2000" fill="hold"/>
                                        <p:tgtEl>
                                          <p:spTgt spid="9218"/>
                                        </p:tgtEl>
                                        <p:attrNameLst>
                                          <p:attrName>ppt_w</p:attrName>
                                        </p:attrNameLst>
                                      </p:cBhvr>
                                      <p:tavLst>
                                        <p:tav tm="0" fmla="#ppt_w*sin(2.5*pi*$)">
                                          <p:val>
                                            <p:fltVal val="0"/>
                                          </p:val>
                                        </p:tav>
                                        <p:tav tm="100000">
                                          <p:val>
                                            <p:fltVal val="1"/>
                                          </p:val>
                                        </p:tav>
                                      </p:tavLst>
                                    </p:anim>
                                    <p:anim calcmode="lin" valueType="num">
                                      <p:cBhvr>
                                        <p:cTn id="16" dur="2000" fill="hold"/>
                                        <p:tgtEl>
                                          <p:spTgt spid="9218"/>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FFA0F2-13D4-DE28-27CE-B6CF5407B73E}"/>
            </a:ext>
          </a:extLst>
        </p:cNvPr>
        <p:cNvGrpSpPr/>
        <p:nvPr/>
      </p:nvGrpSpPr>
      <p:grpSpPr>
        <a:xfrm>
          <a:off x="0" y="0"/>
          <a:ext cx="0" cy="0"/>
          <a:chOff x="0" y="0"/>
          <a:chExt cx="0" cy="0"/>
        </a:xfrm>
      </p:grpSpPr>
      <p:sp>
        <p:nvSpPr>
          <p:cNvPr id="12315" name="Freeform 17">
            <a:extLst>
              <a:ext uri="{FF2B5EF4-FFF2-40B4-BE49-F238E27FC236}">
                <a16:creationId xmlns:a16="http://schemas.microsoft.com/office/drawing/2014/main" id="{7DA3CAC8-6198-6192-9403-307494CF4D9F}"/>
              </a:ext>
            </a:extLst>
          </p:cNvPr>
          <p:cNvSpPr/>
          <p:nvPr/>
        </p:nvSpPr>
        <p:spPr>
          <a:xfrm>
            <a:off x="14192927" y="2520377"/>
            <a:ext cx="1634041" cy="1634041"/>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id="12314" name="Freeform 17">
            <a:extLst>
              <a:ext uri="{FF2B5EF4-FFF2-40B4-BE49-F238E27FC236}">
                <a16:creationId xmlns:a16="http://schemas.microsoft.com/office/drawing/2014/main" id="{1980C9E8-2E10-5D95-82FB-01C21865342A}"/>
              </a:ext>
            </a:extLst>
          </p:cNvPr>
          <p:cNvSpPr/>
          <p:nvPr/>
        </p:nvSpPr>
        <p:spPr>
          <a:xfrm>
            <a:off x="2416873" y="2673122"/>
            <a:ext cx="1634041" cy="1634041"/>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grpSp>
        <p:nvGrpSpPr>
          <p:cNvPr id="9" name="Group 9">
            <a:extLst>
              <a:ext uri="{FF2B5EF4-FFF2-40B4-BE49-F238E27FC236}">
                <a16:creationId xmlns:a16="http://schemas.microsoft.com/office/drawing/2014/main" id="{D7EB58D4-8038-A9EF-DD3C-151CF48340D6}"/>
              </a:ext>
            </a:extLst>
          </p:cNvPr>
          <p:cNvGrpSpPr/>
          <p:nvPr/>
        </p:nvGrpSpPr>
        <p:grpSpPr>
          <a:xfrm>
            <a:off x="2702224" y="-6441776"/>
            <a:ext cx="12883553" cy="12883553"/>
            <a:chOff x="0" y="0"/>
            <a:chExt cx="812800" cy="812800"/>
          </a:xfrm>
        </p:grpSpPr>
        <p:sp>
          <p:nvSpPr>
            <p:cNvPr id="10" name="Freeform 10">
              <a:extLst>
                <a:ext uri="{FF2B5EF4-FFF2-40B4-BE49-F238E27FC236}">
                  <a16:creationId xmlns:a16="http://schemas.microsoft.com/office/drawing/2014/main" id="{28A61A69-80E5-9E25-FDBF-0166D6608980}"/>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8F8F8"/>
            </a:solidFill>
          </p:spPr>
        </p:sp>
        <p:sp>
          <p:nvSpPr>
            <p:cNvPr id="11" name="TextBox 11">
              <a:extLst>
                <a:ext uri="{FF2B5EF4-FFF2-40B4-BE49-F238E27FC236}">
                  <a16:creationId xmlns:a16="http://schemas.microsoft.com/office/drawing/2014/main" id="{FB980DF0-EE71-2155-1756-D247E9A48B74}"/>
                </a:ext>
              </a:extLst>
            </p:cNvPr>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12" name="Freeform 12">
            <a:extLst>
              <a:ext uri="{FF2B5EF4-FFF2-40B4-BE49-F238E27FC236}">
                <a16:creationId xmlns:a16="http://schemas.microsoft.com/office/drawing/2014/main" id="{F0A5AC1C-2F4B-D3E3-2E50-A5BB394F805F}"/>
              </a:ext>
            </a:extLst>
          </p:cNvPr>
          <p:cNvSpPr/>
          <p:nvPr/>
        </p:nvSpPr>
        <p:spPr>
          <a:xfrm>
            <a:off x="2971800" y="-5010643"/>
            <a:ext cx="12046347" cy="11398704"/>
          </a:xfrm>
          <a:custGeom>
            <a:avLst/>
            <a:gdLst/>
            <a:ahLst/>
            <a:cxnLst/>
            <a:rect l="l" t="t" r="r" b="b"/>
            <a:pathLst>
              <a:path w="11069128" h="11055291">
                <a:moveTo>
                  <a:pt x="0" y="0"/>
                </a:moveTo>
                <a:lnTo>
                  <a:pt x="11069128" y="0"/>
                </a:lnTo>
                <a:lnTo>
                  <a:pt x="11069128" y="11055291"/>
                </a:lnTo>
                <a:lnTo>
                  <a:pt x="0" y="11055291"/>
                </a:lnTo>
                <a:lnTo>
                  <a:pt x="0" y="0"/>
                </a:lnTo>
                <a:close/>
              </a:path>
            </a:pathLst>
          </a:custGeom>
          <a:blipFill>
            <a:blip r:embed="rId2"/>
            <a:stretch>
              <a:fillRect/>
            </a:stretch>
          </a:blipFill>
        </p:spPr>
      </p:sp>
      <p:grpSp>
        <p:nvGrpSpPr>
          <p:cNvPr id="13" name="Group 13">
            <a:extLst>
              <a:ext uri="{FF2B5EF4-FFF2-40B4-BE49-F238E27FC236}">
                <a16:creationId xmlns:a16="http://schemas.microsoft.com/office/drawing/2014/main" id="{7187BEDE-4460-84A5-7A33-2E3A33711131}"/>
              </a:ext>
            </a:extLst>
          </p:cNvPr>
          <p:cNvGrpSpPr/>
          <p:nvPr/>
        </p:nvGrpSpPr>
        <p:grpSpPr>
          <a:xfrm>
            <a:off x="3690946" y="-5453054"/>
            <a:ext cx="10906108" cy="10906108"/>
            <a:chOff x="0" y="0"/>
            <a:chExt cx="812800" cy="812800"/>
          </a:xfrm>
        </p:grpSpPr>
        <p:sp>
          <p:nvSpPr>
            <p:cNvPr id="14" name="Freeform 14">
              <a:extLst>
                <a:ext uri="{FF2B5EF4-FFF2-40B4-BE49-F238E27FC236}">
                  <a16:creationId xmlns:a16="http://schemas.microsoft.com/office/drawing/2014/main" id="{0A990428-A460-E272-6611-CF4B5C837B12}"/>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id="15" name="TextBox 15">
              <a:extLst>
                <a:ext uri="{FF2B5EF4-FFF2-40B4-BE49-F238E27FC236}">
                  <a16:creationId xmlns:a16="http://schemas.microsoft.com/office/drawing/2014/main" id="{DA2B79EA-509A-32AB-4383-2AF582DA2275}"/>
                </a:ext>
              </a:extLst>
            </p:cNvPr>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29" name="TextBox 29">
            <a:extLst>
              <a:ext uri="{FF2B5EF4-FFF2-40B4-BE49-F238E27FC236}">
                <a16:creationId xmlns:a16="http://schemas.microsoft.com/office/drawing/2014/main" id="{E9CB2569-A119-D737-F534-D066DC48FB7C}"/>
              </a:ext>
            </a:extLst>
          </p:cNvPr>
          <p:cNvSpPr txBox="1"/>
          <p:nvPr/>
        </p:nvSpPr>
        <p:spPr>
          <a:xfrm>
            <a:off x="1001628" y="5462158"/>
            <a:ext cx="5139841" cy="3006061"/>
          </a:xfrm>
          <a:prstGeom prst="rect">
            <a:avLst/>
          </a:prstGeom>
        </p:spPr>
        <p:txBody>
          <a:bodyPr lIns="47086" tIns="47086" rIns="47086" bIns="47086" rtlCol="0" anchor="ctr"/>
          <a:lstStyle/>
          <a:p>
            <a:pPr algn="ctr">
              <a:lnSpc>
                <a:spcPts val="2659"/>
              </a:lnSpc>
            </a:pPr>
            <a:endParaRPr/>
          </a:p>
        </p:txBody>
      </p:sp>
      <p:sp>
        <p:nvSpPr>
          <p:cNvPr id="57" name="Text 0">
            <a:extLst>
              <a:ext uri="{FF2B5EF4-FFF2-40B4-BE49-F238E27FC236}">
                <a16:creationId xmlns:a16="http://schemas.microsoft.com/office/drawing/2014/main" id="{64CEFD90-6DD3-78DB-441A-764053957BD3}"/>
              </a:ext>
            </a:extLst>
          </p:cNvPr>
          <p:cNvSpPr/>
          <p:nvPr/>
        </p:nvSpPr>
        <p:spPr>
          <a:xfrm>
            <a:off x="2962850" y="2122767"/>
            <a:ext cx="11799070" cy="2886875"/>
          </a:xfrm>
          <a:prstGeom prst="rect">
            <a:avLst/>
          </a:prstGeom>
          <a:noFill/>
          <a:ln/>
        </p:spPr>
        <p:txBody>
          <a:bodyPr wrap="none" lIns="0" tIns="0" rIns="0" bIns="0" rtlCol="0" anchor="t"/>
          <a:lstStyle/>
          <a:p>
            <a:pPr algn="ctr">
              <a:lnSpc>
                <a:spcPts val="7000"/>
              </a:lnSpc>
            </a:pPr>
            <a:r>
              <a:rPr lang="en-US" sz="5563" b="1" dirty="0">
                <a:solidFill>
                  <a:srgbClr val="7068F4"/>
                </a:solidFill>
                <a:latin typeface="Barlow Bold" pitchFamily="34" charset="0"/>
                <a:ea typeface="Barlow Bold" pitchFamily="34" charset="-122"/>
                <a:cs typeface="Barlow Bold" pitchFamily="34" charset="-120"/>
              </a:rPr>
              <a:t>Data Pre Processing </a:t>
            </a:r>
          </a:p>
          <a:p>
            <a:pPr algn="ctr">
              <a:lnSpc>
                <a:spcPts val="7000"/>
              </a:lnSpc>
            </a:pPr>
            <a:r>
              <a:rPr lang="en-US" sz="5563" b="1" dirty="0">
                <a:solidFill>
                  <a:srgbClr val="7068F4"/>
                </a:solidFill>
                <a:latin typeface="Barlow Bold" pitchFamily="34" charset="0"/>
                <a:ea typeface="Barlow Bold" pitchFamily="34" charset="-122"/>
                <a:cs typeface="Barlow Bold" pitchFamily="34" charset="-120"/>
              </a:rPr>
              <a:t>and </a:t>
            </a:r>
          </a:p>
          <a:p>
            <a:pPr algn="ctr">
              <a:lnSpc>
                <a:spcPts val="7000"/>
              </a:lnSpc>
            </a:pPr>
            <a:r>
              <a:rPr lang="en-US" sz="5563" b="1" dirty="0">
                <a:solidFill>
                  <a:srgbClr val="7068F4"/>
                </a:solidFill>
                <a:latin typeface="Barlow Bold" pitchFamily="34" charset="0"/>
                <a:ea typeface="Barlow Bold" pitchFamily="34" charset="-122"/>
                <a:cs typeface="Barlow Bold" pitchFamily="34" charset="-120"/>
              </a:rPr>
              <a:t>Basic Analysis</a:t>
            </a:r>
          </a:p>
        </p:txBody>
      </p:sp>
      <p:grpSp>
        <p:nvGrpSpPr>
          <p:cNvPr id="58" name="Group 27">
            <a:extLst>
              <a:ext uri="{FF2B5EF4-FFF2-40B4-BE49-F238E27FC236}">
                <a16:creationId xmlns:a16="http://schemas.microsoft.com/office/drawing/2014/main" id="{92105856-0F46-5531-A044-16B4F4CDAD96}"/>
              </a:ext>
            </a:extLst>
          </p:cNvPr>
          <p:cNvGrpSpPr/>
          <p:nvPr/>
        </p:nvGrpSpPr>
        <p:grpSpPr>
          <a:xfrm>
            <a:off x="6365681" y="6155239"/>
            <a:ext cx="5139841" cy="2819922"/>
            <a:chOff x="0" y="0"/>
            <a:chExt cx="1052050" cy="577197"/>
          </a:xfrm>
        </p:grpSpPr>
        <p:sp>
          <p:nvSpPr>
            <p:cNvPr id="59" name="Freeform 28">
              <a:extLst>
                <a:ext uri="{FF2B5EF4-FFF2-40B4-BE49-F238E27FC236}">
                  <a16:creationId xmlns:a16="http://schemas.microsoft.com/office/drawing/2014/main" id="{1FC61084-D03D-3CFD-250C-15CAD8393F9F}"/>
                </a:ext>
              </a:extLst>
            </p:cNvPr>
            <p:cNvSpPr/>
            <p:nvPr/>
          </p:nvSpPr>
          <p:spPr>
            <a:xfrm>
              <a:off x="0" y="0"/>
              <a:ext cx="1052050" cy="577197"/>
            </a:xfrm>
            <a:custGeom>
              <a:avLst/>
              <a:gdLst/>
              <a:ahLst/>
              <a:cxnLst/>
              <a:rect l="l" t="t" r="r" b="b"/>
              <a:pathLst>
                <a:path w="1052050" h="577197">
                  <a:moveTo>
                    <a:pt x="75313" y="0"/>
                  </a:moveTo>
                  <a:lnTo>
                    <a:pt x="976737" y="0"/>
                  </a:lnTo>
                  <a:cubicBezTo>
                    <a:pt x="1018332" y="0"/>
                    <a:pt x="1052050" y="33719"/>
                    <a:pt x="1052050" y="75313"/>
                  </a:cubicBezTo>
                  <a:lnTo>
                    <a:pt x="1052050" y="501884"/>
                  </a:lnTo>
                  <a:cubicBezTo>
                    <a:pt x="1052050" y="543478"/>
                    <a:pt x="1018332" y="577197"/>
                    <a:pt x="976737" y="577197"/>
                  </a:cubicBezTo>
                  <a:lnTo>
                    <a:pt x="75313" y="577197"/>
                  </a:lnTo>
                  <a:cubicBezTo>
                    <a:pt x="33719" y="577197"/>
                    <a:pt x="0" y="543478"/>
                    <a:pt x="0" y="501884"/>
                  </a:cubicBezTo>
                  <a:lnTo>
                    <a:pt x="0" y="75313"/>
                  </a:lnTo>
                  <a:cubicBezTo>
                    <a:pt x="0" y="33719"/>
                    <a:pt x="33719" y="0"/>
                    <a:pt x="75313" y="0"/>
                  </a:cubicBezTo>
                  <a:close/>
                </a:path>
              </a:pathLst>
            </a:custGeom>
            <a:solidFill>
              <a:srgbClr val="F8F8F8"/>
            </a:solidFill>
          </p:spPr>
          <p:txBody>
            <a:bodyPr/>
            <a:lstStyle/>
            <a:p>
              <a:endParaRPr lang="en-US" dirty="0"/>
            </a:p>
          </p:txBody>
        </p:sp>
        <p:sp>
          <p:nvSpPr>
            <p:cNvPr id="60" name="TextBox 29">
              <a:extLst>
                <a:ext uri="{FF2B5EF4-FFF2-40B4-BE49-F238E27FC236}">
                  <a16:creationId xmlns:a16="http://schemas.microsoft.com/office/drawing/2014/main" id="{E623E60C-4874-7679-70CD-42486B07D10C}"/>
                </a:ext>
              </a:extLst>
            </p:cNvPr>
            <p:cNvSpPr txBox="1"/>
            <p:nvPr/>
          </p:nvSpPr>
          <p:spPr>
            <a:xfrm>
              <a:off x="0" y="-38100"/>
              <a:ext cx="1052050" cy="615297"/>
            </a:xfrm>
            <a:prstGeom prst="rect">
              <a:avLst/>
            </a:prstGeom>
          </p:spPr>
          <p:txBody>
            <a:bodyPr lIns="47086" tIns="47086" rIns="47086" bIns="47086" rtlCol="0" anchor="ctr"/>
            <a:lstStyle/>
            <a:p>
              <a:pPr algn="ctr">
                <a:lnSpc>
                  <a:spcPts val="2659"/>
                </a:lnSpc>
              </a:pPr>
              <a:endParaRPr/>
            </a:p>
          </p:txBody>
        </p:sp>
      </p:grpSp>
      <p:grpSp>
        <p:nvGrpSpPr>
          <p:cNvPr id="63" name="Group 27">
            <a:extLst>
              <a:ext uri="{FF2B5EF4-FFF2-40B4-BE49-F238E27FC236}">
                <a16:creationId xmlns:a16="http://schemas.microsoft.com/office/drawing/2014/main" id="{FB18CD87-42D0-FE9F-D879-D31375E7DA07}"/>
              </a:ext>
            </a:extLst>
          </p:cNvPr>
          <p:cNvGrpSpPr/>
          <p:nvPr/>
        </p:nvGrpSpPr>
        <p:grpSpPr>
          <a:xfrm>
            <a:off x="12192002" y="3943975"/>
            <a:ext cx="5139841" cy="2819922"/>
            <a:chOff x="0" y="0"/>
            <a:chExt cx="1052050" cy="577197"/>
          </a:xfrm>
        </p:grpSpPr>
        <p:sp>
          <p:nvSpPr>
            <p:cNvPr id="12288" name="Freeform 28">
              <a:extLst>
                <a:ext uri="{FF2B5EF4-FFF2-40B4-BE49-F238E27FC236}">
                  <a16:creationId xmlns:a16="http://schemas.microsoft.com/office/drawing/2014/main" id="{D831A40E-FFF3-B230-0931-28A55362FE9F}"/>
                </a:ext>
              </a:extLst>
            </p:cNvPr>
            <p:cNvSpPr/>
            <p:nvPr/>
          </p:nvSpPr>
          <p:spPr>
            <a:xfrm>
              <a:off x="0" y="0"/>
              <a:ext cx="1052050" cy="577197"/>
            </a:xfrm>
            <a:custGeom>
              <a:avLst/>
              <a:gdLst/>
              <a:ahLst/>
              <a:cxnLst/>
              <a:rect l="l" t="t" r="r" b="b"/>
              <a:pathLst>
                <a:path w="1052050" h="577197">
                  <a:moveTo>
                    <a:pt x="75313" y="0"/>
                  </a:moveTo>
                  <a:lnTo>
                    <a:pt x="976737" y="0"/>
                  </a:lnTo>
                  <a:cubicBezTo>
                    <a:pt x="1018332" y="0"/>
                    <a:pt x="1052050" y="33719"/>
                    <a:pt x="1052050" y="75313"/>
                  </a:cubicBezTo>
                  <a:lnTo>
                    <a:pt x="1052050" y="501884"/>
                  </a:lnTo>
                  <a:cubicBezTo>
                    <a:pt x="1052050" y="543478"/>
                    <a:pt x="1018332" y="577197"/>
                    <a:pt x="976737" y="577197"/>
                  </a:cubicBezTo>
                  <a:lnTo>
                    <a:pt x="75313" y="577197"/>
                  </a:lnTo>
                  <a:cubicBezTo>
                    <a:pt x="33719" y="577197"/>
                    <a:pt x="0" y="543478"/>
                    <a:pt x="0" y="501884"/>
                  </a:cubicBezTo>
                  <a:lnTo>
                    <a:pt x="0" y="75313"/>
                  </a:lnTo>
                  <a:cubicBezTo>
                    <a:pt x="0" y="33719"/>
                    <a:pt x="33719" y="0"/>
                    <a:pt x="75313" y="0"/>
                  </a:cubicBezTo>
                  <a:close/>
                </a:path>
              </a:pathLst>
            </a:custGeom>
            <a:solidFill>
              <a:srgbClr val="F8F8F8"/>
            </a:solidFill>
          </p:spPr>
          <p:txBody>
            <a:bodyPr/>
            <a:lstStyle/>
            <a:p>
              <a:endParaRPr lang="en-US" dirty="0"/>
            </a:p>
          </p:txBody>
        </p:sp>
        <p:sp>
          <p:nvSpPr>
            <p:cNvPr id="12289" name="TextBox 29">
              <a:extLst>
                <a:ext uri="{FF2B5EF4-FFF2-40B4-BE49-F238E27FC236}">
                  <a16:creationId xmlns:a16="http://schemas.microsoft.com/office/drawing/2014/main" id="{6857F41C-0CDC-0458-74B7-3BAC403A63E7}"/>
                </a:ext>
              </a:extLst>
            </p:cNvPr>
            <p:cNvSpPr txBox="1"/>
            <p:nvPr/>
          </p:nvSpPr>
          <p:spPr>
            <a:xfrm>
              <a:off x="0" y="-38100"/>
              <a:ext cx="1052050" cy="615297"/>
            </a:xfrm>
            <a:prstGeom prst="rect">
              <a:avLst/>
            </a:prstGeom>
          </p:spPr>
          <p:txBody>
            <a:bodyPr lIns="47086" tIns="47086" rIns="47086" bIns="47086" rtlCol="0" anchor="ctr"/>
            <a:lstStyle/>
            <a:p>
              <a:pPr algn="ctr">
                <a:lnSpc>
                  <a:spcPts val="2659"/>
                </a:lnSpc>
              </a:pPr>
              <a:endParaRPr/>
            </a:p>
          </p:txBody>
        </p:sp>
      </p:grpSp>
      <p:grpSp>
        <p:nvGrpSpPr>
          <p:cNvPr id="12293" name="Group 27">
            <a:extLst>
              <a:ext uri="{FF2B5EF4-FFF2-40B4-BE49-F238E27FC236}">
                <a16:creationId xmlns:a16="http://schemas.microsoft.com/office/drawing/2014/main" id="{A87D6FC6-E479-98A8-F20C-1F0D64BDAB1D}"/>
              </a:ext>
            </a:extLst>
          </p:cNvPr>
          <p:cNvGrpSpPr/>
          <p:nvPr/>
        </p:nvGrpSpPr>
        <p:grpSpPr>
          <a:xfrm>
            <a:off x="575159" y="7048500"/>
            <a:ext cx="5139841" cy="2819922"/>
            <a:chOff x="0" y="0"/>
            <a:chExt cx="1052050" cy="577197"/>
          </a:xfrm>
        </p:grpSpPr>
        <p:sp>
          <p:nvSpPr>
            <p:cNvPr id="12294" name="Freeform 28">
              <a:extLst>
                <a:ext uri="{FF2B5EF4-FFF2-40B4-BE49-F238E27FC236}">
                  <a16:creationId xmlns:a16="http://schemas.microsoft.com/office/drawing/2014/main" id="{E55C9F88-CF9A-F537-96B3-32BE4816857A}"/>
                </a:ext>
              </a:extLst>
            </p:cNvPr>
            <p:cNvSpPr/>
            <p:nvPr/>
          </p:nvSpPr>
          <p:spPr>
            <a:xfrm>
              <a:off x="0" y="0"/>
              <a:ext cx="1052050" cy="577197"/>
            </a:xfrm>
            <a:custGeom>
              <a:avLst/>
              <a:gdLst/>
              <a:ahLst/>
              <a:cxnLst/>
              <a:rect l="l" t="t" r="r" b="b"/>
              <a:pathLst>
                <a:path w="1052050" h="577197">
                  <a:moveTo>
                    <a:pt x="75313" y="0"/>
                  </a:moveTo>
                  <a:lnTo>
                    <a:pt x="976737" y="0"/>
                  </a:lnTo>
                  <a:cubicBezTo>
                    <a:pt x="1018332" y="0"/>
                    <a:pt x="1052050" y="33719"/>
                    <a:pt x="1052050" y="75313"/>
                  </a:cubicBezTo>
                  <a:lnTo>
                    <a:pt x="1052050" y="501884"/>
                  </a:lnTo>
                  <a:cubicBezTo>
                    <a:pt x="1052050" y="543478"/>
                    <a:pt x="1018332" y="577197"/>
                    <a:pt x="976737" y="577197"/>
                  </a:cubicBezTo>
                  <a:lnTo>
                    <a:pt x="75313" y="577197"/>
                  </a:lnTo>
                  <a:cubicBezTo>
                    <a:pt x="33719" y="577197"/>
                    <a:pt x="0" y="543478"/>
                    <a:pt x="0" y="501884"/>
                  </a:cubicBezTo>
                  <a:lnTo>
                    <a:pt x="0" y="75313"/>
                  </a:lnTo>
                  <a:cubicBezTo>
                    <a:pt x="0" y="33719"/>
                    <a:pt x="33719" y="0"/>
                    <a:pt x="75313" y="0"/>
                  </a:cubicBezTo>
                  <a:close/>
                </a:path>
              </a:pathLst>
            </a:custGeom>
            <a:solidFill>
              <a:srgbClr val="F8F8F8"/>
            </a:solidFill>
          </p:spPr>
          <p:txBody>
            <a:bodyPr/>
            <a:lstStyle/>
            <a:p>
              <a:endParaRPr lang="en-US" dirty="0"/>
            </a:p>
          </p:txBody>
        </p:sp>
        <p:sp>
          <p:nvSpPr>
            <p:cNvPr id="12295" name="TextBox 29">
              <a:extLst>
                <a:ext uri="{FF2B5EF4-FFF2-40B4-BE49-F238E27FC236}">
                  <a16:creationId xmlns:a16="http://schemas.microsoft.com/office/drawing/2014/main" id="{3B5BEE38-E3BA-9D4A-C780-58ED54CC3C8F}"/>
                </a:ext>
              </a:extLst>
            </p:cNvPr>
            <p:cNvSpPr txBox="1"/>
            <p:nvPr/>
          </p:nvSpPr>
          <p:spPr>
            <a:xfrm>
              <a:off x="0" y="-38100"/>
              <a:ext cx="1052050" cy="615297"/>
            </a:xfrm>
            <a:prstGeom prst="rect">
              <a:avLst/>
            </a:prstGeom>
          </p:spPr>
          <p:txBody>
            <a:bodyPr lIns="47086" tIns="47086" rIns="47086" bIns="47086" rtlCol="0" anchor="ctr"/>
            <a:lstStyle/>
            <a:p>
              <a:pPr algn="ctr">
                <a:lnSpc>
                  <a:spcPts val="2659"/>
                </a:lnSpc>
              </a:pPr>
              <a:endParaRPr/>
            </a:p>
          </p:txBody>
        </p:sp>
      </p:grpSp>
      <p:grpSp>
        <p:nvGrpSpPr>
          <p:cNvPr id="12298" name="Group 27">
            <a:extLst>
              <a:ext uri="{FF2B5EF4-FFF2-40B4-BE49-F238E27FC236}">
                <a16:creationId xmlns:a16="http://schemas.microsoft.com/office/drawing/2014/main" id="{D8E97E3A-FABE-6CBE-324D-3D04D072730B}"/>
              </a:ext>
            </a:extLst>
          </p:cNvPr>
          <p:cNvGrpSpPr/>
          <p:nvPr/>
        </p:nvGrpSpPr>
        <p:grpSpPr>
          <a:xfrm>
            <a:off x="533400" y="3771900"/>
            <a:ext cx="5139841" cy="2819922"/>
            <a:chOff x="0" y="0"/>
            <a:chExt cx="1052050" cy="577197"/>
          </a:xfrm>
        </p:grpSpPr>
        <p:sp>
          <p:nvSpPr>
            <p:cNvPr id="12299" name="Freeform 28">
              <a:extLst>
                <a:ext uri="{FF2B5EF4-FFF2-40B4-BE49-F238E27FC236}">
                  <a16:creationId xmlns:a16="http://schemas.microsoft.com/office/drawing/2014/main" id="{C8999151-5E6C-6466-886E-4C51BCAE69C7}"/>
                </a:ext>
              </a:extLst>
            </p:cNvPr>
            <p:cNvSpPr/>
            <p:nvPr/>
          </p:nvSpPr>
          <p:spPr>
            <a:xfrm>
              <a:off x="0" y="0"/>
              <a:ext cx="1052050" cy="577197"/>
            </a:xfrm>
            <a:custGeom>
              <a:avLst/>
              <a:gdLst/>
              <a:ahLst/>
              <a:cxnLst/>
              <a:rect l="l" t="t" r="r" b="b"/>
              <a:pathLst>
                <a:path w="1052050" h="577197">
                  <a:moveTo>
                    <a:pt x="75313" y="0"/>
                  </a:moveTo>
                  <a:lnTo>
                    <a:pt x="976737" y="0"/>
                  </a:lnTo>
                  <a:cubicBezTo>
                    <a:pt x="1018332" y="0"/>
                    <a:pt x="1052050" y="33719"/>
                    <a:pt x="1052050" y="75313"/>
                  </a:cubicBezTo>
                  <a:lnTo>
                    <a:pt x="1052050" y="501884"/>
                  </a:lnTo>
                  <a:cubicBezTo>
                    <a:pt x="1052050" y="543478"/>
                    <a:pt x="1018332" y="577197"/>
                    <a:pt x="976737" y="577197"/>
                  </a:cubicBezTo>
                  <a:lnTo>
                    <a:pt x="75313" y="577197"/>
                  </a:lnTo>
                  <a:cubicBezTo>
                    <a:pt x="33719" y="577197"/>
                    <a:pt x="0" y="543478"/>
                    <a:pt x="0" y="501884"/>
                  </a:cubicBezTo>
                  <a:lnTo>
                    <a:pt x="0" y="75313"/>
                  </a:lnTo>
                  <a:cubicBezTo>
                    <a:pt x="0" y="33719"/>
                    <a:pt x="33719" y="0"/>
                    <a:pt x="75313" y="0"/>
                  </a:cubicBezTo>
                  <a:close/>
                </a:path>
              </a:pathLst>
            </a:custGeom>
            <a:solidFill>
              <a:srgbClr val="F8F8F8"/>
            </a:solidFill>
          </p:spPr>
          <p:txBody>
            <a:bodyPr/>
            <a:lstStyle/>
            <a:p>
              <a:endParaRPr lang="en-US" dirty="0"/>
            </a:p>
          </p:txBody>
        </p:sp>
        <p:sp>
          <p:nvSpPr>
            <p:cNvPr id="12300" name="TextBox 29">
              <a:extLst>
                <a:ext uri="{FF2B5EF4-FFF2-40B4-BE49-F238E27FC236}">
                  <a16:creationId xmlns:a16="http://schemas.microsoft.com/office/drawing/2014/main" id="{C4117490-A120-F260-493B-582ACB8BB32A}"/>
                </a:ext>
              </a:extLst>
            </p:cNvPr>
            <p:cNvSpPr txBox="1"/>
            <p:nvPr/>
          </p:nvSpPr>
          <p:spPr>
            <a:xfrm>
              <a:off x="0" y="-38100"/>
              <a:ext cx="1052050" cy="615297"/>
            </a:xfrm>
            <a:prstGeom prst="rect">
              <a:avLst/>
            </a:prstGeom>
          </p:spPr>
          <p:txBody>
            <a:bodyPr lIns="47086" tIns="47086" rIns="47086" bIns="47086" rtlCol="0" anchor="ctr"/>
            <a:lstStyle/>
            <a:p>
              <a:pPr algn="ctr">
                <a:lnSpc>
                  <a:spcPts val="2659"/>
                </a:lnSpc>
              </a:pPr>
              <a:endParaRPr/>
            </a:p>
          </p:txBody>
        </p:sp>
      </p:grpSp>
      <p:grpSp>
        <p:nvGrpSpPr>
          <p:cNvPr id="12303" name="Group 27">
            <a:extLst>
              <a:ext uri="{FF2B5EF4-FFF2-40B4-BE49-F238E27FC236}">
                <a16:creationId xmlns:a16="http://schemas.microsoft.com/office/drawing/2014/main" id="{A1EC9B1E-253C-35A7-03BF-47CCFEA8B3DB}"/>
              </a:ext>
            </a:extLst>
          </p:cNvPr>
          <p:cNvGrpSpPr/>
          <p:nvPr/>
        </p:nvGrpSpPr>
        <p:grpSpPr>
          <a:xfrm>
            <a:off x="12192000" y="7010963"/>
            <a:ext cx="5139841" cy="2819922"/>
            <a:chOff x="0" y="0"/>
            <a:chExt cx="1052050" cy="577197"/>
          </a:xfrm>
        </p:grpSpPr>
        <p:sp>
          <p:nvSpPr>
            <p:cNvPr id="12304" name="Freeform 28">
              <a:extLst>
                <a:ext uri="{FF2B5EF4-FFF2-40B4-BE49-F238E27FC236}">
                  <a16:creationId xmlns:a16="http://schemas.microsoft.com/office/drawing/2014/main" id="{D6348650-3289-F5F7-4A86-FD8BD8917D24}"/>
                </a:ext>
              </a:extLst>
            </p:cNvPr>
            <p:cNvSpPr/>
            <p:nvPr/>
          </p:nvSpPr>
          <p:spPr>
            <a:xfrm>
              <a:off x="0" y="0"/>
              <a:ext cx="1052050" cy="577197"/>
            </a:xfrm>
            <a:custGeom>
              <a:avLst/>
              <a:gdLst/>
              <a:ahLst/>
              <a:cxnLst/>
              <a:rect l="l" t="t" r="r" b="b"/>
              <a:pathLst>
                <a:path w="1052050" h="577197">
                  <a:moveTo>
                    <a:pt x="75313" y="0"/>
                  </a:moveTo>
                  <a:lnTo>
                    <a:pt x="976737" y="0"/>
                  </a:lnTo>
                  <a:cubicBezTo>
                    <a:pt x="1018332" y="0"/>
                    <a:pt x="1052050" y="33719"/>
                    <a:pt x="1052050" y="75313"/>
                  </a:cubicBezTo>
                  <a:lnTo>
                    <a:pt x="1052050" y="501884"/>
                  </a:lnTo>
                  <a:cubicBezTo>
                    <a:pt x="1052050" y="543478"/>
                    <a:pt x="1018332" y="577197"/>
                    <a:pt x="976737" y="577197"/>
                  </a:cubicBezTo>
                  <a:lnTo>
                    <a:pt x="75313" y="577197"/>
                  </a:lnTo>
                  <a:cubicBezTo>
                    <a:pt x="33719" y="577197"/>
                    <a:pt x="0" y="543478"/>
                    <a:pt x="0" y="501884"/>
                  </a:cubicBezTo>
                  <a:lnTo>
                    <a:pt x="0" y="75313"/>
                  </a:lnTo>
                  <a:cubicBezTo>
                    <a:pt x="0" y="33719"/>
                    <a:pt x="33719" y="0"/>
                    <a:pt x="75313" y="0"/>
                  </a:cubicBezTo>
                  <a:close/>
                </a:path>
              </a:pathLst>
            </a:custGeom>
            <a:solidFill>
              <a:srgbClr val="F8F8F8"/>
            </a:solidFill>
          </p:spPr>
          <p:txBody>
            <a:bodyPr/>
            <a:lstStyle/>
            <a:p>
              <a:endParaRPr lang="en-US" dirty="0"/>
            </a:p>
          </p:txBody>
        </p:sp>
        <p:sp>
          <p:nvSpPr>
            <p:cNvPr id="12305" name="TextBox 29">
              <a:extLst>
                <a:ext uri="{FF2B5EF4-FFF2-40B4-BE49-F238E27FC236}">
                  <a16:creationId xmlns:a16="http://schemas.microsoft.com/office/drawing/2014/main" id="{F9A45041-338A-3836-AF24-F5E5E1F65046}"/>
                </a:ext>
              </a:extLst>
            </p:cNvPr>
            <p:cNvSpPr txBox="1"/>
            <p:nvPr/>
          </p:nvSpPr>
          <p:spPr>
            <a:xfrm>
              <a:off x="0" y="-38100"/>
              <a:ext cx="1052050" cy="615297"/>
            </a:xfrm>
            <a:prstGeom prst="rect">
              <a:avLst/>
            </a:prstGeom>
          </p:spPr>
          <p:txBody>
            <a:bodyPr lIns="47086" tIns="47086" rIns="47086" bIns="47086" rtlCol="0" anchor="ctr"/>
            <a:lstStyle/>
            <a:p>
              <a:pPr algn="ctr">
                <a:lnSpc>
                  <a:spcPts val="2659"/>
                </a:lnSpc>
              </a:pPr>
              <a:endParaRPr/>
            </a:p>
          </p:txBody>
        </p:sp>
      </p:grpSp>
      <p:grpSp>
        <p:nvGrpSpPr>
          <p:cNvPr id="21" name="Group 21">
            <a:extLst>
              <a:ext uri="{FF2B5EF4-FFF2-40B4-BE49-F238E27FC236}">
                <a16:creationId xmlns:a16="http://schemas.microsoft.com/office/drawing/2014/main" id="{887160CE-2411-148F-6AF3-3504F979CA40}"/>
              </a:ext>
            </a:extLst>
          </p:cNvPr>
          <p:cNvGrpSpPr/>
          <p:nvPr/>
        </p:nvGrpSpPr>
        <p:grpSpPr>
          <a:xfrm>
            <a:off x="17491799" y="8458418"/>
            <a:ext cx="951769" cy="799882"/>
            <a:chOff x="0" y="0"/>
            <a:chExt cx="967140" cy="812800"/>
          </a:xfrm>
        </p:grpSpPr>
        <p:sp>
          <p:nvSpPr>
            <p:cNvPr id="22" name="Freeform 22">
              <a:extLst>
                <a:ext uri="{FF2B5EF4-FFF2-40B4-BE49-F238E27FC236}">
                  <a16:creationId xmlns:a16="http://schemas.microsoft.com/office/drawing/2014/main" id="{3C82648D-D77A-071F-850B-C099C350F139}"/>
                </a:ext>
              </a:extLst>
            </p:cNvPr>
            <p:cNvSpPr/>
            <p:nvPr/>
          </p:nvSpPr>
          <p:spPr>
            <a:xfrm>
              <a:off x="0" y="0"/>
              <a:ext cx="967140" cy="812800"/>
            </a:xfrm>
            <a:custGeom>
              <a:avLst/>
              <a:gdLst/>
              <a:ahLst/>
              <a:cxnLst/>
              <a:rect l="l" t="t" r="r" b="b"/>
              <a:pathLst>
                <a:path w="967140" h="812800">
                  <a:moveTo>
                    <a:pt x="81342" y="0"/>
                  </a:moveTo>
                  <a:lnTo>
                    <a:pt x="885798" y="0"/>
                  </a:lnTo>
                  <a:cubicBezTo>
                    <a:pt x="907371" y="0"/>
                    <a:pt x="928061" y="8570"/>
                    <a:pt x="943315" y="23825"/>
                  </a:cubicBezTo>
                  <a:cubicBezTo>
                    <a:pt x="958570" y="39079"/>
                    <a:pt x="967140" y="59769"/>
                    <a:pt x="967140" y="81342"/>
                  </a:cubicBezTo>
                  <a:lnTo>
                    <a:pt x="967140" y="731458"/>
                  </a:lnTo>
                  <a:cubicBezTo>
                    <a:pt x="967140" y="776382"/>
                    <a:pt x="930722" y="812800"/>
                    <a:pt x="885798" y="812800"/>
                  </a:cubicBezTo>
                  <a:lnTo>
                    <a:pt x="81342" y="812800"/>
                  </a:lnTo>
                  <a:cubicBezTo>
                    <a:pt x="59769" y="812800"/>
                    <a:pt x="39079" y="804230"/>
                    <a:pt x="23825" y="788975"/>
                  </a:cubicBezTo>
                  <a:cubicBezTo>
                    <a:pt x="8570" y="773721"/>
                    <a:pt x="0" y="753031"/>
                    <a:pt x="0" y="731458"/>
                  </a:cubicBezTo>
                  <a:lnTo>
                    <a:pt x="0" y="81342"/>
                  </a:lnTo>
                  <a:cubicBezTo>
                    <a:pt x="0" y="59769"/>
                    <a:pt x="8570" y="39079"/>
                    <a:pt x="23825" y="23825"/>
                  </a:cubicBezTo>
                  <a:cubicBezTo>
                    <a:pt x="39079" y="8570"/>
                    <a:pt x="59769" y="0"/>
                    <a:pt x="81342" y="0"/>
                  </a:cubicBezTo>
                  <a:close/>
                </a:path>
              </a:pathLst>
            </a:custGeom>
            <a:solidFill>
              <a:srgbClr val="3A6AD6"/>
            </a:solidFill>
          </p:spPr>
        </p:sp>
        <p:sp>
          <p:nvSpPr>
            <p:cNvPr id="23" name="TextBox 23">
              <a:extLst>
                <a:ext uri="{FF2B5EF4-FFF2-40B4-BE49-F238E27FC236}">
                  <a16:creationId xmlns:a16="http://schemas.microsoft.com/office/drawing/2014/main" id="{65B5EB2E-7CB6-60EB-4507-CF03B1661EBC}"/>
                </a:ext>
              </a:extLst>
            </p:cNvPr>
            <p:cNvSpPr txBox="1"/>
            <p:nvPr/>
          </p:nvSpPr>
          <p:spPr>
            <a:xfrm>
              <a:off x="0" y="-38100"/>
              <a:ext cx="967140" cy="850900"/>
            </a:xfrm>
            <a:prstGeom prst="rect">
              <a:avLst/>
            </a:prstGeom>
          </p:spPr>
          <p:txBody>
            <a:bodyPr lIns="50800" tIns="50800" rIns="50800" bIns="50800" rtlCol="0" anchor="ctr"/>
            <a:lstStyle/>
            <a:p>
              <a:pPr algn="ctr">
                <a:lnSpc>
                  <a:spcPts val="2659"/>
                </a:lnSpc>
              </a:pPr>
              <a:endParaRPr/>
            </a:p>
          </p:txBody>
        </p:sp>
      </p:grpSp>
      <p:sp>
        <p:nvSpPr>
          <p:cNvPr id="24" name="TextBox 24">
            <a:extLst>
              <a:ext uri="{FF2B5EF4-FFF2-40B4-BE49-F238E27FC236}">
                <a16:creationId xmlns:a16="http://schemas.microsoft.com/office/drawing/2014/main" id="{C436BF36-7A9E-1482-E409-BDCA3E344677}"/>
              </a:ext>
            </a:extLst>
          </p:cNvPr>
          <p:cNvSpPr txBox="1"/>
          <p:nvPr/>
        </p:nvSpPr>
        <p:spPr>
          <a:xfrm>
            <a:off x="17674380" y="8710688"/>
            <a:ext cx="442747" cy="257943"/>
          </a:xfrm>
          <a:prstGeom prst="rect">
            <a:avLst/>
          </a:prstGeom>
        </p:spPr>
        <p:txBody>
          <a:bodyPr lIns="0" tIns="0" rIns="0" bIns="0" rtlCol="0" anchor="t">
            <a:spAutoFit/>
          </a:bodyPr>
          <a:lstStyle/>
          <a:p>
            <a:pPr algn="ctr">
              <a:lnSpc>
                <a:spcPts val="2057"/>
              </a:lnSpc>
              <a:spcBef>
                <a:spcPct val="0"/>
              </a:spcBef>
            </a:pPr>
            <a:r>
              <a:rPr lang="en-US" sz="1469" b="1" dirty="0">
                <a:solidFill>
                  <a:srgbClr val="FFFFFF"/>
                </a:solidFill>
                <a:latin typeface="Poppins Bold"/>
                <a:ea typeface="Poppins Bold"/>
                <a:cs typeface="Poppins Bold"/>
                <a:sym typeface="Poppins Bold"/>
              </a:rPr>
              <a:t>16</a:t>
            </a:r>
          </a:p>
        </p:txBody>
      </p:sp>
      <p:pic>
        <p:nvPicPr>
          <p:cNvPr id="10242" name="Picture 2" descr="Data Analysis Icon - Free Download Business Icons | IconScout">
            <a:extLst>
              <a:ext uri="{FF2B5EF4-FFF2-40B4-BE49-F238E27FC236}">
                <a16:creationId xmlns:a16="http://schemas.microsoft.com/office/drawing/2014/main" id="{E051861C-A306-F4E5-2392-E9317D058D2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077200" y="600381"/>
            <a:ext cx="1647965" cy="1647965"/>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25">
            <a:extLst>
              <a:ext uri="{FF2B5EF4-FFF2-40B4-BE49-F238E27FC236}">
                <a16:creationId xmlns:a16="http://schemas.microsoft.com/office/drawing/2014/main" id="{5907EF1C-A8BB-7E1B-17F0-CA5726C4B70E}"/>
              </a:ext>
            </a:extLst>
          </p:cNvPr>
          <p:cNvSpPr txBox="1"/>
          <p:nvPr/>
        </p:nvSpPr>
        <p:spPr>
          <a:xfrm>
            <a:off x="1129941" y="4610100"/>
            <a:ext cx="4356459" cy="1288814"/>
          </a:xfrm>
          <a:prstGeom prst="rect">
            <a:avLst/>
          </a:prstGeom>
        </p:spPr>
        <p:txBody>
          <a:bodyPr wrap="square" lIns="0" tIns="0" rIns="0" bIns="0" rtlCol="0" anchor="t">
            <a:spAutoFit/>
          </a:bodyPr>
          <a:lstStyle/>
          <a:p>
            <a:pPr>
              <a:lnSpc>
                <a:spcPts val="3422"/>
              </a:lnSpc>
              <a:spcBef>
                <a:spcPct val="0"/>
              </a:spcBef>
            </a:pPr>
            <a:r>
              <a:rPr lang="en-GB" sz="2500" b="1" dirty="0">
                <a:solidFill>
                  <a:schemeClr val="accent6">
                    <a:lumMod val="75000"/>
                  </a:schemeClr>
                </a:solidFill>
                <a:latin typeface="Poppins"/>
                <a:ea typeface="Poppins"/>
                <a:cs typeface="Poppins"/>
                <a:sym typeface="Poppins"/>
              </a:rPr>
              <a:t> Organize collected data (instrumentation + logs) in Microsoft Excel.</a:t>
            </a:r>
          </a:p>
        </p:txBody>
      </p:sp>
      <p:sp>
        <p:nvSpPr>
          <p:cNvPr id="3" name="TextBox 25">
            <a:extLst>
              <a:ext uri="{FF2B5EF4-FFF2-40B4-BE49-F238E27FC236}">
                <a16:creationId xmlns:a16="http://schemas.microsoft.com/office/drawing/2014/main" id="{B6ADAC6B-A502-C947-5A7B-30A4386C9AD8}"/>
              </a:ext>
            </a:extLst>
          </p:cNvPr>
          <p:cNvSpPr txBox="1"/>
          <p:nvPr/>
        </p:nvSpPr>
        <p:spPr>
          <a:xfrm>
            <a:off x="1206141" y="7810500"/>
            <a:ext cx="4356459" cy="1288814"/>
          </a:xfrm>
          <a:prstGeom prst="rect">
            <a:avLst/>
          </a:prstGeom>
        </p:spPr>
        <p:txBody>
          <a:bodyPr wrap="square" lIns="0" tIns="0" rIns="0" bIns="0" rtlCol="0" anchor="t">
            <a:spAutoFit/>
          </a:bodyPr>
          <a:lstStyle/>
          <a:p>
            <a:pPr>
              <a:lnSpc>
                <a:spcPts val="3422"/>
              </a:lnSpc>
              <a:spcBef>
                <a:spcPct val="0"/>
              </a:spcBef>
            </a:pPr>
            <a:r>
              <a:rPr lang="en-GB" sz="2500" b="1" dirty="0">
                <a:solidFill>
                  <a:schemeClr val="accent6">
                    <a:lumMod val="75000"/>
                  </a:schemeClr>
                </a:solidFill>
                <a:latin typeface="Poppins"/>
                <a:ea typeface="Poppins"/>
                <a:cs typeface="Poppins"/>
                <a:sym typeface="Poppins"/>
              </a:rPr>
              <a:t> Compare energy use &amp; emissions across models and configurations.</a:t>
            </a:r>
          </a:p>
        </p:txBody>
      </p:sp>
      <p:sp>
        <p:nvSpPr>
          <p:cNvPr id="4" name="TextBox 25">
            <a:extLst>
              <a:ext uri="{FF2B5EF4-FFF2-40B4-BE49-F238E27FC236}">
                <a16:creationId xmlns:a16="http://schemas.microsoft.com/office/drawing/2014/main" id="{395A8CF3-E7EA-8570-0DDB-8195D849CA7D}"/>
              </a:ext>
            </a:extLst>
          </p:cNvPr>
          <p:cNvSpPr txBox="1"/>
          <p:nvPr/>
        </p:nvSpPr>
        <p:spPr>
          <a:xfrm>
            <a:off x="6768741" y="6902686"/>
            <a:ext cx="4356459" cy="1288814"/>
          </a:xfrm>
          <a:prstGeom prst="rect">
            <a:avLst/>
          </a:prstGeom>
        </p:spPr>
        <p:txBody>
          <a:bodyPr wrap="square" lIns="0" tIns="0" rIns="0" bIns="0" rtlCol="0" anchor="t">
            <a:spAutoFit/>
          </a:bodyPr>
          <a:lstStyle/>
          <a:p>
            <a:pPr>
              <a:lnSpc>
                <a:spcPts val="3422"/>
              </a:lnSpc>
              <a:spcBef>
                <a:spcPct val="0"/>
              </a:spcBef>
            </a:pPr>
            <a:r>
              <a:rPr lang="en-GB" sz="2500" b="1" dirty="0">
                <a:solidFill>
                  <a:schemeClr val="accent6">
                    <a:lumMod val="75000"/>
                  </a:schemeClr>
                </a:solidFill>
                <a:latin typeface="Poppins"/>
                <a:ea typeface="Poppins"/>
                <a:cs typeface="Poppins"/>
                <a:sym typeface="Poppins"/>
              </a:rPr>
              <a:t> Evaluate alongside accuracy &amp; other performance metrics.</a:t>
            </a:r>
          </a:p>
        </p:txBody>
      </p:sp>
      <p:sp>
        <p:nvSpPr>
          <p:cNvPr id="5" name="TextBox 25">
            <a:extLst>
              <a:ext uri="{FF2B5EF4-FFF2-40B4-BE49-F238E27FC236}">
                <a16:creationId xmlns:a16="http://schemas.microsoft.com/office/drawing/2014/main" id="{32AFD7BF-D891-A0E3-FA66-881CE594E123}"/>
              </a:ext>
            </a:extLst>
          </p:cNvPr>
          <p:cNvSpPr txBox="1"/>
          <p:nvPr/>
        </p:nvSpPr>
        <p:spPr>
          <a:xfrm>
            <a:off x="12711011" y="4686300"/>
            <a:ext cx="4508859" cy="1288814"/>
          </a:xfrm>
          <a:prstGeom prst="rect">
            <a:avLst/>
          </a:prstGeom>
        </p:spPr>
        <p:txBody>
          <a:bodyPr wrap="square" lIns="0" tIns="0" rIns="0" bIns="0" rtlCol="0" anchor="t">
            <a:spAutoFit/>
          </a:bodyPr>
          <a:lstStyle/>
          <a:p>
            <a:pPr>
              <a:lnSpc>
                <a:spcPts val="3422"/>
              </a:lnSpc>
              <a:spcBef>
                <a:spcPct val="0"/>
              </a:spcBef>
            </a:pPr>
            <a:r>
              <a:rPr lang="en-GB" sz="2500" b="1" dirty="0">
                <a:solidFill>
                  <a:schemeClr val="accent6">
                    <a:lumMod val="75000"/>
                  </a:schemeClr>
                </a:solidFill>
                <a:latin typeface="Poppins"/>
                <a:ea typeface="Poppins"/>
                <a:cs typeface="Poppins"/>
                <a:sym typeface="Poppins"/>
              </a:rPr>
              <a:t> Average multiple runs per configuration to reduce noise &amp; improve reliability.</a:t>
            </a:r>
          </a:p>
        </p:txBody>
      </p:sp>
      <p:sp>
        <p:nvSpPr>
          <p:cNvPr id="6" name="TextBox 25">
            <a:extLst>
              <a:ext uri="{FF2B5EF4-FFF2-40B4-BE49-F238E27FC236}">
                <a16:creationId xmlns:a16="http://schemas.microsoft.com/office/drawing/2014/main" id="{82F6ED9B-9D93-8402-8810-DB7FBD9F8EB5}"/>
              </a:ext>
            </a:extLst>
          </p:cNvPr>
          <p:cNvSpPr txBox="1"/>
          <p:nvPr/>
        </p:nvSpPr>
        <p:spPr>
          <a:xfrm>
            <a:off x="12571670" y="7817086"/>
            <a:ext cx="4648200" cy="1288814"/>
          </a:xfrm>
          <a:prstGeom prst="rect">
            <a:avLst/>
          </a:prstGeom>
        </p:spPr>
        <p:txBody>
          <a:bodyPr wrap="square" lIns="0" tIns="0" rIns="0" bIns="0" rtlCol="0" anchor="t">
            <a:spAutoFit/>
          </a:bodyPr>
          <a:lstStyle/>
          <a:p>
            <a:pPr>
              <a:lnSpc>
                <a:spcPts val="3422"/>
              </a:lnSpc>
              <a:spcBef>
                <a:spcPct val="0"/>
              </a:spcBef>
            </a:pPr>
            <a:r>
              <a:rPr lang="en-GB" sz="2500" b="1" dirty="0">
                <a:solidFill>
                  <a:schemeClr val="accent6">
                    <a:lumMod val="75000"/>
                  </a:schemeClr>
                </a:solidFill>
                <a:latin typeface="Poppins"/>
                <a:ea typeface="Poppins"/>
                <a:cs typeface="Poppins"/>
                <a:sym typeface="Poppins"/>
              </a:rPr>
              <a:t> Use statistical summaries &amp; visualizations to interpret results and identify trends.</a:t>
            </a:r>
          </a:p>
        </p:txBody>
      </p:sp>
    </p:spTree>
    <p:extLst>
      <p:ext uri="{BB962C8B-B14F-4D97-AF65-F5344CB8AC3E}">
        <p14:creationId xmlns:p14="http://schemas.microsoft.com/office/powerpoint/2010/main" val="176408538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Click="0">
        <p159:morph option="byObject"/>
      </p:transition>
    </mc:Choice>
    <mc:Fallback xmlns="">
      <p:transition spd="slow" advClick="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2" presetClass="emph" presetSubtype="0" fill="hold" grpId="0" nodeType="afterEffect">
                                  <p:stCondLst>
                                    <p:cond delay="0"/>
                                  </p:stCondLst>
                                  <p:childTnLst>
                                    <p:animRot by="120000">
                                      <p:cBhvr>
                                        <p:cTn id="6" dur="100" fill="hold">
                                          <p:stCondLst>
                                            <p:cond delay="0"/>
                                          </p:stCondLst>
                                        </p:cTn>
                                        <p:tgtEl>
                                          <p:spTgt spid="57"/>
                                        </p:tgtEl>
                                        <p:attrNameLst>
                                          <p:attrName>r</p:attrName>
                                        </p:attrNameLst>
                                      </p:cBhvr>
                                    </p:animRot>
                                    <p:animRot by="-240000">
                                      <p:cBhvr>
                                        <p:cTn id="7" dur="200" fill="hold">
                                          <p:stCondLst>
                                            <p:cond delay="200"/>
                                          </p:stCondLst>
                                        </p:cTn>
                                        <p:tgtEl>
                                          <p:spTgt spid="57"/>
                                        </p:tgtEl>
                                        <p:attrNameLst>
                                          <p:attrName>r</p:attrName>
                                        </p:attrNameLst>
                                      </p:cBhvr>
                                    </p:animRot>
                                    <p:animRot by="240000">
                                      <p:cBhvr>
                                        <p:cTn id="8" dur="200" fill="hold">
                                          <p:stCondLst>
                                            <p:cond delay="400"/>
                                          </p:stCondLst>
                                        </p:cTn>
                                        <p:tgtEl>
                                          <p:spTgt spid="57"/>
                                        </p:tgtEl>
                                        <p:attrNameLst>
                                          <p:attrName>r</p:attrName>
                                        </p:attrNameLst>
                                      </p:cBhvr>
                                    </p:animRot>
                                    <p:animRot by="-240000">
                                      <p:cBhvr>
                                        <p:cTn id="9" dur="200" fill="hold">
                                          <p:stCondLst>
                                            <p:cond delay="600"/>
                                          </p:stCondLst>
                                        </p:cTn>
                                        <p:tgtEl>
                                          <p:spTgt spid="57"/>
                                        </p:tgtEl>
                                        <p:attrNameLst>
                                          <p:attrName>r</p:attrName>
                                        </p:attrNameLst>
                                      </p:cBhvr>
                                    </p:animRot>
                                    <p:animRot by="120000">
                                      <p:cBhvr>
                                        <p:cTn id="10" dur="200" fill="hold">
                                          <p:stCondLst>
                                            <p:cond delay="800"/>
                                          </p:stCondLst>
                                        </p:cTn>
                                        <p:tgtEl>
                                          <p:spTgt spid="57"/>
                                        </p:tgtEl>
                                        <p:attrNameLst>
                                          <p:attrName>r</p:attrName>
                                        </p:attrNameLst>
                                      </p:cBhvr>
                                    </p:animRot>
                                  </p:childTnLst>
                                </p:cTn>
                              </p:par>
                            </p:childTnLst>
                          </p:cTn>
                        </p:par>
                        <p:par>
                          <p:cTn id="11" fill="hold">
                            <p:stCondLst>
                              <p:cond delay="1000"/>
                            </p:stCondLst>
                            <p:childTnLst>
                              <p:par>
                                <p:cTn id="12" presetID="45" presetClass="entr" presetSubtype="0" fill="hold" nodeType="afterEffect">
                                  <p:stCondLst>
                                    <p:cond delay="0"/>
                                  </p:stCondLst>
                                  <p:childTnLst>
                                    <p:set>
                                      <p:cBhvr>
                                        <p:cTn id="13" dur="1" fill="hold">
                                          <p:stCondLst>
                                            <p:cond delay="0"/>
                                          </p:stCondLst>
                                        </p:cTn>
                                        <p:tgtEl>
                                          <p:spTgt spid="10242"/>
                                        </p:tgtEl>
                                        <p:attrNameLst>
                                          <p:attrName>style.visibility</p:attrName>
                                        </p:attrNameLst>
                                      </p:cBhvr>
                                      <p:to>
                                        <p:strVal val="visible"/>
                                      </p:to>
                                    </p:set>
                                    <p:animEffect transition="in" filter="fade">
                                      <p:cBhvr>
                                        <p:cTn id="14" dur="2000"/>
                                        <p:tgtEl>
                                          <p:spTgt spid="10242"/>
                                        </p:tgtEl>
                                      </p:cBhvr>
                                    </p:animEffect>
                                    <p:anim calcmode="lin" valueType="num">
                                      <p:cBhvr>
                                        <p:cTn id="15" dur="2000" fill="hold"/>
                                        <p:tgtEl>
                                          <p:spTgt spid="10242"/>
                                        </p:tgtEl>
                                        <p:attrNameLst>
                                          <p:attrName>ppt_w</p:attrName>
                                        </p:attrNameLst>
                                      </p:cBhvr>
                                      <p:tavLst>
                                        <p:tav tm="0" fmla="#ppt_w*sin(2.5*pi*$)">
                                          <p:val>
                                            <p:fltVal val="0"/>
                                          </p:val>
                                        </p:tav>
                                        <p:tav tm="100000">
                                          <p:val>
                                            <p:fltVal val="1"/>
                                          </p:val>
                                        </p:tav>
                                      </p:tavLst>
                                    </p:anim>
                                    <p:anim calcmode="lin" valueType="num">
                                      <p:cBhvr>
                                        <p:cTn id="16" dur="2000" fill="hold"/>
                                        <p:tgtEl>
                                          <p:spTgt spid="10242"/>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7"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21D993-3F6D-E92C-828E-A51BE0D5B4BD}"/>
            </a:ext>
          </a:extLst>
        </p:cNvPr>
        <p:cNvGrpSpPr/>
        <p:nvPr/>
      </p:nvGrpSpPr>
      <p:grpSpPr>
        <a:xfrm>
          <a:off x="0" y="0"/>
          <a:ext cx="0" cy="0"/>
          <a:chOff x="0" y="0"/>
          <a:chExt cx="0" cy="0"/>
        </a:xfrm>
      </p:grpSpPr>
      <p:sp>
        <p:nvSpPr>
          <p:cNvPr id="67" name="Freeform 17">
            <a:extLst>
              <a:ext uri="{FF2B5EF4-FFF2-40B4-BE49-F238E27FC236}">
                <a16:creationId xmlns:a16="http://schemas.microsoft.com/office/drawing/2014/main" id="{E2107A87-3DE0-F37D-6E0D-DEBD95E6742C}"/>
              </a:ext>
            </a:extLst>
          </p:cNvPr>
          <p:cNvSpPr/>
          <p:nvPr/>
        </p:nvSpPr>
        <p:spPr>
          <a:xfrm>
            <a:off x="2744136" y="4643528"/>
            <a:ext cx="1634041" cy="1634041"/>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id="68" name="Freeform 17">
            <a:extLst>
              <a:ext uri="{FF2B5EF4-FFF2-40B4-BE49-F238E27FC236}">
                <a16:creationId xmlns:a16="http://schemas.microsoft.com/office/drawing/2014/main" id="{46ECAAFA-4CF2-5560-B3DF-73B6A6A61E96}"/>
              </a:ext>
            </a:extLst>
          </p:cNvPr>
          <p:cNvSpPr/>
          <p:nvPr/>
        </p:nvSpPr>
        <p:spPr>
          <a:xfrm>
            <a:off x="13685849" y="4660357"/>
            <a:ext cx="1634041" cy="1634041"/>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grpSp>
        <p:nvGrpSpPr>
          <p:cNvPr id="2" name="Group 13">
            <a:extLst>
              <a:ext uri="{FF2B5EF4-FFF2-40B4-BE49-F238E27FC236}">
                <a16:creationId xmlns:a16="http://schemas.microsoft.com/office/drawing/2014/main" id="{4269C901-5A64-A089-3A50-06D5D9AB0CEE}"/>
              </a:ext>
            </a:extLst>
          </p:cNvPr>
          <p:cNvGrpSpPr/>
          <p:nvPr/>
        </p:nvGrpSpPr>
        <p:grpSpPr>
          <a:xfrm>
            <a:off x="5748992" y="-952500"/>
            <a:ext cx="6824008" cy="6824008"/>
            <a:chOff x="0" y="0"/>
            <a:chExt cx="812800" cy="812800"/>
          </a:xfrm>
        </p:grpSpPr>
        <p:sp>
          <p:nvSpPr>
            <p:cNvPr id="3" name="Freeform 14">
              <a:extLst>
                <a:ext uri="{FF2B5EF4-FFF2-40B4-BE49-F238E27FC236}">
                  <a16:creationId xmlns:a16="http://schemas.microsoft.com/office/drawing/2014/main" id="{7753D840-9CED-96F0-1A0E-23D2D21B9547}"/>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8F8F8"/>
            </a:solidFill>
          </p:spPr>
        </p:sp>
        <p:sp>
          <p:nvSpPr>
            <p:cNvPr id="4" name="TextBox 15">
              <a:extLst>
                <a:ext uri="{FF2B5EF4-FFF2-40B4-BE49-F238E27FC236}">
                  <a16:creationId xmlns:a16="http://schemas.microsoft.com/office/drawing/2014/main" id="{C5D1115F-AC3C-3D8A-78FB-0CAAE2AC9A0E}"/>
                </a:ext>
              </a:extLst>
            </p:cNvPr>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5" name="Freeform 16">
            <a:extLst>
              <a:ext uri="{FF2B5EF4-FFF2-40B4-BE49-F238E27FC236}">
                <a16:creationId xmlns:a16="http://schemas.microsoft.com/office/drawing/2014/main" id="{2A1AD30B-B985-8B40-ABF2-D51B2F6F1BED}"/>
              </a:ext>
            </a:extLst>
          </p:cNvPr>
          <p:cNvSpPr/>
          <p:nvPr/>
        </p:nvSpPr>
        <p:spPr>
          <a:xfrm>
            <a:off x="5720022" y="-1065542"/>
            <a:ext cx="6700578" cy="6666242"/>
          </a:xfrm>
          <a:custGeom>
            <a:avLst/>
            <a:gdLst/>
            <a:ahLst/>
            <a:cxnLst/>
            <a:rect l="l" t="t" r="r" b="b"/>
            <a:pathLst>
              <a:path w="5862965" h="5855636">
                <a:moveTo>
                  <a:pt x="0" y="0"/>
                </a:moveTo>
                <a:lnTo>
                  <a:pt x="5862964" y="0"/>
                </a:lnTo>
                <a:lnTo>
                  <a:pt x="5862964" y="5855636"/>
                </a:lnTo>
                <a:lnTo>
                  <a:pt x="0" y="5855636"/>
                </a:lnTo>
                <a:lnTo>
                  <a:pt x="0" y="0"/>
                </a:lnTo>
                <a:close/>
              </a:path>
            </a:pathLst>
          </a:custGeom>
          <a:blipFill>
            <a:blip r:embed="rId2"/>
            <a:stretch>
              <a:fillRect/>
            </a:stretch>
          </a:blipFill>
        </p:spPr>
      </p:sp>
      <p:grpSp>
        <p:nvGrpSpPr>
          <p:cNvPr id="63" name="Group 18">
            <a:extLst>
              <a:ext uri="{FF2B5EF4-FFF2-40B4-BE49-F238E27FC236}">
                <a16:creationId xmlns:a16="http://schemas.microsoft.com/office/drawing/2014/main" id="{4163893C-5C31-8065-550C-1479C63FB3DF}"/>
              </a:ext>
            </a:extLst>
          </p:cNvPr>
          <p:cNvGrpSpPr/>
          <p:nvPr/>
        </p:nvGrpSpPr>
        <p:grpSpPr>
          <a:xfrm>
            <a:off x="10146255" y="5447448"/>
            <a:ext cx="8294145" cy="2820252"/>
            <a:chOff x="0" y="0"/>
            <a:chExt cx="1013318" cy="260488"/>
          </a:xfrm>
        </p:grpSpPr>
        <p:sp>
          <p:nvSpPr>
            <p:cNvPr id="64" name="Freeform 19">
              <a:extLst>
                <a:ext uri="{FF2B5EF4-FFF2-40B4-BE49-F238E27FC236}">
                  <a16:creationId xmlns:a16="http://schemas.microsoft.com/office/drawing/2014/main" id="{33DC4B62-12F3-C87F-0663-66CC4B9B50B2}"/>
                </a:ext>
              </a:extLst>
            </p:cNvPr>
            <p:cNvSpPr/>
            <p:nvPr/>
          </p:nvSpPr>
          <p:spPr>
            <a:xfrm>
              <a:off x="0" y="0"/>
              <a:ext cx="1013318" cy="260488"/>
            </a:xfrm>
            <a:custGeom>
              <a:avLst/>
              <a:gdLst/>
              <a:ahLst/>
              <a:cxnLst/>
              <a:rect l="l" t="t" r="r" b="b"/>
              <a:pathLst>
                <a:path w="1013318" h="260488">
                  <a:moveTo>
                    <a:pt x="130244" y="0"/>
                  </a:moveTo>
                  <a:lnTo>
                    <a:pt x="883074" y="0"/>
                  </a:lnTo>
                  <a:cubicBezTo>
                    <a:pt x="917617" y="0"/>
                    <a:pt x="950745" y="13722"/>
                    <a:pt x="975171" y="38148"/>
                  </a:cubicBezTo>
                  <a:cubicBezTo>
                    <a:pt x="999596" y="62573"/>
                    <a:pt x="1013318" y="95701"/>
                    <a:pt x="1013318" y="130244"/>
                  </a:cubicBezTo>
                  <a:lnTo>
                    <a:pt x="1013318" y="130244"/>
                  </a:lnTo>
                  <a:cubicBezTo>
                    <a:pt x="1013318" y="202175"/>
                    <a:pt x="955006" y="260488"/>
                    <a:pt x="883074" y="260488"/>
                  </a:cubicBezTo>
                  <a:lnTo>
                    <a:pt x="130244" y="260488"/>
                  </a:lnTo>
                  <a:cubicBezTo>
                    <a:pt x="95701" y="260488"/>
                    <a:pt x="62573" y="246766"/>
                    <a:pt x="38148" y="222340"/>
                  </a:cubicBezTo>
                  <a:cubicBezTo>
                    <a:pt x="13722" y="197915"/>
                    <a:pt x="0" y="164787"/>
                    <a:pt x="0" y="130244"/>
                  </a:cubicBezTo>
                  <a:lnTo>
                    <a:pt x="0" y="130244"/>
                  </a:lnTo>
                  <a:cubicBezTo>
                    <a:pt x="0" y="95701"/>
                    <a:pt x="13722" y="62573"/>
                    <a:pt x="38148" y="38148"/>
                  </a:cubicBezTo>
                  <a:cubicBezTo>
                    <a:pt x="62573" y="13722"/>
                    <a:pt x="95701" y="0"/>
                    <a:pt x="130244" y="0"/>
                  </a:cubicBezTo>
                  <a:close/>
                </a:path>
              </a:pathLst>
            </a:custGeom>
            <a:solidFill>
              <a:srgbClr val="F8F8F8"/>
            </a:solidFill>
          </p:spPr>
        </p:sp>
        <p:sp>
          <p:nvSpPr>
            <p:cNvPr id="65" name="TextBox 20">
              <a:extLst>
                <a:ext uri="{FF2B5EF4-FFF2-40B4-BE49-F238E27FC236}">
                  <a16:creationId xmlns:a16="http://schemas.microsoft.com/office/drawing/2014/main" id="{A2D5C691-0E62-85E4-E43B-4F91FBAB56C3}"/>
                </a:ext>
              </a:extLst>
            </p:cNvPr>
            <p:cNvSpPr txBox="1"/>
            <p:nvPr/>
          </p:nvSpPr>
          <p:spPr>
            <a:xfrm>
              <a:off x="0" y="-38100"/>
              <a:ext cx="1013318" cy="298588"/>
            </a:xfrm>
            <a:prstGeom prst="rect">
              <a:avLst/>
            </a:prstGeom>
          </p:spPr>
          <p:txBody>
            <a:bodyPr lIns="47086" tIns="47086" rIns="47086" bIns="47086" rtlCol="0" anchor="ctr"/>
            <a:lstStyle/>
            <a:p>
              <a:pPr algn="ctr">
                <a:lnSpc>
                  <a:spcPts val="2659"/>
                </a:lnSpc>
              </a:pPr>
              <a:endParaRPr/>
            </a:p>
          </p:txBody>
        </p:sp>
      </p:grpSp>
      <p:grpSp>
        <p:nvGrpSpPr>
          <p:cNvPr id="6" name="Group 17">
            <a:extLst>
              <a:ext uri="{FF2B5EF4-FFF2-40B4-BE49-F238E27FC236}">
                <a16:creationId xmlns:a16="http://schemas.microsoft.com/office/drawing/2014/main" id="{A8B02F19-CA6F-48BE-EF65-6AB092C2A2E1}"/>
              </a:ext>
            </a:extLst>
          </p:cNvPr>
          <p:cNvGrpSpPr/>
          <p:nvPr/>
        </p:nvGrpSpPr>
        <p:grpSpPr>
          <a:xfrm>
            <a:off x="6272686" y="-428805"/>
            <a:ext cx="5776619" cy="5776619"/>
            <a:chOff x="0" y="0"/>
            <a:chExt cx="812800" cy="812800"/>
          </a:xfrm>
        </p:grpSpPr>
        <p:sp>
          <p:nvSpPr>
            <p:cNvPr id="7" name="Freeform 18">
              <a:extLst>
                <a:ext uri="{FF2B5EF4-FFF2-40B4-BE49-F238E27FC236}">
                  <a16:creationId xmlns:a16="http://schemas.microsoft.com/office/drawing/2014/main" id="{C65B4FEC-F563-46AA-3B81-53F56AA57FAA}"/>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id="8" name="TextBox 19">
              <a:extLst>
                <a:ext uri="{FF2B5EF4-FFF2-40B4-BE49-F238E27FC236}">
                  <a16:creationId xmlns:a16="http://schemas.microsoft.com/office/drawing/2014/main" id="{41CD2364-6163-4DA8-FEFF-5036DFA8E75B}"/>
                </a:ext>
              </a:extLst>
            </p:cNvPr>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9" name="TextBox 26">
            <a:extLst>
              <a:ext uri="{FF2B5EF4-FFF2-40B4-BE49-F238E27FC236}">
                <a16:creationId xmlns:a16="http://schemas.microsoft.com/office/drawing/2014/main" id="{4116C4A6-01BC-9118-1E9E-46C428B6D448}"/>
              </a:ext>
            </a:extLst>
          </p:cNvPr>
          <p:cNvSpPr txBox="1"/>
          <p:nvPr/>
        </p:nvSpPr>
        <p:spPr>
          <a:xfrm>
            <a:off x="6785125" y="2386353"/>
            <a:ext cx="5088480" cy="787908"/>
          </a:xfrm>
          <a:prstGeom prst="rect">
            <a:avLst/>
          </a:prstGeom>
        </p:spPr>
        <p:txBody>
          <a:bodyPr wrap="square" lIns="0" tIns="0" rIns="0" bIns="0" rtlCol="0" anchor="t">
            <a:spAutoFit/>
          </a:bodyPr>
          <a:lstStyle/>
          <a:p>
            <a:pPr algn="ctr">
              <a:lnSpc>
                <a:spcPts val="6385"/>
              </a:lnSpc>
            </a:pPr>
            <a:r>
              <a:rPr lang="en-US" sz="4800" b="1" dirty="0">
                <a:solidFill>
                  <a:srgbClr val="3A6AD6"/>
                </a:solidFill>
                <a:latin typeface="Poppins Bold"/>
                <a:ea typeface="Poppins Bold"/>
                <a:cs typeface="Poppins Bold"/>
                <a:sym typeface="Poppins Bold"/>
              </a:rPr>
              <a:t>Sampling</a:t>
            </a:r>
          </a:p>
        </p:txBody>
      </p:sp>
      <p:grpSp>
        <p:nvGrpSpPr>
          <p:cNvPr id="14" name="Group 14">
            <a:extLst>
              <a:ext uri="{FF2B5EF4-FFF2-40B4-BE49-F238E27FC236}">
                <a16:creationId xmlns:a16="http://schemas.microsoft.com/office/drawing/2014/main" id="{06B9271B-A088-C43B-75F7-BB97B106437A}"/>
              </a:ext>
            </a:extLst>
          </p:cNvPr>
          <p:cNvGrpSpPr/>
          <p:nvPr/>
        </p:nvGrpSpPr>
        <p:grpSpPr>
          <a:xfrm>
            <a:off x="17491799" y="8458418"/>
            <a:ext cx="951769" cy="799882"/>
            <a:chOff x="0" y="0"/>
            <a:chExt cx="967140" cy="812800"/>
          </a:xfrm>
        </p:grpSpPr>
        <p:sp>
          <p:nvSpPr>
            <p:cNvPr id="15" name="Freeform 15">
              <a:extLst>
                <a:ext uri="{FF2B5EF4-FFF2-40B4-BE49-F238E27FC236}">
                  <a16:creationId xmlns:a16="http://schemas.microsoft.com/office/drawing/2014/main" id="{B8172BD5-1EE6-A30C-26FB-90AAF73736DB}"/>
                </a:ext>
              </a:extLst>
            </p:cNvPr>
            <p:cNvSpPr/>
            <p:nvPr/>
          </p:nvSpPr>
          <p:spPr>
            <a:xfrm>
              <a:off x="0" y="0"/>
              <a:ext cx="967140" cy="812800"/>
            </a:xfrm>
            <a:custGeom>
              <a:avLst/>
              <a:gdLst/>
              <a:ahLst/>
              <a:cxnLst/>
              <a:rect l="l" t="t" r="r" b="b"/>
              <a:pathLst>
                <a:path w="967140" h="812800">
                  <a:moveTo>
                    <a:pt x="81342" y="0"/>
                  </a:moveTo>
                  <a:lnTo>
                    <a:pt x="885798" y="0"/>
                  </a:lnTo>
                  <a:cubicBezTo>
                    <a:pt x="907371" y="0"/>
                    <a:pt x="928061" y="8570"/>
                    <a:pt x="943315" y="23825"/>
                  </a:cubicBezTo>
                  <a:cubicBezTo>
                    <a:pt x="958570" y="39079"/>
                    <a:pt x="967140" y="59769"/>
                    <a:pt x="967140" y="81342"/>
                  </a:cubicBezTo>
                  <a:lnTo>
                    <a:pt x="967140" y="731458"/>
                  </a:lnTo>
                  <a:cubicBezTo>
                    <a:pt x="967140" y="776382"/>
                    <a:pt x="930722" y="812800"/>
                    <a:pt x="885798" y="812800"/>
                  </a:cubicBezTo>
                  <a:lnTo>
                    <a:pt x="81342" y="812800"/>
                  </a:lnTo>
                  <a:cubicBezTo>
                    <a:pt x="59769" y="812800"/>
                    <a:pt x="39079" y="804230"/>
                    <a:pt x="23825" y="788975"/>
                  </a:cubicBezTo>
                  <a:cubicBezTo>
                    <a:pt x="8570" y="773721"/>
                    <a:pt x="0" y="753031"/>
                    <a:pt x="0" y="731458"/>
                  </a:cubicBezTo>
                  <a:lnTo>
                    <a:pt x="0" y="81342"/>
                  </a:lnTo>
                  <a:cubicBezTo>
                    <a:pt x="0" y="59769"/>
                    <a:pt x="8570" y="39079"/>
                    <a:pt x="23825" y="23825"/>
                  </a:cubicBezTo>
                  <a:cubicBezTo>
                    <a:pt x="39079" y="8570"/>
                    <a:pt x="59769" y="0"/>
                    <a:pt x="81342" y="0"/>
                  </a:cubicBezTo>
                  <a:close/>
                </a:path>
              </a:pathLst>
            </a:custGeom>
            <a:solidFill>
              <a:srgbClr val="3A6AD6"/>
            </a:solidFill>
          </p:spPr>
        </p:sp>
        <p:sp>
          <p:nvSpPr>
            <p:cNvPr id="16" name="TextBox 16">
              <a:extLst>
                <a:ext uri="{FF2B5EF4-FFF2-40B4-BE49-F238E27FC236}">
                  <a16:creationId xmlns:a16="http://schemas.microsoft.com/office/drawing/2014/main" id="{6FA3198A-C03C-8EBE-1698-B965CA1CE87B}"/>
                </a:ext>
              </a:extLst>
            </p:cNvPr>
            <p:cNvSpPr txBox="1"/>
            <p:nvPr/>
          </p:nvSpPr>
          <p:spPr>
            <a:xfrm>
              <a:off x="0" y="-38100"/>
              <a:ext cx="967140" cy="850900"/>
            </a:xfrm>
            <a:prstGeom prst="rect">
              <a:avLst/>
            </a:prstGeom>
          </p:spPr>
          <p:txBody>
            <a:bodyPr lIns="50800" tIns="50800" rIns="50800" bIns="50800" rtlCol="0" anchor="ctr"/>
            <a:lstStyle/>
            <a:p>
              <a:pPr algn="ctr">
                <a:lnSpc>
                  <a:spcPts val="2659"/>
                </a:lnSpc>
              </a:pPr>
              <a:endParaRPr/>
            </a:p>
          </p:txBody>
        </p:sp>
      </p:grpSp>
      <p:sp>
        <p:nvSpPr>
          <p:cNvPr id="17" name="TextBox 17">
            <a:extLst>
              <a:ext uri="{FF2B5EF4-FFF2-40B4-BE49-F238E27FC236}">
                <a16:creationId xmlns:a16="http://schemas.microsoft.com/office/drawing/2014/main" id="{6687BD81-FA9A-EC4D-6199-5C8121A6D441}"/>
              </a:ext>
            </a:extLst>
          </p:cNvPr>
          <p:cNvSpPr txBox="1"/>
          <p:nvPr/>
        </p:nvSpPr>
        <p:spPr>
          <a:xfrm>
            <a:off x="17674380" y="8710688"/>
            <a:ext cx="442747" cy="257943"/>
          </a:xfrm>
          <a:prstGeom prst="rect">
            <a:avLst/>
          </a:prstGeom>
        </p:spPr>
        <p:txBody>
          <a:bodyPr lIns="0" tIns="0" rIns="0" bIns="0" rtlCol="0" anchor="t">
            <a:spAutoFit/>
          </a:bodyPr>
          <a:lstStyle/>
          <a:p>
            <a:pPr algn="ctr">
              <a:lnSpc>
                <a:spcPts val="2057"/>
              </a:lnSpc>
              <a:spcBef>
                <a:spcPct val="0"/>
              </a:spcBef>
            </a:pPr>
            <a:r>
              <a:rPr lang="en-US" sz="1469" b="1" dirty="0">
                <a:solidFill>
                  <a:srgbClr val="FFFFFF"/>
                </a:solidFill>
                <a:latin typeface="Poppins Bold"/>
                <a:ea typeface="Poppins Bold"/>
                <a:cs typeface="Poppins Bold"/>
                <a:sym typeface="Poppins Bold"/>
              </a:rPr>
              <a:t>17</a:t>
            </a:r>
          </a:p>
        </p:txBody>
      </p:sp>
      <p:sp>
        <p:nvSpPr>
          <p:cNvPr id="74" name="AutoShape 74">
            <a:extLst>
              <a:ext uri="{FF2B5EF4-FFF2-40B4-BE49-F238E27FC236}">
                <a16:creationId xmlns:a16="http://schemas.microsoft.com/office/drawing/2014/main" id="{FBA36F43-4AE6-79A4-CE22-36C586BD48F2}"/>
              </a:ext>
            </a:extLst>
          </p:cNvPr>
          <p:cNvSpPr/>
          <p:nvPr/>
        </p:nvSpPr>
        <p:spPr>
          <a:xfrm>
            <a:off x="7766528" y="6803054"/>
            <a:ext cx="2754945" cy="0"/>
          </a:xfrm>
          <a:prstGeom prst="line">
            <a:avLst/>
          </a:prstGeom>
          <a:ln w="28575" cap="flat">
            <a:solidFill>
              <a:srgbClr val="F8F8F8"/>
            </a:solidFill>
            <a:prstDash val="solid"/>
            <a:headEnd type="none" w="sm" len="sm"/>
            <a:tailEnd type="none" w="sm" len="sm"/>
          </a:ln>
        </p:spPr>
      </p:sp>
      <p:grpSp>
        <p:nvGrpSpPr>
          <p:cNvPr id="82" name="Group 82">
            <a:extLst>
              <a:ext uri="{FF2B5EF4-FFF2-40B4-BE49-F238E27FC236}">
                <a16:creationId xmlns:a16="http://schemas.microsoft.com/office/drawing/2014/main" id="{ED3CCFCA-D7CA-8625-F7B1-7894A80BC9BF}"/>
              </a:ext>
            </a:extLst>
          </p:cNvPr>
          <p:cNvGrpSpPr/>
          <p:nvPr/>
        </p:nvGrpSpPr>
        <p:grpSpPr>
          <a:xfrm>
            <a:off x="7706458" y="6677758"/>
            <a:ext cx="218342" cy="218342"/>
            <a:chOff x="0" y="0"/>
            <a:chExt cx="812800" cy="812800"/>
          </a:xfrm>
        </p:grpSpPr>
        <p:sp>
          <p:nvSpPr>
            <p:cNvPr id="83" name="Freeform 83">
              <a:extLst>
                <a:ext uri="{FF2B5EF4-FFF2-40B4-BE49-F238E27FC236}">
                  <a16:creationId xmlns:a16="http://schemas.microsoft.com/office/drawing/2014/main" id="{40FA2C26-E184-5131-BE3E-628B064C6272}"/>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A6AD6"/>
            </a:solidFill>
          </p:spPr>
        </p:sp>
        <p:sp>
          <p:nvSpPr>
            <p:cNvPr id="84" name="TextBox 84">
              <a:extLst>
                <a:ext uri="{FF2B5EF4-FFF2-40B4-BE49-F238E27FC236}">
                  <a16:creationId xmlns:a16="http://schemas.microsoft.com/office/drawing/2014/main" id="{B252375F-F9DD-A46D-05AD-A75BDBDEFCEB}"/>
                </a:ext>
              </a:extLst>
            </p:cNvPr>
            <p:cNvSpPr txBox="1"/>
            <p:nvPr/>
          </p:nvSpPr>
          <p:spPr>
            <a:xfrm>
              <a:off x="76200" y="38100"/>
              <a:ext cx="660400" cy="698500"/>
            </a:xfrm>
            <a:prstGeom prst="rect">
              <a:avLst/>
            </a:prstGeom>
          </p:spPr>
          <p:txBody>
            <a:bodyPr lIns="47086" tIns="47086" rIns="47086" bIns="47086" rtlCol="0" anchor="ctr"/>
            <a:lstStyle/>
            <a:p>
              <a:pPr algn="ctr">
                <a:lnSpc>
                  <a:spcPts val="2659"/>
                </a:lnSpc>
                <a:spcBef>
                  <a:spcPct val="0"/>
                </a:spcBef>
              </a:pPr>
              <a:endParaRPr/>
            </a:p>
          </p:txBody>
        </p:sp>
      </p:grpSp>
      <p:grpSp>
        <p:nvGrpSpPr>
          <p:cNvPr id="10" name="Group 18">
            <a:extLst>
              <a:ext uri="{FF2B5EF4-FFF2-40B4-BE49-F238E27FC236}">
                <a16:creationId xmlns:a16="http://schemas.microsoft.com/office/drawing/2014/main" id="{9DADD57F-2363-2295-77A5-738CE4E949E3}"/>
              </a:ext>
            </a:extLst>
          </p:cNvPr>
          <p:cNvGrpSpPr/>
          <p:nvPr/>
        </p:nvGrpSpPr>
        <p:grpSpPr>
          <a:xfrm>
            <a:off x="0" y="5478200"/>
            <a:ext cx="8140000" cy="2484700"/>
            <a:chOff x="0" y="0"/>
            <a:chExt cx="1013318" cy="260488"/>
          </a:xfrm>
        </p:grpSpPr>
        <p:sp>
          <p:nvSpPr>
            <p:cNvPr id="11" name="Freeform 19">
              <a:extLst>
                <a:ext uri="{FF2B5EF4-FFF2-40B4-BE49-F238E27FC236}">
                  <a16:creationId xmlns:a16="http://schemas.microsoft.com/office/drawing/2014/main" id="{1BDB7CA0-CB80-9B92-7542-233F9DF0EBEA}"/>
                </a:ext>
              </a:extLst>
            </p:cNvPr>
            <p:cNvSpPr/>
            <p:nvPr/>
          </p:nvSpPr>
          <p:spPr>
            <a:xfrm>
              <a:off x="0" y="0"/>
              <a:ext cx="1013318" cy="260488"/>
            </a:xfrm>
            <a:custGeom>
              <a:avLst/>
              <a:gdLst/>
              <a:ahLst/>
              <a:cxnLst/>
              <a:rect l="l" t="t" r="r" b="b"/>
              <a:pathLst>
                <a:path w="1013318" h="260488">
                  <a:moveTo>
                    <a:pt x="130244" y="0"/>
                  </a:moveTo>
                  <a:lnTo>
                    <a:pt x="883074" y="0"/>
                  </a:lnTo>
                  <a:cubicBezTo>
                    <a:pt x="917617" y="0"/>
                    <a:pt x="950745" y="13722"/>
                    <a:pt x="975171" y="38148"/>
                  </a:cubicBezTo>
                  <a:cubicBezTo>
                    <a:pt x="999596" y="62573"/>
                    <a:pt x="1013318" y="95701"/>
                    <a:pt x="1013318" y="130244"/>
                  </a:cubicBezTo>
                  <a:lnTo>
                    <a:pt x="1013318" y="130244"/>
                  </a:lnTo>
                  <a:cubicBezTo>
                    <a:pt x="1013318" y="202175"/>
                    <a:pt x="955006" y="260488"/>
                    <a:pt x="883074" y="260488"/>
                  </a:cubicBezTo>
                  <a:lnTo>
                    <a:pt x="130244" y="260488"/>
                  </a:lnTo>
                  <a:cubicBezTo>
                    <a:pt x="95701" y="260488"/>
                    <a:pt x="62573" y="246766"/>
                    <a:pt x="38148" y="222340"/>
                  </a:cubicBezTo>
                  <a:cubicBezTo>
                    <a:pt x="13722" y="197915"/>
                    <a:pt x="0" y="164787"/>
                    <a:pt x="0" y="130244"/>
                  </a:cubicBezTo>
                  <a:lnTo>
                    <a:pt x="0" y="130244"/>
                  </a:lnTo>
                  <a:cubicBezTo>
                    <a:pt x="0" y="95701"/>
                    <a:pt x="13722" y="62573"/>
                    <a:pt x="38148" y="38148"/>
                  </a:cubicBezTo>
                  <a:cubicBezTo>
                    <a:pt x="62573" y="13722"/>
                    <a:pt x="95701" y="0"/>
                    <a:pt x="130244" y="0"/>
                  </a:cubicBezTo>
                  <a:close/>
                </a:path>
              </a:pathLst>
            </a:custGeom>
            <a:solidFill>
              <a:srgbClr val="F8F8F8"/>
            </a:solidFill>
          </p:spPr>
        </p:sp>
        <p:sp>
          <p:nvSpPr>
            <p:cNvPr id="12" name="TextBox 20">
              <a:extLst>
                <a:ext uri="{FF2B5EF4-FFF2-40B4-BE49-F238E27FC236}">
                  <a16:creationId xmlns:a16="http://schemas.microsoft.com/office/drawing/2014/main" id="{B887E963-8828-0EC2-D396-805F7E0029C9}"/>
                </a:ext>
              </a:extLst>
            </p:cNvPr>
            <p:cNvSpPr txBox="1"/>
            <p:nvPr/>
          </p:nvSpPr>
          <p:spPr>
            <a:xfrm>
              <a:off x="0" y="-38100"/>
              <a:ext cx="1013318" cy="298588"/>
            </a:xfrm>
            <a:prstGeom prst="rect">
              <a:avLst/>
            </a:prstGeom>
          </p:spPr>
          <p:txBody>
            <a:bodyPr lIns="47086" tIns="47086" rIns="47086" bIns="47086" rtlCol="0" anchor="ctr"/>
            <a:lstStyle/>
            <a:p>
              <a:pPr algn="ctr">
                <a:lnSpc>
                  <a:spcPts val="2659"/>
                </a:lnSpc>
              </a:pPr>
              <a:endParaRPr/>
            </a:p>
          </p:txBody>
        </p:sp>
      </p:grpSp>
      <p:sp>
        <p:nvSpPr>
          <p:cNvPr id="38" name="TextBox 25">
            <a:extLst>
              <a:ext uri="{FF2B5EF4-FFF2-40B4-BE49-F238E27FC236}">
                <a16:creationId xmlns:a16="http://schemas.microsoft.com/office/drawing/2014/main" id="{E0010C53-75B2-EDEE-95EB-2D51A0893F00}"/>
              </a:ext>
            </a:extLst>
          </p:cNvPr>
          <p:cNvSpPr txBox="1"/>
          <p:nvPr/>
        </p:nvSpPr>
        <p:spPr>
          <a:xfrm>
            <a:off x="10817232" y="5649652"/>
            <a:ext cx="7394568" cy="2160848"/>
          </a:xfrm>
          <a:prstGeom prst="rect">
            <a:avLst/>
          </a:prstGeom>
        </p:spPr>
        <p:txBody>
          <a:bodyPr wrap="square" lIns="0" tIns="0" rIns="0" bIns="0" rtlCol="0" anchor="t">
            <a:spAutoFit/>
          </a:bodyPr>
          <a:lstStyle/>
          <a:p>
            <a:pPr algn="ctr">
              <a:lnSpc>
                <a:spcPts val="3422"/>
              </a:lnSpc>
              <a:spcBef>
                <a:spcPct val="0"/>
              </a:spcBef>
            </a:pPr>
            <a:r>
              <a:rPr lang="en-GB" sz="4400" b="1" dirty="0">
                <a:solidFill>
                  <a:schemeClr val="accent6">
                    <a:lumMod val="75000"/>
                  </a:schemeClr>
                </a:solidFill>
                <a:latin typeface="Poppins"/>
                <a:ea typeface="Poppins"/>
                <a:cs typeface="Poppins"/>
                <a:sym typeface="Poppins"/>
              </a:rPr>
              <a:t>Datasets:</a:t>
            </a:r>
            <a:endParaRPr lang="en-GB" sz="2500" b="1" dirty="0">
              <a:solidFill>
                <a:schemeClr val="accent6">
                  <a:lumMod val="75000"/>
                </a:schemeClr>
              </a:solidFill>
              <a:latin typeface="Poppins"/>
              <a:ea typeface="Poppins"/>
              <a:cs typeface="Poppins"/>
              <a:sym typeface="Poppins"/>
            </a:endParaRPr>
          </a:p>
          <a:p>
            <a:pPr>
              <a:lnSpc>
                <a:spcPts val="3422"/>
              </a:lnSpc>
              <a:spcBef>
                <a:spcPct val="0"/>
              </a:spcBef>
            </a:pPr>
            <a:r>
              <a:rPr lang="en-GB" sz="2500" b="1" dirty="0">
                <a:solidFill>
                  <a:schemeClr val="accent6">
                    <a:lumMod val="75000"/>
                  </a:schemeClr>
                </a:solidFill>
                <a:latin typeface="Poppins"/>
                <a:ea typeface="Poppins"/>
                <a:cs typeface="Poppins"/>
                <a:sym typeface="Poppins"/>
              </a:rPr>
              <a:t>IMDb</a:t>
            </a:r>
            <a:r>
              <a:rPr lang="en-GB" sz="2500" b="1" dirty="0">
                <a:solidFill>
                  <a:schemeClr val="bg1">
                    <a:lumMod val="50000"/>
                  </a:schemeClr>
                </a:solidFill>
                <a:latin typeface="Poppins"/>
                <a:ea typeface="Poppins"/>
                <a:cs typeface="Poppins"/>
                <a:sym typeface="Poppins"/>
              </a:rPr>
              <a:t> and </a:t>
            </a:r>
            <a:r>
              <a:rPr lang="en-GB" sz="2500" b="1" dirty="0">
                <a:solidFill>
                  <a:schemeClr val="accent6">
                    <a:lumMod val="75000"/>
                  </a:schemeClr>
                </a:solidFill>
                <a:latin typeface="Poppins"/>
                <a:ea typeface="Poppins"/>
                <a:cs typeface="Poppins"/>
                <a:sym typeface="Poppins"/>
              </a:rPr>
              <a:t>AG News</a:t>
            </a:r>
            <a:r>
              <a:rPr lang="en-GB" sz="2500" b="1" dirty="0">
                <a:solidFill>
                  <a:schemeClr val="bg1">
                    <a:lumMod val="50000"/>
                  </a:schemeClr>
                </a:solidFill>
                <a:latin typeface="Poppins"/>
                <a:ea typeface="Poppins"/>
                <a:cs typeface="Poppins"/>
                <a:sym typeface="Poppins"/>
              </a:rPr>
              <a:t>, chosen for their standard usage in text classification benchmarks and accessibility without ethical or financial constraints.</a:t>
            </a:r>
          </a:p>
        </p:txBody>
      </p:sp>
      <p:sp>
        <p:nvSpPr>
          <p:cNvPr id="39" name="TextBox 26">
            <a:extLst>
              <a:ext uri="{FF2B5EF4-FFF2-40B4-BE49-F238E27FC236}">
                <a16:creationId xmlns:a16="http://schemas.microsoft.com/office/drawing/2014/main" id="{17688B36-CF4E-A791-55FD-F3CCBA633F8B}"/>
              </a:ext>
            </a:extLst>
          </p:cNvPr>
          <p:cNvSpPr txBox="1"/>
          <p:nvPr/>
        </p:nvSpPr>
        <p:spPr>
          <a:xfrm>
            <a:off x="6346615" y="6420708"/>
            <a:ext cx="741046" cy="376513"/>
          </a:xfrm>
          <a:prstGeom prst="rect">
            <a:avLst/>
          </a:prstGeom>
        </p:spPr>
        <p:txBody>
          <a:bodyPr lIns="0" tIns="0" rIns="0" bIns="0" rtlCol="0" anchor="t">
            <a:spAutoFit/>
          </a:bodyPr>
          <a:lstStyle/>
          <a:p>
            <a:pPr algn="ctr">
              <a:lnSpc>
                <a:spcPts val="3055"/>
              </a:lnSpc>
              <a:spcBef>
                <a:spcPct val="0"/>
              </a:spcBef>
            </a:pPr>
            <a:endParaRPr lang="en-US" sz="2182" b="1" dirty="0">
              <a:solidFill>
                <a:srgbClr val="3A6AD6"/>
              </a:solidFill>
              <a:latin typeface="Poppins Bold"/>
              <a:ea typeface="Poppins Bold"/>
              <a:cs typeface="Poppins Bold"/>
              <a:sym typeface="Poppins Bold"/>
            </a:endParaRPr>
          </a:p>
        </p:txBody>
      </p:sp>
      <p:sp>
        <p:nvSpPr>
          <p:cNvPr id="66" name="TextBox 25">
            <a:extLst>
              <a:ext uri="{FF2B5EF4-FFF2-40B4-BE49-F238E27FC236}">
                <a16:creationId xmlns:a16="http://schemas.microsoft.com/office/drawing/2014/main" id="{8C4F9FD2-F93E-007D-BA47-EB86B8C7CE4B}"/>
              </a:ext>
            </a:extLst>
          </p:cNvPr>
          <p:cNvSpPr txBox="1"/>
          <p:nvPr/>
        </p:nvSpPr>
        <p:spPr>
          <a:xfrm>
            <a:off x="533400" y="5869005"/>
            <a:ext cx="7011460" cy="2160848"/>
          </a:xfrm>
          <a:prstGeom prst="rect">
            <a:avLst/>
          </a:prstGeom>
        </p:spPr>
        <p:txBody>
          <a:bodyPr wrap="square" lIns="0" tIns="0" rIns="0" bIns="0" rtlCol="0" anchor="t">
            <a:spAutoFit/>
          </a:bodyPr>
          <a:lstStyle/>
          <a:p>
            <a:pPr algn="ctr">
              <a:lnSpc>
                <a:spcPts val="3422"/>
              </a:lnSpc>
              <a:spcBef>
                <a:spcPct val="0"/>
              </a:spcBef>
            </a:pPr>
            <a:r>
              <a:rPr lang="en-GB" sz="2500" b="1" dirty="0">
                <a:solidFill>
                  <a:schemeClr val="bg1">
                    <a:lumMod val="50000"/>
                  </a:schemeClr>
                </a:solidFill>
                <a:latin typeface="Poppins"/>
                <a:ea typeface="Poppins"/>
                <a:cs typeface="Poppins"/>
                <a:sym typeface="Poppins"/>
              </a:rPr>
              <a:t> </a:t>
            </a:r>
            <a:r>
              <a:rPr lang="en-GB" sz="4400" b="1" dirty="0">
                <a:solidFill>
                  <a:schemeClr val="accent6">
                    <a:lumMod val="75000"/>
                  </a:schemeClr>
                </a:solidFill>
                <a:latin typeface="Poppins"/>
                <a:ea typeface="Poppins"/>
                <a:cs typeface="Poppins"/>
                <a:sym typeface="Poppins"/>
              </a:rPr>
              <a:t>Models: </a:t>
            </a:r>
            <a:r>
              <a:rPr lang="en-GB" sz="4400" b="1" dirty="0">
                <a:solidFill>
                  <a:schemeClr val="bg1">
                    <a:lumMod val="50000"/>
                  </a:schemeClr>
                </a:solidFill>
                <a:latin typeface="Poppins"/>
                <a:ea typeface="Poppins"/>
                <a:cs typeface="Poppins"/>
                <a:sym typeface="Poppins"/>
              </a:rPr>
              <a:t> </a:t>
            </a:r>
          </a:p>
          <a:p>
            <a:pPr>
              <a:lnSpc>
                <a:spcPts val="3422"/>
              </a:lnSpc>
              <a:spcBef>
                <a:spcPct val="0"/>
              </a:spcBef>
            </a:pPr>
            <a:r>
              <a:rPr lang="en-GB" sz="2500" b="1" dirty="0">
                <a:solidFill>
                  <a:schemeClr val="accent6">
                    <a:lumMod val="75000"/>
                  </a:schemeClr>
                </a:solidFill>
                <a:latin typeface="Poppins"/>
                <a:ea typeface="Poppins"/>
                <a:cs typeface="Poppins"/>
                <a:sym typeface="Poppins"/>
              </a:rPr>
              <a:t>LSTM</a:t>
            </a:r>
            <a:r>
              <a:rPr lang="en-GB" sz="2500" b="1" dirty="0">
                <a:solidFill>
                  <a:schemeClr val="bg1">
                    <a:lumMod val="50000"/>
                  </a:schemeClr>
                </a:solidFill>
                <a:latin typeface="Poppins"/>
                <a:ea typeface="Poppins"/>
                <a:cs typeface="Poppins"/>
                <a:sym typeface="Poppins"/>
              </a:rPr>
              <a:t>, </a:t>
            </a:r>
            <a:r>
              <a:rPr lang="en-GB" sz="2500" b="1" dirty="0">
                <a:solidFill>
                  <a:schemeClr val="accent6">
                    <a:lumMod val="75000"/>
                  </a:schemeClr>
                </a:solidFill>
                <a:latin typeface="Poppins"/>
                <a:ea typeface="Poppins"/>
                <a:cs typeface="Poppins"/>
                <a:sym typeface="Poppins"/>
              </a:rPr>
              <a:t>CNN</a:t>
            </a:r>
            <a:r>
              <a:rPr lang="en-GB" sz="2500" b="1" dirty="0">
                <a:solidFill>
                  <a:schemeClr val="bg1">
                    <a:lumMod val="50000"/>
                  </a:schemeClr>
                </a:solidFill>
                <a:latin typeface="Poppins"/>
                <a:ea typeface="Poppins"/>
                <a:cs typeface="Poppins"/>
                <a:sym typeface="Poppins"/>
              </a:rPr>
              <a:t>, and </a:t>
            </a:r>
            <a:r>
              <a:rPr lang="en-GB" sz="2500" b="1" dirty="0">
                <a:solidFill>
                  <a:schemeClr val="accent6">
                    <a:lumMod val="75000"/>
                  </a:schemeClr>
                </a:solidFill>
                <a:latin typeface="Poppins"/>
                <a:ea typeface="Poppins"/>
                <a:cs typeface="Poppins"/>
                <a:sym typeface="Poppins"/>
              </a:rPr>
              <a:t>Transformer</a:t>
            </a:r>
            <a:r>
              <a:rPr lang="en-GB" sz="2500" b="1" dirty="0">
                <a:solidFill>
                  <a:schemeClr val="bg1">
                    <a:lumMod val="50000"/>
                  </a:schemeClr>
                </a:solidFill>
                <a:latin typeface="Poppins"/>
                <a:ea typeface="Poppins"/>
                <a:cs typeface="Poppins"/>
                <a:sym typeface="Poppins"/>
              </a:rPr>
              <a:t> </a:t>
            </a:r>
            <a:r>
              <a:rPr lang="en-GB" sz="2500" b="1" dirty="0">
                <a:solidFill>
                  <a:schemeClr val="accent6">
                    <a:lumMod val="75000"/>
                  </a:schemeClr>
                </a:solidFill>
                <a:latin typeface="Poppins"/>
                <a:ea typeface="Poppins"/>
                <a:cs typeface="Poppins"/>
                <a:sym typeface="Poppins"/>
              </a:rPr>
              <a:t>architectures</a:t>
            </a:r>
            <a:r>
              <a:rPr lang="en-GB" sz="2500" b="1" dirty="0">
                <a:solidFill>
                  <a:schemeClr val="bg1">
                    <a:lumMod val="50000"/>
                  </a:schemeClr>
                </a:solidFill>
                <a:latin typeface="Poppins"/>
                <a:ea typeface="Poppins"/>
                <a:cs typeface="Poppins"/>
                <a:sym typeface="Poppins"/>
              </a:rPr>
              <a:t>, representing diverse and widely-used NLP paradigms.</a:t>
            </a:r>
          </a:p>
          <a:p>
            <a:pPr>
              <a:lnSpc>
                <a:spcPts val="3422"/>
              </a:lnSpc>
              <a:spcBef>
                <a:spcPct val="0"/>
              </a:spcBef>
            </a:pPr>
            <a:endParaRPr lang="en-GB" sz="2500" b="1" dirty="0">
              <a:solidFill>
                <a:schemeClr val="bg1">
                  <a:lumMod val="50000"/>
                </a:schemeClr>
              </a:solidFill>
              <a:latin typeface="Poppins"/>
              <a:ea typeface="Poppins"/>
              <a:cs typeface="Poppins"/>
              <a:sym typeface="Poppins"/>
            </a:endParaRPr>
          </a:p>
        </p:txBody>
      </p:sp>
      <p:grpSp>
        <p:nvGrpSpPr>
          <p:cNvPr id="35" name="Group 18">
            <a:extLst>
              <a:ext uri="{FF2B5EF4-FFF2-40B4-BE49-F238E27FC236}">
                <a16:creationId xmlns:a16="http://schemas.microsoft.com/office/drawing/2014/main" id="{7B801320-CF3E-4C72-83B8-C9CDFD1CA37B}"/>
              </a:ext>
            </a:extLst>
          </p:cNvPr>
          <p:cNvGrpSpPr/>
          <p:nvPr/>
        </p:nvGrpSpPr>
        <p:grpSpPr>
          <a:xfrm>
            <a:off x="2057400" y="8420099"/>
            <a:ext cx="13182600" cy="1623633"/>
            <a:chOff x="0" y="0"/>
            <a:chExt cx="1013318" cy="260488"/>
          </a:xfrm>
        </p:grpSpPr>
        <p:sp>
          <p:nvSpPr>
            <p:cNvPr id="41" name="Freeform 19">
              <a:extLst>
                <a:ext uri="{FF2B5EF4-FFF2-40B4-BE49-F238E27FC236}">
                  <a16:creationId xmlns:a16="http://schemas.microsoft.com/office/drawing/2014/main" id="{A142BB53-B84A-49E2-A928-FC773A907C90}"/>
                </a:ext>
              </a:extLst>
            </p:cNvPr>
            <p:cNvSpPr/>
            <p:nvPr/>
          </p:nvSpPr>
          <p:spPr>
            <a:xfrm>
              <a:off x="0" y="0"/>
              <a:ext cx="1013318" cy="260488"/>
            </a:xfrm>
            <a:custGeom>
              <a:avLst/>
              <a:gdLst/>
              <a:ahLst/>
              <a:cxnLst/>
              <a:rect l="l" t="t" r="r" b="b"/>
              <a:pathLst>
                <a:path w="1013318" h="260488">
                  <a:moveTo>
                    <a:pt x="130244" y="0"/>
                  </a:moveTo>
                  <a:lnTo>
                    <a:pt x="883074" y="0"/>
                  </a:lnTo>
                  <a:cubicBezTo>
                    <a:pt x="917617" y="0"/>
                    <a:pt x="950745" y="13722"/>
                    <a:pt x="975171" y="38148"/>
                  </a:cubicBezTo>
                  <a:cubicBezTo>
                    <a:pt x="999596" y="62573"/>
                    <a:pt x="1013318" y="95701"/>
                    <a:pt x="1013318" y="130244"/>
                  </a:cubicBezTo>
                  <a:lnTo>
                    <a:pt x="1013318" y="130244"/>
                  </a:lnTo>
                  <a:cubicBezTo>
                    <a:pt x="1013318" y="202175"/>
                    <a:pt x="955006" y="260488"/>
                    <a:pt x="883074" y="260488"/>
                  </a:cubicBezTo>
                  <a:lnTo>
                    <a:pt x="130244" y="260488"/>
                  </a:lnTo>
                  <a:cubicBezTo>
                    <a:pt x="95701" y="260488"/>
                    <a:pt x="62573" y="246766"/>
                    <a:pt x="38148" y="222340"/>
                  </a:cubicBezTo>
                  <a:cubicBezTo>
                    <a:pt x="13722" y="197915"/>
                    <a:pt x="0" y="164787"/>
                    <a:pt x="0" y="130244"/>
                  </a:cubicBezTo>
                  <a:lnTo>
                    <a:pt x="0" y="130244"/>
                  </a:lnTo>
                  <a:cubicBezTo>
                    <a:pt x="0" y="95701"/>
                    <a:pt x="13722" y="62573"/>
                    <a:pt x="38148" y="38148"/>
                  </a:cubicBezTo>
                  <a:cubicBezTo>
                    <a:pt x="62573" y="13722"/>
                    <a:pt x="95701" y="0"/>
                    <a:pt x="130244" y="0"/>
                  </a:cubicBezTo>
                  <a:close/>
                </a:path>
              </a:pathLst>
            </a:custGeom>
            <a:solidFill>
              <a:srgbClr val="F8F8F8"/>
            </a:solidFill>
          </p:spPr>
        </p:sp>
        <p:sp>
          <p:nvSpPr>
            <p:cNvPr id="42" name="TextBox 20">
              <a:extLst>
                <a:ext uri="{FF2B5EF4-FFF2-40B4-BE49-F238E27FC236}">
                  <a16:creationId xmlns:a16="http://schemas.microsoft.com/office/drawing/2014/main" id="{24F29DB8-C871-0AF9-8C74-767B9D3A4F40}"/>
                </a:ext>
              </a:extLst>
            </p:cNvPr>
            <p:cNvSpPr txBox="1"/>
            <p:nvPr/>
          </p:nvSpPr>
          <p:spPr>
            <a:xfrm>
              <a:off x="0" y="-38100"/>
              <a:ext cx="1013318" cy="298588"/>
            </a:xfrm>
            <a:prstGeom prst="rect">
              <a:avLst/>
            </a:prstGeom>
          </p:spPr>
          <p:txBody>
            <a:bodyPr lIns="47086" tIns="47086" rIns="47086" bIns="47086" rtlCol="0" anchor="ctr"/>
            <a:lstStyle/>
            <a:p>
              <a:pPr algn="ctr">
                <a:lnSpc>
                  <a:spcPts val="2659"/>
                </a:lnSpc>
              </a:pPr>
              <a:endParaRPr/>
            </a:p>
          </p:txBody>
        </p:sp>
      </p:grpSp>
      <p:sp>
        <p:nvSpPr>
          <p:cNvPr id="55" name="TextBox 26">
            <a:extLst>
              <a:ext uri="{FF2B5EF4-FFF2-40B4-BE49-F238E27FC236}">
                <a16:creationId xmlns:a16="http://schemas.microsoft.com/office/drawing/2014/main" id="{D7585B69-6384-2779-0145-3E2DB890E790}"/>
              </a:ext>
            </a:extLst>
          </p:cNvPr>
          <p:cNvSpPr txBox="1"/>
          <p:nvPr/>
        </p:nvSpPr>
        <p:spPr>
          <a:xfrm>
            <a:off x="11909215" y="8692583"/>
            <a:ext cx="741046" cy="376513"/>
          </a:xfrm>
          <a:prstGeom prst="rect">
            <a:avLst/>
          </a:prstGeom>
        </p:spPr>
        <p:txBody>
          <a:bodyPr lIns="0" tIns="0" rIns="0" bIns="0" rtlCol="0" anchor="t">
            <a:spAutoFit/>
          </a:bodyPr>
          <a:lstStyle/>
          <a:p>
            <a:pPr algn="ctr">
              <a:lnSpc>
                <a:spcPts val="3055"/>
              </a:lnSpc>
              <a:spcBef>
                <a:spcPct val="0"/>
              </a:spcBef>
            </a:pPr>
            <a:endParaRPr lang="en-US" sz="2182" b="1" dirty="0">
              <a:solidFill>
                <a:srgbClr val="3A6AD6"/>
              </a:solidFill>
              <a:latin typeface="Poppins Bold"/>
              <a:ea typeface="Poppins Bold"/>
              <a:cs typeface="Poppins Bold"/>
              <a:sym typeface="Poppins Bold"/>
            </a:endParaRPr>
          </a:p>
        </p:txBody>
      </p:sp>
      <p:sp>
        <p:nvSpPr>
          <p:cNvPr id="56" name="TextBox 25">
            <a:extLst>
              <a:ext uri="{FF2B5EF4-FFF2-40B4-BE49-F238E27FC236}">
                <a16:creationId xmlns:a16="http://schemas.microsoft.com/office/drawing/2014/main" id="{EFA3D20E-C2B5-BB24-1E4B-12B80FE29A94}"/>
              </a:ext>
            </a:extLst>
          </p:cNvPr>
          <p:cNvSpPr txBox="1"/>
          <p:nvPr/>
        </p:nvSpPr>
        <p:spPr>
          <a:xfrm>
            <a:off x="2971800" y="8572500"/>
            <a:ext cx="12496800" cy="1285224"/>
          </a:xfrm>
          <a:prstGeom prst="rect">
            <a:avLst/>
          </a:prstGeom>
        </p:spPr>
        <p:txBody>
          <a:bodyPr wrap="square" lIns="0" tIns="0" rIns="0" bIns="0" rtlCol="0" anchor="t">
            <a:spAutoFit/>
          </a:bodyPr>
          <a:lstStyle/>
          <a:p>
            <a:pPr>
              <a:lnSpc>
                <a:spcPts val="3422"/>
              </a:lnSpc>
              <a:spcBef>
                <a:spcPct val="0"/>
              </a:spcBef>
            </a:pPr>
            <a:r>
              <a:rPr lang="en-GB" sz="2400" b="1" dirty="0">
                <a:solidFill>
                  <a:schemeClr val="accent6">
                    <a:lumMod val="75000"/>
                  </a:schemeClr>
                </a:solidFill>
                <a:latin typeface="Poppins"/>
                <a:ea typeface="Poppins"/>
                <a:cs typeface="Poppins"/>
                <a:sym typeface="Poppins"/>
              </a:rPr>
              <a:t>Random sampling was avoided </a:t>
            </a:r>
            <a:r>
              <a:rPr lang="en-GB" sz="2400" b="1" dirty="0">
                <a:solidFill>
                  <a:schemeClr val="bg1">
                    <a:lumMod val="50000"/>
                  </a:schemeClr>
                </a:solidFill>
                <a:latin typeface="Poppins"/>
                <a:ea typeface="Poppins"/>
                <a:cs typeface="Poppins"/>
                <a:sym typeface="Poppins"/>
              </a:rPr>
              <a:t>because the population of NLP models and datasets is large and heterogeneous, making representative sampling impractical. </a:t>
            </a:r>
          </a:p>
        </p:txBody>
      </p:sp>
      <p:pic>
        <p:nvPicPr>
          <p:cNvPr id="11266" name="Picture 2" descr="Random Sampling Icon - Free Download Business Icons | IconScout">
            <a:extLst>
              <a:ext uri="{FF2B5EF4-FFF2-40B4-BE49-F238E27FC236}">
                <a16:creationId xmlns:a16="http://schemas.microsoft.com/office/drawing/2014/main" id="{7F0D1BC0-5DDB-BD44-5074-6F5297D26EDF}"/>
              </a:ext>
            </a:extLst>
          </p:cNvPr>
          <p:cNvPicPr>
            <a:picLocks noChangeAspect="1" noChangeArrowheads="1"/>
          </p:cNvPicPr>
          <p:nvPr/>
        </p:nvPicPr>
        <p:blipFill>
          <a:blip r:embed="rId3">
            <a:duotone>
              <a:schemeClr val="accent6">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8654728" y="984602"/>
            <a:ext cx="1130943" cy="113094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9226926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Click="0">
        <p159:morph option="byObject"/>
      </p:transition>
    </mc:Choice>
    <mc:Fallback xmlns="">
      <p:transition spd="slow" advClick="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2" presetClass="emph" presetSubtype="0" fill="hold" grpId="0" nodeType="afterEffect">
                                  <p:stCondLst>
                                    <p:cond delay="0"/>
                                  </p:stCondLst>
                                  <p:childTnLst>
                                    <p:animRot by="120000">
                                      <p:cBhvr>
                                        <p:cTn id="6" dur="200" fill="hold">
                                          <p:stCondLst>
                                            <p:cond delay="0"/>
                                          </p:stCondLst>
                                        </p:cTn>
                                        <p:tgtEl>
                                          <p:spTgt spid="9"/>
                                        </p:tgtEl>
                                        <p:attrNameLst>
                                          <p:attrName>r</p:attrName>
                                        </p:attrNameLst>
                                      </p:cBhvr>
                                    </p:animRot>
                                    <p:animRot by="-240000">
                                      <p:cBhvr>
                                        <p:cTn id="7" dur="400" fill="hold">
                                          <p:stCondLst>
                                            <p:cond delay="400"/>
                                          </p:stCondLst>
                                        </p:cTn>
                                        <p:tgtEl>
                                          <p:spTgt spid="9"/>
                                        </p:tgtEl>
                                        <p:attrNameLst>
                                          <p:attrName>r</p:attrName>
                                        </p:attrNameLst>
                                      </p:cBhvr>
                                    </p:animRot>
                                    <p:animRot by="240000">
                                      <p:cBhvr>
                                        <p:cTn id="8" dur="400" fill="hold">
                                          <p:stCondLst>
                                            <p:cond delay="800"/>
                                          </p:stCondLst>
                                        </p:cTn>
                                        <p:tgtEl>
                                          <p:spTgt spid="9"/>
                                        </p:tgtEl>
                                        <p:attrNameLst>
                                          <p:attrName>r</p:attrName>
                                        </p:attrNameLst>
                                      </p:cBhvr>
                                    </p:animRot>
                                    <p:animRot by="-240000">
                                      <p:cBhvr>
                                        <p:cTn id="9" dur="400" fill="hold">
                                          <p:stCondLst>
                                            <p:cond delay="1200"/>
                                          </p:stCondLst>
                                        </p:cTn>
                                        <p:tgtEl>
                                          <p:spTgt spid="9"/>
                                        </p:tgtEl>
                                        <p:attrNameLst>
                                          <p:attrName>r</p:attrName>
                                        </p:attrNameLst>
                                      </p:cBhvr>
                                    </p:animRot>
                                    <p:animRot by="120000">
                                      <p:cBhvr>
                                        <p:cTn id="10" dur="400" fill="hold">
                                          <p:stCondLst>
                                            <p:cond delay="1600"/>
                                          </p:stCondLst>
                                        </p:cTn>
                                        <p:tgtEl>
                                          <p:spTgt spid="9"/>
                                        </p:tgtEl>
                                        <p:attrNameLst>
                                          <p:attrName>r</p:attrName>
                                        </p:attrNameLst>
                                      </p:cBhvr>
                                    </p:animRot>
                                  </p:childTnLst>
                                </p:cTn>
                              </p:par>
                            </p:childTnLst>
                          </p:cTn>
                        </p:par>
                        <p:par>
                          <p:cTn id="11" fill="hold">
                            <p:stCondLst>
                              <p:cond delay="2000"/>
                            </p:stCondLst>
                            <p:childTnLst>
                              <p:par>
                                <p:cTn id="12" presetID="45" presetClass="entr" presetSubtype="0" fill="hold" nodeType="afterEffect">
                                  <p:stCondLst>
                                    <p:cond delay="0"/>
                                  </p:stCondLst>
                                  <p:childTnLst>
                                    <p:set>
                                      <p:cBhvr>
                                        <p:cTn id="13" dur="1" fill="hold">
                                          <p:stCondLst>
                                            <p:cond delay="0"/>
                                          </p:stCondLst>
                                        </p:cTn>
                                        <p:tgtEl>
                                          <p:spTgt spid="11266"/>
                                        </p:tgtEl>
                                        <p:attrNameLst>
                                          <p:attrName>style.visibility</p:attrName>
                                        </p:attrNameLst>
                                      </p:cBhvr>
                                      <p:to>
                                        <p:strVal val="visible"/>
                                      </p:to>
                                    </p:set>
                                    <p:animEffect transition="in" filter="fade">
                                      <p:cBhvr>
                                        <p:cTn id="14" dur="2000"/>
                                        <p:tgtEl>
                                          <p:spTgt spid="11266"/>
                                        </p:tgtEl>
                                      </p:cBhvr>
                                    </p:animEffect>
                                    <p:anim calcmode="lin" valueType="num">
                                      <p:cBhvr>
                                        <p:cTn id="15" dur="2000" fill="hold"/>
                                        <p:tgtEl>
                                          <p:spTgt spid="11266"/>
                                        </p:tgtEl>
                                        <p:attrNameLst>
                                          <p:attrName>ppt_w</p:attrName>
                                        </p:attrNameLst>
                                      </p:cBhvr>
                                      <p:tavLst>
                                        <p:tav tm="0" fmla="#ppt_w*sin(2.5*pi*$)">
                                          <p:val>
                                            <p:fltVal val="0"/>
                                          </p:val>
                                        </p:tav>
                                        <p:tav tm="100000">
                                          <p:val>
                                            <p:fltVal val="1"/>
                                          </p:val>
                                        </p:tav>
                                      </p:tavLst>
                                    </p:anim>
                                    <p:anim calcmode="lin" valueType="num">
                                      <p:cBhvr>
                                        <p:cTn id="16" dur="2000" fill="hold"/>
                                        <p:tgtEl>
                                          <p:spTgt spid="11266"/>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C8B56B-6F76-7130-E89E-FE037CF8FA6B}"/>
            </a:ext>
          </a:extLst>
        </p:cNvPr>
        <p:cNvGrpSpPr/>
        <p:nvPr/>
      </p:nvGrpSpPr>
      <p:grpSpPr>
        <a:xfrm>
          <a:off x="0" y="0"/>
          <a:ext cx="0" cy="0"/>
          <a:chOff x="0" y="0"/>
          <a:chExt cx="0" cy="0"/>
        </a:xfrm>
      </p:grpSpPr>
      <p:sp>
        <p:nvSpPr>
          <p:cNvPr id="67" name="Freeform 17">
            <a:extLst>
              <a:ext uri="{FF2B5EF4-FFF2-40B4-BE49-F238E27FC236}">
                <a16:creationId xmlns:a16="http://schemas.microsoft.com/office/drawing/2014/main" id="{518D676B-1EEA-410D-528A-1966A7355082}"/>
              </a:ext>
            </a:extLst>
          </p:cNvPr>
          <p:cNvSpPr/>
          <p:nvPr/>
        </p:nvSpPr>
        <p:spPr>
          <a:xfrm>
            <a:off x="2744136" y="4643528"/>
            <a:ext cx="1634041" cy="1634041"/>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id="68" name="Freeform 17">
            <a:extLst>
              <a:ext uri="{FF2B5EF4-FFF2-40B4-BE49-F238E27FC236}">
                <a16:creationId xmlns:a16="http://schemas.microsoft.com/office/drawing/2014/main" id="{30CAAA39-CD84-F371-A0F8-C2A16BA9FCA9}"/>
              </a:ext>
            </a:extLst>
          </p:cNvPr>
          <p:cNvSpPr/>
          <p:nvPr/>
        </p:nvSpPr>
        <p:spPr>
          <a:xfrm>
            <a:off x="13685849" y="4660357"/>
            <a:ext cx="1634041" cy="1634041"/>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grpSp>
        <p:nvGrpSpPr>
          <p:cNvPr id="2" name="Group 13">
            <a:extLst>
              <a:ext uri="{FF2B5EF4-FFF2-40B4-BE49-F238E27FC236}">
                <a16:creationId xmlns:a16="http://schemas.microsoft.com/office/drawing/2014/main" id="{72891F10-849C-D693-D359-66E2D8736986}"/>
              </a:ext>
            </a:extLst>
          </p:cNvPr>
          <p:cNvGrpSpPr/>
          <p:nvPr/>
        </p:nvGrpSpPr>
        <p:grpSpPr>
          <a:xfrm>
            <a:off x="5748992" y="-952500"/>
            <a:ext cx="6824008" cy="6824008"/>
            <a:chOff x="0" y="0"/>
            <a:chExt cx="812800" cy="812800"/>
          </a:xfrm>
        </p:grpSpPr>
        <p:sp>
          <p:nvSpPr>
            <p:cNvPr id="3" name="Freeform 14">
              <a:extLst>
                <a:ext uri="{FF2B5EF4-FFF2-40B4-BE49-F238E27FC236}">
                  <a16:creationId xmlns:a16="http://schemas.microsoft.com/office/drawing/2014/main" id="{0BB2FE4A-5352-3AD0-677B-D9963224959E}"/>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8F8F8"/>
            </a:solidFill>
          </p:spPr>
        </p:sp>
        <p:sp>
          <p:nvSpPr>
            <p:cNvPr id="4" name="TextBox 15">
              <a:extLst>
                <a:ext uri="{FF2B5EF4-FFF2-40B4-BE49-F238E27FC236}">
                  <a16:creationId xmlns:a16="http://schemas.microsoft.com/office/drawing/2014/main" id="{C75886FC-162C-0188-2FFF-AF58EA7D708B}"/>
                </a:ext>
              </a:extLst>
            </p:cNvPr>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5" name="Freeform 16">
            <a:extLst>
              <a:ext uri="{FF2B5EF4-FFF2-40B4-BE49-F238E27FC236}">
                <a16:creationId xmlns:a16="http://schemas.microsoft.com/office/drawing/2014/main" id="{70267343-4504-35C8-0474-7770FE0A7C61}"/>
              </a:ext>
            </a:extLst>
          </p:cNvPr>
          <p:cNvSpPr/>
          <p:nvPr/>
        </p:nvSpPr>
        <p:spPr>
          <a:xfrm>
            <a:off x="5720022" y="-1065542"/>
            <a:ext cx="6700578" cy="6666242"/>
          </a:xfrm>
          <a:custGeom>
            <a:avLst/>
            <a:gdLst/>
            <a:ahLst/>
            <a:cxnLst/>
            <a:rect l="l" t="t" r="r" b="b"/>
            <a:pathLst>
              <a:path w="5862965" h="5855636">
                <a:moveTo>
                  <a:pt x="0" y="0"/>
                </a:moveTo>
                <a:lnTo>
                  <a:pt x="5862964" y="0"/>
                </a:lnTo>
                <a:lnTo>
                  <a:pt x="5862964" y="5855636"/>
                </a:lnTo>
                <a:lnTo>
                  <a:pt x="0" y="5855636"/>
                </a:lnTo>
                <a:lnTo>
                  <a:pt x="0" y="0"/>
                </a:lnTo>
                <a:close/>
              </a:path>
            </a:pathLst>
          </a:custGeom>
          <a:blipFill>
            <a:blip r:embed="rId2"/>
            <a:stretch>
              <a:fillRect/>
            </a:stretch>
          </a:blipFill>
        </p:spPr>
      </p:sp>
      <p:grpSp>
        <p:nvGrpSpPr>
          <p:cNvPr id="63" name="Group 18">
            <a:extLst>
              <a:ext uri="{FF2B5EF4-FFF2-40B4-BE49-F238E27FC236}">
                <a16:creationId xmlns:a16="http://schemas.microsoft.com/office/drawing/2014/main" id="{AAA3DE3D-CD3E-CCBF-E918-7C94C38FE9A1}"/>
              </a:ext>
            </a:extLst>
          </p:cNvPr>
          <p:cNvGrpSpPr/>
          <p:nvPr/>
        </p:nvGrpSpPr>
        <p:grpSpPr>
          <a:xfrm>
            <a:off x="10755134" y="5829300"/>
            <a:ext cx="7152926" cy="1822406"/>
            <a:chOff x="0" y="0"/>
            <a:chExt cx="1013318" cy="260488"/>
          </a:xfrm>
        </p:grpSpPr>
        <p:sp>
          <p:nvSpPr>
            <p:cNvPr id="64" name="Freeform 19">
              <a:extLst>
                <a:ext uri="{FF2B5EF4-FFF2-40B4-BE49-F238E27FC236}">
                  <a16:creationId xmlns:a16="http://schemas.microsoft.com/office/drawing/2014/main" id="{A6AB3517-F2D7-F7CF-6811-F15D35002123}"/>
                </a:ext>
              </a:extLst>
            </p:cNvPr>
            <p:cNvSpPr/>
            <p:nvPr/>
          </p:nvSpPr>
          <p:spPr>
            <a:xfrm>
              <a:off x="0" y="0"/>
              <a:ext cx="1013318" cy="260488"/>
            </a:xfrm>
            <a:custGeom>
              <a:avLst/>
              <a:gdLst/>
              <a:ahLst/>
              <a:cxnLst/>
              <a:rect l="l" t="t" r="r" b="b"/>
              <a:pathLst>
                <a:path w="1013318" h="260488">
                  <a:moveTo>
                    <a:pt x="130244" y="0"/>
                  </a:moveTo>
                  <a:lnTo>
                    <a:pt x="883074" y="0"/>
                  </a:lnTo>
                  <a:cubicBezTo>
                    <a:pt x="917617" y="0"/>
                    <a:pt x="950745" y="13722"/>
                    <a:pt x="975171" y="38148"/>
                  </a:cubicBezTo>
                  <a:cubicBezTo>
                    <a:pt x="999596" y="62573"/>
                    <a:pt x="1013318" y="95701"/>
                    <a:pt x="1013318" y="130244"/>
                  </a:cubicBezTo>
                  <a:lnTo>
                    <a:pt x="1013318" y="130244"/>
                  </a:lnTo>
                  <a:cubicBezTo>
                    <a:pt x="1013318" y="202175"/>
                    <a:pt x="955006" y="260488"/>
                    <a:pt x="883074" y="260488"/>
                  </a:cubicBezTo>
                  <a:lnTo>
                    <a:pt x="130244" y="260488"/>
                  </a:lnTo>
                  <a:cubicBezTo>
                    <a:pt x="95701" y="260488"/>
                    <a:pt x="62573" y="246766"/>
                    <a:pt x="38148" y="222340"/>
                  </a:cubicBezTo>
                  <a:cubicBezTo>
                    <a:pt x="13722" y="197915"/>
                    <a:pt x="0" y="164787"/>
                    <a:pt x="0" y="130244"/>
                  </a:cubicBezTo>
                  <a:lnTo>
                    <a:pt x="0" y="130244"/>
                  </a:lnTo>
                  <a:cubicBezTo>
                    <a:pt x="0" y="95701"/>
                    <a:pt x="13722" y="62573"/>
                    <a:pt x="38148" y="38148"/>
                  </a:cubicBezTo>
                  <a:cubicBezTo>
                    <a:pt x="62573" y="13722"/>
                    <a:pt x="95701" y="0"/>
                    <a:pt x="130244" y="0"/>
                  </a:cubicBezTo>
                  <a:close/>
                </a:path>
              </a:pathLst>
            </a:custGeom>
            <a:solidFill>
              <a:srgbClr val="F8F8F8"/>
            </a:solidFill>
          </p:spPr>
        </p:sp>
        <p:sp>
          <p:nvSpPr>
            <p:cNvPr id="65" name="TextBox 20">
              <a:extLst>
                <a:ext uri="{FF2B5EF4-FFF2-40B4-BE49-F238E27FC236}">
                  <a16:creationId xmlns:a16="http://schemas.microsoft.com/office/drawing/2014/main" id="{97DAA1EF-BA98-CBD1-7BC7-CEB95FBFD8B1}"/>
                </a:ext>
              </a:extLst>
            </p:cNvPr>
            <p:cNvSpPr txBox="1"/>
            <p:nvPr/>
          </p:nvSpPr>
          <p:spPr>
            <a:xfrm>
              <a:off x="0" y="-38100"/>
              <a:ext cx="1013318" cy="298588"/>
            </a:xfrm>
            <a:prstGeom prst="rect">
              <a:avLst/>
            </a:prstGeom>
          </p:spPr>
          <p:txBody>
            <a:bodyPr lIns="47086" tIns="47086" rIns="47086" bIns="47086" rtlCol="0" anchor="ctr"/>
            <a:lstStyle/>
            <a:p>
              <a:pPr algn="ctr">
                <a:lnSpc>
                  <a:spcPts val="2659"/>
                </a:lnSpc>
              </a:pPr>
              <a:endParaRPr/>
            </a:p>
          </p:txBody>
        </p:sp>
      </p:grpSp>
      <p:grpSp>
        <p:nvGrpSpPr>
          <p:cNvPr id="6" name="Group 17">
            <a:extLst>
              <a:ext uri="{FF2B5EF4-FFF2-40B4-BE49-F238E27FC236}">
                <a16:creationId xmlns:a16="http://schemas.microsoft.com/office/drawing/2014/main" id="{4E18A4C4-7A16-DB95-F6A3-C68901A81E7A}"/>
              </a:ext>
            </a:extLst>
          </p:cNvPr>
          <p:cNvGrpSpPr/>
          <p:nvPr/>
        </p:nvGrpSpPr>
        <p:grpSpPr>
          <a:xfrm>
            <a:off x="6272686" y="-428805"/>
            <a:ext cx="5776619" cy="5776619"/>
            <a:chOff x="0" y="0"/>
            <a:chExt cx="812800" cy="812800"/>
          </a:xfrm>
        </p:grpSpPr>
        <p:sp>
          <p:nvSpPr>
            <p:cNvPr id="7" name="Freeform 18">
              <a:extLst>
                <a:ext uri="{FF2B5EF4-FFF2-40B4-BE49-F238E27FC236}">
                  <a16:creationId xmlns:a16="http://schemas.microsoft.com/office/drawing/2014/main" id="{20F9CE1A-555B-83C4-4B61-3BD3FA32C51E}"/>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id="8" name="TextBox 19">
              <a:extLst>
                <a:ext uri="{FF2B5EF4-FFF2-40B4-BE49-F238E27FC236}">
                  <a16:creationId xmlns:a16="http://schemas.microsoft.com/office/drawing/2014/main" id="{9A385244-BEA6-C7F5-4C45-1DC0553F923E}"/>
                </a:ext>
              </a:extLst>
            </p:cNvPr>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9" name="TextBox 26">
            <a:extLst>
              <a:ext uri="{FF2B5EF4-FFF2-40B4-BE49-F238E27FC236}">
                <a16:creationId xmlns:a16="http://schemas.microsoft.com/office/drawing/2014/main" id="{23451300-5A22-8999-07BA-75B8E987EF20}"/>
              </a:ext>
            </a:extLst>
          </p:cNvPr>
          <p:cNvSpPr txBox="1"/>
          <p:nvPr/>
        </p:nvSpPr>
        <p:spPr>
          <a:xfrm>
            <a:off x="6524830" y="1502834"/>
            <a:ext cx="5437390" cy="1608646"/>
          </a:xfrm>
          <a:prstGeom prst="rect">
            <a:avLst/>
          </a:prstGeom>
        </p:spPr>
        <p:txBody>
          <a:bodyPr wrap="square" lIns="0" tIns="0" rIns="0" bIns="0" rtlCol="0" anchor="t">
            <a:spAutoFit/>
          </a:bodyPr>
          <a:lstStyle/>
          <a:p>
            <a:pPr algn="ctr">
              <a:lnSpc>
                <a:spcPts val="6385"/>
              </a:lnSpc>
            </a:pPr>
            <a:r>
              <a:rPr lang="en-US" sz="4800" b="1" dirty="0">
                <a:solidFill>
                  <a:srgbClr val="3A6AD6"/>
                </a:solidFill>
                <a:latin typeface="Poppins Bold"/>
                <a:ea typeface="Poppins Bold"/>
                <a:cs typeface="Poppins Bold"/>
                <a:sym typeface="Poppins Bold"/>
              </a:rPr>
              <a:t>Data Preparation Plan</a:t>
            </a:r>
          </a:p>
        </p:txBody>
      </p:sp>
      <p:grpSp>
        <p:nvGrpSpPr>
          <p:cNvPr id="14" name="Group 14">
            <a:extLst>
              <a:ext uri="{FF2B5EF4-FFF2-40B4-BE49-F238E27FC236}">
                <a16:creationId xmlns:a16="http://schemas.microsoft.com/office/drawing/2014/main" id="{5E4CCF91-1590-7D3D-407C-5DFAC6851330}"/>
              </a:ext>
            </a:extLst>
          </p:cNvPr>
          <p:cNvGrpSpPr/>
          <p:nvPr/>
        </p:nvGrpSpPr>
        <p:grpSpPr>
          <a:xfrm>
            <a:off x="17491799" y="8458418"/>
            <a:ext cx="951769" cy="799882"/>
            <a:chOff x="0" y="0"/>
            <a:chExt cx="967140" cy="812800"/>
          </a:xfrm>
        </p:grpSpPr>
        <p:sp>
          <p:nvSpPr>
            <p:cNvPr id="15" name="Freeform 15">
              <a:extLst>
                <a:ext uri="{FF2B5EF4-FFF2-40B4-BE49-F238E27FC236}">
                  <a16:creationId xmlns:a16="http://schemas.microsoft.com/office/drawing/2014/main" id="{64B97AD0-9D14-8AFD-DB2B-3343A203F179}"/>
                </a:ext>
              </a:extLst>
            </p:cNvPr>
            <p:cNvSpPr/>
            <p:nvPr/>
          </p:nvSpPr>
          <p:spPr>
            <a:xfrm>
              <a:off x="0" y="0"/>
              <a:ext cx="967140" cy="812800"/>
            </a:xfrm>
            <a:custGeom>
              <a:avLst/>
              <a:gdLst/>
              <a:ahLst/>
              <a:cxnLst/>
              <a:rect l="l" t="t" r="r" b="b"/>
              <a:pathLst>
                <a:path w="967140" h="812800">
                  <a:moveTo>
                    <a:pt x="81342" y="0"/>
                  </a:moveTo>
                  <a:lnTo>
                    <a:pt x="885798" y="0"/>
                  </a:lnTo>
                  <a:cubicBezTo>
                    <a:pt x="907371" y="0"/>
                    <a:pt x="928061" y="8570"/>
                    <a:pt x="943315" y="23825"/>
                  </a:cubicBezTo>
                  <a:cubicBezTo>
                    <a:pt x="958570" y="39079"/>
                    <a:pt x="967140" y="59769"/>
                    <a:pt x="967140" y="81342"/>
                  </a:cubicBezTo>
                  <a:lnTo>
                    <a:pt x="967140" y="731458"/>
                  </a:lnTo>
                  <a:cubicBezTo>
                    <a:pt x="967140" y="776382"/>
                    <a:pt x="930722" y="812800"/>
                    <a:pt x="885798" y="812800"/>
                  </a:cubicBezTo>
                  <a:lnTo>
                    <a:pt x="81342" y="812800"/>
                  </a:lnTo>
                  <a:cubicBezTo>
                    <a:pt x="59769" y="812800"/>
                    <a:pt x="39079" y="804230"/>
                    <a:pt x="23825" y="788975"/>
                  </a:cubicBezTo>
                  <a:cubicBezTo>
                    <a:pt x="8570" y="773721"/>
                    <a:pt x="0" y="753031"/>
                    <a:pt x="0" y="731458"/>
                  </a:cubicBezTo>
                  <a:lnTo>
                    <a:pt x="0" y="81342"/>
                  </a:lnTo>
                  <a:cubicBezTo>
                    <a:pt x="0" y="59769"/>
                    <a:pt x="8570" y="39079"/>
                    <a:pt x="23825" y="23825"/>
                  </a:cubicBezTo>
                  <a:cubicBezTo>
                    <a:pt x="39079" y="8570"/>
                    <a:pt x="59769" y="0"/>
                    <a:pt x="81342" y="0"/>
                  </a:cubicBezTo>
                  <a:close/>
                </a:path>
              </a:pathLst>
            </a:custGeom>
            <a:solidFill>
              <a:srgbClr val="3A6AD6"/>
            </a:solidFill>
          </p:spPr>
        </p:sp>
        <p:sp>
          <p:nvSpPr>
            <p:cNvPr id="16" name="TextBox 16">
              <a:extLst>
                <a:ext uri="{FF2B5EF4-FFF2-40B4-BE49-F238E27FC236}">
                  <a16:creationId xmlns:a16="http://schemas.microsoft.com/office/drawing/2014/main" id="{8554869E-E8A0-ABDC-063E-F68853B324FF}"/>
                </a:ext>
              </a:extLst>
            </p:cNvPr>
            <p:cNvSpPr txBox="1"/>
            <p:nvPr/>
          </p:nvSpPr>
          <p:spPr>
            <a:xfrm>
              <a:off x="0" y="-38100"/>
              <a:ext cx="967140" cy="850900"/>
            </a:xfrm>
            <a:prstGeom prst="rect">
              <a:avLst/>
            </a:prstGeom>
          </p:spPr>
          <p:txBody>
            <a:bodyPr lIns="50800" tIns="50800" rIns="50800" bIns="50800" rtlCol="0" anchor="ctr"/>
            <a:lstStyle/>
            <a:p>
              <a:pPr algn="ctr">
                <a:lnSpc>
                  <a:spcPts val="2659"/>
                </a:lnSpc>
              </a:pPr>
              <a:endParaRPr/>
            </a:p>
          </p:txBody>
        </p:sp>
      </p:grpSp>
      <p:sp>
        <p:nvSpPr>
          <p:cNvPr id="17" name="TextBox 17">
            <a:extLst>
              <a:ext uri="{FF2B5EF4-FFF2-40B4-BE49-F238E27FC236}">
                <a16:creationId xmlns:a16="http://schemas.microsoft.com/office/drawing/2014/main" id="{E99B59EB-00AB-72CA-45D1-CCA31773EF75}"/>
              </a:ext>
            </a:extLst>
          </p:cNvPr>
          <p:cNvSpPr txBox="1"/>
          <p:nvPr/>
        </p:nvSpPr>
        <p:spPr>
          <a:xfrm>
            <a:off x="17674380" y="8710688"/>
            <a:ext cx="442747" cy="257943"/>
          </a:xfrm>
          <a:prstGeom prst="rect">
            <a:avLst/>
          </a:prstGeom>
        </p:spPr>
        <p:txBody>
          <a:bodyPr lIns="0" tIns="0" rIns="0" bIns="0" rtlCol="0" anchor="t">
            <a:spAutoFit/>
          </a:bodyPr>
          <a:lstStyle/>
          <a:p>
            <a:pPr algn="ctr">
              <a:lnSpc>
                <a:spcPts val="2057"/>
              </a:lnSpc>
              <a:spcBef>
                <a:spcPct val="0"/>
              </a:spcBef>
            </a:pPr>
            <a:r>
              <a:rPr lang="en-US" sz="1469" b="1" dirty="0">
                <a:solidFill>
                  <a:srgbClr val="FFFFFF"/>
                </a:solidFill>
                <a:latin typeface="Poppins Bold"/>
                <a:ea typeface="Poppins Bold"/>
                <a:cs typeface="Poppins Bold"/>
                <a:sym typeface="Poppins Bold"/>
              </a:rPr>
              <a:t>18</a:t>
            </a:r>
          </a:p>
        </p:txBody>
      </p:sp>
      <p:sp>
        <p:nvSpPr>
          <p:cNvPr id="21" name="Freeform 21">
            <a:extLst>
              <a:ext uri="{FF2B5EF4-FFF2-40B4-BE49-F238E27FC236}">
                <a16:creationId xmlns:a16="http://schemas.microsoft.com/office/drawing/2014/main" id="{E3D809FD-4BAE-7672-5DFA-EA5AC5500D35}"/>
              </a:ext>
            </a:extLst>
          </p:cNvPr>
          <p:cNvSpPr/>
          <p:nvPr/>
        </p:nvSpPr>
        <p:spPr>
          <a:xfrm>
            <a:off x="8576481" y="4856862"/>
            <a:ext cx="1026728" cy="1025445"/>
          </a:xfrm>
          <a:custGeom>
            <a:avLst/>
            <a:gdLst/>
            <a:ahLst/>
            <a:cxnLst/>
            <a:rect l="l" t="t" r="r" b="b"/>
            <a:pathLst>
              <a:path w="1026728" h="1025445">
                <a:moveTo>
                  <a:pt x="0" y="0"/>
                </a:moveTo>
                <a:lnTo>
                  <a:pt x="1026728" y="0"/>
                </a:lnTo>
                <a:lnTo>
                  <a:pt x="1026728" y="1025445"/>
                </a:lnTo>
                <a:lnTo>
                  <a:pt x="0" y="1025445"/>
                </a:lnTo>
                <a:lnTo>
                  <a:pt x="0" y="0"/>
                </a:lnTo>
                <a:close/>
              </a:path>
            </a:pathLst>
          </a:custGeom>
          <a:blipFill>
            <a:blip r:embed="rId2"/>
            <a:stretch>
              <a:fillRect/>
            </a:stretch>
          </a:blipFill>
        </p:spPr>
        <p:txBody>
          <a:bodyPr/>
          <a:lstStyle/>
          <a:p>
            <a:endParaRPr lang="en-US" dirty="0"/>
          </a:p>
        </p:txBody>
      </p:sp>
      <p:grpSp>
        <p:nvGrpSpPr>
          <p:cNvPr id="22" name="Group 22">
            <a:extLst>
              <a:ext uri="{FF2B5EF4-FFF2-40B4-BE49-F238E27FC236}">
                <a16:creationId xmlns:a16="http://schemas.microsoft.com/office/drawing/2014/main" id="{D4B0EC2B-7276-BFB1-B759-FA66ADCA6194}"/>
              </a:ext>
            </a:extLst>
          </p:cNvPr>
          <p:cNvGrpSpPr/>
          <p:nvPr/>
        </p:nvGrpSpPr>
        <p:grpSpPr>
          <a:xfrm>
            <a:off x="8638196" y="4692509"/>
            <a:ext cx="1011607" cy="1011607"/>
            <a:chOff x="0" y="0"/>
            <a:chExt cx="812800" cy="812800"/>
          </a:xfrm>
        </p:grpSpPr>
        <p:sp>
          <p:nvSpPr>
            <p:cNvPr id="23" name="Freeform 23">
              <a:extLst>
                <a:ext uri="{FF2B5EF4-FFF2-40B4-BE49-F238E27FC236}">
                  <a16:creationId xmlns:a16="http://schemas.microsoft.com/office/drawing/2014/main" id="{3FA67D4E-8E35-A094-07F5-2BFA6C922D04}"/>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id="24" name="TextBox 24">
              <a:extLst>
                <a:ext uri="{FF2B5EF4-FFF2-40B4-BE49-F238E27FC236}">
                  <a16:creationId xmlns:a16="http://schemas.microsoft.com/office/drawing/2014/main" id="{40CC7B87-37B9-AAD9-BEA6-AB5E9F8BD7A5}"/>
                </a:ext>
              </a:extLst>
            </p:cNvPr>
            <p:cNvSpPr txBox="1"/>
            <p:nvPr/>
          </p:nvSpPr>
          <p:spPr>
            <a:xfrm>
              <a:off x="76200" y="38100"/>
              <a:ext cx="660400" cy="698500"/>
            </a:xfrm>
            <a:prstGeom prst="rect">
              <a:avLst/>
            </a:prstGeom>
          </p:spPr>
          <p:txBody>
            <a:bodyPr lIns="47086" tIns="47086" rIns="47086" bIns="47086" rtlCol="0" anchor="ctr"/>
            <a:lstStyle/>
            <a:p>
              <a:pPr algn="ctr">
                <a:lnSpc>
                  <a:spcPts val="2659"/>
                </a:lnSpc>
                <a:spcBef>
                  <a:spcPct val="0"/>
                </a:spcBef>
              </a:pPr>
              <a:endParaRPr/>
            </a:p>
          </p:txBody>
        </p:sp>
      </p:grpSp>
      <p:sp>
        <p:nvSpPr>
          <p:cNvPr id="74" name="AutoShape 74">
            <a:extLst>
              <a:ext uri="{FF2B5EF4-FFF2-40B4-BE49-F238E27FC236}">
                <a16:creationId xmlns:a16="http://schemas.microsoft.com/office/drawing/2014/main" id="{2D1E7BBF-FCF7-FDE7-E983-453839D80EB4}"/>
              </a:ext>
            </a:extLst>
          </p:cNvPr>
          <p:cNvSpPr/>
          <p:nvPr/>
        </p:nvSpPr>
        <p:spPr>
          <a:xfrm>
            <a:off x="7766528" y="6803054"/>
            <a:ext cx="2754945" cy="0"/>
          </a:xfrm>
          <a:prstGeom prst="line">
            <a:avLst/>
          </a:prstGeom>
          <a:ln w="28575" cap="flat">
            <a:solidFill>
              <a:srgbClr val="F8F8F8"/>
            </a:solidFill>
            <a:prstDash val="solid"/>
            <a:headEnd type="none" w="sm" len="sm"/>
            <a:tailEnd type="none" w="sm" len="sm"/>
          </a:ln>
        </p:spPr>
      </p:sp>
      <p:grpSp>
        <p:nvGrpSpPr>
          <p:cNvPr id="82" name="Group 82">
            <a:extLst>
              <a:ext uri="{FF2B5EF4-FFF2-40B4-BE49-F238E27FC236}">
                <a16:creationId xmlns:a16="http://schemas.microsoft.com/office/drawing/2014/main" id="{9868BD15-4696-D786-2A33-DCC422E09B64}"/>
              </a:ext>
            </a:extLst>
          </p:cNvPr>
          <p:cNvGrpSpPr/>
          <p:nvPr/>
        </p:nvGrpSpPr>
        <p:grpSpPr>
          <a:xfrm>
            <a:off x="7706458" y="6677758"/>
            <a:ext cx="218342" cy="218342"/>
            <a:chOff x="0" y="0"/>
            <a:chExt cx="812800" cy="812800"/>
          </a:xfrm>
        </p:grpSpPr>
        <p:sp>
          <p:nvSpPr>
            <p:cNvPr id="83" name="Freeform 83">
              <a:extLst>
                <a:ext uri="{FF2B5EF4-FFF2-40B4-BE49-F238E27FC236}">
                  <a16:creationId xmlns:a16="http://schemas.microsoft.com/office/drawing/2014/main" id="{417E5826-C277-8866-6F72-A238CC465F1A}"/>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A6AD6"/>
            </a:solidFill>
          </p:spPr>
        </p:sp>
        <p:sp>
          <p:nvSpPr>
            <p:cNvPr id="84" name="TextBox 84">
              <a:extLst>
                <a:ext uri="{FF2B5EF4-FFF2-40B4-BE49-F238E27FC236}">
                  <a16:creationId xmlns:a16="http://schemas.microsoft.com/office/drawing/2014/main" id="{13229BF0-9D45-D2A0-B608-6E2B51F6DF91}"/>
                </a:ext>
              </a:extLst>
            </p:cNvPr>
            <p:cNvSpPr txBox="1"/>
            <p:nvPr/>
          </p:nvSpPr>
          <p:spPr>
            <a:xfrm>
              <a:off x="76200" y="38100"/>
              <a:ext cx="660400" cy="698500"/>
            </a:xfrm>
            <a:prstGeom prst="rect">
              <a:avLst/>
            </a:prstGeom>
          </p:spPr>
          <p:txBody>
            <a:bodyPr lIns="47086" tIns="47086" rIns="47086" bIns="47086" rtlCol="0" anchor="ctr"/>
            <a:lstStyle/>
            <a:p>
              <a:pPr algn="ctr">
                <a:lnSpc>
                  <a:spcPts val="2659"/>
                </a:lnSpc>
                <a:spcBef>
                  <a:spcPct val="0"/>
                </a:spcBef>
              </a:pPr>
              <a:endParaRPr/>
            </a:p>
          </p:txBody>
        </p:sp>
      </p:grpSp>
      <p:grpSp>
        <p:nvGrpSpPr>
          <p:cNvPr id="85" name="Group 85">
            <a:extLst>
              <a:ext uri="{FF2B5EF4-FFF2-40B4-BE49-F238E27FC236}">
                <a16:creationId xmlns:a16="http://schemas.microsoft.com/office/drawing/2014/main" id="{09BC3F91-4297-7459-26F6-49E2AE34E371}"/>
              </a:ext>
            </a:extLst>
          </p:cNvPr>
          <p:cNvGrpSpPr/>
          <p:nvPr/>
        </p:nvGrpSpPr>
        <p:grpSpPr>
          <a:xfrm>
            <a:off x="10412301" y="6677758"/>
            <a:ext cx="218342" cy="218342"/>
            <a:chOff x="0" y="0"/>
            <a:chExt cx="812800" cy="812800"/>
          </a:xfrm>
        </p:grpSpPr>
        <p:sp>
          <p:nvSpPr>
            <p:cNvPr id="86" name="Freeform 86">
              <a:extLst>
                <a:ext uri="{FF2B5EF4-FFF2-40B4-BE49-F238E27FC236}">
                  <a16:creationId xmlns:a16="http://schemas.microsoft.com/office/drawing/2014/main" id="{CA2305D4-7DA9-993C-F23C-09090FD2B0D8}"/>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A6AD6"/>
            </a:solidFill>
          </p:spPr>
        </p:sp>
        <p:sp>
          <p:nvSpPr>
            <p:cNvPr id="87" name="TextBox 87">
              <a:extLst>
                <a:ext uri="{FF2B5EF4-FFF2-40B4-BE49-F238E27FC236}">
                  <a16:creationId xmlns:a16="http://schemas.microsoft.com/office/drawing/2014/main" id="{FCD7502D-FCD0-61E5-F502-D8E778ECDAC3}"/>
                </a:ext>
              </a:extLst>
            </p:cNvPr>
            <p:cNvSpPr txBox="1"/>
            <p:nvPr/>
          </p:nvSpPr>
          <p:spPr>
            <a:xfrm>
              <a:off x="76200" y="38100"/>
              <a:ext cx="660400" cy="698500"/>
            </a:xfrm>
            <a:prstGeom prst="rect">
              <a:avLst/>
            </a:prstGeom>
          </p:spPr>
          <p:txBody>
            <a:bodyPr lIns="47086" tIns="47086" rIns="47086" bIns="47086" rtlCol="0" anchor="ctr"/>
            <a:lstStyle/>
            <a:p>
              <a:pPr algn="ctr">
                <a:lnSpc>
                  <a:spcPts val="2659"/>
                </a:lnSpc>
                <a:spcBef>
                  <a:spcPct val="0"/>
                </a:spcBef>
              </a:pPr>
              <a:endParaRPr/>
            </a:p>
          </p:txBody>
        </p:sp>
      </p:grpSp>
      <p:grpSp>
        <p:nvGrpSpPr>
          <p:cNvPr id="10" name="Group 18">
            <a:extLst>
              <a:ext uri="{FF2B5EF4-FFF2-40B4-BE49-F238E27FC236}">
                <a16:creationId xmlns:a16="http://schemas.microsoft.com/office/drawing/2014/main" id="{8D65152C-A723-CD7F-53BA-93A75535B215}"/>
              </a:ext>
            </a:extLst>
          </p:cNvPr>
          <p:cNvGrpSpPr/>
          <p:nvPr/>
        </p:nvGrpSpPr>
        <p:grpSpPr>
          <a:xfrm>
            <a:off x="26964" y="5713395"/>
            <a:ext cx="7436668" cy="2167651"/>
            <a:chOff x="0" y="0"/>
            <a:chExt cx="1013318" cy="260488"/>
          </a:xfrm>
        </p:grpSpPr>
        <p:sp>
          <p:nvSpPr>
            <p:cNvPr id="11" name="Freeform 19">
              <a:extLst>
                <a:ext uri="{FF2B5EF4-FFF2-40B4-BE49-F238E27FC236}">
                  <a16:creationId xmlns:a16="http://schemas.microsoft.com/office/drawing/2014/main" id="{D23464E0-ABB3-FA39-22BC-CC7F11E57594}"/>
                </a:ext>
              </a:extLst>
            </p:cNvPr>
            <p:cNvSpPr/>
            <p:nvPr/>
          </p:nvSpPr>
          <p:spPr>
            <a:xfrm>
              <a:off x="0" y="0"/>
              <a:ext cx="1013318" cy="260488"/>
            </a:xfrm>
            <a:custGeom>
              <a:avLst/>
              <a:gdLst/>
              <a:ahLst/>
              <a:cxnLst/>
              <a:rect l="l" t="t" r="r" b="b"/>
              <a:pathLst>
                <a:path w="1013318" h="260488">
                  <a:moveTo>
                    <a:pt x="130244" y="0"/>
                  </a:moveTo>
                  <a:lnTo>
                    <a:pt x="883074" y="0"/>
                  </a:lnTo>
                  <a:cubicBezTo>
                    <a:pt x="917617" y="0"/>
                    <a:pt x="950745" y="13722"/>
                    <a:pt x="975171" y="38148"/>
                  </a:cubicBezTo>
                  <a:cubicBezTo>
                    <a:pt x="999596" y="62573"/>
                    <a:pt x="1013318" y="95701"/>
                    <a:pt x="1013318" y="130244"/>
                  </a:cubicBezTo>
                  <a:lnTo>
                    <a:pt x="1013318" y="130244"/>
                  </a:lnTo>
                  <a:cubicBezTo>
                    <a:pt x="1013318" y="202175"/>
                    <a:pt x="955006" y="260488"/>
                    <a:pt x="883074" y="260488"/>
                  </a:cubicBezTo>
                  <a:lnTo>
                    <a:pt x="130244" y="260488"/>
                  </a:lnTo>
                  <a:cubicBezTo>
                    <a:pt x="95701" y="260488"/>
                    <a:pt x="62573" y="246766"/>
                    <a:pt x="38148" y="222340"/>
                  </a:cubicBezTo>
                  <a:cubicBezTo>
                    <a:pt x="13722" y="197915"/>
                    <a:pt x="0" y="164787"/>
                    <a:pt x="0" y="130244"/>
                  </a:cubicBezTo>
                  <a:lnTo>
                    <a:pt x="0" y="130244"/>
                  </a:lnTo>
                  <a:cubicBezTo>
                    <a:pt x="0" y="95701"/>
                    <a:pt x="13722" y="62573"/>
                    <a:pt x="38148" y="38148"/>
                  </a:cubicBezTo>
                  <a:cubicBezTo>
                    <a:pt x="62573" y="13722"/>
                    <a:pt x="95701" y="0"/>
                    <a:pt x="130244" y="0"/>
                  </a:cubicBezTo>
                  <a:close/>
                </a:path>
              </a:pathLst>
            </a:custGeom>
            <a:solidFill>
              <a:srgbClr val="F8F8F8"/>
            </a:solidFill>
          </p:spPr>
        </p:sp>
        <p:sp>
          <p:nvSpPr>
            <p:cNvPr id="12" name="TextBox 20">
              <a:extLst>
                <a:ext uri="{FF2B5EF4-FFF2-40B4-BE49-F238E27FC236}">
                  <a16:creationId xmlns:a16="http://schemas.microsoft.com/office/drawing/2014/main" id="{6E0D59CA-AC38-4E0E-2B70-91E1DAF3AC11}"/>
                </a:ext>
              </a:extLst>
            </p:cNvPr>
            <p:cNvSpPr txBox="1"/>
            <p:nvPr/>
          </p:nvSpPr>
          <p:spPr>
            <a:xfrm>
              <a:off x="0" y="-38100"/>
              <a:ext cx="1013318" cy="298588"/>
            </a:xfrm>
            <a:prstGeom prst="rect">
              <a:avLst/>
            </a:prstGeom>
          </p:spPr>
          <p:txBody>
            <a:bodyPr lIns="47086" tIns="47086" rIns="47086" bIns="47086" rtlCol="0" anchor="ctr"/>
            <a:lstStyle/>
            <a:p>
              <a:pPr algn="ctr">
                <a:lnSpc>
                  <a:spcPts val="2659"/>
                </a:lnSpc>
              </a:pPr>
              <a:endParaRPr/>
            </a:p>
          </p:txBody>
        </p:sp>
      </p:grpSp>
      <p:sp>
        <p:nvSpPr>
          <p:cNvPr id="38" name="TextBox 25">
            <a:extLst>
              <a:ext uri="{FF2B5EF4-FFF2-40B4-BE49-F238E27FC236}">
                <a16:creationId xmlns:a16="http://schemas.microsoft.com/office/drawing/2014/main" id="{08910455-696B-1753-4511-354ACF49A9C7}"/>
              </a:ext>
            </a:extLst>
          </p:cNvPr>
          <p:cNvSpPr txBox="1"/>
          <p:nvPr/>
        </p:nvSpPr>
        <p:spPr>
          <a:xfrm>
            <a:off x="11201400" y="5967102"/>
            <a:ext cx="6790746" cy="1763303"/>
          </a:xfrm>
          <a:prstGeom prst="rect">
            <a:avLst/>
          </a:prstGeom>
        </p:spPr>
        <p:txBody>
          <a:bodyPr wrap="square" lIns="0" tIns="0" rIns="0" bIns="0" rtlCol="0" anchor="t">
            <a:spAutoFit/>
          </a:bodyPr>
          <a:lstStyle/>
          <a:p>
            <a:pPr marL="342900" indent="-342900">
              <a:spcBef>
                <a:spcPct val="0"/>
              </a:spcBef>
              <a:buFont typeface="Wingdings" panose="05000000000000000000" pitchFamily="2" charset="2"/>
              <a:buChar char="Ø"/>
            </a:pPr>
            <a:r>
              <a:rPr lang="en-GB" sz="2500" b="1" dirty="0">
                <a:solidFill>
                  <a:schemeClr val="accent6">
                    <a:lumMod val="75000"/>
                  </a:schemeClr>
                </a:solidFill>
                <a:latin typeface="Poppins"/>
                <a:ea typeface="Poppins"/>
                <a:cs typeface="Poppins"/>
                <a:sym typeface="Poppins"/>
              </a:rPr>
              <a:t>Model configuration details (e.g., batch size, model type, hardware used)</a:t>
            </a:r>
          </a:p>
          <a:p>
            <a:pPr marL="342900" indent="-342900">
              <a:lnSpc>
                <a:spcPct val="150000"/>
              </a:lnSpc>
              <a:spcBef>
                <a:spcPct val="0"/>
              </a:spcBef>
              <a:buFont typeface="Wingdings" panose="05000000000000000000" pitchFamily="2" charset="2"/>
              <a:buChar char="Ø"/>
            </a:pPr>
            <a:r>
              <a:rPr lang="en-GB" sz="2500" b="1" dirty="0">
                <a:solidFill>
                  <a:schemeClr val="accent6">
                    <a:lumMod val="75000"/>
                  </a:schemeClr>
                </a:solidFill>
                <a:latin typeface="Poppins"/>
                <a:ea typeface="Poppins"/>
                <a:cs typeface="Poppins"/>
                <a:sym typeface="Poppins"/>
              </a:rPr>
              <a:t>Execution time</a:t>
            </a:r>
          </a:p>
          <a:p>
            <a:pPr>
              <a:lnSpc>
                <a:spcPts val="3422"/>
              </a:lnSpc>
              <a:spcBef>
                <a:spcPct val="0"/>
              </a:spcBef>
            </a:pPr>
            <a:endParaRPr lang="en-GB" sz="2500" b="1" dirty="0">
              <a:solidFill>
                <a:schemeClr val="bg1">
                  <a:lumMod val="50000"/>
                </a:schemeClr>
              </a:solidFill>
              <a:latin typeface="Poppins"/>
              <a:ea typeface="Poppins"/>
              <a:cs typeface="Poppins"/>
              <a:sym typeface="Poppins"/>
            </a:endParaRPr>
          </a:p>
        </p:txBody>
      </p:sp>
      <p:sp>
        <p:nvSpPr>
          <p:cNvPr id="39" name="TextBox 26">
            <a:extLst>
              <a:ext uri="{FF2B5EF4-FFF2-40B4-BE49-F238E27FC236}">
                <a16:creationId xmlns:a16="http://schemas.microsoft.com/office/drawing/2014/main" id="{0B80FB6F-FD0A-4B8D-61FD-342D5B89D0D3}"/>
              </a:ext>
            </a:extLst>
          </p:cNvPr>
          <p:cNvSpPr txBox="1"/>
          <p:nvPr/>
        </p:nvSpPr>
        <p:spPr>
          <a:xfrm>
            <a:off x="6346615" y="6420708"/>
            <a:ext cx="741046" cy="376513"/>
          </a:xfrm>
          <a:prstGeom prst="rect">
            <a:avLst/>
          </a:prstGeom>
        </p:spPr>
        <p:txBody>
          <a:bodyPr lIns="0" tIns="0" rIns="0" bIns="0" rtlCol="0" anchor="t">
            <a:spAutoFit/>
          </a:bodyPr>
          <a:lstStyle/>
          <a:p>
            <a:pPr algn="ctr">
              <a:lnSpc>
                <a:spcPts val="3055"/>
              </a:lnSpc>
              <a:spcBef>
                <a:spcPct val="0"/>
              </a:spcBef>
            </a:pPr>
            <a:endParaRPr lang="en-US" sz="2182" b="1" dirty="0">
              <a:solidFill>
                <a:srgbClr val="3A6AD6"/>
              </a:solidFill>
              <a:latin typeface="Poppins Bold"/>
              <a:ea typeface="Poppins Bold"/>
              <a:cs typeface="Poppins Bold"/>
              <a:sym typeface="Poppins Bold"/>
            </a:endParaRPr>
          </a:p>
        </p:txBody>
      </p:sp>
      <p:sp>
        <p:nvSpPr>
          <p:cNvPr id="66" name="TextBox 25">
            <a:extLst>
              <a:ext uri="{FF2B5EF4-FFF2-40B4-BE49-F238E27FC236}">
                <a16:creationId xmlns:a16="http://schemas.microsoft.com/office/drawing/2014/main" id="{0D134CA2-D901-ABAF-82C7-14EDD9B2EDD4}"/>
              </a:ext>
            </a:extLst>
          </p:cNvPr>
          <p:cNvSpPr txBox="1"/>
          <p:nvPr/>
        </p:nvSpPr>
        <p:spPr>
          <a:xfrm>
            <a:off x="457200" y="6009469"/>
            <a:ext cx="7011460" cy="1676741"/>
          </a:xfrm>
          <a:prstGeom prst="rect">
            <a:avLst/>
          </a:prstGeom>
        </p:spPr>
        <p:txBody>
          <a:bodyPr wrap="square" lIns="0" tIns="0" rIns="0" bIns="0" rtlCol="0" anchor="t">
            <a:spAutoFit/>
          </a:bodyPr>
          <a:lstStyle/>
          <a:p>
            <a:pPr marL="342900" indent="-342900">
              <a:lnSpc>
                <a:spcPct val="150000"/>
              </a:lnSpc>
              <a:spcBef>
                <a:spcPct val="0"/>
              </a:spcBef>
              <a:buFont typeface="Wingdings" panose="05000000000000000000" pitchFamily="2" charset="2"/>
              <a:buChar char="Ø"/>
            </a:pPr>
            <a:r>
              <a:rPr lang="en-GB" sz="2500" b="1" dirty="0">
                <a:solidFill>
                  <a:schemeClr val="accent6">
                    <a:lumMod val="75000"/>
                  </a:schemeClr>
                </a:solidFill>
                <a:latin typeface="Poppins"/>
                <a:ea typeface="Poppins"/>
                <a:cs typeface="Poppins"/>
                <a:sym typeface="Poppins"/>
              </a:rPr>
              <a:t>Energy consumption (in kWh)</a:t>
            </a:r>
            <a:endParaRPr lang="en-GB" sz="1000" b="1" dirty="0">
              <a:solidFill>
                <a:schemeClr val="bg1">
                  <a:lumMod val="50000"/>
                </a:schemeClr>
              </a:solidFill>
              <a:latin typeface="Poppins"/>
              <a:ea typeface="Poppins"/>
              <a:cs typeface="Poppins"/>
              <a:sym typeface="Poppins"/>
            </a:endParaRPr>
          </a:p>
          <a:p>
            <a:pPr marL="342900" indent="-342900">
              <a:lnSpc>
                <a:spcPct val="150000"/>
              </a:lnSpc>
              <a:spcBef>
                <a:spcPct val="0"/>
              </a:spcBef>
              <a:buFont typeface="Wingdings" panose="05000000000000000000" pitchFamily="2" charset="2"/>
              <a:buChar char="Ø"/>
            </a:pPr>
            <a:r>
              <a:rPr lang="en-GB" sz="2500" b="1" dirty="0">
                <a:solidFill>
                  <a:schemeClr val="accent6">
                    <a:lumMod val="75000"/>
                  </a:schemeClr>
                </a:solidFill>
                <a:latin typeface="Poppins"/>
                <a:ea typeface="Poppins"/>
                <a:cs typeface="Poppins"/>
                <a:sym typeface="Poppins"/>
              </a:rPr>
              <a:t>Estimated carbon emissions (in CO2eq)</a:t>
            </a:r>
          </a:p>
          <a:p>
            <a:pPr marL="342900" indent="-342900">
              <a:lnSpc>
                <a:spcPct val="150000"/>
              </a:lnSpc>
              <a:spcBef>
                <a:spcPct val="0"/>
              </a:spcBef>
              <a:buFont typeface="Wingdings" panose="05000000000000000000" pitchFamily="2" charset="2"/>
              <a:buChar char="Ø"/>
            </a:pPr>
            <a:endParaRPr lang="en-GB" sz="2500" b="1" dirty="0">
              <a:solidFill>
                <a:schemeClr val="bg1">
                  <a:lumMod val="50000"/>
                </a:schemeClr>
              </a:solidFill>
              <a:latin typeface="Poppins"/>
              <a:ea typeface="Poppins"/>
              <a:cs typeface="Poppins"/>
              <a:sym typeface="Poppins"/>
            </a:endParaRPr>
          </a:p>
        </p:txBody>
      </p:sp>
      <p:grpSp>
        <p:nvGrpSpPr>
          <p:cNvPr id="35" name="Group 18">
            <a:extLst>
              <a:ext uri="{FF2B5EF4-FFF2-40B4-BE49-F238E27FC236}">
                <a16:creationId xmlns:a16="http://schemas.microsoft.com/office/drawing/2014/main" id="{8F2B68D3-6489-4AF4-27B1-ACF69DF6679E}"/>
              </a:ext>
            </a:extLst>
          </p:cNvPr>
          <p:cNvGrpSpPr/>
          <p:nvPr/>
        </p:nvGrpSpPr>
        <p:grpSpPr>
          <a:xfrm>
            <a:off x="5516968" y="7969294"/>
            <a:ext cx="8732431" cy="1822406"/>
            <a:chOff x="0" y="0"/>
            <a:chExt cx="1013318" cy="260488"/>
          </a:xfrm>
        </p:grpSpPr>
        <p:sp>
          <p:nvSpPr>
            <p:cNvPr id="41" name="Freeform 19">
              <a:extLst>
                <a:ext uri="{FF2B5EF4-FFF2-40B4-BE49-F238E27FC236}">
                  <a16:creationId xmlns:a16="http://schemas.microsoft.com/office/drawing/2014/main" id="{26773C36-E953-E171-79DE-917F803A71A3}"/>
                </a:ext>
              </a:extLst>
            </p:cNvPr>
            <p:cNvSpPr/>
            <p:nvPr/>
          </p:nvSpPr>
          <p:spPr>
            <a:xfrm>
              <a:off x="0" y="0"/>
              <a:ext cx="1013318" cy="260488"/>
            </a:xfrm>
            <a:custGeom>
              <a:avLst/>
              <a:gdLst/>
              <a:ahLst/>
              <a:cxnLst/>
              <a:rect l="l" t="t" r="r" b="b"/>
              <a:pathLst>
                <a:path w="1013318" h="260488">
                  <a:moveTo>
                    <a:pt x="130244" y="0"/>
                  </a:moveTo>
                  <a:lnTo>
                    <a:pt x="883074" y="0"/>
                  </a:lnTo>
                  <a:cubicBezTo>
                    <a:pt x="917617" y="0"/>
                    <a:pt x="950745" y="13722"/>
                    <a:pt x="975171" y="38148"/>
                  </a:cubicBezTo>
                  <a:cubicBezTo>
                    <a:pt x="999596" y="62573"/>
                    <a:pt x="1013318" y="95701"/>
                    <a:pt x="1013318" y="130244"/>
                  </a:cubicBezTo>
                  <a:lnTo>
                    <a:pt x="1013318" y="130244"/>
                  </a:lnTo>
                  <a:cubicBezTo>
                    <a:pt x="1013318" y="202175"/>
                    <a:pt x="955006" y="260488"/>
                    <a:pt x="883074" y="260488"/>
                  </a:cubicBezTo>
                  <a:lnTo>
                    <a:pt x="130244" y="260488"/>
                  </a:lnTo>
                  <a:cubicBezTo>
                    <a:pt x="95701" y="260488"/>
                    <a:pt x="62573" y="246766"/>
                    <a:pt x="38148" y="222340"/>
                  </a:cubicBezTo>
                  <a:cubicBezTo>
                    <a:pt x="13722" y="197915"/>
                    <a:pt x="0" y="164787"/>
                    <a:pt x="0" y="130244"/>
                  </a:cubicBezTo>
                  <a:lnTo>
                    <a:pt x="0" y="130244"/>
                  </a:lnTo>
                  <a:cubicBezTo>
                    <a:pt x="0" y="95701"/>
                    <a:pt x="13722" y="62573"/>
                    <a:pt x="38148" y="38148"/>
                  </a:cubicBezTo>
                  <a:cubicBezTo>
                    <a:pt x="62573" y="13722"/>
                    <a:pt x="95701" y="0"/>
                    <a:pt x="130244" y="0"/>
                  </a:cubicBezTo>
                  <a:close/>
                </a:path>
              </a:pathLst>
            </a:custGeom>
            <a:solidFill>
              <a:srgbClr val="F8F8F8"/>
            </a:solidFill>
          </p:spPr>
        </p:sp>
        <p:sp>
          <p:nvSpPr>
            <p:cNvPr id="42" name="TextBox 20">
              <a:extLst>
                <a:ext uri="{FF2B5EF4-FFF2-40B4-BE49-F238E27FC236}">
                  <a16:creationId xmlns:a16="http://schemas.microsoft.com/office/drawing/2014/main" id="{034EE5F4-BF78-3F2B-A0CF-25FAC935913B}"/>
                </a:ext>
              </a:extLst>
            </p:cNvPr>
            <p:cNvSpPr txBox="1"/>
            <p:nvPr/>
          </p:nvSpPr>
          <p:spPr>
            <a:xfrm>
              <a:off x="0" y="-38100"/>
              <a:ext cx="1013318" cy="298588"/>
            </a:xfrm>
            <a:prstGeom prst="rect">
              <a:avLst/>
            </a:prstGeom>
          </p:spPr>
          <p:txBody>
            <a:bodyPr lIns="47086" tIns="47086" rIns="47086" bIns="47086" rtlCol="0" anchor="ctr"/>
            <a:lstStyle/>
            <a:p>
              <a:pPr algn="ctr">
                <a:lnSpc>
                  <a:spcPts val="2659"/>
                </a:lnSpc>
              </a:pPr>
              <a:endParaRPr/>
            </a:p>
          </p:txBody>
        </p:sp>
      </p:grpSp>
      <p:sp>
        <p:nvSpPr>
          <p:cNvPr id="55" name="TextBox 26">
            <a:extLst>
              <a:ext uri="{FF2B5EF4-FFF2-40B4-BE49-F238E27FC236}">
                <a16:creationId xmlns:a16="http://schemas.microsoft.com/office/drawing/2014/main" id="{80846E66-74C6-B273-4A00-32F20DDC942F}"/>
              </a:ext>
            </a:extLst>
          </p:cNvPr>
          <p:cNvSpPr txBox="1"/>
          <p:nvPr/>
        </p:nvSpPr>
        <p:spPr>
          <a:xfrm>
            <a:off x="11909215" y="8692583"/>
            <a:ext cx="741046" cy="376513"/>
          </a:xfrm>
          <a:prstGeom prst="rect">
            <a:avLst/>
          </a:prstGeom>
        </p:spPr>
        <p:txBody>
          <a:bodyPr lIns="0" tIns="0" rIns="0" bIns="0" rtlCol="0" anchor="t">
            <a:spAutoFit/>
          </a:bodyPr>
          <a:lstStyle/>
          <a:p>
            <a:pPr algn="ctr">
              <a:lnSpc>
                <a:spcPts val="3055"/>
              </a:lnSpc>
              <a:spcBef>
                <a:spcPct val="0"/>
              </a:spcBef>
            </a:pPr>
            <a:endParaRPr lang="en-US" sz="2182" b="1" dirty="0">
              <a:solidFill>
                <a:srgbClr val="3A6AD6"/>
              </a:solidFill>
              <a:latin typeface="Poppins Bold"/>
              <a:ea typeface="Poppins Bold"/>
              <a:cs typeface="Poppins Bold"/>
              <a:sym typeface="Poppins Bold"/>
            </a:endParaRPr>
          </a:p>
        </p:txBody>
      </p:sp>
      <p:sp>
        <p:nvSpPr>
          <p:cNvPr id="56" name="TextBox 25">
            <a:extLst>
              <a:ext uri="{FF2B5EF4-FFF2-40B4-BE49-F238E27FC236}">
                <a16:creationId xmlns:a16="http://schemas.microsoft.com/office/drawing/2014/main" id="{AF01416F-A6FC-6628-26FC-C6A794E16138}"/>
              </a:ext>
            </a:extLst>
          </p:cNvPr>
          <p:cNvSpPr txBox="1"/>
          <p:nvPr/>
        </p:nvSpPr>
        <p:spPr>
          <a:xfrm>
            <a:off x="6019800" y="8267700"/>
            <a:ext cx="8153400" cy="1288814"/>
          </a:xfrm>
          <a:prstGeom prst="rect">
            <a:avLst/>
          </a:prstGeom>
        </p:spPr>
        <p:txBody>
          <a:bodyPr wrap="square" lIns="0" tIns="0" rIns="0" bIns="0" rtlCol="0" anchor="t">
            <a:spAutoFit/>
          </a:bodyPr>
          <a:lstStyle/>
          <a:p>
            <a:pPr>
              <a:lnSpc>
                <a:spcPts val="3422"/>
              </a:lnSpc>
              <a:spcBef>
                <a:spcPct val="0"/>
              </a:spcBef>
            </a:pPr>
            <a:r>
              <a:rPr lang="en-GB" sz="2500" b="1" dirty="0">
                <a:solidFill>
                  <a:schemeClr val="bg1">
                    <a:lumMod val="50000"/>
                  </a:schemeClr>
                </a:solidFill>
                <a:latin typeface="Poppins"/>
                <a:ea typeface="Poppins"/>
                <a:cs typeface="Poppins"/>
                <a:sym typeface="Poppins"/>
              </a:rPr>
              <a:t>The data will be structured in a </a:t>
            </a:r>
            <a:r>
              <a:rPr lang="en-GB" sz="2500" b="1" dirty="0">
                <a:solidFill>
                  <a:schemeClr val="accent6">
                    <a:lumMod val="75000"/>
                  </a:schemeClr>
                </a:solidFill>
                <a:latin typeface="Poppins"/>
                <a:ea typeface="Poppins"/>
                <a:cs typeface="Poppins"/>
                <a:sym typeface="Poppins"/>
              </a:rPr>
              <a:t>spreadsheet</a:t>
            </a:r>
            <a:r>
              <a:rPr lang="en-GB" sz="2500" b="1" dirty="0">
                <a:solidFill>
                  <a:schemeClr val="bg1">
                    <a:lumMod val="50000"/>
                  </a:schemeClr>
                </a:solidFill>
                <a:latin typeface="Poppins"/>
                <a:ea typeface="Poppins"/>
                <a:cs typeface="Poppins"/>
                <a:sym typeface="Poppins"/>
              </a:rPr>
              <a:t> or a </a:t>
            </a:r>
            <a:r>
              <a:rPr lang="en-GB" sz="2500" b="1" dirty="0">
                <a:solidFill>
                  <a:schemeClr val="accent6">
                    <a:lumMod val="75000"/>
                  </a:schemeClr>
                </a:solidFill>
                <a:latin typeface="Poppins"/>
                <a:ea typeface="Poppins"/>
                <a:cs typeface="Poppins"/>
                <a:sym typeface="Poppins"/>
              </a:rPr>
              <a:t>pandas </a:t>
            </a:r>
            <a:r>
              <a:rPr lang="en-GB" sz="2500" b="1" dirty="0" err="1">
                <a:solidFill>
                  <a:schemeClr val="accent6">
                    <a:lumMod val="75000"/>
                  </a:schemeClr>
                </a:solidFill>
                <a:latin typeface="Poppins"/>
                <a:ea typeface="Poppins"/>
                <a:cs typeface="Poppins"/>
                <a:sym typeface="Poppins"/>
              </a:rPr>
              <a:t>DataFrame</a:t>
            </a:r>
            <a:r>
              <a:rPr lang="en-GB" sz="2500" b="1" dirty="0">
                <a:solidFill>
                  <a:schemeClr val="accent6">
                    <a:lumMod val="75000"/>
                  </a:schemeClr>
                </a:solidFill>
                <a:latin typeface="Poppins"/>
                <a:ea typeface="Poppins"/>
                <a:cs typeface="Poppins"/>
                <a:sym typeface="Poppins"/>
              </a:rPr>
              <a:t> </a:t>
            </a:r>
            <a:r>
              <a:rPr lang="en-GB" sz="2500" b="1" dirty="0">
                <a:solidFill>
                  <a:schemeClr val="bg1">
                    <a:lumMod val="50000"/>
                  </a:schemeClr>
                </a:solidFill>
                <a:latin typeface="Poppins"/>
                <a:ea typeface="Poppins"/>
                <a:cs typeface="Poppins"/>
                <a:sym typeface="Poppins"/>
              </a:rPr>
              <a:t>with clearly </a:t>
            </a:r>
            <a:r>
              <a:rPr lang="en-GB" sz="2500" b="1" dirty="0" err="1">
                <a:solidFill>
                  <a:schemeClr val="bg1">
                    <a:lumMod val="50000"/>
                  </a:schemeClr>
                </a:solidFill>
                <a:latin typeface="Poppins"/>
                <a:ea typeface="Poppins"/>
                <a:cs typeface="Poppins"/>
                <a:sym typeface="Poppins"/>
              </a:rPr>
              <a:t>labeled</a:t>
            </a:r>
            <a:r>
              <a:rPr lang="en-GB" sz="2500" b="1" dirty="0">
                <a:solidFill>
                  <a:schemeClr val="bg1">
                    <a:lumMod val="50000"/>
                  </a:schemeClr>
                </a:solidFill>
                <a:latin typeface="Poppins"/>
                <a:ea typeface="Poppins"/>
                <a:cs typeface="Poppins"/>
                <a:sym typeface="Poppins"/>
              </a:rPr>
              <a:t> columns for further analysis</a:t>
            </a:r>
          </a:p>
        </p:txBody>
      </p:sp>
      <p:grpSp>
        <p:nvGrpSpPr>
          <p:cNvPr id="18" name="Group 18">
            <a:extLst>
              <a:ext uri="{FF2B5EF4-FFF2-40B4-BE49-F238E27FC236}">
                <a16:creationId xmlns:a16="http://schemas.microsoft.com/office/drawing/2014/main" id="{9B410A9D-A69E-1144-C6FF-88DF32772B3A}"/>
              </a:ext>
            </a:extLst>
          </p:cNvPr>
          <p:cNvGrpSpPr/>
          <p:nvPr/>
        </p:nvGrpSpPr>
        <p:grpSpPr>
          <a:xfrm>
            <a:off x="2971800" y="3086100"/>
            <a:ext cx="13411200" cy="1858890"/>
            <a:chOff x="0" y="0"/>
            <a:chExt cx="1013318" cy="260488"/>
          </a:xfrm>
        </p:grpSpPr>
        <p:sp>
          <p:nvSpPr>
            <p:cNvPr id="19" name="Freeform 19">
              <a:extLst>
                <a:ext uri="{FF2B5EF4-FFF2-40B4-BE49-F238E27FC236}">
                  <a16:creationId xmlns:a16="http://schemas.microsoft.com/office/drawing/2014/main" id="{00AF0D8F-15B5-A35E-F33F-F8A4EC45332F}"/>
                </a:ext>
              </a:extLst>
            </p:cNvPr>
            <p:cNvSpPr/>
            <p:nvPr/>
          </p:nvSpPr>
          <p:spPr>
            <a:xfrm>
              <a:off x="0" y="0"/>
              <a:ext cx="1013318" cy="260488"/>
            </a:xfrm>
            <a:custGeom>
              <a:avLst/>
              <a:gdLst/>
              <a:ahLst/>
              <a:cxnLst/>
              <a:rect l="l" t="t" r="r" b="b"/>
              <a:pathLst>
                <a:path w="1013318" h="260488">
                  <a:moveTo>
                    <a:pt x="130244" y="0"/>
                  </a:moveTo>
                  <a:lnTo>
                    <a:pt x="883074" y="0"/>
                  </a:lnTo>
                  <a:cubicBezTo>
                    <a:pt x="917617" y="0"/>
                    <a:pt x="950745" y="13722"/>
                    <a:pt x="975171" y="38148"/>
                  </a:cubicBezTo>
                  <a:cubicBezTo>
                    <a:pt x="999596" y="62573"/>
                    <a:pt x="1013318" y="95701"/>
                    <a:pt x="1013318" y="130244"/>
                  </a:cubicBezTo>
                  <a:lnTo>
                    <a:pt x="1013318" y="130244"/>
                  </a:lnTo>
                  <a:cubicBezTo>
                    <a:pt x="1013318" y="202175"/>
                    <a:pt x="955006" y="260488"/>
                    <a:pt x="883074" y="260488"/>
                  </a:cubicBezTo>
                  <a:lnTo>
                    <a:pt x="130244" y="260488"/>
                  </a:lnTo>
                  <a:cubicBezTo>
                    <a:pt x="95701" y="260488"/>
                    <a:pt x="62573" y="246766"/>
                    <a:pt x="38148" y="222340"/>
                  </a:cubicBezTo>
                  <a:cubicBezTo>
                    <a:pt x="13722" y="197915"/>
                    <a:pt x="0" y="164787"/>
                    <a:pt x="0" y="130244"/>
                  </a:cubicBezTo>
                  <a:lnTo>
                    <a:pt x="0" y="130244"/>
                  </a:lnTo>
                  <a:cubicBezTo>
                    <a:pt x="0" y="95701"/>
                    <a:pt x="13722" y="62573"/>
                    <a:pt x="38148" y="38148"/>
                  </a:cubicBezTo>
                  <a:cubicBezTo>
                    <a:pt x="62573" y="13722"/>
                    <a:pt x="95701" y="0"/>
                    <a:pt x="130244" y="0"/>
                  </a:cubicBezTo>
                  <a:close/>
                </a:path>
              </a:pathLst>
            </a:custGeom>
            <a:solidFill>
              <a:srgbClr val="F8F8F8"/>
            </a:solidFill>
          </p:spPr>
        </p:sp>
        <p:sp>
          <p:nvSpPr>
            <p:cNvPr id="20" name="TextBox 20">
              <a:extLst>
                <a:ext uri="{FF2B5EF4-FFF2-40B4-BE49-F238E27FC236}">
                  <a16:creationId xmlns:a16="http://schemas.microsoft.com/office/drawing/2014/main" id="{EAB5AF2D-6181-D4C6-CB92-8D295A9CB1B5}"/>
                </a:ext>
              </a:extLst>
            </p:cNvPr>
            <p:cNvSpPr txBox="1"/>
            <p:nvPr/>
          </p:nvSpPr>
          <p:spPr>
            <a:xfrm>
              <a:off x="0" y="-38100"/>
              <a:ext cx="1013318" cy="298588"/>
            </a:xfrm>
            <a:prstGeom prst="rect">
              <a:avLst/>
            </a:prstGeom>
          </p:spPr>
          <p:txBody>
            <a:bodyPr lIns="47086" tIns="47086" rIns="47086" bIns="47086" rtlCol="0" anchor="ctr"/>
            <a:lstStyle/>
            <a:p>
              <a:pPr algn="ctr">
                <a:lnSpc>
                  <a:spcPts val="2659"/>
                </a:lnSpc>
              </a:pPr>
              <a:endParaRPr/>
            </a:p>
          </p:txBody>
        </p:sp>
      </p:grpSp>
      <p:sp>
        <p:nvSpPr>
          <p:cNvPr id="25" name="TextBox 25">
            <a:extLst>
              <a:ext uri="{FF2B5EF4-FFF2-40B4-BE49-F238E27FC236}">
                <a16:creationId xmlns:a16="http://schemas.microsoft.com/office/drawing/2014/main" id="{186D19F8-CCDB-3CBB-7FB3-5EE03C30A352}"/>
              </a:ext>
            </a:extLst>
          </p:cNvPr>
          <p:cNvSpPr txBox="1"/>
          <p:nvPr/>
        </p:nvSpPr>
        <p:spPr>
          <a:xfrm>
            <a:off x="3420030" y="3579256"/>
            <a:ext cx="12505770" cy="863570"/>
          </a:xfrm>
          <a:prstGeom prst="rect">
            <a:avLst/>
          </a:prstGeom>
        </p:spPr>
        <p:txBody>
          <a:bodyPr wrap="square" lIns="0" tIns="0" rIns="0" bIns="0" rtlCol="0" anchor="t">
            <a:spAutoFit/>
          </a:bodyPr>
          <a:lstStyle/>
          <a:p>
            <a:pPr algn="ctr">
              <a:lnSpc>
                <a:spcPts val="3422"/>
              </a:lnSpc>
              <a:spcBef>
                <a:spcPct val="0"/>
              </a:spcBef>
            </a:pPr>
            <a:r>
              <a:rPr lang="en-GB" sz="2800" b="1" dirty="0">
                <a:solidFill>
                  <a:schemeClr val="bg1">
                    <a:lumMod val="50000"/>
                  </a:schemeClr>
                </a:solidFill>
                <a:latin typeface="Poppins"/>
                <a:ea typeface="Poppins"/>
                <a:cs typeface="Poppins"/>
                <a:sym typeface="Poppins"/>
              </a:rPr>
              <a:t>Before analysis, raw data from </a:t>
            </a:r>
            <a:r>
              <a:rPr lang="en-GB" sz="2800" b="1" dirty="0" err="1">
                <a:solidFill>
                  <a:schemeClr val="accent6">
                    <a:lumMod val="75000"/>
                  </a:schemeClr>
                </a:solidFill>
                <a:latin typeface="Poppins"/>
                <a:ea typeface="Poppins"/>
                <a:cs typeface="Poppins"/>
                <a:sym typeface="Poppins"/>
              </a:rPr>
              <a:t>CodeCarbon</a:t>
            </a:r>
            <a:r>
              <a:rPr lang="en-GB" sz="2800" b="1" dirty="0">
                <a:solidFill>
                  <a:schemeClr val="bg1">
                    <a:lumMod val="50000"/>
                  </a:schemeClr>
                </a:solidFill>
                <a:latin typeface="Poppins"/>
                <a:ea typeface="Poppins"/>
                <a:cs typeface="Poppins"/>
                <a:sym typeface="Poppins"/>
              </a:rPr>
              <a:t> </a:t>
            </a:r>
            <a:r>
              <a:rPr lang="en-GB" sz="2800" b="1" dirty="0">
                <a:solidFill>
                  <a:schemeClr val="accent6">
                    <a:lumMod val="75000"/>
                  </a:schemeClr>
                </a:solidFill>
                <a:latin typeface="Poppins"/>
                <a:ea typeface="Poppins"/>
                <a:cs typeface="Poppins"/>
                <a:sym typeface="Poppins"/>
              </a:rPr>
              <a:t>logs</a:t>
            </a:r>
            <a:r>
              <a:rPr lang="en-GB" sz="2800" b="1" dirty="0">
                <a:solidFill>
                  <a:schemeClr val="bg1">
                    <a:lumMod val="50000"/>
                  </a:schemeClr>
                </a:solidFill>
                <a:latin typeface="Poppins"/>
                <a:ea typeface="Poppins"/>
                <a:cs typeface="Poppins"/>
                <a:sym typeface="Poppins"/>
              </a:rPr>
              <a:t> (generated during model training and inference) will be organized. </a:t>
            </a:r>
            <a:r>
              <a:rPr lang="en-GB" sz="2800" b="1" dirty="0">
                <a:solidFill>
                  <a:schemeClr val="accent6">
                    <a:lumMod val="75000"/>
                  </a:schemeClr>
                </a:solidFill>
                <a:latin typeface="Poppins"/>
                <a:ea typeface="Poppins"/>
                <a:cs typeface="Poppins"/>
                <a:sym typeface="Poppins"/>
              </a:rPr>
              <a:t>This includes:</a:t>
            </a:r>
          </a:p>
        </p:txBody>
      </p:sp>
      <p:pic>
        <p:nvPicPr>
          <p:cNvPr id="12290" name="Picture 2" descr="Data processing icon Big Data icon Funnel icon, Data Analysis, Data  Management, Computer, Business Process, Enterprise Resource Planning,  Project Management, Database transparent background PNG clipart | HiClipart">
            <a:extLst>
              <a:ext uri="{FF2B5EF4-FFF2-40B4-BE49-F238E27FC236}">
                <a16:creationId xmlns:a16="http://schemas.microsoft.com/office/drawing/2014/main" id="{D93403F6-D359-577F-CA07-B664114DE19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471997" y="300037"/>
            <a:ext cx="1344003" cy="134400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4892409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Click="0">
        <p159:morph option="byObject"/>
      </p:transition>
    </mc:Choice>
    <mc:Fallback xmlns="">
      <p:transition spd="slow" advClick="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2" presetClass="emph" presetSubtype="0" fill="hold" grpId="0" nodeType="afterEffect">
                                  <p:stCondLst>
                                    <p:cond delay="0"/>
                                  </p:stCondLst>
                                  <p:childTnLst>
                                    <p:animRot by="120000">
                                      <p:cBhvr>
                                        <p:cTn id="6" dur="200" fill="hold">
                                          <p:stCondLst>
                                            <p:cond delay="0"/>
                                          </p:stCondLst>
                                        </p:cTn>
                                        <p:tgtEl>
                                          <p:spTgt spid="9"/>
                                        </p:tgtEl>
                                        <p:attrNameLst>
                                          <p:attrName>r</p:attrName>
                                        </p:attrNameLst>
                                      </p:cBhvr>
                                    </p:animRot>
                                    <p:animRot by="-240000">
                                      <p:cBhvr>
                                        <p:cTn id="7" dur="400" fill="hold">
                                          <p:stCondLst>
                                            <p:cond delay="400"/>
                                          </p:stCondLst>
                                        </p:cTn>
                                        <p:tgtEl>
                                          <p:spTgt spid="9"/>
                                        </p:tgtEl>
                                        <p:attrNameLst>
                                          <p:attrName>r</p:attrName>
                                        </p:attrNameLst>
                                      </p:cBhvr>
                                    </p:animRot>
                                    <p:animRot by="240000">
                                      <p:cBhvr>
                                        <p:cTn id="8" dur="400" fill="hold">
                                          <p:stCondLst>
                                            <p:cond delay="800"/>
                                          </p:stCondLst>
                                        </p:cTn>
                                        <p:tgtEl>
                                          <p:spTgt spid="9"/>
                                        </p:tgtEl>
                                        <p:attrNameLst>
                                          <p:attrName>r</p:attrName>
                                        </p:attrNameLst>
                                      </p:cBhvr>
                                    </p:animRot>
                                    <p:animRot by="-240000">
                                      <p:cBhvr>
                                        <p:cTn id="9" dur="400" fill="hold">
                                          <p:stCondLst>
                                            <p:cond delay="1200"/>
                                          </p:stCondLst>
                                        </p:cTn>
                                        <p:tgtEl>
                                          <p:spTgt spid="9"/>
                                        </p:tgtEl>
                                        <p:attrNameLst>
                                          <p:attrName>r</p:attrName>
                                        </p:attrNameLst>
                                      </p:cBhvr>
                                    </p:animRot>
                                    <p:animRot by="120000">
                                      <p:cBhvr>
                                        <p:cTn id="10" dur="400" fill="hold">
                                          <p:stCondLst>
                                            <p:cond delay="1600"/>
                                          </p:stCondLst>
                                        </p:cTn>
                                        <p:tgtEl>
                                          <p:spTgt spid="9"/>
                                        </p:tgtEl>
                                        <p:attrNameLst>
                                          <p:attrName>r</p:attrName>
                                        </p:attrNameLst>
                                      </p:cBhvr>
                                    </p:animRot>
                                  </p:childTnLst>
                                </p:cTn>
                              </p:par>
                            </p:childTnLst>
                          </p:cTn>
                        </p:par>
                        <p:par>
                          <p:cTn id="11" fill="hold">
                            <p:stCondLst>
                              <p:cond delay="2000"/>
                            </p:stCondLst>
                            <p:childTnLst>
                              <p:par>
                                <p:cTn id="12" presetID="45" presetClass="entr" presetSubtype="0" fill="hold" nodeType="afterEffect">
                                  <p:stCondLst>
                                    <p:cond delay="0"/>
                                  </p:stCondLst>
                                  <p:childTnLst>
                                    <p:set>
                                      <p:cBhvr>
                                        <p:cTn id="13" dur="1" fill="hold">
                                          <p:stCondLst>
                                            <p:cond delay="0"/>
                                          </p:stCondLst>
                                        </p:cTn>
                                        <p:tgtEl>
                                          <p:spTgt spid="12290"/>
                                        </p:tgtEl>
                                        <p:attrNameLst>
                                          <p:attrName>style.visibility</p:attrName>
                                        </p:attrNameLst>
                                      </p:cBhvr>
                                      <p:to>
                                        <p:strVal val="visible"/>
                                      </p:to>
                                    </p:set>
                                    <p:animEffect transition="in" filter="fade">
                                      <p:cBhvr>
                                        <p:cTn id="14" dur="2000"/>
                                        <p:tgtEl>
                                          <p:spTgt spid="12290"/>
                                        </p:tgtEl>
                                      </p:cBhvr>
                                    </p:animEffect>
                                    <p:anim calcmode="lin" valueType="num">
                                      <p:cBhvr>
                                        <p:cTn id="15" dur="2000" fill="hold"/>
                                        <p:tgtEl>
                                          <p:spTgt spid="12290"/>
                                        </p:tgtEl>
                                        <p:attrNameLst>
                                          <p:attrName>ppt_w</p:attrName>
                                        </p:attrNameLst>
                                      </p:cBhvr>
                                      <p:tavLst>
                                        <p:tav tm="0" fmla="#ppt_w*sin(2.5*pi*$)">
                                          <p:val>
                                            <p:fltVal val="0"/>
                                          </p:val>
                                        </p:tav>
                                        <p:tav tm="100000">
                                          <p:val>
                                            <p:fltVal val="1"/>
                                          </p:val>
                                        </p:tav>
                                      </p:tavLst>
                                    </p:anim>
                                    <p:anim calcmode="lin" valueType="num">
                                      <p:cBhvr>
                                        <p:cTn id="16" dur="2000" fill="hold"/>
                                        <p:tgtEl>
                                          <p:spTgt spid="12290"/>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DD65A0-7B4F-435D-DF1B-E98D381A8005}"/>
            </a:ext>
          </a:extLst>
        </p:cNvPr>
        <p:cNvGrpSpPr/>
        <p:nvPr/>
      </p:nvGrpSpPr>
      <p:grpSpPr>
        <a:xfrm>
          <a:off x="0" y="0"/>
          <a:ext cx="0" cy="0"/>
          <a:chOff x="0" y="0"/>
          <a:chExt cx="0" cy="0"/>
        </a:xfrm>
      </p:grpSpPr>
      <p:sp>
        <p:nvSpPr>
          <p:cNvPr id="67" name="Freeform 17">
            <a:extLst>
              <a:ext uri="{FF2B5EF4-FFF2-40B4-BE49-F238E27FC236}">
                <a16:creationId xmlns:a16="http://schemas.microsoft.com/office/drawing/2014/main" id="{ABA72D1B-56F0-5140-1307-6EC97C1B73A4}"/>
              </a:ext>
            </a:extLst>
          </p:cNvPr>
          <p:cNvSpPr/>
          <p:nvPr/>
        </p:nvSpPr>
        <p:spPr>
          <a:xfrm>
            <a:off x="2744136" y="4643528"/>
            <a:ext cx="1634041" cy="1634041"/>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id="68" name="Freeform 17">
            <a:extLst>
              <a:ext uri="{FF2B5EF4-FFF2-40B4-BE49-F238E27FC236}">
                <a16:creationId xmlns:a16="http://schemas.microsoft.com/office/drawing/2014/main" id="{DEBAA74A-7739-1BFB-C222-BE82800E4F58}"/>
              </a:ext>
            </a:extLst>
          </p:cNvPr>
          <p:cNvSpPr/>
          <p:nvPr/>
        </p:nvSpPr>
        <p:spPr>
          <a:xfrm>
            <a:off x="13685849" y="4660357"/>
            <a:ext cx="1634041" cy="1634041"/>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grpSp>
        <p:nvGrpSpPr>
          <p:cNvPr id="2" name="Group 13">
            <a:extLst>
              <a:ext uri="{FF2B5EF4-FFF2-40B4-BE49-F238E27FC236}">
                <a16:creationId xmlns:a16="http://schemas.microsoft.com/office/drawing/2014/main" id="{644C6C15-2DBB-78B3-2CF5-D2C3BFB4692D}"/>
              </a:ext>
            </a:extLst>
          </p:cNvPr>
          <p:cNvGrpSpPr/>
          <p:nvPr/>
        </p:nvGrpSpPr>
        <p:grpSpPr>
          <a:xfrm>
            <a:off x="5748992" y="-952500"/>
            <a:ext cx="6824008" cy="6824008"/>
            <a:chOff x="0" y="0"/>
            <a:chExt cx="812800" cy="812800"/>
          </a:xfrm>
        </p:grpSpPr>
        <p:sp>
          <p:nvSpPr>
            <p:cNvPr id="3" name="Freeform 14">
              <a:extLst>
                <a:ext uri="{FF2B5EF4-FFF2-40B4-BE49-F238E27FC236}">
                  <a16:creationId xmlns:a16="http://schemas.microsoft.com/office/drawing/2014/main" id="{706B9088-256C-1F28-B0FA-9A563874E7F6}"/>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8F8F8"/>
            </a:solidFill>
          </p:spPr>
        </p:sp>
        <p:sp>
          <p:nvSpPr>
            <p:cNvPr id="4" name="TextBox 15">
              <a:extLst>
                <a:ext uri="{FF2B5EF4-FFF2-40B4-BE49-F238E27FC236}">
                  <a16:creationId xmlns:a16="http://schemas.microsoft.com/office/drawing/2014/main" id="{2A4FEF97-DC85-1053-4DE9-258878C585C6}"/>
                </a:ext>
              </a:extLst>
            </p:cNvPr>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5" name="Freeform 16">
            <a:extLst>
              <a:ext uri="{FF2B5EF4-FFF2-40B4-BE49-F238E27FC236}">
                <a16:creationId xmlns:a16="http://schemas.microsoft.com/office/drawing/2014/main" id="{A83D26BE-4227-7F84-9AB4-21937AD65249}"/>
              </a:ext>
            </a:extLst>
          </p:cNvPr>
          <p:cNvSpPr/>
          <p:nvPr/>
        </p:nvSpPr>
        <p:spPr>
          <a:xfrm>
            <a:off x="5720022" y="-1065542"/>
            <a:ext cx="6700578" cy="6666242"/>
          </a:xfrm>
          <a:custGeom>
            <a:avLst/>
            <a:gdLst/>
            <a:ahLst/>
            <a:cxnLst/>
            <a:rect l="l" t="t" r="r" b="b"/>
            <a:pathLst>
              <a:path w="5862965" h="5855636">
                <a:moveTo>
                  <a:pt x="0" y="0"/>
                </a:moveTo>
                <a:lnTo>
                  <a:pt x="5862964" y="0"/>
                </a:lnTo>
                <a:lnTo>
                  <a:pt x="5862964" y="5855636"/>
                </a:lnTo>
                <a:lnTo>
                  <a:pt x="0" y="5855636"/>
                </a:lnTo>
                <a:lnTo>
                  <a:pt x="0" y="0"/>
                </a:lnTo>
                <a:close/>
              </a:path>
            </a:pathLst>
          </a:custGeom>
          <a:blipFill>
            <a:blip r:embed="rId2"/>
            <a:stretch>
              <a:fillRect/>
            </a:stretch>
          </a:blipFill>
        </p:spPr>
      </p:sp>
      <p:grpSp>
        <p:nvGrpSpPr>
          <p:cNvPr id="63" name="Group 18">
            <a:extLst>
              <a:ext uri="{FF2B5EF4-FFF2-40B4-BE49-F238E27FC236}">
                <a16:creationId xmlns:a16="http://schemas.microsoft.com/office/drawing/2014/main" id="{67E4D54B-A460-8A51-4ED1-F05C96D6F561}"/>
              </a:ext>
            </a:extLst>
          </p:cNvPr>
          <p:cNvGrpSpPr/>
          <p:nvPr/>
        </p:nvGrpSpPr>
        <p:grpSpPr>
          <a:xfrm>
            <a:off x="10755134" y="5626671"/>
            <a:ext cx="7837666" cy="2337053"/>
            <a:chOff x="0" y="0"/>
            <a:chExt cx="1013318" cy="260488"/>
          </a:xfrm>
        </p:grpSpPr>
        <p:sp>
          <p:nvSpPr>
            <p:cNvPr id="64" name="Freeform 19">
              <a:extLst>
                <a:ext uri="{FF2B5EF4-FFF2-40B4-BE49-F238E27FC236}">
                  <a16:creationId xmlns:a16="http://schemas.microsoft.com/office/drawing/2014/main" id="{C7DE881D-E7BA-06E7-AB55-652640A8B878}"/>
                </a:ext>
              </a:extLst>
            </p:cNvPr>
            <p:cNvSpPr/>
            <p:nvPr/>
          </p:nvSpPr>
          <p:spPr>
            <a:xfrm>
              <a:off x="0" y="0"/>
              <a:ext cx="1013318" cy="260488"/>
            </a:xfrm>
            <a:custGeom>
              <a:avLst/>
              <a:gdLst/>
              <a:ahLst/>
              <a:cxnLst/>
              <a:rect l="l" t="t" r="r" b="b"/>
              <a:pathLst>
                <a:path w="1013318" h="260488">
                  <a:moveTo>
                    <a:pt x="130244" y="0"/>
                  </a:moveTo>
                  <a:lnTo>
                    <a:pt x="883074" y="0"/>
                  </a:lnTo>
                  <a:cubicBezTo>
                    <a:pt x="917617" y="0"/>
                    <a:pt x="950745" y="13722"/>
                    <a:pt x="975171" y="38148"/>
                  </a:cubicBezTo>
                  <a:cubicBezTo>
                    <a:pt x="999596" y="62573"/>
                    <a:pt x="1013318" y="95701"/>
                    <a:pt x="1013318" y="130244"/>
                  </a:cubicBezTo>
                  <a:lnTo>
                    <a:pt x="1013318" y="130244"/>
                  </a:lnTo>
                  <a:cubicBezTo>
                    <a:pt x="1013318" y="202175"/>
                    <a:pt x="955006" y="260488"/>
                    <a:pt x="883074" y="260488"/>
                  </a:cubicBezTo>
                  <a:lnTo>
                    <a:pt x="130244" y="260488"/>
                  </a:lnTo>
                  <a:cubicBezTo>
                    <a:pt x="95701" y="260488"/>
                    <a:pt x="62573" y="246766"/>
                    <a:pt x="38148" y="222340"/>
                  </a:cubicBezTo>
                  <a:cubicBezTo>
                    <a:pt x="13722" y="197915"/>
                    <a:pt x="0" y="164787"/>
                    <a:pt x="0" y="130244"/>
                  </a:cubicBezTo>
                  <a:lnTo>
                    <a:pt x="0" y="130244"/>
                  </a:lnTo>
                  <a:cubicBezTo>
                    <a:pt x="0" y="95701"/>
                    <a:pt x="13722" y="62573"/>
                    <a:pt x="38148" y="38148"/>
                  </a:cubicBezTo>
                  <a:cubicBezTo>
                    <a:pt x="62573" y="13722"/>
                    <a:pt x="95701" y="0"/>
                    <a:pt x="130244" y="0"/>
                  </a:cubicBezTo>
                  <a:close/>
                </a:path>
              </a:pathLst>
            </a:custGeom>
            <a:solidFill>
              <a:srgbClr val="F8F8F8"/>
            </a:solidFill>
          </p:spPr>
        </p:sp>
        <p:sp>
          <p:nvSpPr>
            <p:cNvPr id="65" name="TextBox 20">
              <a:extLst>
                <a:ext uri="{FF2B5EF4-FFF2-40B4-BE49-F238E27FC236}">
                  <a16:creationId xmlns:a16="http://schemas.microsoft.com/office/drawing/2014/main" id="{8008AF48-70B0-A8BB-742F-F496BEDE767A}"/>
                </a:ext>
              </a:extLst>
            </p:cNvPr>
            <p:cNvSpPr txBox="1"/>
            <p:nvPr/>
          </p:nvSpPr>
          <p:spPr>
            <a:xfrm>
              <a:off x="0" y="-38100"/>
              <a:ext cx="1013318" cy="298588"/>
            </a:xfrm>
            <a:prstGeom prst="rect">
              <a:avLst/>
            </a:prstGeom>
          </p:spPr>
          <p:txBody>
            <a:bodyPr lIns="47086" tIns="47086" rIns="47086" bIns="47086" rtlCol="0" anchor="ctr"/>
            <a:lstStyle/>
            <a:p>
              <a:pPr algn="ctr">
                <a:lnSpc>
                  <a:spcPts val="2659"/>
                </a:lnSpc>
              </a:pPr>
              <a:endParaRPr/>
            </a:p>
          </p:txBody>
        </p:sp>
      </p:grpSp>
      <p:grpSp>
        <p:nvGrpSpPr>
          <p:cNvPr id="6" name="Group 17">
            <a:extLst>
              <a:ext uri="{FF2B5EF4-FFF2-40B4-BE49-F238E27FC236}">
                <a16:creationId xmlns:a16="http://schemas.microsoft.com/office/drawing/2014/main" id="{011D489F-62BE-3F53-9BEA-CE016F931CA2}"/>
              </a:ext>
            </a:extLst>
          </p:cNvPr>
          <p:cNvGrpSpPr/>
          <p:nvPr/>
        </p:nvGrpSpPr>
        <p:grpSpPr>
          <a:xfrm>
            <a:off x="6272686" y="-428805"/>
            <a:ext cx="5776619" cy="5776619"/>
            <a:chOff x="0" y="0"/>
            <a:chExt cx="812800" cy="812800"/>
          </a:xfrm>
        </p:grpSpPr>
        <p:sp>
          <p:nvSpPr>
            <p:cNvPr id="7" name="Freeform 18">
              <a:extLst>
                <a:ext uri="{FF2B5EF4-FFF2-40B4-BE49-F238E27FC236}">
                  <a16:creationId xmlns:a16="http://schemas.microsoft.com/office/drawing/2014/main" id="{4D5B54B7-2671-A133-8DA3-99A95AA0D421}"/>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id="8" name="TextBox 19">
              <a:extLst>
                <a:ext uri="{FF2B5EF4-FFF2-40B4-BE49-F238E27FC236}">
                  <a16:creationId xmlns:a16="http://schemas.microsoft.com/office/drawing/2014/main" id="{3EAA177B-9BF5-57D4-363C-ECD1BD0029E2}"/>
                </a:ext>
              </a:extLst>
            </p:cNvPr>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9" name="TextBox 26">
            <a:extLst>
              <a:ext uri="{FF2B5EF4-FFF2-40B4-BE49-F238E27FC236}">
                <a16:creationId xmlns:a16="http://schemas.microsoft.com/office/drawing/2014/main" id="{F7DBE9F7-0450-3D08-B78B-68A915002120}"/>
              </a:ext>
            </a:extLst>
          </p:cNvPr>
          <p:cNvSpPr txBox="1"/>
          <p:nvPr/>
        </p:nvSpPr>
        <p:spPr>
          <a:xfrm>
            <a:off x="6400800" y="1562100"/>
            <a:ext cx="5636084" cy="1608646"/>
          </a:xfrm>
          <a:prstGeom prst="rect">
            <a:avLst/>
          </a:prstGeom>
        </p:spPr>
        <p:txBody>
          <a:bodyPr wrap="square" lIns="0" tIns="0" rIns="0" bIns="0" rtlCol="0" anchor="t">
            <a:spAutoFit/>
          </a:bodyPr>
          <a:lstStyle/>
          <a:p>
            <a:pPr algn="ctr">
              <a:lnSpc>
                <a:spcPts val="6385"/>
              </a:lnSpc>
            </a:pPr>
            <a:r>
              <a:rPr lang="en-US" sz="4800" b="1" dirty="0">
                <a:solidFill>
                  <a:srgbClr val="3A6AD6"/>
                </a:solidFill>
                <a:latin typeface="Poppins Bold"/>
                <a:ea typeface="Poppins Bold"/>
                <a:cs typeface="Poppins Bold"/>
                <a:sym typeface="Poppins Bold"/>
              </a:rPr>
              <a:t>Initial Exploration Plan</a:t>
            </a:r>
          </a:p>
        </p:txBody>
      </p:sp>
      <p:grpSp>
        <p:nvGrpSpPr>
          <p:cNvPr id="14" name="Group 14">
            <a:extLst>
              <a:ext uri="{FF2B5EF4-FFF2-40B4-BE49-F238E27FC236}">
                <a16:creationId xmlns:a16="http://schemas.microsoft.com/office/drawing/2014/main" id="{FC01CD7D-3F8F-032D-7B4A-63762FCE5363}"/>
              </a:ext>
            </a:extLst>
          </p:cNvPr>
          <p:cNvGrpSpPr/>
          <p:nvPr/>
        </p:nvGrpSpPr>
        <p:grpSpPr>
          <a:xfrm>
            <a:off x="17491799" y="8458418"/>
            <a:ext cx="951769" cy="799882"/>
            <a:chOff x="0" y="0"/>
            <a:chExt cx="967140" cy="812800"/>
          </a:xfrm>
        </p:grpSpPr>
        <p:sp>
          <p:nvSpPr>
            <p:cNvPr id="15" name="Freeform 15">
              <a:extLst>
                <a:ext uri="{FF2B5EF4-FFF2-40B4-BE49-F238E27FC236}">
                  <a16:creationId xmlns:a16="http://schemas.microsoft.com/office/drawing/2014/main" id="{D3408C71-27A6-9EA5-A848-481C63F57450}"/>
                </a:ext>
              </a:extLst>
            </p:cNvPr>
            <p:cNvSpPr/>
            <p:nvPr/>
          </p:nvSpPr>
          <p:spPr>
            <a:xfrm>
              <a:off x="0" y="0"/>
              <a:ext cx="967140" cy="812800"/>
            </a:xfrm>
            <a:custGeom>
              <a:avLst/>
              <a:gdLst/>
              <a:ahLst/>
              <a:cxnLst/>
              <a:rect l="l" t="t" r="r" b="b"/>
              <a:pathLst>
                <a:path w="967140" h="812800">
                  <a:moveTo>
                    <a:pt x="81342" y="0"/>
                  </a:moveTo>
                  <a:lnTo>
                    <a:pt x="885798" y="0"/>
                  </a:lnTo>
                  <a:cubicBezTo>
                    <a:pt x="907371" y="0"/>
                    <a:pt x="928061" y="8570"/>
                    <a:pt x="943315" y="23825"/>
                  </a:cubicBezTo>
                  <a:cubicBezTo>
                    <a:pt x="958570" y="39079"/>
                    <a:pt x="967140" y="59769"/>
                    <a:pt x="967140" y="81342"/>
                  </a:cubicBezTo>
                  <a:lnTo>
                    <a:pt x="967140" y="731458"/>
                  </a:lnTo>
                  <a:cubicBezTo>
                    <a:pt x="967140" y="776382"/>
                    <a:pt x="930722" y="812800"/>
                    <a:pt x="885798" y="812800"/>
                  </a:cubicBezTo>
                  <a:lnTo>
                    <a:pt x="81342" y="812800"/>
                  </a:lnTo>
                  <a:cubicBezTo>
                    <a:pt x="59769" y="812800"/>
                    <a:pt x="39079" y="804230"/>
                    <a:pt x="23825" y="788975"/>
                  </a:cubicBezTo>
                  <a:cubicBezTo>
                    <a:pt x="8570" y="773721"/>
                    <a:pt x="0" y="753031"/>
                    <a:pt x="0" y="731458"/>
                  </a:cubicBezTo>
                  <a:lnTo>
                    <a:pt x="0" y="81342"/>
                  </a:lnTo>
                  <a:cubicBezTo>
                    <a:pt x="0" y="59769"/>
                    <a:pt x="8570" y="39079"/>
                    <a:pt x="23825" y="23825"/>
                  </a:cubicBezTo>
                  <a:cubicBezTo>
                    <a:pt x="39079" y="8570"/>
                    <a:pt x="59769" y="0"/>
                    <a:pt x="81342" y="0"/>
                  </a:cubicBezTo>
                  <a:close/>
                </a:path>
              </a:pathLst>
            </a:custGeom>
            <a:solidFill>
              <a:srgbClr val="3A6AD6"/>
            </a:solidFill>
          </p:spPr>
        </p:sp>
        <p:sp>
          <p:nvSpPr>
            <p:cNvPr id="16" name="TextBox 16">
              <a:extLst>
                <a:ext uri="{FF2B5EF4-FFF2-40B4-BE49-F238E27FC236}">
                  <a16:creationId xmlns:a16="http://schemas.microsoft.com/office/drawing/2014/main" id="{F97A8CD8-F2FB-D570-FDCB-A6262EA72B0C}"/>
                </a:ext>
              </a:extLst>
            </p:cNvPr>
            <p:cNvSpPr txBox="1"/>
            <p:nvPr/>
          </p:nvSpPr>
          <p:spPr>
            <a:xfrm>
              <a:off x="0" y="-38100"/>
              <a:ext cx="967140" cy="850900"/>
            </a:xfrm>
            <a:prstGeom prst="rect">
              <a:avLst/>
            </a:prstGeom>
          </p:spPr>
          <p:txBody>
            <a:bodyPr lIns="50800" tIns="50800" rIns="50800" bIns="50800" rtlCol="0" anchor="ctr"/>
            <a:lstStyle/>
            <a:p>
              <a:pPr algn="ctr">
                <a:lnSpc>
                  <a:spcPts val="2659"/>
                </a:lnSpc>
              </a:pPr>
              <a:endParaRPr/>
            </a:p>
          </p:txBody>
        </p:sp>
      </p:grpSp>
      <p:sp>
        <p:nvSpPr>
          <p:cNvPr id="17" name="TextBox 17">
            <a:extLst>
              <a:ext uri="{FF2B5EF4-FFF2-40B4-BE49-F238E27FC236}">
                <a16:creationId xmlns:a16="http://schemas.microsoft.com/office/drawing/2014/main" id="{E3501365-B87B-DB2B-157E-582415ABFB3B}"/>
              </a:ext>
            </a:extLst>
          </p:cNvPr>
          <p:cNvSpPr txBox="1"/>
          <p:nvPr/>
        </p:nvSpPr>
        <p:spPr>
          <a:xfrm>
            <a:off x="17674380" y="8710688"/>
            <a:ext cx="442747" cy="257943"/>
          </a:xfrm>
          <a:prstGeom prst="rect">
            <a:avLst/>
          </a:prstGeom>
        </p:spPr>
        <p:txBody>
          <a:bodyPr lIns="0" tIns="0" rIns="0" bIns="0" rtlCol="0" anchor="t">
            <a:spAutoFit/>
          </a:bodyPr>
          <a:lstStyle/>
          <a:p>
            <a:pPr algn="ctr">
              <a:lnSpc>
                <a:spcPts val="2057"/>
              </a:lnSpc>
              <a:spcBef>
                <a:spcPct val="0"/>
              </a:spcBef>
            </a:pPr>
            <a:r>
              <a:rPr lang="en-US" sz="1469" b="1" dirty="0">
                <a:solidFill>
                  <a:srgbClr val="FFFFFF"/>
                </a:solidFill>
                <a:latin typeface="Poppins Bold"/>
                <a:ea typeface="Poppins Bold"/>
                <a:cs typeface="Poppins Bold"/>
                <a:sym typeface="Poppins Bold"/>
              </a:rPr>
              <a:t>19</a:t>
            </a:r>
          </a:p>
        </p:txBody>
      </p:sp>
      <p:sp>
        <p:nvSpPr>
          <p:cNvPr id="21" name="Freeform 21">
            <a:extLst>
              <a:ext uri="{FF2B5EF4-FFF2-40B4-BE49-F238E27FC236}">
                <a16:creationId xmlns:a16="http://schemas.microsoft.com/office/drawing/2014/main" id="{67E51FEE-5E6E-379A-0649-418F164763B3}"/>
              </a:ext>
            </a:extLst>
          </p:cNvPr>
          <p:cNvSpPr/>
          <p:nvPr/>
        </p:nvSpPr>
        <p:spPr>
          <a:xfrm>
            <a:off x="8576481" y="4856862"/>
            <a:ext cx="1026728" cy="1025445"/>
          </a:xfrm>
          <a:custGeom>
            <a:avLst/>
            <a:gdLst/>
            <a:ahLst/>
            <a:cxnLst/>
            <a:rect l="l" t="t" r="r" b="b"/>
            <a:pathLst>
              <a:path w="1026728" h="1025445">
                <a:moveTo>
                  <a:pt x="0" y="0"/>
                </a:moveTo>
                <a:lnTo>
                  <a:pt x="1026728" y="0"/>
                </a:lnTo>
                <a:lnTo>
                  <a:pt x="1026728" y="1025445"/>
                </a:lnTo>
                <a:lnTo>
                  <a:pt x="0" y="1025445"/>
                </a:lnTo>
                <a:lnTo>
                  <a:pt x="0" y="0"/>
                </a:lnTo>
                <a:close/>
              </a:path>
            </a:pathLst>
          </a:custGeom>
          <a:blipFill>
            <a:blip r:embed="rId2"/>
            <a:stretch>
              <a:fillRect/>
            </a:stretch>
          </a:blipFill>
        </p:spPr>
        <p:txBody>
          <a:bodyPr/>
          <a:lstStyle/>
          <a:p>
            <a:endParaRPr lang="en-US" dirty="0"/>
          </a:p>
        </p:txBody>
      </p:sp>
      <p:grpSp>
        <p:nvGrpSpPr>
          <p:cNvPr id="22" name="Group 22">
            <a:extLst>
              <a:ext uri="{FF2B5EF4-FFF2-40B4-BE49-F238E27FC236}">
                <a16:creationId xmlns:a16="http://schemas.microsoft.com/office/drawing/2014/main" id="{C210D7A8-9E53-C90F-24F4-077B21561AFE}"/>
              </a:ext>
            </a:extLst>
          </p:cNvPr>
          <p:cNvGrpSpPr/>
          <p:nvPr/>
        </p:nvGrpSpPr>
        <p:grpSpPr>
          <a:xfrm>
            <a:off x="8638196" y="4692509"/>
            <a:ext cx="1011607" cy="1011607"/>
            <a:chOff x="0" y="0"/>
            <a:chExt cx="812800" cy="812800"/>
          </a:xfrm>
        </p:grpSpPr>
        <p:sp>
          <p:nvSpPr>
            <p:cNvPr id="23" name="Freeform 23">
              <a:extLst>
                <a:ext uri="{FF2B5EF4-FFF2-40B4-BE49-F238E27FC236}">
                  <a16:creationId xmlns:a16="http://schemas.microsoft.com/office/drawing/2014/main" id="{FA20FC39-4313-9FA1-BA4B-F9C3AAE6D47C}"/>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id="24" name="TextBox 24">
              <a:extLst>
                <a:ext uri="{FF2B5EF4-FFF2-40B4-BE49-F238E27FC236}">
                  <a16:creationId xmlns:a16="http://schemas.microsoft.com/office/drawing/2014/main" id="{0601AC0B-6FF0-D32A-AB4C-6986BCF5C2FE}"/>
                </a:ext>
              </a:extLst>
            </p:cNvPr>
            <p:cNvSpPr txBox="1"/>
            <p:nvPr/>
          </p:nvSpPr>
          <p:spPr>
            <a:xfrm>
              <a:off x="76200" y="38100"/>
              <a:ext cx="660400" cy="698500"/>
            </a:xfrm>
            <a:prstGeom prst="rect">
              <a:avLst/>
            </a:prstGeom>
          </p:spPr>
          <p:txBody>
            <a:bodyPr lIns="47086" tIns="47086" rIns="47086" bIns="47086" rtlCol="0" anchor="ctr"/>
            <a:lstStyle/>
            <a:p>
              <a:pPr algn="ctr">
                <a:lnSpc>
                  <a:spcPts val="2659"/>
                </a:lnSpc>
                <a:spcBef>
                  <a:spcPct val="0"/>
                </a:spcBef>
              </a:pPr>
              <a:endParaRPr/>
            </a:p>
          </p:txBody>
        </p:sp>
      </p:grpSp>
      <p:sp>
        <p:nvSpPr>
          <p:cNvPr id="74" name="AutoShape 74">
            <a:extLst>
              <a:ext uri="{FF2B5EF4-FFF2-40B4-BE49-F238E27FC236}">
                <a16:creationId xmlns:a16="http://schemas.microsoft.com/office/drawing/2014/main" id="{E5E4B873-E602-E1CC-5D0C-6E50BDF80862}"/>
              </a:ext>
            </a:extLst>
          </p:cNvPr>
          <p:cNvSpPr/>
          <p:nvPr/>
        </p:nvSpPr>
        <p:spPr>
          <a:xfrm>
            <a:off x="7766528" y="6803054"/>
            <a:ext cx="2754945" cy="0"/>
          </a:xfrm>
          <a:prstGeom prst="line">
            <a:avLst/>
          </a:prstGeom>
          <a:ln w="28575" cap="flat">
            <a:solidFill>
              <a:srgbClr val="F8F8F8"/>
            </a:solidFill>
            <a:prstDash val="solid"/>
            <a:headEnd type="none" w="sm" len="sm"/>
            <a:tailEnd type="none" w="sm" len="sm"/>
          </a:ln>
        </p:spPr>
      </p:sp>
      <p:grpSp>
        <p:nvGrpSpPr>
          <p:cNvPr id="82" name="Group 82">
            <a:extLst>
              <a:ext uri="{FF2B5EF4-FFF2-40B4-BE49-F238E27FC236}">
                <a16:creationId xmlns:a16="http://schemas.microsoft.com/office/drawing/2014/main" id="{E0670719-F0EB-55AF-6A54-61BAE821EE85}"/>
              </a:ext>
            </a:extLst>
          </p:cNvPr>
          <p:cNvGrpSpPr/>
          <p:nvPr/>
        </p:nvGrpSpPr>
        <p:grpSpPr>
          <a:xfrm>
            <a:off x="7706458" y="6677758"/>
            <a:ext cx="218342" cy="218342"/>
            <a:chOff x="0" y="0"/>
            <a:chExt cx="812800" cy="812800"/>
          </a:xfrm>
        </p:grpSpPr>
        <p:sp>
          <p:nvSpPr>
            <p:cNvPr id="83" name="Freeform 83">
              <a:extLst>
                <a:ext uri="{FF2B5EF4-FFF2-40B4-BE49-F238E27FC236}">
                  <a16:creationId xmlns:a16="http://schemas.microsoft.com/office/drawing/2014/main" id="{8D14AAAC-FB9A-38A9-82BA-FA18C22C8076}"/>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A6AD6"/>
            </a:solidFill>
          </p:spPr>
        </p:sp>
        <p:sp>
          <p:nvSpPr>
            <p:cNvPr id="84" name="TextBox 84">
              <a:extLst>
                <a:ext uri="{FF2B5EF4-FFF2-40B4-BE49-F238E27FC236}">
                  <a16:creationId xmlns:a16="http://schemas.microsoft.com/office/drawing/2014/main" id="{D6B25618-F2B9-8471-6544-2F6200937BD9}"/>
                </a:ext>
              </a:extLst>
            </p:cNvPr>
            <p:cNvSpPr txBox="1"/>
            <p:nvPr/>
          </p:nvSpPr>
          <p:spPr>
            <a:xfrm>
              <a:off x="76200" y="38100"/>
              <a:ext cx="660400" cy="698500"/>
            </a:xfrm>
            <a:prstGeom prst="rect">
              <a:avLst/>
            </a:prstGeom>
          </p:spPr>
          <p:txBody>
            <a:bodyPr lIns="47086" tIns="47086" rIns="47086" bIns="47086" rtlCol="0" anchor="ctr"/>
            <a:lstStyle/>
            <a:p>
              <a:pPr algn="ctr">
                <a:lnSpc>
                  <a:spcPts val="2659"/>
                </a:lnSpc>
                <a:spcBef>
                  <a:spcPct val="0"/>
                </a:spcBef>
              </a:pPr>
              <a:endParaRPr/>
            </a:p>
          </p:txBody>
        </p:sp>
      </p:grpSp>
      <p:grpSp>
        <p:nvGrpSpPr>
          <p:cNvPr id="85" name="Group 85">
            <a:extLst>
              <a:ext uri="{FF2B5EF4-FFF2-40B4-BE49-F238E27FC236}">
                <a16:creationId xmlns:a16="http://schemas.microsoft.com/office/drawing/2014/main" id="{348DD1EA-6BE3-EDD6-C6A4-6FFB5CAAAF0F}"/>
              </a:ext>
            </a:extLst>
          </p:cNvPr>
          <p:cNvGrpSpPr/>
          <p:nvPr/>
        </p:nvGrpSpPr>
        <p:grpSpPr>
          <a:xfrm>
            <a:off x="10412301" y="6677758"/>
            <a:ext cx="218342" cy="218342"/>
            <a:chOff x="0" y="0"/>
            <a:chExt cx="812800" cy="812800"/>
          </a:xfrm>
        </p:grpSpPr>
        <p:sp>
          <p:nvSpPr>
            <p:cNvPr id="86" name="Freeform 86">
              <a:extLst>
                <a:ext uri="{FF2B5EF4-FFF2-40B4-BE49-F238E27FC236}">
                  <a16:creationId xmlns:a16="http://schemas.microsoft.com/office/drawing/2014/main" id="{103A45F2-7D29-EC64-49D7-94D638AF6D6A}"/>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A6AD6"/>
            </a:solidFill>
          </p:spPr>
        </p:sp>
        <p:sp>
          <p:nvSpPr>
            <p:cNvPr id="87" name="TextBox 87">
              <a:extLst>
                <a:ext uri="{FF2B5EF4-FFF2-40B4-BE49-F238E27FC236}">
                  <a16:creationId xmlns:a16="http://schemas.microsoft.com/office/drawing/2014/main" id="{9FC586C7-49C4-9014-CFD9-1628C0881D75}"/>
                </a:ext>
              </a:extLst>
            </p:cNvPr>
            <p:cNvSpPr txBox="1"/>
            <p:nvPr/>
          </p:nvSpPr>
          <p:spPr>
            <a:xfrm>
              <a:off x="76200" y="38100"/>
              <a:ext cx="660400" cy="698500"/>
            </a:xfrm>
            <a:prstGeom prst="rect">
              <a:avLst/>
            </a:prstGeom>
          </p:spPr>
          <p:txBody>
            <a:bodyPr lIns="47086" tIns="47086" rIns="47086" bIns="47086" rtlCol="0" anchor="ctr"/>
            <a:lstStyle/>
            <a:p>
              <a:pPr algn="ctr">
                <a:lnSpc>
                  <a:spcPts val="2659"/>
                </a:lnSpc>
                <a:spcBef>
                  <a:spcPct val="0"/>
                </a:spcBef>
              </a:pPr>
              <a:endParaRPr/>
            </a:p>
          </p:txBody>
        </p:sp>
      </p:grpSp>
      <p:grpSp>
        <p:nvGrpSpPr>
          <p:cNvPr id="10" name="Group 18">
            <a:extLst>
              <a:ext uri="{FF2B5EF4-FFF2-40B4-BE49-F238E27FC236}">
                <a16:creationId xmlns:a16="http://schemas.microsoft.com/office/drawing/2014/main" id="{D69337A4-B6D3-B05F-2649-E1CDC14C8C16}"/>
              </a:ext>
            </a:extLst>
          </p:cNvPr>
          <p:cNvGrpSpPr/>
          <p:nvPr/>
        </p:nvGrpSpPr>
        <p:grpSpPr>
          <a:xfrm>
            <a:off x="26964" y="5713395"/>
            <a:ext cx="7436668" cy="2167651"/>
            <a:chOff x="0" y="0"/>
            <a:chExt cx="1013318" cy="260488"/>
          </a:xfrm>
        </p:grpSpPr>
        <p:sp>
          <p:nvSpPr>
            <p:cNvPr id="11" name="Freeform 19">
              <a:extLst>
                <a:ext uri="{FF2B5EF4-FFF2-40B4-BE49-F238E27FC236}">
                  <a16:creationId xmlns:a16="http://schemas.microsoft.com/office/drawing/2014/main" id="{5C4310EC-A1EC-DA06-BE44-306D023D043D}"/>
                </a:ext>
              </a:extLst>
            </p:cNvPr>
            <p:cNvSpPr/>
            <p:nvPr/>
          </p:nvSpPr>
          <p:spPr>
            <a:xfrm>
              <a:off x="0" y="0"/>
              <a:ext cx="1013318" cy="260488"/>
            </a:xfrm>
            <a:custGeom>
              <a:avLst/>
              <a:gdLst/>
              <a:ahLst/>
              <a:cxnLst/>
              <a:rect l="l" t="t" r="r" b="b"/>
              <a:pathLst>
                <a:path w="1013318" h="260488">
                  <a:moveTo>
                    <a:pt x="130244" y="0"/>
                  </a:moveTo>
                  <a:lnTo>
                    <a:pt x="883074" y="0"/>
                  </a:lnTo>
                  <a:cubicBezTo>
                    <a:pt x="917617" y="0"/>
                    <a:pt x="950745" y="13722"/>
                    <a:pt x="975171" y="38148"/>
                  </a:cubicBezTo>
                  <a:cubicBezTo>
                    <a:pt x="999596" y="62573"/>
                    <a:pt x="1013318" y="95701"/>
                    <a:pt x="1013318" y="130244"/>
                  </a:cubicBezTo>
                  <a:lnTo>
                    <a:pt x="1013318" y="130244"/>
                  </a:lnTo>
                  <a:cubicBezTo>
                    <a:pt x="1013318" y="202175"/>
                    <a:pt x="955006" y="260488"/>
                    <a:pt x="883074" y="260488"/>
                  </a:cubicBezTo>
                  <a:lnTo>
                    <a:pt x="130244" y="260488"/>
                  </a:lnTo>
                  <a:cubicBezTo>
                    <a:pt x="95701" y="260488"/>
                    <a:pt x="62573" y="246766"/>
                    <a:pt x="38148" y="222340"/>
                  </a:cubicBezTo>
                  <a:cubicBezTo>
                    <a:pt x="13722" y="197915"/>
                    <a:pt x="0" y="164787"/>
                    <a:pt x="0" y="130244"/>
                  </a:cubicBezTo>
                  <a:lnTo>
                    <a:pt x="0" y="130244"/>
                  </a:lnTo>
                  <a:cubicBezTo>
                    <a:pt x="0" y="95701"/>
                    <a:pt x="13722" y="62573"/>
                    <a:pt x="38148" y="38148"/>
                  </a:cubicBezTo>
                  <a:cubicBezTo>
                    <a:pt x="62573" y="13722"/>
                    <a:pt x="95701" y="0"/>
                    <a:pt x="130244" y="0"/>
                  </a:cubicBezTo>
                  <a:close/>
                </a:path>
              </a:pathLst>
            </a:custGeom>
            <a:solidFill>
              <a:srgbClr val="F8F8F8"/>
            </a:solidFill>
          </p:spPr>
        </p:sp>
        <p:sp>
          <p:nvSpPr>
            <p:cNvPr id="12" name="TextBox 20">
              <a:extLst>
                <a:ext uri="{FF2B5EF4-FFF2-40B4-BE49-F238E27FC236}">
                  <a16:creationId xmlns:a16="http://schemas.microsoft.com/office/drawing/2014/main" id="{B8DC74F2-1E83-8CB0-8087-7DA6227B3EC0}"/>
                </a:ext>
              </a:extLst>
            </p:cNvPr>
            <p:cNvSpPr txBox="1"/>
            <p:nvPr/>
          </p:nvSpPr>
          <p:spPr>
            <a:xfrm>
              <a:off x="0" y="-38100"/>
              <a:ext cx="1013318" cy="298588"/>
            </a:xfrm>
            <a:prstGeom prst="rect">
              <a:avLst/>
            </a:prstGeom>
          </p:spPr>
          <p:txBody>
            <a:bodyPr lIns="47086" tIns="47086" rIns="47086" bIns="47086" rtlCol="0" anchor="ctr"/>
            <a:lstStyle/>
            <a:p>
              <a:pPr algn="ctr">
                <a:lnSpc>
                  <a:spcPts val="2659"/>
                </a:lnSpc>
              </a:pPr>
              <a:endParaRPr/>
            </a:p>
          </p:txBody>
        </p:sp>
      </p:grpSp>
      <p:sp>
        <p:nvSpPr>
          <p:cNvPr id="38" name="TextBox 25">
            <a:extLst>
              <a:ext uri="{FF2B5EF4-FFF2-40B4-BE49-F238E27FC236}">
                <a16:creationId xmlns:a16="http://schemas.microsoft.com/office/drawing/2014/main" id="{585F16C5-93C9-DE8D-4502-F401ABEEDBA0}"/>
              </a:ext>
            </a:extLst>
          </p:cNvPr>
          <p:cNvSpPr txBox="1"/>
          <p:nvPr/>
        </p:nvSpPr>
        <p:spPr>
          <a:xfrm>
            <a:off x="11201400" y="5967102"/>
            <a:ext cx="6790746" cy="2494273"/>
          </a:xfrm>
          <a:prstGeom prst="rect">
            <a:avLst/>
          </a:prstGeom>
        </p:spPr>
        <p:txBody>
          <a:bodyPr wrap="square" lIns="0" tIns="0" rIns="0" bIns="0" rtlCol="0" anchor="t">
            <a:spAutoFit/>
          </a:bodyPr>
          <a:lstStyle/>
          <a:p>
            <a:pPr marL="342900" indent="-342900">
              <a:spcBef>
                <a:spcPct val="0"/>
              </a:spcBef>
              <a:spcAft>
                <a:spcPts val="1200"/>
              </a:spcAft>
              <a:buFont typeface="Wingdings" panose="05000000000000000000" pitchFamily="2" charset="2"/>
              <a:buChar char="Ø"/>
            </a:pPr>
            <a:r>
              <a:rPr lang="en-GB" sz="2500" b="1" dirty="0">
                <a:solidFill>
                  <a:schemeClr val="accent6">
                    <a:lumMod val="75000"/>
                  </a:schemeClr>
                </a:solidFill>
                <a:latin typeface="Poppins"/>
                <a:ea typeface="Poppins"/>
                <a:cs typeface="Poppins"/>
                <a:sym typeface="Poppins"/>
              </a:rPr>
              <a:t>Frequency of each model’s training configuration</a:t>
            </a:r>
          </a:p>
          <a:p>
            <a:pPr marL="342900" indent="-342900">
              <a:spcBef>
                <a:spcPct val="0"/>
              </a:spcBef>
              <a:buFont typeface="Wingdings" panose="05000000000000000000" pitchFamily="2" charset="2"/>
              <a:buChar char="Ø"/>
            </a:pPr>
            <a:r>
              <a:rPr lang="en-GB" sz="2500" b="1" dirty="0">
                <a:solidFill>
                  <a:schemeClr val="accent6">
                    <a:lumMod val="75000"/>
                  </a:schemeClr>
                </a:solidFill>
                <a:latin typeface="Poppins"/>
                <a:ea typeface="Poppins"/>
                <a:cs typeface="Poppins"/>
                <a:sym typeface="Poppins"/>
              </a:rPr>
              <a:t>Histograms and box plots </a:t>
            </a:r>
            <a:r>
              <a:rPr lang="en-GB" sz="2500" b="1" dirty="0">
                <a:solidFill>
                  <a:schemeClr val="bg1">
                    <a:lumMod val="50000"/>
                  </a:schemeClr>
                </a:solidFill>
                <a:latin typeface="Poppins"/>
                <a:ea typeface="Poppins"/>
                <a:cs typeface="Poppins"/>
                <a:sym typeface="Poppins"/>
              </a:rPr>
              <a:t>for energy/emission distributions</a:t>
            </a:r>
          </a:p>
          <a:p>
            <a:pPr>
              <a:spcBef>
                <a:spcPct val="0"/>
              </a:spcBef>
            </a:pPr>
            <a:endParaRPr lang="en-GB" sz="2500" b="1" dirty="0">
              <a:solidFill>
                <a:schemeClr val="accent6">
                  <a:lumMod val="75000"/>
                </a:schemeClr>
              </a:solidFill>
              <a:latin typeface="Poppins"/>
              <a:ea typeface="Poppins"/>
              <a:cs typeface="Poppins"/>
              <a:sym typeface="Poppins"/>
            </a:endParaRPr>
          </a:p>
          <a:p>
            <a:pPr>
              <a:lnSpc>
                <a:spcPts val="3422"/>
              </a:lnSpc>
              <a:spcBef>
                <a:spcPct val="0"/>
              </a:spcBef>
            </a:pPr>
            <a:endParaRPr lang="en-GB" sz="2500" b="1" dirty="0">
              <a:solidFill>
                <a:schemeClr val="bg1">
                  <a:lumMod val="50000"/>
                </a:schemeClr>
              </a:solidFill>
              <a:latin typeface="Poppins"/>
              <a:ea typeface="Poppins"/>
              <a:cs typeface="Poppins"/>
              <a:sym typeface="Poppins"/>
            </a:endParaRPr>
          </a:p>
        </p:txBody>
      </p:sp>
      <p:sp>
        <p:nvSpPr>
          <p:cNvPr id="39" name="TextBox 26">
            <a:extLst>
              <a:ext uri="{FF2B5EF4-FFF2-40B4-BE49-F238E27FC236}">
                <a16:creationId xmlns:a16="http://schemas.microsoft.com/office/drawing/2014/main" id="{58F98FFA-40F5-3795-F232-6C18CC2C2DF1}"/>
              </a:ext>
            </a:extLst>
          </p:cNvPr>
          <p:cNvSpPr txBox="1"/>
          <p:nvPr/>
        </p:nvSpPr>
        <p:spPr>
          <a:xfrm>
            <a:off x="6346615" y="6420708"/>
            <a:ext cx="741046" cy="376513"/>
          </a:xfrm>
          <a:prstGeom prst="rect">
            <a:avLst/>
          </a:prstGeom>
        </p:spPr>
        <p:txBody>
          <a:bodyPr lIns="0" tIns="0" rIns="0" bIns="0" rtlCol="0" anchor="t">
            <a:spAutoFit/>
          </a:bodyPr>
          <a:lstStyle/>
          <a:p>
            <a:pPr algn="ctr">
              <a:lnSpc>
                <a:spcPts val="3055"/>
              </a:lnSpc>
              <a:spcBef>
                <a:spcPct val="0"/>
              </a:spcBef>
            </a:pPr>
            <a:endParaRPr lang="en-US" sz="2182" b="1" dirty="0">
              <a:solidFill>
                <a:srgbClr val="3A6AD6"/>
              </a:solidFill>
              <a:latin typeface="Poppins Bold"/>
              <a:ea typeface="Poppins Bold"/>
              <a:cs typeface="Poppins Bold"/>
              <a:sym typeface="Poppins Bold"/>
            </a:endParaRPr>
          </a:p>
        </p:txBody>
      </p:sp>
      <p:sp>
        <p:nvSpPr>
          <p:cNvPr id="66" name="TextBox 25">
            <a:extLst>
              <a:ext uri="{FF2B5EF4-FFF2-40B4-BE49-F238E27FC236}">
                <a16:creationId xmlns:a16="http://schemas.microsoft.com/office/drawing/2014/main" id="{FCAAEDF0-1CD6-CBCA-8EE7-369D75985AE5}"/>
              </a:ext>
            </a:extLst>
          </p:cNvPr>
          <p:cNvSpPr txBox="1"/>
          <p:nvPr/>
        </p:nvSpPr>
        <p:spPr>
          <a:xfrm>
            <a:off x="457200" y="6009469"/>
            <a:ext cx="7011460" cy="1099660"/>
          </a:xfrm>
          <a:prstGeom prst="rect">
            <a:avLst/>
          </a:prstGeom>
        </p:spPr>
        <p:txBody>
          <a:bodyPr wrap="square" lIns="0" tIns="0" rIns="0" bIns="0" rtlCol="0" anchor="t">
            <a:spAutoFit/>
          </a:bodyPr>
          <a:lstStyle/>
          <a:p>
            <a:pPr marL="342900" indent="-342900">
              <a:lnSpc>
                <a:spcPct val="150000"/>
              </a:lnSpc>
              <a:spcBef>
                <a:spcPct val="0"/>
              </a:spcBef>
              <a:buFont typeface="Wingdings" panose="05000000000000000000" pitchFamily="2" charset="2"/>
              <a:buChar char="Ø"/>
            </a:pPr>
            <a:r>
              <a:rPr lang="en-GB" sz="2500" b="1" dirty="0">
                <a:solidFill>
                  <a:schemeClr val="accent6">
                    <a:lumMod val="75000"/>
                  </a:schemeClr>
                </a:solidFill>
                <a:latin typeface="Poppins"/>
                <a:ea typeface="Poppins"/>
                <a:cs typeface="Poppins"/>
                <a:sym typeface="Poppins"/>
              </a:rPr>
              <a:t>Mean, median, and standard deviation </a:t>
            </a:r>
            <a:r>
              <a:rPr lang="en-GB" sz="2500" b="1" dirty="0">
                <a:solidFill>
                  <a:schemeClr val="bg1">
                    <a:lumMod val="50000"/>
                  </a:schemeClr>
                </a:solidFill>
                <a:latin typeface="Poppins"/>
                <a:ea typeface="Poppins"/>
                <a:cs typeface="Poppins"/>
                <a:sym typeface="Poppins"/>
              </a:rPr>
              <a:t>of energy usage per model</a:t>
            </a:r>
          </a:p>
        </p:txBody>
      </p:sp>
      <p:grpSp>
        <p:nvGrpSpPr>
          <p:cNvPr id="35" name="Group 18">
            <a:extLst>
              <a:ext uri="{FF2B5EF4-FFF2-40B4-BE49-F238E27FC236}">
                <a16:creationId xmlns:a16="http://schemas.microsoft.com/office/drawing/2014/main" id="{07F54CA2-CCB8-F8E6-A67B-CB3D8989F780}"/>
              </a:ext>
            </a:extLst>
          </p:cNvPr>
          <p:cNvGrpSpPr/>
          <p:nvPr/>
        </p:nvGrpSpPr>
        <p:grpSpPr>
          <a:xfrm>
            <a:off x="5516968" y="7969294"/>
            <a:ext cx="8732431" cy="1822406"/>
            <a:chOff x="0" y="0"/>
            <a:chExt cx="1013318" cy="260488"/>
          </a:xfrm>
        </p:grpSpPr>
        <p:sp>
          <p:nvSpPr>
            <p:cNvPr id="41" name="Freeform 19">
              <a:extLst>
                <a:ext uri="{FF2B5EF4-FFF2-40B4-BE49-F238E27FC236}">
                  <a16:creationId xmlns:a16="http://schemas.microsoft.com/office/drawing/2014/main" id="{871F2675-42AF-AAE3-D6F6-938470DBFBEF}"/>
                </a:ext>
              </a:extLst>
            </p:cNvPr>
            <p:cNvSpPr/>
            <p:nvPr/>
          </p:nvSpPr>
          <p:spPr>
            <a:xfrm>
              <a:off x="0" y="0"/>
              <a:ext cx="1013318" cy="260488"/>
            </a:xfrm>
            <a:custGeom>
              <a:avLst/>
              <a:gdLst/>
              <a:ahLst/>
              <a:cxnLst/>
              <a:rect l="l" t="t" r="r" b="b"/>
              <a:pathLst>
                <a:path w="1013318" h="260488">
                  <a:moveTo>
                    <a:pt x="130244" y="0"/>
                  </a:moveTo>
                  <a:lnTo>
                    <a:pt x="883074" y="0"/>
                  </a:lnTo>
                  <a:cubicBezTo>
                    <a:pt x="917617" y="0"/>
                    <a:pt x="950745" y="13722"/>
                    <a:pt x="975171" y="38148"/>
                  </a:cubicBezTo>
                  <a:cubicBezTo>
                    <a:pt x="999596" y="62573"/>
                    <a:pt x="1013318" y="95701"/>
                    <a:pt x="1013318" y="130244"/>
                  </a:cubicBezTo>
                  <a:lnTo>
                    <a:pt x="1013318" y="130244"/>
                  </a:lnTo>
                  <a:cubicBezTo>
                    <a:pt x="1013318" y="202175"/>
                    <a:pt x="955006" y="260488"/>
                    <a:pt x="883074" y="260488"/>
                  </a:cubicBezTo>
                  <a:lnTo>
                    <a:pt x="130244" y="260488"/>
                  </a:lnTo>
                  <a:cubicBezTo>
                    <a:pt x="95701" y="260488"/>
                    <a:pt x="62573" y="246766"/>
                    <a:pt x="38148" y="222340"/>
                  </a:cubicBezTo>
                  <a:cubicBezTo>
                    <a:pt x="13722" y="197915"/>
                    <a:pt x="0" y="164787"/>
                    <a:pt x="0" y="130244"/>
                  </a:cubicBezTo>
                  <a:lnTo>
                    <a:pt x="0" y="130244"/>
                  </a:lnTo>
                  <a:cubicBezTo>
                    <a:pt x="0" y="95701"/>
                    <a:pt x="13722" y="62573"/>
                    <a:pt x="38148" y="38148"/>
                  </a:cubicBezTo>
                  <a:cubicBezTo>
                    <a:pt x="62573" y="13722"/>
                    <a:pt x="95701" y="0"/>
                    <a:pt x="130244" y="0"/>
                  </a:cubicBezTo>
                  <a:close/>
                </a:path>
              </a:pathLst>
            </a:custGeom>
            <a:solidFill>
              <a:srgbClr val="F8F8F8"/>
            </a:solidFill>
          </p:spPr>
        </p:sp>
        <p:sp>
          <p:nvSpPr>
            <p:cNvPr id="42" name="TextBox 20">
              <a:extLst>
                <a:ext uri="{FF2B5EF4-FFF2-40B4-BE49-F238E27FC236}">
                  <a16:creationId xmlns:a16="http://schemas.microsoft.com/office/drawing/2014/main" id="{3540258E-DBA2-6F5C-EA54-AC1B476B45AD}"/>
                </a:ext>
              </a:extLst>
            </p:cNvPr>
            <p:cNvSpPr txBox="1"/>
            <p:nvPr/>
          </p:nvSpPr>
          <p:spPr>
            <a:xfrm>
              <a:off x="0" y="-38100"/>
              <a:ext cx="1013318" cy="298588"/>
            </a:xfrm>
            <a:prstGeom prst="rect">
              <a:avLst/>
            </a:prstGeom>
          </p:spPr>
          <p:txBody>
            <a:bodyPr lIns="47086" tIns="47086" rIns="47086" bIns="47086" rtlCol="0" anchor="ctr"/>
            <a:lstStyle/>
            <a:p>
              <a:pPr algn="ctr">
                <a:lnSpc>
                  <a:spcPts val="2659"/>
                </a:lnSpc>
              </a:pPr>
              <a:endParaRPr/>
            </a:p>
          </p:txBody>
        </p:sp>
      </p:grpSp>
      <p:sp>
        <p:nvSpPr>
          <p:cNvPr id="55" name="TextBox 26">
            <a:extLst>
              <a:ext uri="{FF2B5EF4-FFF2-40B4-BE49-F238E27FC236}">
                <a16:creationId xmlns:a16="http://schemas.microsoft.com/office/drawing/2014/main" id="{EE4CE176-8325-0095-5DD8-9A6D2B758992}"/>
              </a:ext>
            </a:extLst>
          </p:cNvPr>
          <p:cNvSpPr txBox="1"/>
          <p:nvPr/>
        </p:nvSpPr>
        <p:spPr>
          <a:xfrm>
            <a:off x="11909215" y="8692583"/>
            <a:ext cx="741046" cy="376513"/>
          </a:xfrm>
          <a:prstGeom prst="rect">
            <a:avLst/>
          </a:prstGeom>
        </p:spPr>
        <p:txBody>
          <a:bodyPr lIns="0" tIns="0" rIns="0" bIns="0" rtlCol="0" anchor="t">
            <a:spAutoFit/>
          </a:bodyPr>
          <a:lstStyle/>
          <a:p>
            <a:pPr algn="ctr">
              <a:lnSpc>
                <a:spcPts val="3055"/>
              </a:lnSpc>
              <a:spcBef>
                <a:spcPct val="0"/>
              </a:spcBef>
            </a:pPr>
            <a:endParaRPr lang="en-US" sz="2182" b="1" dirty="0">
              <a:solidFill>
                <a:srgbClr val="3A6AD6"/>
              </a:solidFill>
              <a:latin typeface="Poppins Bold"/>
              <a:ea typeface="Poppins Bold"/>
              <a:cs typeface="Poppins Bold"/>
              <a:sym typeface="Poppins Bold"/>
            </a:endParaRPr>
          </a:p>
        </p:txBody>
      </p:sp>
      <p:sp>
        <p:nvSpPr>
          <p:cNvPr id="56" name="TextBox 25">
            <a:extLst>
              <a:ext uri="{FF2B5EF4-FFF2-40B4-BE49-F238E27FC236}">
                <a16:creationId xmlns:a16="http://schemas.microsoft.com/office/drawing/2014/main" id="{5A47A770-B073-9DDE-3859-2C16392F8B93}"/>
              </a:ext>
            </a:extLst>
          </p:cNvPr>
          <p:cNvSpPr txBox="1"/>
          <p:nvPr/>
        </p:nvSpPr>
        <p:spPr>
          <a:xfrm>
            <a:off x="6248400" y="8481702"/>
            <a:ext cx="8153400" cy="852798"/>
          </a:xfrm>
          <a:prstGeom prst="rect">
            <a:avLst/>
          </a:prstGeom>
        </p:spPr>
        <p:txBody>
          <a:bodyPr wrap="square" lIns="0" tIns="0" rIns="0" bIns="0" rtlCol="0" anchor="t">
            <a:spAutoFit/>
          </a:bodyPr>
          <a:lstStyle/>
          <a:p>
            <a:pPr>
              <a:lnSpc>
                <a:spcPts val="3422"/>
              </a:lnSpc>
              <a:spcBef>
                <a:spcPct val="0"/>
              </a:spcBef>
            </a:pPr>
            <a:r>
              <a:rPr lang="en-GB" sz="2500" b="1" dirty="0">
                <a:solidFill>
                  <a:schemeClr val="bg1">
                    <a:lumMod val="50000"/>
                  </a:schemeClr>
                </a:solidFill>
                <a:latin typeface="Poppins"/>
                <a:ea typeface="Poppins"/>
                <a:cs typeface="Poppins"/>
                <a:sym typeface="Poppins"/>
              </a:rPr>
              <a:t>This will help identify any </a:t>
            </a:r>
            <a:r>
              <a:rPr lang="en-GB" sz="2500" b="1" dirty="0">
                <a:solidFill>
                  <a:schemeClr val="accent6">
                    <a:lumMod val="75000"/>
                  </a:schemeClr>
                </a:solidFill>
                <a:latin typeface="Poppins"/>
                <a:ea typeface="Poppins"/>
                <a:cs typeface="Poppins"/>
                <a:sym typeface="Poppins"/>
              </a:rPr>
              <a:t>outliers</a:t>
            </a:r>
            <a:r>
              <a:rPr lang="en-GB" sz="2500" b="1" dirty="0">
                <a:solidFill>
                  <a:schemeClr val="bg1">
                    <a:lumMod val="50000"/>
                  </a:schemeClr>
                </a:solidFill>
                <a:latin typeface="Poppins"/>
                <a:ea typeface="Poppins"/>
                <a:cs typeface="Poppins"/>
                <a:sym typeface="Poppins"/>
              </a:rPr>
              <a:t> or </a:t>
            </a:r>
            <a:r>
              <a:rPr lang="en-GB" sz="2500" b="1" dirty="0">
                <a:solidFill>
                  <a:schemeClr val="accent6">
                    <a:lumMod val="75000"/>
                  </a:schemeClr>
                </a:solidFill>
                <a:latin typeface="Poppins"/>
                <a:ea typeface="Poppins"/>
                <a:cs typeface="Poppins"/>
                <a:sym typeface="Poppins"/>
              </a:rPr>
              <a:t>patterns</a:t>
            </a:r>
            <a:r>
              <a:rPr lang="en-GB" sz="2500" b="1" dirty="0">
                <a:solidFill>
                  <a:schemeClr val="bg1">
                    <a:lumMod val="50000"/>
                  </a:schemeClr>
                </a:solidFill>
                <a:latin typeface="Poppins"/>
                <a:ea typeface="Poppins"/>
                <a:cs typeface="Poppins"/>
                <a:sym typeface="Poppins"/>
              </a:rPr>
              <a:t> worth investigating further.</a:t>
            </a:r>
          </a:p>
        </p:txBody>
      </p:sp>
      <p:grpSp>
        <p:nvGrpSpPr>
          <p:cNvPr id="18" name="Group 18">
            <a:extLst>
              <a:ext uri="{FF2B5EF4-FFF2-40B4-BE49-F238E27FC236}">
                <a16:creationId xmlns:a16="http://schemas.microsoft.com/office/drawing/2014/main" id="{A5A3EF40-21A0-9033-F547-9813AFA72A9F}"/>
              </a:ext>
            </a:extLst>
          </p:cNvPr>
          <p:cNvGrpSpPr/>
          <p:nvPr/>
        </p:nvGrpSpPr>
        <p:grpSpPr>
          <a:xfrm>
            <a:off x="4343400" y="3264250"/>
            <a:ext cx="10591800" cy="1117250"/>
            <a:chOff x="0" y="0"/>
            <a:chExt cx="1013318" cy="260488"/>
          </a:xfrm>
        </p:grpSpPr>
        <p:sp>
          <p:nvSpPr>
            <p:cNvPr id="19" name="Freeform 19">
              <a:extLst>
                <a:ext uri="{FF2B5EF4-FFF2-40B4-BE49-F238E27FC236}">
                  <a16:creationId xmlns:a16="http://schemas.microsoft.com/office/drawing/2014/main" id="{FDD40934-924B-CF41-FE18-B39A1FB4A215}"/>
                </a:ext>
              </a:extLst>
            </p:cNvPr>
            <p:cNvSpPr/>
            <p:nvPr/>
          </p:nvSpPr>
          <p:spPr>
            <a:xfrm>
              <a:off x="0" y="0"/>
              <a:ext cx="1013318" cy="260488"/>
            </a:xfrm>
            <a:custGeom>
              <a:avLst/>
              <a:gdLst/>
              <a:ahLst/>
              <a:cxnLst/>
              <a:rect l="l" t="t" r="r" b="b"/>
              <a:pathLst>
                <a:path w="1013318" h="260488">
                  <a:moveTo>
                    <a:pt x="130244" y="0"/>
                  </a:moveTo>
                  <a:lnTo>
                    <a:pt x="883074" y="0"/>
                  </a:lnTo>
                  <a:cubicBezTo>
                    <a:pt x="917617" y="0"/>
                    <a:pt x="950745" y="13722"/>
                    <a:pt x="975171" y="38148"/>
                  </a:cubicBezTo>
                  <a:cubicBezTo>
                    <a:pt x="999596" y="62573"/>
                    <a:pt x="1013318" y="95701"/>
                    <a:pt x="1013318" y="130244"/>
                  </a:cubicBezTo>
                  <a:lnTo>
                    <a:pt x="1013318" y="130244"/>
                  </a:lnTo>
                  <a:cubicBezTo>
                    <a:pt x="1013318" y="202175"/>
                    <a:pt x="955006" y="260488"/>
                    <a:pt x="883074" y="260488"/>
                  </a:cubicBezTo>
                  <a:lnTo>
                    <a:pt x="130244" y="260488"/>
                  </a:lnTo>
                  <a:cubicBezTo>
                    <a:pt x="95701" y="260488"/>
                    <a:pt x="62573" y="246766"/>
                    <a:pt x="38148" y="222340"/>
                  </a:cubicBezTo>
                  <a:cubicBezTo>
                    <a:pt x="13722" y="197915"/>
                    <a:pt x="0" y="164787"/>
                    <a:pt x="0" y="130244"/>
                  </a:cubicBezTo>
                  <a:lnTo>
                    <a:pt x="0" y="130244"/>
                  </a:lnTo>
                  <a:cubicBezTo>
                    <a:pt x="0" y="95701"/>
                    <a:pt x="13722" y="62573"/>
                    <a:pt x="38148" y="38148"/>
                  </a:cubicBezTo>
                  <a:cubicBezTo>
                    <a:pt x="62573" y="13722"/>
                    <a:pt x="95701" y="0"/>
                    <a:pt x="130244" y="0"/>
                  </a:cubicBezTo>
                  <a:close/>
                </a:path>
              </a:pathLst>
            </a:custGeom>
            <a:solidFill>
              <a:srgbClr val="F8F8F8"/>
            </a:solidFill>
          </p:spPr>
        </p:sp>
        <p:sp>
          <p:nvSpPr>
            <p:cNvPr id="20" name="TextBox 20">
              <a:extLst>
                <a:ext uri="{FF2B5EF4-FFF2-40B4-BE49-F238E27FC236}">
                  <a16:creationId xmlns:a16="http://schemas.microsoft.com/office/drawing/2014/main" id="{68672D4A-6B17-F4E9-D1E6-836C231098B9}"/>
                </a:ext>
              </a:extLst>
            </p:cNvPr>
            <p:cNvSpPr txBox="1"/>
            <p:nvPr/>
          </p:nvSpPr>
          <p:spPr>
            <a:xfrm>
              <a:off x="0" y="-38100"/>
              <a:ext cx="1013318" cy="298588"/>
            </a:xfrm>
            <a:prstGeom prst="rect">
              <a:avLst/>
            </a:prstGeom>
          </p:spPr>
          <p:txBody>
            <a:bodyPr lIns="47086" tIns="47086" rIns="47086" bIns="47086" rtlCol="0" anchor="ctr"/>
            <a:lstStyle/>
            <a:p>
              <a:pPr algn="ctr">
                <a:lnSpc>
                  <a:spcPts val="2659"/>
                </a:lnSpc>
              </a:pPr>
              <a:endParaRPr/>
            </a:p>
          </p:txBody>
        </p:sp>
      </p:grpSp>
      <p:sp>
        <p:nvSpPr>
          <p:cNvPr id="25" name="TextBox 25">
            <a:extLst>
              <a:ext uri="{FF2B5EF4-FFF2-40B4-BE49-F238E27FC236}">
                <a16:creationId xmlns:a16="http://schemas.microsoft.com/office/drawing/2014/main" id="{68AA74B3-8AA3-26C1-C5A0-A1942C427E9E}"/>
              </a:ext>
            </a:extLst>
          </p:cNvPr>
          <p:cNvSpPr txBox="1"/>
          <p:nvPr/>
        </p:nvSpPr>
        <p:spPr>
          <a:xfrm>
            <a:off x="3420030" y="3579256"/>
            <a:ext cx="12505770" cy="427553"/>
          </a:xfrm>
          <a:prstGeom prst="rect">
            <a:avLst/>
          </a:prstGeom>
        </p:spPr>
        <p:txBody>
          <a:bodyPr wrap="square" lIns="0" tIns="0" rIns="0" bIns="0" rtlCol="0" anchor="t">
            <a:spAutoFit/>
          </a:bodyPr>
          <a:lstStyle/>
          <a:p>
            <a:pPr algn="ctr">
              <a:lnSpc>
                <a:spcPts val="3422"/>
              </a:lnSpc>
              <a:spcBef>
                <a:spcPct val="0"/>
              </a:spcBef>
            </a:pPr>
            <a:r>
              <a:rPr lang="en-GB" sz="2800" b="1" dirty="0">
                <a:solidFill>
                  <a:schemeClr val="bg1">
                    <a:lumMod val="50000"/>
                  </a:schemeClr>
                </a:solidFill>
                <a:latin typeface="Poppins"/>
                <a:ea typeface="Poppins"/>
                <a:cs typeface="Poppins"/>
                <a:sym typeface="Poppins"/>
              </a:rPr>
              <a:t>Initial analysis will include basic descriptive statistics:</a:t>
            </a:r>
          </a:p>
        </p:txBody>
      </p:sp>
      <p:pic>
        <p:nvPicPr>
          <p:cNvPr id="26" name="Picture 25">
            <a:extLst>
              <a:ext uri="{FF2B5EF4-FFF2-40B4-BE49-F238E27FC236}">
                <a16:creationId xmlns:a16="http://schemas.microsoft.com/office/drawing/2014/main" id="{4C871F12-6889-5B92-D4C4-8F8A2E300B7E}"/>
              </a:ext>
            </a:extLst>
          </p:cNvPr>
          <p:cNvPicPr>
            <a:picLocks noChangeAspect="1"/>
          </p:cNvPicPr>
          <p:nvPr/>
        </p:nvPicPr>
        <p:blipFill>
          <a:blip r:embed="rId3"/>
          <a:stretch>
            <a:fillRect/>
          </a:stretch>
        </p:blipFill>
        <p:spPr>
          <a:xfrm>
            <a:off x="8490359" y="454291"/>
            <a:ext cx="1159444" cy="1159444"/>
          </a:xfrm>
          <a:prstGeom prst="rect">
            <a:avLst/>
          </a:prstGeom>
        </p:spPr>
      </p:pic>
    </p:spTree>
    <p:extLst>
      <p:ext uri="{BB962C8B-B14F-4D97-AF65-F5344CB8AC3E}">
        <p14:creationId xmlns:p14="http://schemas.microsoft.com/office/powerpoint/2010/main" val="6174335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Click="0">
        <p159:morph option="byObject"/>
      </p:transition>
    </mc:Choice>
    <mc:Fallback xmlns="">
      <p:transition spd="slow" advClick="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2" presetClass="emph" presetSubtype="0" fill="hold" grpId="0" nodeType="afterEffect">
                                  <p:stCondLst>
                                    <p:cond delay="0"/>
                                  </p:stCondLst>
                                  <p:childTnLst>
                                    <p:animRot by="120000">
                                      <p:cBhvr>
                                        <p:cTn id="6" dur="200" fill="hold">
                                          <p:stCondLst>
                                            <p:cond delay="0"/>
                                          </p:stCondLst>
                                        </p:cTn>
                                        <p:tgtEl>
                                          <p:spTgt spid="9"/>
                                        </p:tgtEl>
                                        <p:attrNameLst>
                                          <p:attrName>r</p:attrName>
                                        </p:attrNameLst>
                                      </p:cBhvr>
                                    </p:animRot>
                                    <p:animRot by="-240000">
                                      <p:cBhvr>
                                        <p:cTn id="7" dur="400" fill="hold">
                                          <p:stCondLst>
                                            <p:cond delay="400"/>
                                          </p:stCondLst>
                                        </p:cTn>
                                        <p:tgtEl>
                                          <p:spTgt spid="9"/>
                                        </p:tgtEl>
                                        <p:attrNameLst>
                                          <p:attrName>r</p:attrName>
                                        </p:attrNameLst>
                                      </p:cBhvr>
                                    </p:animRot>
                                    <p:animRot by="240000">
                                      <p:cBhvr>
                                        <p:cTn id="8" dur="400" fill="hold">
                                          <p:stCondLst>
                                            <p:cond delay="800"/>
                                          </p:stCondLst>
                                        </p:cTn>
                                        <p:tgtEl>
                                          <p:spTgt spid="9"/>
                                        </p:tgtEl>
                                        <p:attrNameLst>
                                          <p:attrName>r</p:attrName>
                                        </p:attrNameLst>
                                      </p:cBhvr>
                                    </p:animRot>
                                    <p:animRot by="-240000">
                                      <p:cBhvr>
                                        <p:cTn id="9" dur="400" fill="hold">
                                          <p:stCondLst>
                                            <p:cond delay="1200"/>
                                          </p:stCondLst>
                                        </p:cTn>
                                        <p:tgtEl>
                                          <p:spTgt spid="9"/>
                                        </p:tgtEl>
                                        <p:attrNameLst>
                                          <p:attrName>r</p:attrName>
                                        </p:attrNameLst>
                                      </p:cBhvr>
                                    </p:animRot>
                                    <p:animRot by="120000">
                                      <p:cBhvr>
                                        <p:cTn id="10" dur="400" fill="hold">
                                          <p:stCondLst>
                                            <p:cond delay="1600"/>
                                          </p:stCondLst>
                                        </p:cTn>
                                        <p:tgtEl>
                                          <p:spTgt spid="9"/>
                                        </p:tgtEl>
                                        <p:attrNameLst>
                                          <p:attrName>r</p:attrName>
                                        </p:attrNameLst>
                                      </p:cBhvr>
                                    </p:animRot>
                                  </p:childTnLst>
                                </p:cTn>
                              </p:par>
                            </p:childTnLst>
                          </p:cTn>
                        </p:par>
                        <p:par>
                          <p:cTn id="11" fill="hold">
                            <p:stCondLst>
                              <p:cond delay="2000"/>
                            </p:stCondLst>
                            <p:childTnLst>
                              <p:par>
                                <p:cTn id="12" presetID="45" presetClass="entr" presetSubtype="0" fill="hold" nodeType="afterEffect">
                                  <p:stCondLst>
                                    <p:cond delay="0"/>
                                  </p:stCondLst>
                                  <p:childTnLst>
                                    <p:set>
                                      <p:cBhvr>
                                        <p:cTn id="13" dur="1" fill="hold">
                                          <p:stCondLst>
                                            <p:cond delay="0"/>
                                          </p:stCondLst>
                                        </p:cTn>
                                        <p:tgtEl>
                                          <p:spTgt spid="26"/>
                                        </p:tgtEl>
                                        <p:attrNameLst>
                                          <p:attrName>style.visibility</p:attrName>
                                        </p:attrNameLst>
                                      </p:cBhvr>
                                      <p:to>
                                        <p:strVal val="visible"/>
                                      </p:to>
                                    </p:set>
                                    <p:animEffect transition="in" filter="fade">
                                      <p:cBhvr>
                                        <p:cTn id="14" dur="2000"/>
                                        <p:tgtEl>
                                          <p:spTgt spid="26"/>
                                        </p:tgtEl>
                                      </p:cBhvr>
                                    </p:animEffect>
                                    <p:anim calcmode="lin" valueType="num">
                                      <p:cBhvr>
                                        <p:cTn id="15" dur="2000" fill="hold"/>
                                        <p:tgtEl>
                                          <p:spTgt spid="26"/>
                                        </p:tgtEl>
                                        <p:attrNameLst>
                                          <p:attrName>ppt_w</p:attrName>
                                        </p:attrNameLst>
                                      </p:cBhvr>
                                      <p:tavLst>
                                        <p:tav tm="0" fmla="#ppt_w*sin(2.5*pi*$)">
                                          <p:val>
                                            <p:fltVal val="0"/>
                                          </p:val>
                                        </p:tav>
                                        <p:tav tm="100000">
                                          <p:val>
                                            <p:fltVal val="1"/>
                                          </p:val>
                                        </p:tav>
                                      </p:tavLst>
                                    </p:anim>
                                    <p:anim calcmode="lin" valueType="num">
                                      <p:cBhvr>
                                        <p:cTn id="16" dur="2000" fill="hold"/>
                                        <p:tgtEl>
                                          <p:spTgt spid="26"/>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5E59DA-99E0-3A56-6810-61EB84244EB9}"/>
            </a:ext>
          </a:extLst>
        </p:cNvPr>
        <p:cNvGrpSpPr/>
        <p:nvPr/>
      </p:nvGrpSpPr>
      <p:grpSpPr>
        <a:xfrm>
          <a:off x="0" y="0"/>
          <a:ext cx="0" cy="0"/>
          <a:chOff x="0" y="0"/>
          <a:chExt cx="0" cy="0"/>
        </a:xfrm>
      </p:grpSpPr>
      <p:sp>
        <p:nvSpPr>
          <p:cNvPr id="67" name="Freeform 17">
            <a:extLst>
              <a:ext uri="{FF2B5EF4-FFF2-40B4-BE49-F238E27FC236}">
                <a16:creationId xmlns:a16="http://schemas.microsoft.com/office/drawing/2014/main" id="{ED909C2A-9923-BB3F-DC61-039443028B8F}"/>
              </a:ext>
            </a:extLst>
          </p:cNvPr>
          <p:cNvSpPr/>
          <p:nvPr/>
        </p:nvSpPr>
        <p:spPr>
          <a:xfrm>
            <a:off x="2744136" y="4643528"/>
            <a:ext cx="1634041" cy="1634041"/>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id="68" name="Freeform 17">
            <a:extLst>
              <a:ext uri="{FF2B5EF4-FFF2-40B4-BE49-F238E27FC236}">
                <a16:creationId xmlns:a16="http://schemas.microsoft.com/office/drawing/2014/main" id="{AA6C391B-AB8D-E933-C8E8-4817EEE8089B}"/>
              </a:ext>
            </a:extLst>
          </p:cNvPr>
          <p:cNvSpPr/>
          <p:nvPr/>
        </p:nvSpPr>
        <p:spPr>
          <a:xfrm>
            <a:off x="13685849" y="4660357"/>
            <a:ext cx="1634041" cy="1634041"/>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grpSp>
        <p:nvGrpSpPr>
          <p:cNvPr id="2" name="Group 13">
            <a:extLst>
              <a:ext uri="{FF2B5EF4-FFF2-40B4-BE49-F238E27FC236}">
                <a16:creationId xmlns:a16="http://schemas.microsoft.com/office/drawing/2014/main" id="{A0EE15DE-84A4-6C81-5B46-BBC74C836D4F}"/>
              </a:ext>
            </a:extLst>
          </p:cNvPr>
          <p:cNvGrpSpPr/>
          <p:nvPr/>
        </p:nvGrpSpPr>
        <p:grpSpPr>
          <a:xfrm>
            <a:off x="5748992" y="-952500"/>
            <a:ext cx="6824008" cy="6824008"/>
            <a:chOff x="0" y="0"/>
            <a:chExt cx="812800" cy="812800"/>
          </a:xfrm>
        </p:grpSpPr>
        <p:sp>
          <p:nvSpPr>
            <p:cNvPr id="3" name="Freeform 14">
              <a:extLst>
                <a:ext uri="{FF2B5EF4-FFF2-40B4-BE49-F238E27FC236}">
                  <a16:creationId xmlns:a16="http://schemas.microsoft.com/office/drawing/2014/main" id="{0A2E6779-C9B6-522B-BEED-D96A7F5E0FB2}"/>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8F8F8"/>
            </a:solidFill>
          </p:spPr>
        </p:sp>
        <p:sp>
          <p:nvSpPr>
            <p:cNvPr id="4" name="TextBox 15">
              <a:extLst>
                <a:ext uri="{FF2B5EF4-FFF2-40B4-BE49-F238E27FC236}">
                  <a16:creationId xmlns:a16="http://schemas.microsoft.com/office/drawing/2014/main" id="{B39D6B00-0488-B567-1AB0-74BED14BA297}"/>
                </a:ext>
              </a:extLst>
            </p:cNvPr>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5" name="Freeform 16">
            <a:extLst>
              <a:ext uri="{FF2B5EF4-FFF2-40B4-BE49-F238E27FC236}">
                <a16:creationId xmlns:a16="http://schemas.microsoft.com/office/drawing/2014/main" id="{DA571337-EB37-973A-471D-121E17B85340}"/>
              </a:ext>
            </a:extLst>
          </p:cNvPr>
          <p:cNvSpPr/>
          <p:nvPr/>
        </p:nvSpPr>
        <p:spPr>
          <a:xfrm>
            <a:off x="5720022" y="-1065542"/>
            <a:ext cx="6700578" cy="6666242"/>
          </a:xfrm>
          <a:custGeom>
            <a:avLst/>
            <a:gdLst/>
            <a:ahLst/>
            <a:cxnLst/>
            <a:rect l="l" t="t" r="r" b="b"/>
            <a:pathLst>
              <a:path w="5862965" h="5855636">
                <a:moveTo>
                  <a:pt x="0" y="0"/>
                </a:moveTo>
                <a:lnTo>
                  <a:pt x="5862964" y="0"/>
                </a:lnTo>
                <a:lnTo>
                  <a:pt x="5862964" y="5855636"/>
                </a:lnTo>
                <a:lnTo>
                  <a:pt x="0" y="5855636"/>
                </a:lnTo>
                <a:lnTo>
                  <a:pt x="0" y="0"/>
                </a:lnTo>
                <a:close/>
              </a:path>
            </a:pathLst>
          </a:custGeom>
          <a:blipFill>
            <a:blip r:embed="rId2"/>
            <a:stretch>
              <a:fillRect/>
            </a:stretch>
          </a:blipFill>
        </p:spPr>
      </p:sp>
      <p:grpSp>
        <p:nvGrpSpPr>
          <p:cNvPr id="63" name="Group 18">
            <a:extLst>
              <a:ext uri="{FF2B5EF4-FFF2-40B4-BE49-F238E27FC236}">
                <a16:creationId xmlns:a16="http://schemas.microsoft.com/office/drawing/2014/main" id="{2FF2AF5D-CA09-3414-631D-51225E6CD295}"/>
              </a:ext>
            </a:extLst>
          </p:cNvPr>
          <p:cNvGrpSpPr/>
          <p:nvPr/>
        </p:nvGrpSpPr>
        <p:grpSpPr>
          <a:xfrm>
            <a:off x="10755134" y="5626671"/>
            <a:ext cx="7837666" cy="2337053"/>
            <a:chOff x="0" y="0"/>
            <a:chExt cx="1013318" cy="260488"/>
          </a:xfrm>
        </p:grpSpPr>
        <p:sp>
          <p:nvSpPr>
            <p:cNvPr id="64" name="Freeform 19">
              <a:extLst>
                <a:ext uri="{FF2B5EF4-FFF2-40B4-BE49-F238E27FC236}">
                  <a16:creationId xmlns:a16="http://schemas.microsoft.com/office/drawing/2014/main" id="{1AE7E8D9-543A-CEB7-B106-D10A0D395073}"/>
                </a:ext>
              </a:extLst>
            </p:cNvPr>
            <p:cNvSpPr/>
            <p:nvPr/>
          </p:nvSpPr>
          <p:spPr>
            <a:xfrm>
              <a:off x="0" y="0"/>
              <a:ext cx="1013318" cy="260488"/>
            </a:xfrm>
            <a:custGeom>
              <a:avLst/>
              <a:gdLst/>
              <a:ahLst/>
              <a:cxnLst/>
              <a:rect l="l" t="t" r="r" b="b"/>
              <a:pathLst>
                <a:path w="1013318" h="260488">
                  <a:moveTo>
                    <a:pt x="130244" y="0"/>
                  </a:moveTo>
                  <a:lnTo>
                    <a:pt x="883074" y="0"/>
                  </a:lnTo>
                  <a:cubicBezTo>
                    <a:pt x="917617" y="0"/>
                    <a:pt x="950745" y="13722"/>
                    <a:pt x="975171" y="38148"/>
                  </a:cubicBezTo>
                  <a:cubicBezTo>
                    <a:pt x="999596" y="62573"/>
                    <a:pt x="1013318" y="95701"/>
                    <a:pt x="1013318" y="130244"/>
                  </a:cubicBezTo>
                  <a:lnTo>
                    <a:pt x="1013318" y="130244"/>
                  </a:lnTo>
                  <a:cubicBezTo>
                    <a:pt x="1013318" y="202175"/>
                    <a:pt x="955006" y="260488"/>
                    <a:pt x="883074" y="260488"/>
                  </a:cubicBezTo>
                  <a:lnTo>
                    <a:pt x="130244" y="260488"/>
                  </a:lnTo>
                  <a:cubicBezTo>
                    <a:pt x="95701" y="260488"/>
                    <a:pt x="62573" y="246766"/>
                    <a:pt x="38148" y="222340"/>
                  </a:cubicBezTo>
                  <a:cubicBezTo>
                    <a:pt x="13722" y="197915"/>
                    <a:pt x="0" y="164787"/>
                    <a:pt x="0" y="130244"/>
                  </a:cubicBezTo>
                  <a:lnTo>
                    <a:pt x="0" y="130244"/>
                  </a:lnTo>
                  <a:cubicBezTo>
                    <a:pt x="0" y="95701"/>
                    <a:pt x="13722" y="62573"/>
                    <a:pt x="38148" y="38148"/>
                  </a:cubicBezTo>
                  <a:cubicBezTo>
                    <a:pt x="62573" y="13722"/>
                    <a:pt x="95701" y="0"/>
                    <a:pt x="130244" y="0"/>
                  </a:cubicBezTo>
                  <a:close/>
                </a:path>
              </a:pathLst>
            </a:custGeom>
            <a:solidFill>
              <a:srgbClr val="F8F8F8"/>
            </a:solidFill>
          </p:spPr>
        </p:sp>
        <p:sp>
          <p:nvSpPr>
            <p:cNvPr id="65" name="TextBox 20">
              <a:extLst>
                <a:ext uri="{FF2B5EF4-FFF2-40B4-BE49-F238E27FC236}">
                  <a16:creationId xmlns:a16="http://schemas.microsoft.com/office/drawing/2014/main" id="{0F562074-A29F-AD04-9B93-2703D316D769}"/>
                </a:ext>
              </a:extLst>
            </p:cNvPr>
            <p:cNvSpPr txBox="1"/>
            <p:nvPr/>
          </p:nvSpPr>
          <p:spPr>
            <a:xfrm>
              <a:off x="0" y="-38100"/>
              <a:ext cx="1013318" cy="298588"/>
            </a:xfrm>
            <a:prstGeom prst="rect">
              <a:avLst/>
            </a:prstGeom>
          </p:spPr>
          <p:txBody>
            <a:bodyPr lIns="47086" tIns="47086" rIns="47086" bIns="47086" rtlCol="0" anchor="ctr"/>
            <a:lstStyle/>
            <a:p>
              <a:pPr algn="ctr">
                <a:lnSpc>
                  <a:spcPts val="2659"/>
                </a:lnSpc>
              </a:pPr>
              <a:endParaRPr/>
            </a:p>
          </p:txBody>
        </p:sp>
      </p:grpSp>
      <p:grpSp>
        <p:nvGrpSpPr>
          <p:cNvPr id="6" name="Group 17">
            <a:extLst>
              <a:ext uri="{FF2B5EF4-FFF2-40B4-BE49-F238E27FC236}">
                <a16:creationId xmlns:a16="http://schemas.microsoft.com/office/drawing/2014/main" id="{AD393550-8B40-F534-32E8-C74BADA6D273}"/>
              </a:ext>
            </a:extLst>
          </p:cNvPr>
          <p:cNvGrpSpPr/>
          <p:nvPr/>
        </p:nvGrpSpPr>
        <p:grpSpPr>
          <a:xfrm>
            <a:off x="6272686" y="-428805"/>
            <a:ext cx="5776619" cy="5776619"/>
            <a:chOff x="0" y="0"/>
            <a:chExt cx="812800" cy="812800"/>
          </a:xfrm>
        </p:grpSpPr>
        <p:sp>
          <p:nvSpPr>
            <p:cNvPr id="7" name="Freeform 18">
              <a:extLst>
                <a:ext uri="{FF2B5EF4-FFF2-40B4-BE49-F238E27FC236}">
                  <a16:creationId xmlns:a16="http://schemas.microsoft.com/office/drawing/2014/main" id="{6263FDB4-FB18-9C84-B3DD-C02DFAD0C01E}"/>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id="8" name="TextBox 19">
              <a:extLst>
                <a:ext uri="{FF2B5EF4-FFF2-40B4-BE49-F238E27FC236}">
                  <a16:creationId xmlns:a16="http://schemas.microsoft.com/office/drawing/2014/main" id="{EE52515A-EE66-DFB3-B1C9-23BE65F8774D}"/>
                </a:ext>
              </a:extLst>
            </p:cNvPr>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9" name="TextBox 26">
            <a:extLst>
              <a:ext uri="{FF2B5EF4-FFF2-40B4-BE49-F238E27FC236}">
                <a16:creationId xmlns:a16="http://schemas.microsoft.com/office/drawing/2014/main" id="{39CE3104-0C61-D953-2CE0-14D53B728016}"/>
              </a:ext>
            </a:extLst>
          </p:cNvPr>
          <p:cNvSpPr txBox="1"/>
          <p:nvPr/>
        </p:nvSpPr>
        <p:spPr>
          <a:xfrm>
            <a:off x="6413221" y="1625001"/>
            <a:ext cx="5636084" cy="1608646"/>
          </a:xfrm>
          <a:prstGeom prst="rect">
            <a:avLst/>
          </a:prstGeom>
        </p:spPr>
        <p:txBody>
          <a:bodyPr wrap="square" lIns="0" tIns="0" rIns="0" bIns="0" rtlCol="0" anchor="t">
            <a:spAutoFit/>
          </a:bodyPr>
          <a:lstStyle/>
          <a:p>
            <a:pPr algn="ctr">
              <a:lnSpc>
                <a:spcPts val="6385"/>
              </a:lnSpc>
            </a:pPr>
            <a:r>
              <a:rPr lang="en-US" sz="4800" b="1" dirty="0">
                <a:solidFill>
                  <a:srgbClr val="3A6AD6"/>
                </a:solidFill>
                <a:latin typeface="Poppins Bold"/>
                <a:ea typeface="Poppins Bold"/>
                <a:cs typeface="Poppins Bold"/>
                <a:sym typeface="Poppins Bold"/>
              </a:rPr>
              <a:t>Statistical Data Analysis</a:t>
            </a:r>
          </a:p>
        </p:txBody>
      </p:sp>
      <p:grpSp>
        <p:nvGrpSpPr>
          <p:cNvPr id="14" name="Group 14">
            <a:extLst>
              <a:ext uri="{FF2B5EF4-FFF2-40B4-BE49-F238E27FC236}">
                <a16:creationId xmlns:a16="http://schemas.microsoft.com/office/drawing/2014/main" id="{0F1B2301-0DAB-F654-75F6-C6ABC9EB44C8}"/>
              </a:ext>
            </a:extLst>
          </p:cNvPr>
          <p:cNvGrpSpPr/>
          <p:nvPr/>
        </p:nvGrpSpPr>
        <p:grpSpPr>
          <a:xfrm>
            <a:off x="17491799" y="8458418"/>
            <a:ext cx="951769" cy="799882"/>
            <a:chOff x="0" y="0"/>
            <a:chExt cx="967140" cy="812800"/>
          </a:xfrm>
        </p:grpSpPr>
        <p:sp>
          <p:nvSpPr>
            <p:cNvPr id="15" name="Freeform 15">
              <a:extLst>
                <a:ext uri="{FF2B5EF4-FFF2-40B4-BE49-F238E27FC236}">
                  <a16:creationId xmlns:a16="http://schemas.microsoft.com/office/drawing/2014/main" id="{F29690C4-4499-64AB-9925-EB7DE5D8A10B}"/>
                </a:ext>
              </a:extLst>
            </p:cNvPr>
            <p:cNvSpPr/>
            <p:nvPr/>
          </p:nvSpPr>
          <p:spPr>
            <a:xfrm>
              <a:off x="0" y="0"/>
              <a:ext cx="967140" cy="812800"/>
            </a:xfrm>
            <a:custGeom>
              <a:avLst/>
              <a:gdLst/>
              <a:ahLst/>
              <a:cxnLst/>
              <a:rect l="l" t="t" r="r" b="b"/>
              <a:pathLst>
                <a:path w="967140" h="812800">
                  <a:moveTo>
                    <a:pt x="81342" y="0"/>
                  </a:moveTo>
                  <a:lnTo>
                    <a:pt x="885798" y="0"/>
                  </a:lnTo>
                  <a:cubicBezTo>
                    <a:pt x="907371" y="0"/>
                    <a:pt x="928061" y="8570"/>
                    <a:pt x="943315" y="23825"/>
                  </a:cubicBezTo>
                  <a:cubicBezTo>
                    <a:pt x="958570" y="39079"/>
                    <a:pt x="967140" y="59769"/>
                    <a:pt x="967140" y="81342"/>
                  </a:cubicBezTo>
                  <a:lnTo>
                    <a:pt x="967140" y="731458"/>
                  </a:lnTo>
                  <a:cubicBezTo>
                    <a:pt x="967140" y="776382"/>
                    <a:pt x="930722" y="812800"/>
                    <a:pt x="885798" y="812800"/>
                  </a:cubicBezTo>
                  <a:lnTo>
                    <a:pt x="81342" y="812800"/>
                  </a:lnTo>
                  <a:cubicBezTo>
                    <a:pt x="59769" y="812800"/>
                    <a:pt x="39079" y="804230"/>
                    <a:pt x="23825" y="788975"/>
                  </a:cubicBezTo>
                  <a:cubicBezTo>
                    <a:pt x="8570" y="773721"/>
                    <a:pt x="0" y="753031"/>
                    <a:pt x="0" y="731458"/>
                  </a:cubicBezTo>
                  <a:lnTo>
                    <a:pt x="0" y="81342"/>
                  </a:lnTo>
                  <a:cubicBezTo>
                    <a:pt x="0" y="59769"/>
                    <a:pt x="8570" y="39079"/>
                    <a:pt x="23825" y="23825"/>
                  </a:cubicBezTo>
                  <a:cubicBezTo>
                    <a:pt x="39079" y="8570"/>
                    <a:pt x="59769" y="0"/>
                    <a:pt x="81342" y="0"/>
                  </a:cubicBezTo>
                  <a:close/>
                </a:path>
              </a:pathLst>
            </a:custGeom>
            <a:solidFill>
              <a:srgbClr val="3A6AD6"/>
            </a:solidFill>
          </p:spPr>
        </p:sp>
        <p:sp>
          <p:nvSpPr>
            <p:cNvPr id="16" name="TextBox 16">
              <a:extLst>
                <a:ext uri="{FF2B5EF4-FFF2-40B4-BE49-F238E27FC236}">
                  <a16:creationId xmlns:a16="http://schemas.microsoft.com/office/drawing/2014/main" id="{28EDE992-0295-08AB-8406-4E4323718EE5}"/>
                </a:ext>
              </a:extLst>
            </p:cNvPr>
            <p:cNvSpPr txBox="1"/>
            <p:nvPr/>
          </p:nvSpPr>
          <p:spPr>
            <a:xfrm>
              <a:off x="0" y="-38100"/>
              <a:ext cx="967140" cy="850900"/>
            </a:xfrm>
            <a:prstGeom prst="rect">
              <a:avLst/>
            </a:prstGeom>
          </p:spPr>
          <p:txBody>
            <a:bodyPr lIns="50800" tIns="50800" rIns="50800" bIns="50800" rtlCol="0" anchor="ctr"/>
            <a:lstStyle/>
            <a:p>
              <a:pPr algn="ctr">
                <a:lnSpc>
                  <a:spcPts val="2659"/>
                </a:lnSpc>
              </a:pPr>
              <a:endParaRPr/>
            </a:p>
          </p:txBody>
        </p:sp>
      </p:grpSp>
      <p:sp>
        <p:nvSpPr>
          <p:cNvPr id="17" name="TextBox 17">
            <a:extLst>
              <a:ext uri="{FF2B5EF4-FFF2-40B4-BE49-F238E27FC236}">
                <a16:creationId xmlns:a16="http://schemas.microsoft.com/office/drawing/2014/main" id="{99A2DB3C-2627-9C6F-88F7-328CA9DD3674}"/>
              </a:ext>
            </a:extLst>
          </p:cNvPr>
          <p:cNvSpPr txBox="1"/>
          <p:nvPr/>
        </p:nvSpPr>
        <p:spPr>
          <a:xfrm>
            <a:off x="17674380" y="8710688"/>
            <a:ext cx="442747" cy="257943"/>
          </a:xfrm>
          <a:prstGeom prst="rect">
            <a:avLst/>
          </a:prstGeom>
        </p:spPr>
        <p:txBody>
          <a:bodyPr lIns="0" tIns="0" rIns="0" bIns="0" rtlCol="0" anchor="t">
            <a:spAutoFit/>
          </a:bodyPr>
          <a:lstStyle/>
          <a:p>
            <a:pPr algn="ctr">
              <a:lnSpc>
                <a:spcPts val="2057"/>
              </a:lnSpc>
              <a:spcBef>
                <a:spcPct val="0"/>
              </a:spcBef>
            </a:pPr>
            <a:r>
              <a:rPr lang="en-GB" sz="1469" b="1" dirty="0">
                <a:solidFill>
                  <a:srgbClr val="FFFFFF"/>
                </a:solidFill>
                <a:latin typeface="Poppins Bold"/>
                <a:ea typeface="Poppins Bold"/>
                <a:cs typeface="Poppins Bold"/>
                <a:sym typeface="Poppins Bold"/>
              </a:rPr>
              <a:t>20</a:t>
            </a:r>
            <a:endParaRPr lang="en-US" sz="1469" b="1" dirty="0">
              <a:solidFill>
                <a:srgbClr val="FFFFFF"/>
              </a:solidFill>
              <a:latin typeface="Poppins Bold"/>
              <a:ea typeface="Poppins Bold"/>
              <a:cs typeface="Poppins Bold"/>
              <a:sym typeface="Poppins Bold"/>
            </a:endParaRPr>
          </a:p>
        </p:txBody>
      </p:sp>
      <p:sp>
        <p:nvSpPr>
          <p:cNvPr id="21" name="Freeform 21">
            <a:extLst>
              <a:ext uri="{FF2B5EF4-FFF2-40B4-BE49-F238E27FC236}">
                <a16:creationId xmlns:a16="http://schemas.microsoft.com/office/drawing/2014/main" id="{F09F74A1-23EC-E4BF-9FC9-2A8737BFF302}"/>
              </a:ext>
            </a:extLst>
          </p:cNvPr>
          <p:cNvSpPr/>
          <p:nvPr/>
        </p:nvSpPr>
        <p:spPr>
          <a:xfrm>
            <a:off x="8576481" y="4856862"/>
            <a:ext cx="1026728" cy="1025445"/>
          </a:xfrm>
          <a:custGeom>
            <a:avLst/>
            <a:gdLst/>
            <a:ahLst/>
            <a:cxnLst/>
            <a:rect l="l" t="t" r="r" b="b"/>
            <a:pathLst>
              <a:path w="1026728" h="1025445">
                <a:moveTo>
                  <a:pt x="0" y="0"/>
                </a:moveTo>
                <a:lnTo>
                  <a:pt x="1026728" y="0"/>
                </a:lnTo>
                <a:lnTo>
                  <a:pt x="1026728" y="1025445"/>
                </a:lnTo>
                <a:lnTo>
                  <a:pt x="0" y="1025445"/>
                </a:lnTo>
                <a:lnTo>
                  <a:pt x="0" y="0"/>
                </a:lnTo>
                <a:close/>
              </a:path>
            </a:pathLst>
          </a:custGeom>
          <a:blipFill>
            <a:blip r:embed="rId2"/>
            <a:stretch>
              <a:fillRect/>
            </a:stretch>
          </a:blipFill>
        </p:spPr>
        <p:txBody>
          <a:bodyPr/>
          <a:lstStyle/>
          <a:p>
            <a:endParaRPr lang="en-US" dirty="0"/>
          </a:p>
        </p:txBody>
      </p:sp>
      <p:grpSp>
        <p:nvGrpSpPr>
          <p:cNvPr id="22" name="Group 22">
            <a:extLst>
              <a:ext uri="{FF2B5EF4-FFF2-40B4-BE49-F238E27FC236}">
                <a16:creationId xmlns:a16="http://schemas.microsoft.com/office/drawing/2014/main" id="{868701E6-0F37-3434-67E8-E90A2273C02F}"/>
              </a:ext>
            </a:extLst>
          </p:cNvPr>
          <p:cNvGrpSpPr/>
          <p:nvPr/>
        </p:nvGrpSpPr>
        <p:grpSpPr>
          <a:xfrm>
            <a:off x="8638196" y="4692509"/>
            <a:ext cx="1011607" cy="1011607"/>
            <a:chOff x="0" y="0"/>
            <a:chExt cx="812800" cy="812800"/>
          </a:xfrm>
        </p:grpSpPr>
        <p:sp>
          <p:nvSpPr>
            <p:cNvPr id="23" name="Freeform 23">
              <a:extLst>
                <a:ext uri="{FF2B5EF4-FFF2-40B4-BE49-F238E27FC236}">
                  <a16:creationId xmlns:a16="http://schemas.microsoft.com/office/drawing/2014/main" id="{3B5C2749-4112-1484-2876-844412273A6D}"/>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id="24" name="TextBox 24">
              <a:extLst>
                <a:ext uri="{FF2B5EF4-FFF2-40B4-BE49-F238E27FC236}">
                  <a16:creationId xmlns:a16="http://schemas.microsoft.com/office/drawing/2014/main" id="{DD7EF18A-EDBB-9E04-CE19-B94E3E3D668E}"/>
                </a:ext>
              </a:extLst>
            </p:cNvPr>
            <p:cNvSpPr txBox="1"/>
            <p:nvPr/>
          </p:nvSpPr>
          <p:spPr>
            <a:xfrm>
              <a:off x="76200" y="38100"/>
              <a:ext cx="660400" cy="698500"/>
            </a:xfrm>
            <a:prstGeom prst="rect">
              <a:avLst/>
            </a:prstGeom>
          </p:spPr>
          <p:txBody>
            <a:bodyPr lIns="47086" tIns="47086" rIns="47086" bIns="47086" rtlCol="0" anchor="ctr"/>
            <a:lstStyle/>
            <a:p>
              <a:pPr algn="ctr">
                <a:lnSpc>
                  <a:spcPts val="2659"/>
                </a:lnSpc>
                <a:spcBef>
                  <a:spcPct val="0"/>
                </a:spcBef>
              </a:pPr>
              <a:endParaRPr/>
            </a:p>
          </p:txBody>
        </p:sp>
      </p:grpSp>
      <p:sp>
        <p:nvSpPr>
          <p:cNvPr id="74" name="AutoShape 74">
            <a:extLst>
              <a:ext uri="{FF2B5EF4-FFF2-40B4-BE49-F238E27FC236}">
                <a16:creationId xmlns:a16="http://schemas.microsoft.com/office/drawing/2014/main" id="{5538DE37-E020-959E-A666-8D7A0BAE5997}"/>
              </a:ext>
            </a:extLst>
          </p:cNvPr>
          <p:cNvSpPr/>
          <p:nvPr/>
        </p:nvSpPr>
        <p:spPr>
          <a:xfrm>
            <a:off x="7766528" y="6803054"/>
            <a:ext cx="2754945" cy="0"/>
          </a:xfrm>
          <a:prstGeom prst="line">
            <a:avLst/>
          </a:prstGeom>
          <a:ln w="28575" cap="flat">
            <a:solidFill>
              <a:srgbClr val="F8F8F8"/>
            </a:solidFill>
            <a:prstDash val="solid"/>
            <a:headEnd type="none" w="sm" len="sm"/>
            <a:tailEnd type="none" w="sm" len="sm"/>
          </a:ln>
        </p:spPr>
      </p:sp>
      <p:grpSp>
        <p:nvGrpSpPr>
          <p:cNvPr id="82" name="Group 82">
            <a:extLst>
              <a:ext uri="{FF2B5EF4-FFF2-40B4-BE49-F238E27FC236}">
                <a16:creationId xmlns:a16="http://schemas.microsoft.com/office/drawing/2014/main" id="{47D84931-C191-1789-A7C0-5C8A81A43E62}"/>
              </a:ext>
            </a:extLst>
          </p:cNvPr>
          <p:cNvGrpSpPr/>
          <p:nvPr/>
        </p:nvGrpSpPr>
        <p:grpSpPr>
          <a:xfrm>
            <a:off x="7706458" y="6677758"/>
            <a:ext cx="218342" cy="218342"/>
            <a:chOff x="0" y="0"/>
            <a:chExt cx="812800" cy="812800"/>
          </a:xfrm>
        </p:grpSpPr>
        <p:sp>
          <p:nvSpPr>
            <p:cNvPr id="83" name="Freeform 83">
              <a:extLst>
                <a:ext uri="{FF2B5EF4-FFF2-40B4-BE49-F238E27FC236}">
                  <a16:creationId xmlns:a16="http://schemas.microsoft.com/office/drawing/2014/main" id="{3F452F98-D982-C991-7D55-090C56B81356}"/>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A6AD6"/>
            </a:solidFill>
          </p:spPr>
        </p:sp>
        <p:sp>
          <p:nvSpPr>
            <p:cNvPr id="84" name="TextBox 84">
              <a:extLst>
                <a:ext uri="{FF2B5EF4-FFF2-40B4-BE49-F238E27FC236}">
                  <a16:creationId xmlns:a16="http://schemas.microsoft.com/office/drawing/2014/main" id="{5866673C-E3EF-0DAB-B948-DE4EF2BE3E8B}"/>
                </a:ext>
              </a:extLst>
            </p:cNvPr>
            <p:cNvSpPr txBox="1"/>
            <p:nvPr/>
          </p:nvSpPr>
          <p:spPr>
            <a:xfrm>
              <a:off x="76200" y="38100"/>
              <a:ext cx="660400" cy="698500"/>
            </a:xfrm>
            <a:prstGeom prst="rect">
              <a:avLst/>
            </a:prstGeom>
          </p:spPr>
          <p:txBody>
            <a:bodyPr lIns="47086" tIns="47086" rIns="47086" bIns="47086" rtlCol="0" anchor="ctr"/>
            <a:lstStyle/>
            <a:p>
              <a:pPr algn="ctr">
                <a:lnSpc>
                  <a:spcPts val="2659"/>
                </a:lnSpc>
                <a:spcBef>
                  <a:spcPct val="0"/>
                </a:spcBef>
              </a:pPr>
              <a:endParaRPr/>
            </a:p>
          </p:txBody>
        </p:sp>
      </p:grpSp>
      <p:grpSp>
        <p:nvGrpSpPr>
          <p:cNvPr id="85" name="Group 85">
            <a:extLst>
              <a:ext uri="{FF2B5EF4-FFF2-40B4-BE49-F238E27FC236}">
                <a16:creationId xmlns:a16="http://schemas.microsoft.com/office/drawing/2014/main" id="{F282BDC5-9BBA-6818-D253-5224C15C1409}"/>
              </a:ext>
            </a:extLst>
          </p:cNvPr>
          <p:cNvGrpSpPr/>
          <p:nvPr/>
        </p:nvGrpSpPr>
        <p:grpSpPr>
          <a:xfrm>
            <a:off x="10412301" y="6677758"/>
            <a:ext cx="218342" cy="218342"/>
            <a:chOff x="0" y="0"/>
            <a:chExt cx="812800" cy="812800"/>
          </a:xfrm>
        </p:grpSpPr>
        <p:sp>
          <p:nvSpPr>
            <p:cNvPr id="86" name="Freeform 86">
              <a:extLst>
                <a:ext uri="{FF2B5EF4-FFF2-40B4-BE49-F238E27FC236}">
                  <a16:creationId xmlns:a16="http://schemas.microsoft.com/office/drawing/2014/main" id="{5C848FBF-E661-E3E3-814B-7C01B7988BAA}"/>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A6AD6"/>
            </a:solidFill>
          </p:spPr>
        </p:sp>
        <p:sp>
          <p:nvSpPr>
            <p:cNvPr id="87" name="TextBox 87">
              <a:extLst>
                <a:ext uri="{FF2B5EF4-FFF2-40B4-BE49-F238E27FC236}">
                  <a16:creationId xmlns:a16="http://schemas.microsoft.com/office/drawing/2014/main" id="{23B8F3D8-1B73-B631-F092-853C2229F825}"/>
                </a:ext>
              </a:extLst>
            </p:cNvPr>
            <p:cNvSpPr txBox="1"/>
            <p:nvPr/>
          </p:nvSpPr>
          <p:spPr>
            <a:xfrm>
              <a:off x="76200" y="38100"/>
              <a:ext cx="660400" cy="698500"/>
            </a:xfrm>
            <a:prstGeom prst="rect">
              <a:avLst/>
            </a:prstGeom>
          </p:spPr>
          <p:txBody>
            <a:bodyPr lIns="47086" tIns="47086" rIns="47086" bIns="47086" rtlCol="0" anchor="ctr"/>
            <a:lstStyle/>
            <a:p>
              <a:pPr algn="ctr">
                <a:lnSpc>
                  <a:spcPts val="2659"/>
                </a:lnSpc>
                <a:spcBef>
                  <a:spcPct val="0"/>
                </a:spcBef>
              </a:pPr>
              <a:endParaRPr/>
            </a:p>
          </p:txBody>
        </p:sp>
      </p:grpSp>
      <p:grpSp>
        <p:nvGrpSpPr>
          <p:cNvPr id="10" name="Group 18">
            <a:extLst>
              <a:ext uri="{FF2B5EF4-FFF2-40B4-BE49-F238E27FC236}">
                <a16:creationId xmlns:a16="http://schemas.microsoft.com/office/drawing/2014/main" id="{AFB04F49-B3FA-6CB8-B403-C8652D26B4FF}"/>
              </a:ext>
            </a:extLst>
          </p:cNvPr>
          <p:cNvGrpSpPr/>
          <p:nvPr/>
        </p:nvGrpSpPr>
        <p:grpSpPr>
          <a:xfrm>
            <a:off x="26964" y="5713395"/>
            <a:ext cx="7436668" cy="2167651"/>
            <a:chOff x="0" y="0"/>
            <a:chExt cx="1013318" cy="260488"/>
          </a:xfrm>
        </p:grpSpPr>
        <p:sp>
          <p:nvSpPr>
            <p:cNvPr id="11" name="Freeform 19">
              <a:extLst>
                <a:ext uri="{FF2B5EF4-FFF2-40B4-BE49-F238E27FC236}">
                  <a16:creationId xmlns:a16="http://schemas.microsoft.com/office/drawing/2014/main" id="{29D90F55-0835-0005-0EC1-D3E8740FC39B}"/>
                </a:ext>
              </a:extLst>
            </p:cNvPr>
            <p:cNvSpPr/>
            <p:nvPr/>
          </p:nvSpPr>
          <p:spPr>
            <a:xfrm>
              <a:off x="0" y="0"/>
              <a:ext cx="1013318" cy="260488"/>
            </a:xfrm>
            <a:custGeom>
              <a:avLst/>
              <a:gdLst/>
              <a:ahLst/>
              <a:cxnLst/>
              <a:rect l="l" t="t" r="r" b="b"/>
              <a:pathLst>
                <a:path w="1013318" h="260488">
                  <a:moveTo>
                    <a:pt x="130244" y="0"/>
                  </a:moveTo>
                  <a:lnTo>
                    <a:pt x="883074" y="0"/>
                  </a:lnTo>
                  <a:cubicBezTo>
                    <a:pt x="917617" y="0"/>
                    <a:pt x="950745" y="13722"/>
                    <a:pt x="975171" y="38148"/>
                  </a:cubicBezTo>
                  <a:cubicBezTo>
                    <a:pt x="999596" y="62573"/>
                    <a:pt x="1013318" y="95701"/>
                    <a:pt x="1013318" y="130244"/>
                  </a:cubicBezTo>
                  <a:lnTo>
                    <a:pt x="1013318" y="130244"/>
                  </a:lnTo>
                  <a:cubicBezTo>
                    <a:pt x="1013318" y="202175"/>
                    <a:pt x="955006" y="260488"/>
                    <a:pt x="883074" y="260488"/>
                  </a:cubicBezTo>
                  <a:lnTo>
                    <a:pt x="130244" y="260488"/>
                  </a:lnTo>
                  <a:cubicBezTo>
                    <a:pt x="95701" y="260488"/>
                    <a:pt x="62573" y="246766"/>
                    <a:pt x="38148" y="222340"/>
                  </a:cubicBezTo>
                  <a:cubicBezTo>
                    <a:pt x="13722" y="197915"/>
                    <a:pt x="0" y="164787"/>
                    <a:pt x="0" y="130244"/>
                  </a:cubicBezTo>
                  <a:lnTo>
                    <a:pt x="0" y="130244"/>
                  </a:lnTo>
                  <a:cubicBezTo>
                    <a:pt x="0" y="95701"/>
                    <a:pt x="13722" y="62573"/>
                    <a:pt x="38148" y="38148"/>
                  </a:cubicBezTo>
                  <a:cubicBezTo>
                    <a:pt x="62573" y="13722"/>
                    <a:pt x="95701" y="0"/>
                    <a:pt x="130244" y="0"/>
                  </a:cubicBezTo>
                  <a:close/>
                </a:path>
              </a:pathLst>
            </a:custGeom>
            <a:solidFill>
              <a:srgbClr val="F8F8F8"/>
            </a:solidFill>
          </p:spPr>
        </p:sp>
        <p:sp>
          <p:nvSpPr>
            <p:cNvPr id="12" name="TextBox 20">
              <a:extLst>
                <a:ext uri="{FF2B5EF4-FFF2-40B4-BE49-F238E27FC236}">
                  <a16:creationId xmlns:a16="http://schemas.microsoft.com/office/drawing/2014/main" id="{F3AFF3EB-A5BA-B310-7D4C-C83AC1AFFEE4}"/>
                </a:ext>
              </a:extLst>
            </p:cNvPr>
            <p:cNvSpPr txBox="1"/>
            <p:nvPr/>
          </p:nvSpPr>
          <p:spPr>
            <a:xfrm>
              <a:off x="0" y="-38100"/>
              <a:ext cx="1013318" cy="298588"/>
            </a:xfrm>
            <a:prstGeom prst="rect">
              <a:avLst/>
            </a:prstGeom>
          </p:spPr>
          <p:txBody>
            <a:bodyPr lIns="47086" tIns="47086" rIns="47086" bIns="47086" rtlCol="0" anchor="ctr"/>
            <a:lstStyle/>
            <a:p>
              <a:pPr algn="ctr">
                <a:lnSpc>
                  <a:spcPts val="2659"/>
                </a:lnSpc>
              </a:pPr>
              <a:endParaRPr/>
            </a:p>
          </p:txBody>
        </p:sp>
      </p:grpSp>
      <p:sp>
        <p:nvSpPr>
          <p:cNvPr id="38" name="TextBox 25">
            <a:extLst>
              <a:ext uri="{FF2B5EF4-FFF2-40B4-BE49-F238E27FC236}">
                <a16:creationId xmlns:a16="http://schemas.microsoft.com/office/drawing/2014/main" id="{6B66674A-2B30-E2DA-9159-7F8481D8B846}"/>
              </a:ext>
            </a:extLst>
          </p:cNvPr>
          <p:cNvSpPr txBox="1"/>
          <p:nvPr/>
        </p:nvSpPr>
        <p:spPr>
          <a:xfrm>
            <a:off x="11421054" y="6199138"/>
            <a:ext cx="6790746" cy="1154162"/>
          </a:xfrm>
          <a:prstGeom prst="rect">
            <a:avLst/>
          </a:prstGeom>
        </p:spPr>
        <p:txBody>
          <a:bodyPr wrap="square" lIns="0" tIns="0" rIns="0" bIns="0" rtlCol="0" anchor="t">
            <a:spAutoFit/>
          </a:bodyPr>
          <a:lstStyle/>
          <a:p>
            <a:pPr marL="342900" indent="-342900">
              <a:spcBef>
                <a:spcPct val="0"/>
              </a:spcBef>
              <a:spcAft>
                <a:spcPts val="1200"/>
              </a:spcAft>
              <a:buFont typeface="Wingdings" panose="05000000000000000000" pitchFamily="2" charset="2"/>
              <a:buChar char="Ø"/>
            </a:pPr>
            <a:r>
              <a:rPr lang="en-GB" sz="2500" b="1" dirty="0">
                <a:solidFill>
                  <a:schemeClr val="accent6">
                    <a:lumMod val="75000"/>
                  </a:schemeClr>
                </a:solidFill>
                <a:latin typeface="Poppins"/>
                <a:ea typeface="Poppins"/>
                <a:cs typeface="Poppins"/>
                <a:sym typeface="Poppins"/>
              </a:rPr>
              <a:t>Regression analysis </a:t>
            </a:r>
            <a:r>
              <a:rPr lang="en-GB" sz="2500" b="1" dirty="0">
                <a:solidFill>
                  <a:schemeClr val="bg1">
                    <a:lumMod val="50000"/>
                  </a:schemeClr>
                </a:solidFill>
                <a:latin typeface="Poppins"/>
                <a:ea typeface="Poppins"/>
                <a:cs typeface="Poppins"/>
                <a:sym typeface="Poppins"/>
              </a:rPr>
              <a:t>to explore how execution time or model complexity predicts energy usage</a:t>
            </a:r>
          </a:p>
        </p:txBody>
      </p:sp>
      <p:sp>
        <p:nvSpPr>
          <p:cNvPr id="39" name="TextBox 26">
            <a:extLst>
              <a:ext uri="{FF2B5EF4-FFF2-40B4-BE49-F238E27FC236}">
                <a16:creationId xmlns:a16="http://schemas.microsoft.com/office/drawing/2014/main" id="{909B17B5-62F9-EDB1-B71D-4A8E8F97A2B0}"/>
              </a:ext>
            </a:extLst>
          </p:cNvPr>
          <p:cNvSpPr txBox="1"/>
          <p:nvPr/>
        </p:nvSpPr>
        <p:spPr>
          <a:xfrm>
            <a:off x="6346615" y="6420708"/>
            <a:ext cx="741046" cy="376513"/>
          </a:xfrm>
          <a:prstGeom prst="rect">
            <a:avLst/>
          </a:prstGeom>
        </p:spPr>
        <p:txBody>
          <a:bodyPr lIns="0" tIns="0" rIns="0" bIns="0" rtlCol="0" anchor="t">
            <a:spAutoFit/>
          </a:bodyPr>
          <a:lstStyle/>
          <a:p>
            <a:pPr algn="ctr">
              <a:lnSpc>
                <a:spcPts val="3055"/>
              </a:lnSpc>
              <a:spcBef>
                <a:spcPct val="0"/>
              </a:spcBef>
            </a:pPr>
            <a:endParaRPr lang="en-US" sz="2182" b="1" dirty="0">
              <a:solidFill>
                <a:srgbClr val="3A6AD6"/>
              </a:solidFill>
              <a:latin typeface="Poppins Bold"/>
              <a:ea typeface="Poppins Bold"/>
              <a:cs typeface="Poppins Bold"/>
              <a:sym typeface="Poppins Bold"/>
            </a:endParaRPr>
          </a:p>
        </p:txBody>
      </p:sp>
      <p:sp>
        <p:nvSpPr>
          <p:cNvPr id="66" name="TextBox 25">
            <a:extLst>
              <a:ext uri="{FF2B5EF4-FFF2-40B4-BE49-F238E27FC236}">
                <a16:creationId xmlns:a16="http://schemas.microsoft.com/office/drawing/2014/main" id="{ECF5BB50-1727-EF32-352E-D2A09046626A}"/>
              </a:ext>
            </a:extLst>
          </p:cNvPr>
          <p:cNvSpPr txBox="1"/>
          <p:nvPr/>
        </p:nvSpPr>
        <p:spPr>
          <a:xfrm>
            <a:off x="457200" y="6009469"/>
            <a:ext cx="7011460" cy="1676741"/>
          </a:xfrm>
          <a:prstGeom prst="rect">
            <a:avLst/>
          </a:prstGeom>
        </p:spPr>
        <p:txBody>
          <a:bodyPr wrap="square" lIns="0" tIns="0" rIns="0" bIns="0" rtlCol="0" anchor="t">
            <a:spAutoFit/>
          </a:bodyPr>
          <a:lstStyle/>
          <a:p>
            <a:pPr marL="342900" indent="-342900">
              <a:lnSpc>
                <a:spcPct val="150000"/>
              </a:lnSpc>
              <a:spcBef>
                <a:spcPct val="0"/>
              </a:spcBef>
              <a:buFont typeface="Wingdings" panose="05000000000000000000" pitchFamily="2" charset="2"/>
              <a:buChar char="Ø"/>
            </a:pPr>
            <a:r>
              <a:rPr lang="en-GB" sz="2500" b="1" dirty="0">
                <a:solidFill>
                  <a:schemeClr val="accent6">
                    <a:lumMod val="75000"/>
                  </a:schemeClr>
                </a:solidFill>
                <a:latin typeface="Poppins"/>
                <a:ea typeface="Poppins"/>
                <a:cs typeface="Poppins"/>
                <a:sym typeface="Poppins"/>
              </a:rPr>
              <a:t>ANOVA to compare mean energy usage </a:t>
            </a:r>
            <a:r>
              <a:rPr lang="en-GB" sz="2500" b="1" dirty="0">
                <a:solidFill>
                  <a:schemeClr val="bg1">
                    <a:lumMod val="50000"/>
                  </a:schemeClr>
                </a:solidFill>
                <a:latin typeface="Poppins"/>
                <a:ea typeface="Poppins"/>
                <a:cs typeface="Poppins"/>
                <a:sym typeface="Poppins"/>
              </a:rPr>
              <a:t>between different models (e.g., LSTM, CNN, Transformer)</a:t>
            </a:r>
          </a:p>
        </p:txBody>
      </p:sp>
      <p:grpSp>
        <p:nvGrpSpPr>
          <p:cNvPr id="35" name="Group 18">
            <a:extLst>
              <a:ext uri="{FF2B5EF4-FFF2-40B4-BE49-F238E27FC236}">
                <a16:creationId xmlns:a16="http://schemas.microsoft.com/office/drawing/2014/main" id="{10AB5EBE-7D60-F83F-4049-49ED55B462BC}"/>
              </a:ext>
            </a:extLst>
          </p:cNvPr>
          <p:cNvGrpSpPr/>
          <p:nvPr/>
        </p:nvGrpSpPr>
        <p:grpSpPr>
          <a:xfrm>
            <a:off x="5029200" y="8197895"/>
            <a:ext cx="8732431" cy="1289005"/>
            <a:chOff x="0" y="0"/>
            <a:chExt cx="1013318" cy="260488"/>
          </a:xfrm>
        </p:grpSpPr>
        <p:sp>
          <p:nvSpPr>
            <p:cNvPr id="41" name="Freeform 19">
              <a:extLst>
                <a:ext uri="{FF2B5EF4-FFF2-40B4-BE49-F238E27FC236}">
                  <a16:creationId xmlns:a16="http://schemas.microsoft.com/office/drawing/2014/main" id="{A10573E2-AAF4-444E-C797-097D38A64169}"/>
                </a:ext>
              </a:extLst>
            </p:cNvPr>
            <p:cNvSpPr/>
            <p:nvPr/>
          </p:nvSpPr>
          <p:spPr>
            <a:xfrm>
              <a:off x="0" y="0"/>
              <a:ext cx="1013318" cy="260488"/>
            </a:xfrm>
            <a:custGeom>
              <a:avLst/>
              <a:gdLst/>
              <a:ahLst/>
              <a:cxnLst/>
              <a:rect l="l" t="t" r="r" b="b"/>
              <a:pathLst>
                <a:path w="1013318" h="260488">
                  <a:moveTo>
                    <a:pt x="130244" y="0"/>
                  </a:moveTo>
                  <a:lnTo>
                    <a:pt x="883074" y="0"/>
                  </a:lnTo>
                  <a:cubicBezTo>
                    <a:pt x="917617" y="0"/>
                    <a:pt x="950745" y="13722"/>
                    <a:pt x="975171" y="38148"/>
                  </a:cubicBezTo>
                  <a:cubicBezTo>
                    <a:pt x="999596" y="62573"/>
                    <a:pt x="1013318" y="95701"/>
                    <a:pt x="1013318" y="130244"/>
                  </a:cubicBezTo>
                  <a:lnTo>
                    <a:pt x="1013318" y="130244"/>
                  </a:lnTo>
                  <a:cubicBezTo>
                    <a:pt x="1013318" y="202175"/>
                    <a:pt x="955006" y="260488"/>
                    <a:pt x="883074" y="260488"/>
                  </a:cubicBezTo>
                  <a:lnTo>
                    <a:pt x="130244" y="260488"/>
                  </a:lnTo>
                  <a:cubicBezTo>
                    <a:pt x="95701" y="260488"/>
                    <a:pt x="62573" y="246766"/>
                    <a:pt x="38148" y="222340"/>
                  </a:cubicBezTo>
                  <a:cubicBezTo>
                    <a:pt x="13722" y="197915"/>
                    <a:pt x="0" y="164787"/>
                    <a:pt x="0" y="130244"/>
                  </a:cubicBezTo>
                  <a:lnTo>
                    <a:pt x="0" y="130244"/>
                  </a:lnTo>
                  <a:cubicBezTo>
                    <a:pt x="0" y="95701"/>
                    <a:pt x="13722" y="62573"/>
                    <a:pt x="38148" y="38148"/>
                  </a:cubicBezTo>
                  <a:cubicBezTo>
                    <a:pt x="62573" y="13722"/>
                    <a:pt x="95701" y="0"/>
                    <a:pt x="130244" y="0"/>
                  </a:cubicBezTo>
                  <a:close/>
                </a:path>
              </a:pathLst>
            </a:custGeom>
            <a:solidFill>
              <a:srgbClr val="F8F8F8"/>
            </a:solidFill>
          </p:spPr>
        </p:sp>
        <p:sp>
          <p:nvSpPr>
            <p:cNvPr id="42" name="TextBox 20">
              <a:extLst>
                <a:ext uri="{FF2B5EF4-FFF2-40B4-BE49-F238E27FC236}">
                  <a16:creationId xmlns:a16="http://schemas.microsoft.com/office/drawing/2014/main" id="{A11181E3-B5B9-5129-193A-898D0790C1B5}"/>
                </a:ext>
              </a:extLst>
            </p:cNvPr>
            <p:cNvSpPr txBox="1"/>
            <p:nvPr/>
          </p:nvSpPr>
          <p:spPr>
            <a:xfrm>
              <a:off x="0" y="-38100"/>
              <a:ext cx="1013318" cy="298588"/>
            </a:xfrm>
            <a:prstGeom prst="rect">
              <a:avLst/>
            </a:prstGeom>
          </p:spPr>
          <p:txBody>
            <a:bodyPr lIns="47086" tIns="47086" rIns="47086" bIns="47086" rtlCol="0" anchor="ctr"/>
            <a:lstStyle/>
            <a:p>
              <a:pPr algn="ctr">
                <a:lnSpc>
                  <a:spcPts val="2659"/>
                </a:lnSpc>
              </a:pPr>
              <a:endParaRPr/>
            </a:p>
          </p:txBody>
        </p:sp>
      </p:grpSp>
      <p:sp>
        <p:nvSpPr>
          <p:cNvPr id="55" name="TextBox 26">
            <a:extLst>
              <a:ext uri="{FF2B5EF4-FFF2-40B4-BE49-F238E27FC236}">
                <a16:creationId xmlns:a16="http://schemas.microsoft.com/office/drawing/2014/main" id="{A4FC6FA9-A8EF-27E8-F7BD-F5329B8ACE64}"/>
              </a:ext>
            </a:extLst>
          </p:cNvPr>
          <p:cNvSpPr txBox="1"/>
          <p:nvPr/>
        </p:nvSpPr>
        <p:spPr>
          <a:xfrm>
            <a:off x="11909215" y="8692583"/>
            <a:ext cx="741046" cy="376513"/>
          </a:xfrm>
          <a:prstGeom prst="rect">
            <a:avLst/>
          </a:prstGeom>
        </p:spPr>
        <p:txBody>
          <a:bodyPr lIns="0" tIns="0" rIns="0" bIns="0" rtlCol="0" anchor="t">
            <a:spAutoFit/>
          </a:bodyPr>
          <a:lstStyle/>
          <a:p>
            <a:pPr algn="ctr">
              <a:lnSpc>
                <a:spcPts val="3055"/>
              </a:lnSpc>
              <a:spcBef>
                <a:spcPct val="0"/>
              </a:spcBef>
            </a:pPr>
            <a:endParaRPr lang="en-US" sz="2182" b="1" dirty="0">
              <a:solidFill>
                <a:srgbClr val="3A6AD6"/>
              </a:solidFill>
              <a:latin typeface="Poppins Bold"/>
              <a:ea typeface="Poppins Bold"/>
              <a:cs typeface="Poppins Bold"/>
              <a:sym typeface="Poppins Bold"/>
            </a:endParaRPr>
          </a:p>
        </p:txBody>
      </p:sp>
      <p:sp>
        <p:nvSpPr>
          <p:cNvPr id="56" name="TextBox 25">
            <a:extLst>
              <a:ext uri="{FF2B5EF4-FFF2-40B4-BE49-F238E27FC236}">
                <a16:creationId xmlns:a16="http://schemas.microsoft.com/office/drawing/2014/main" id="{D37B10F6-1F8E-9061-C743-9DAAACF0D986}"/>
              </a:ext>
            </a:extLst>
          </p:cNvPr>
          <p:cNvSpPr txBox="1"/>
          <p:nvPr/>
        </p:nvSpPr>
        <p:spPr>
          <a:xfrm>
            <a:off x="5410200" y="8572500"/>
            <a:ext cx="8534400" cy="416781"/>
          </a:xfrm>
          <a:prstGeom prst="rect">
            <a:avLst/>
          </a:prstGeom>
        </p:spPr>
        <p:txBody>
          <a:bodyPr wrap="square" lIns="0" tIns="0" rIns="0" bIns="0" rtlCol="0" anchor="t">
            <a:spAutoFit/>
          </a:bodyPr>
          <a:lstStyle/>
          <a:p>
            <a:pPr>
              <a:lnSpc>
                <a:spcPts val="3422"/>
              </a:lnSpc>
              <a:spcBef>
                <a:spcPct val="0"/>
              </a:spcBef>
            </a:pPr>
            <a:r>
              <a:rPr lang="en-GB" sz="2500" b="1" dirty="0">
                <a:solidFill>
                  <a:schemeClr val="accent6">
                    <a:lumMod val="75000"/>
                  </a:schemeClr>
                </a:solidFill>
                <a:latin typeface="Poppins"/>
                <a:ea typeface="Poppins"/>
                <a:cs typeface="Poppins"/>
                <a:sym typeface="Poppins"/>
              </a:rPr>
              <a:t>Tukey’s HSD post-hoc test </a:t>
            </a:r>
            <a:r>
              <a:rPr lang="en-GB" sz="2500" b="1" dirty="0">
                <a:solidFill>
                  <a:schemeClr val="bg1">
                    <a:lumMod val="50000"/>
                  </a:schemeClr>
                </a:solidFill>
                <a:latin typeface="Poppins"/>
                <a:ea typeface="Poppins"/>
                <a:cs typeface="Poppins"/>
                <a:sym typeface="Poppins"/>
              </a:rPr>
              <a:t>(if ANOVA is significant)</a:t>
            </a:r>
          </a:p>
        </p:txBody>
      </p:sp>
      <p:grpSp>
        <p:nvGrpSpPr>
          <p:cNvPr id="18" name="Group 18">
            <a:extLst>
              <a:ext uri="{FF2B5EF4-FFF2-40B4-BE49-F238E27FC236}">
                <a16:creationId xmlns:a16="http://schemas.microsoft.com/office/drawing/2014/main" id="{D458C645-811F-670F-5A97-9A779D407E7B}"/>
              </a:ext>
            </a:extLst>
          </p:cNvPr>
          <p:cNvGrpSpPr/>
          <p:nvPr/>
        </p:nvGrpSpPr>
        <p:grpSpPr>
          <a:xfrm>
            <a:off x="2057400" y="3376591"/>
            <a:ext cx="14859000" cy="1690709"/>
            <a:chOff x="0" y="0"/>
            <a:chExt cx="1013318" cy="260488"/>
          </a:xfrm>
        </p:grpSpPr>
        <p:sp>
          <p:nvSpPr>
            <p:cNvPr id="19" name="Freeform 19">
              <a:extLst>
                <a:ext uri="{FF2B5EF4-FFF2-40B4-BE49-F238E27FC236}">
                  <a16:creationId xmlns:a16="http://schemas.microsoft.com/office/drawing/2014/main" id="{42B8297A-2A34-E802-AA45-7111D69438DE}"/>
                </a:ext>
              </a:extLst>
            </p:cNvPr>
            <p:cNvSpPr/>
            <p:nvPr/>
          </p:nvSpPr>
          <p:spPr>
            <a:xfrm>
              <a:off x="0" y="0"/>
              <a:ext cx="1013318" cy="260488"/>
            </a:xfrm>
            <a:custGeom>
              <a:avLst/>
              <a:gdLst/>
              <a:ahLst/>
              <a:cxnLst/>
              <a:rect l="l" t="t" r="r" b="b"/>
              <a:pathLst>
                <a:path w="1013318" h="260488">
                  <a:moveTo>
                    <a:pt x="130244" y="0"/>
                  </a:moveTo>
                  <a:lnTo>
                    <a:pt x="883074" y="0"/>
                  </a:lnTo>
                  <a:cubicBezTo>
                    <a:pt x="917617" y="0"/>
                    <a:pt x="950745" y="13722"/>
                    <a:pt x="975171" y="38148"/>
                  </a:cubicBezTo>
                  <a:cubicBezTo>
                    <a:pt x="999596" y="62573"/>
                    <a:pt x="1013318" y="95701"/>
                    <a:pt x="1013318" y="130244"/>
                  </a:cubicBezTo>
                  <a:lnTo>
                    <a:pt x="1013318" y="130244"/>
                  </a:lnTo>
                  <a:cubicBezTo>
                    <a:pt x="1013318" y="202175"/>
                    <a:pt x="955006" y="260488"/>
                    <a:pt x="883074" y="260488"/>
                  </a:cubicBezTo>
                  <a:lnTo>
                    <a:pt x="130244" y="260488"/>
                  </a:lnTo>
                  <a:cubicBezTo>
                    <a:pt x="95701" y="260488"/>
                    <a:pt x="62573" y="246766"/>
                    <a:pt x="38148" y="222340"/>
                  </a:cubicBezTo>
                  <a:cubicBezTo>
                    <a:pt x="13722" y="197915"/>
                    <a:pt x="0" y="164787"/>
                    <a:pt x="0" y="130244"/>
                  </a:cubicBezTo>
                  <a:lnTo>
                    <a:pt x="0" y="130244"/>
                  </a:lnTo>
                  <a:cubicBezTo>
                    <a:pt x="0" y="95701"/>
                    <a:pt x="13722" y="62573"/>
                    <a:pt x="38148" y="38148"/>
                  </a:cubicBezTo>
                  <a:cubicBezTo>
                    <a:pt x="62573" y="13722"/>
                    <a:pt x="95701" y="0"/>
                    <a:pt x="130244" y="0"/>
                  </a:cubicBezTo>
                  <a:close/>
                </a:path>
              </a:pathLst>
            </a:custGeom>
            <a:solidFill>
              <a:srgbClr val="F8F8F8"/>
            </a:solidFill>
          </p:spPr>
        </p:sp>
        <p:sp>
          <p:nvSpPr>
            <p:cNvPr id="20" name="TextBox 20">
              <a:extLst>
                <a:ext uri="{FF2B5EF4-FFF2-40B4-BE49-F238E27FC236}">
                  <a16:creationId xmlns:a16="http://schemas.microsoft.com/office/drawing/2014/main" id="{C0248DE8-23AF-2775-0EDC-FCCB99EFED6E}"/>
                </a:ext>
              </a:extLst>
            </p:cNvPr>
            <p:cNvSpPr txBox="1"/>
            <p:nvPr/>
          </p:nvSpPr>
          <p:spPr>
            <a:xfrm>
              <a:off x="0" y="-38100"/>
              <a:ext cx="1013318" cy="298588"/>
            </a:xfrm>
            <a:prstGeom prst="rect">
              <a:avLst/>
            </a:prstGeom>
          </p:spPr>
          <p:txBody>
            <a:bodyPr lIns="47086" tIns="47086" rIns="47086" bIns="47086" rtlCol="0" anchor="ctr"/>
            <a:lstStyle/>
            <a:p>
              <a:pPr algn="ctr">
                <a:lnSpc>
                  <a:spcPts val="2659"/>
                </a:lnSpc>
              </a:pPr>
              <a:endParaRPr/>
            </a:p>
          </p:txBody>
        </p:sp>
      </p:grpSp>
      <p:sp>
        <p:nvSpPr>
          <p:cNvPr id="25" name="TextBox 25">
            <a:extLst>
              <a:ext uri="{FF2B5EF4-FFF2-40B4-BE49-F238E27FC236}">
                <a16:creationId xmlns:a16="http://schemas.microsoft.com/office/drawing/2014/main" id="{FFD73017-E303-4C85-1627-E389CD0E6F92}"/>
              </a:ext>
            </a:extLst>
          </p:cNvPr>
          <p:cNvSpPr txBox="1"/>
          <p:nvPr/>
        </p:nvSpPr>
        <p:spPr>
          <a:xfrm>
            <a:off x="2438400" y="3579256"/>
            <a:ext cx="14325600" cy="1299587"/>
          </a:xfrm>
          <a:prstGeom prst="rect">
            <a:avLst/>
          </a:prstGeom>
        </p:spPr>
        <p:txBody>
          <a:bodyPr wrap="square" lIns="0" tIns="0" rIns="0" bIns="0" rtlCol="0" anchor="t">
            <a:spAutoFit/>
          </a:bodyPr>
          <a:lstStyle/>
          <a:p>
            <a:pPr algn="ctr">
              <a:lnSpc>
                <a:spcPts val="3422"/>
              </a:lnSpc>
              <a:spcBef>
                <a:spcPct val="0"/>
              </a:spcBef>
            </a:pPr>
            <a:r>
              <a:rPr lang="en-GB" sz="2800" b="1" dirty="0">
                <a:solidFill>
                  <a:schemeClr val="bg1">
                    <a:lumMod val="50000"/>
                  </a:schemeClr>
                </a:solidFill>
                <a:latin typeface="Poppins"/>
                <a:ea typeface="Poppins"/>
                <a:cs typeface="Poppins"/>
                <a:sym typeface="Poppins"/>
              </a:rPr>
              <a:t>The main analysis will address the research question: </a:t>
            </a:r>
          </a:p>
          <a:p>
            <a:pPr algn="ctr">
              <a:lnSpc>
                <a:spcPts val="3422"/>
              </a:lnSpc>
              <a:spcBef>
                <a:spcPct val="0"/>
              </a:spcBef>
            </a:pPr>
            <a:r>
              <a:rPr lang="en-GB" sz="2800" b="1" dirty="0">
                <a:solidFill>
                  <a:schemeClr val="accent6">
                    <a:lumMod val="75000"/>
                  </a:schemeClr>
                </a:solidFill>
                <a:latin typeface="Poppins"/>
                <a:ea typeface="Poppins"/>
                <a:cs typeface="Poppins"/>
                <a:sym typeface="Poppins"/>
              </a:rPr>
              <a:t>Which NLP models are most energy efficient for standard classification tasks? </a:t>
            </a:r>
            <a:r>
              <a:rPr lang="en-GB" sz="2800" b="1" dirty="0">
                <a:solidFill>
                  <a:schemeClr val="bg1">
                    <a:lumMod val="50000"/>
                  </a:schemeClr>
                </a:solidFill>
                <a:latin typeface="Poppins"/>
                <a:ea typeface="Poppins"/>
                <a:cs typeface="Poppins"/>
                <a:sym typeface="Poppins"/>
              </a:rPr>
              <a:t>The following statistical methods will be used:</a:t>
            </a:r>
          </a:p>
        </p:txBody>
      </p:sp>
      <p:pic>
        <p:nvPicPr>
          <p:cNvPr id="15362" name="Picture 2" descr="Analysis, analytic, data, information, planning icon - Download on  Iconfinder">
            <a:extLst>
              <a:ext uri="{FF2B5EF4-FFF2-40B4-BE49-F238E27FC236}">
                <a16:creationId xmlns:a16="http://schemas.microsoft.com/office/drawing/2014/main" id="{74C042B8-882D-2B69-B63E-1017748344D4}"/>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370377" y="242442"/>
            <a:ext cx="1581235" cy="133402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8797686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Click="0">
        <p159:morph option="byObject"/>
      </p:transition>
    </mc:Choice>
    <mc:Fallback xmlns="">
      <p:transition spd="slow" advClick="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2" presetClass="emph" presetSubtype="0" fill="hold" grpId="0" nodeType="afterEffect">
                                  <p:stCondLst>
                                    <p:cond delay="0"/>
                                  </p:stCondLst>
                                  <p:childTnLst>
                                    <p:animRot by="120000">
                                      <p:cBhvr>
                                        <p:cTn id="6" dur="200" fill="hold">
                                          <p:stCondLst>
                                            <p:cond delay="0"/>
                                          </p:stCondLst>
                                        </p:cTn>
                                        <p:tgtEl>
                                          <p:spTgt spid="9"/>
                                        </p:tgtEl>
                                        <p:attrNameLst>
                                          <p:attrName>r</p:attrName>
                                        </p:attrNameLst>
                                      </p:cBhvr>
                                    </p:animRot>
                                    <p:animRot by="-240000">
                                      <p:cBhvr>
                                        <p:cTn id="7" dur="400" fill="hold">
                                          <p:stCondLst>
                                            <p:cond delay="400"/>
                                          </p:stCondLst>
                                        </p:cTn>
                                        <p:tgtEl>
                                          <p:spTgt spid="9"/>
                                        </p:tgtEl>
                                        <p:attrNameLst>
                                          <p:attrName>r</p:attrName>
                                        </p:attrNameLst>
                                      </p:cBhvr>
                                    </p:animRot>
                                    <p:animRot by="240000">
                                      <p:cBhvr>
                                        <p:cTn id="8" dur="400" fill="hold">
                                          <p:stCondLst>
                                            <p:cond delay="800"/>
                                          </p:stCondLst>
                                        </p:cTn>
                                        <p:tgtEl>
                                          <p:spTgt spid="9"/>
                                        </p:tgtEl>
                                        <p:attrNameLst>
                                          <p:attrName>r</p:attrName>
                                        </p:attrNameLst>
                                      </p:cBhvr>
                                    </p:animRot>
                                    <p:animRot by="-240000">
                                      <p:cBhvr>
                                        <p:cTn id="9" dur="400" fill="hold">
                                          <p:stCondLst>
                                            <p:cond delay="1200"/>
                                          </p:stCondLst>
                                        </p:cTn>
                                        <p:tgtEl>
                                          <p:spTgt spid="9"/>
                                        </p:tgtEl>
                                        <p:attrNameLst>
                                          <p:attrName>r</p:attrName>
                                        </p:attrNameLst>
                                      </p:cBhvr>
                                    </p:animRot>
                                    <p:animRot by="120000">
                                      <p:cBhvr>
                                        <p:cTn id="10" dur="400" fill="hold">
                                          <p:stCondLst>
                                            <p:cond delay="1600"/>
                                          </p:stCondLst>
                                        </p:cTn>
                                        <p:tgtEl>
                                          <p:spTgt spid="9"/>
                                        </p:tgtEl>
                                        <p:attrNameLst>
                                          <p:attrName>r</p:attrName>
                                        </p:attrNameLst>
                                      </p:cBhvr>
                                    </p:animRot>
                                  </p:childTnLst>
                                </p:cTn>
                              </p:par>
                            </p:childTnLst>
                          </p:cTn>
                        </p:par>
                        <p:par>
                          <p:cTn id="11" fill="hold">
                            <p:stCondLst>
                              <p:cond delay="2000"/>
                            </p:stCondLst>
                            <p:childTnLst>
                              <p:par>
                                <p:cTn id="12" presetID="45" presetClass="entr" presetSubtype="0" fill="hold" nodeType="afterEffect">
                                  <p:stCondLst>
                                    <p:cond delay="0"/>
                                  </p:stCondLst>
                                  <p:childTnLst>
                                    <p:set>
                                      <p:cBhvr>
                                        <p:cTn id="13" dur="1" fill="hold">
                                          <p:stCondLst>
                                            <p:cond delay="0"/>
                                          </p:stCondLst>
                                        </p:cTn>
                                        <p:tgtEl>
                                          <p:spTgt spid="15362"/>
                                        </p:tgtEl>
                                        <p:attrNameLst>
                                          <p:attrName>style.visibility</p:attrName>
                                        </p:attrNameLst>
                                      </p:cBhvr>
                                      <p:to>
                                        <p:strVal val="visible"/>
                                      </p:to>
                                    </p:set>
                                    <p:animEffect transition="in" filter="fade">
                                      <p:cBhvr>
                                        <p:cTn id="14" dur="2000"/>
                                        <p:tgtEl>
                                          <p:spTgt spid="15362"/>
                                        </p:tgtEl>
                                      </p:cBhvr>
                                    </p:animEffect>
                                    <p:anim calcmode="lin" valueType="num">
                                      <p:cBhvr>
                                        <p:cTn id="15" dur="2000" fill="hold"/>
                                        <p:tgtEl>
                                          <p:spTgt spid="15362"/>
                                        </p:tgtEl>
                                        <p:attrNameLst>
                                          <p:attrName>ppt_w</p:attrName>
                                        </p:attrNameLst>
                                      </p:cBhvr>
                                      <p:tavLst>
                                        <p:tav tm="0" fmla="#ppt_w*sin(2.5*pi*$)">
                                          <p:val>
                                            <p:fltVal val="0"/>
                                          </p:val>
                                        </p:tav>
                                        <p:tav tm="100000">
                                          <p:val>
                                            <p:fltVal val="1"/>
                                          </p:val>
                                        </p:tav>
                                      </p:tavLst>
                                    </p:anim>
                                    <p:anim calcmode="lin" valueType="num">
                                      <p:cBhvr>
                                        <p:cTn id="16" dur="2000" fill="hold"/>
                                        <p:tgtEl>
                                          <p:spTgt spid="15362"/>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CCA9A2-BF66-F773-21D6-4B3769710DE9}"/>
            </a:ext>
          </a:extLst>
        </p:cNvPr>
        <p:cNvGrpSpPr/>
        <p:nvPr/>
      </p:nvGrpSpPr>
      <p:grpSpPr>
        <a:xfrm>
          <a:off x="0" y="0"/>
          <a:ext cx="0" cy="0"/>
          <a:chOff x="0" y="0"/>
          <a:chExt cx="0" cy="0"/>
        </a:xfrm>
      </p:grpSpPr>
      <p:sp>
        <p:nvSpPr>
          <p:cNvPr id="67" name="Freeform 17">
            <a:extLst>
              <a:ext uri="{FF2B5EF4-FFF2-40B4-BE49-F238E27FC236}">
                <a16:creationId xmlns:a16="http://schemas.microsoft.com/office/drawing/2014/main" id="{EB1AA185-E5A4-43C3-57B1-457A364A1C8D}"/>
              </a:ext>
            </a:extLst>
          </p:cNvPr>
          <p:cNvSpPr/>
          <p:nvPr/>
        </p:nvSpPr>
        <p:spPr>
          <a:xfrm>
            <a:off x="2744136" y="4643528"/>
            <a:ext cx="1634041" cy="1634041"/>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id="68" name="Freeform 17">
            <a:extLst>
              <a:ext uri="{FF2B5EF4-FFF2-40B4-BE49-F238E27FC236}">
                <a16:creationId xmlns:a16="http://schemas.microsoft.com/office/drawing/2014/main" id="{68DAA03D-FA07-A0ED-3BA9-1E9FE73CDE40}"/>
              </a:ext>
            </a:extLst>
          </p:cNvPr>
          <p:cNvSpPr/>
          <p:nvPr/>
        </p:nvSpPr>
        <p:spPr>
          <a:xfrm>
            <a:off x="13685849" y="4660357"/>
            <a:ext cx="1634041" cy="1634041"/>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grpSp>
        <p:nvGrpSpPr>
          <p:cNvPr id="2" name="Group 13">
            <a:extLst>
              <a:ext uri="{FF2B5EF4-FFF2-40B4-BE49-F238E27FC236}">
                <a16:creationId xmlns:a16="http://schemas.microsoft.com/office/drawing/2014/main" id="{6D16402F-65BD-9CAB-6029-FEB0DE6E169F}"/>
              </a:ext>
            </a:extLst>
          </p:cNvPr>
          <p:cNvGrpSpPr/>
          <p:nvPr/>
        </p:nvGrpSpPr>
        <p:grpSpPr>
          <a:xfrm>
            <a:off x="5748992" y="-952500"/>
            <a:ext cx="6824008" cy="6824008"/>
            <a:chOff x="0" y="0"/>
            <a:chExt cx="812800" cy="812800"/>
          </a:xfrm>
        </p:grpSpPr>
        <p:sp>
          <p:nvSpPr>
            <p:cNvPr id="3" name="Freeform 14">
              <a:extLst>
                <a:ext uri="{FF2B5EF4-FFF2-40B4-BE49-F238E27FC236}">
                  <a16:creationId xmlns:a16="http://schemas.microsoft.com/office/drawing/2014/main" id="{DF01DC29-ED6B-CA15-2BD0-D6D259770DB0}"/>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8F8F8"/>
            </a:solidFill>
          </p:spPr>
        </p:sp>
        <p:sp>
          <p:nvSpPr>
            <p:cNvPr id="4" name="TextBox 15">
              <a:extLst>
                <a:ext uri="{FF2B5EF4-FFF2-40B4-BE49-F238E27FC236}">
                  <a16:creationId xmlns:a16="http://schemas.microsoft.com/office/drawing/2014/main" id="{80C473A8-CBA8-CA3F-20AB-6723018A749A}"/>
                </a:ext>
              </a:extLst>
            </p:cNvPr>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5" name="Freeform 16">
            <a:extLst>
              <a:ext uri="{FF2B5EF4-FFF2-40B4-BE49-F238E27FC236}">
                <a16:creationId xmlns:a16="http://schemas.microsoft.com/office/drawing/2014/main" id="{F429E3BE-05F4-D400-3693-433E6D3ECBA0}"/>
              </a:ext>
            </a:extLst>
          </p:cNvPr>
          <p:cNvSpPr/>
          <p:nvPr/>
        </p:nvSpPr>
        <p:spPr>
          <a:xfrm>
            <a:off x="5695622" y="-1006476"/>
            <a:ext cx="6700578" cy="6666242"/>
          </a:xfrm>
          <a:custGeom>
            <a:avLst/>
            <a:gdLst/>
            <a:ahLst/>
            <a:cxnLst/>
            <a:rect l="l" t="t" r="r" b="b"/>
            <a:pathLst>
              <a:path w="5862965" h="5855636">
                <a:moveTo>
                  <a:pt x="0" y="0"/>
                </a:moveTo>
                <a:lnTo>
                  <a:pt x="5862964" y="0"/>
                </a:lnTo>
                <a:lnTo>
                  <a:pt x="5862964" y="5855636"/>
                </a:lnTo>
                <a:lnTo>
                  <a:pt x="0" y="5855636"/>
                </a:lnTo>
                <a:lnTo>
                  <a:pt x="0" y="0"/>
                </a:lnTo>
                <a:close/>
              </a:path>
            </a:pathLst>
          </a:custGeom>
          <a:blipFill>
            <a:blip r:embed="rId2"/>
            <a:stretch>
              <a:fillRect/>
            </a:stretch>
          </a:blipFill>
        </p:spPr>
      </p:sp>
      <p:grpSp>
        <p:nvGrpSpPr>
          <p:cNvPr id="63" name="Group 18">
            <a:extLst>
              <a:ext uri="{FF2B5EF4-FFF2-40B4-BE49-F238E27FC236}">
                <a16:creationId xmlns:a16="http://schemas.microsoft.com/office/drawing/2014/main" id="{C648012A-3A96-03F1-344E-B238751D6436}"/>
              </a:ext>
            </a:extLst>
          </p:cNvPr>
          <p:cNvGrpSpPr/>
          <p:nvPr/>
        </p:nvGrpSpPr>
        <p:grpSpPr>
          <a:xfrm>
            <a:off x="10744200" y="6652433"/>
            <a:ext cx="7436668" cy="1920067"/>
            <a:chOff x="0" y="0"/>
            <a:chExt cx="1013318" cy="260488"/>
          </a:xfrm>
        </p:grpSpPr>
        <p:sp>
          <p:nvSpPr>
            <p:cNvPr id="64" name="Freeform 19">
              <a:extLst>
                <a:ext uri="{FF2B5EF4-FFF2-40B4-BE49-F238E27FC236}">
                  <a16:creationId xmlns:a16="http://schemas.microsoft.com/office/drawing/2014/main" id="{468C53FF-79F2-DF97-F508-B08FC68D9BD4}"/>
                </a:ext>
              </a:extLst>
            </p:cNvPr>
            <p:cNvSpPr/>
            <p:nvPr/>
          </p:nvSpPr>
          <p:spPr>
            <a:xfrm>
              <a:off x="0" y="0"/>
              <a:ext cx="1013318" cy="260488"/>
            </a:xfrm>
            <a:custGeom>
              <a:avLst/>
              <a:gdLst/>
              <a:ahLst/>
              <a:cxnLst/>
              <a:rect l="l" t="t" r="r" b="b"/>
              <a:pathLst>
                <a:path w="1013318" h="260488">
                  <a:moveTo>
                    <a:pt x="130244" y="0"/>
                  </a:moveTo>
                  <a:lnTo>
                    <a:pt x="883074" y="0"/>
                  </a:lnTo>
                  <a:cubicBezTo>
                    <a:pt x="917617" y="0"/>
                    <a:pt x="950745" y="13722"/>
                    <a:pt x="975171" y="38148"/>
                  </a:cubicBezTo>
                  <a:cubicBezTo>
                    <a:pt x="999596" y="62573"/>
                    <a:pt x="1013318" y="95701"/>
                    <a:pt x="1013318" y="130244"/>
                  </a:cubicBezTo>
                  <a:lnTo>
                    <a:pt x="1013318" y="130244"/>
                  </a:lnTo>
                  <a:cubicBezTo>
                    <a:pt x="1013318" y="202175"/>
                    <a:pt x="955006" y="260488"/>
                    <a:pt x="883074" y="260488"/>
                  </a:cubicBezTo>
                  <a:lnTo>
                    <a:pt x="130244" y="260488"/>
                  </a:lnTo>
                  <a:cubicBezTo>
                    <a:pt x="95701" y="260488"/>
                    <a:pt x="62573" y="246766"/>
                    <a:pt x="38148" y="222340"/>
                  </a:cubicBezTo>
                  <a:cubicBezTo>
                    <a:pt x="13722" y="197915"/>
                    <a:pt x="0" y="164787"/>
                    <a:pt x="0" y="130244"/>
                  </a:cubicBezTo>
                  <a:lnTo>
                    <a:pt x="0" y="130244"/>
                  </a:lnTo>
                  <a:cubicBezTo>
                    <a:pt x="0" y="95701"/>
                    <a:pt x="13722" y="62573"/>
                    <a:pt x="38148" y="38148"/>
                  </a:cubicBezTo>
                  <a:cubicBezTo>
                    <a:pt x="62573" y="13722"/>
                    <a:pt x="95701" y="0"/>
                    <a:pt x="130244" y="0"/>
                  </a:cubicBezTo>
                  <a:close/>
                </a:path>
              </a:pathLst>
            </a:custGeom>
            <a:solidFill>
              <a:srgbClr val="F8F8F8"/>
            </a:solidFill>
          </p:spPr>
        </p:sp>
        <p:sp>
          <p:nvSpPr>
            <p:cNvPr id="65" name="TextBox 20">
              <a:extLst>
                <a:ext uri="{FF2B5EF4-FFF2-40B4-BE49-F238E27FC236}">
                  <a16:creationId xmlns:a16="http://schemas.microsoft.com/office/drawing/2014/main" id="{651256F7-86DE-36DB-EBC1-54D817E748BF}"/>
                </a:ext>
              </a:extLst>
            </p:cNvPr>
            <p:cNvSpPr txBox="1"/>
            <p:nvPr/>
          </p:nvSpPr>
          <p:spPr>
            <a:xfrm>
              <a:off x="0" y="-38100"/>
              <a:ext cx="1013318" cy="298588"/>
            </a:xfrm>
            <a:prstGeom prst="rect">
              <a:avLst/>
            </a:prstGeom>
          </p:spPr>
          <p:txBody>
            <a:bodyPr lIns="47086" tIns="47086" rIns="47086" bIns="47086" rtlCol="0" anchor="ctr"/>
            <a:lstStyle/>
            <a:p>
              <a:pPr algn="ctr">
                <a:lnSpc>
                  <a:spcPts val="2659"/>
                </a:lnSpc>
              </a:pPr>
              <a:endParaRPr/>
            </a:p>
          </p:txBody>
        </p:sp>
      </p:grpSp>
      <p:grpSp>
        <p:nvGrpSpPr>
          <p:cNvPr id="6" name="Group 17">
            <a:extLst>
              <a:ext uri="{FF2B5EF4-FFF2-40B4-BE49-F238E27FC236}">
                <a16:creationId xmlns:a16="http://schemas.microsoft.com/office/drawing/2014/main" id="{22FC81E4-85BE-6B99-E391-ED10F4BCE8FE}"/>
              </a:ext>
            </a:extLst>
          </p:cNvPr>
          <p:cNvGrpSpPr/>
          <p:nvPr/>
        </p:nvGrpSpPr>
        <p:grpSpPr>
          <a:xfrm>
            <a:off x="6272686" y="-428805"/>
            <a:ext cx="5776619" cy="5776619"/>
            <a:chOff x="0" y="0"/>
            <a:chExt cx="812800" cy="812800"/>
          </a:xfrm>
        </p:grpSpPr>
        <p:sp>
          <p:nvSpPr>
            <p:cNvPr id="7" name="Freeform 18">
              <a:extLst>
                <a:ext uri="{FF2B5EF4-FFF2-40B4-BE49-F238E27FC236}">
                  <a16:creationId xmlns:a16="http://schemas.microsoft.com/office/drawing/2014/main" id="{5BBEAEAD-4722-9BE2-09CD-614BB348E38C}"/>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txBody>
            <a:bodyPr/>
            <a:lstStyle/>
            <a:p>
              <a:endParaRPr lang="en-US" dirty="0"/>
            </a:p>
          </p:txBody>
        </p:sp>
        <p:sp>
          <p:nvSpPr>
            <p:cNvPr id="8" name="TextBox 19">
              <a:extLst>
                <a:ext uri="{FF2B5EF4-FFF2-40B4-BE49-F238E27FC236}">
                  <a16:creationId xmlns:a16="http://schemas.microsoft.com/office/drawing/2014/main" id="{F8659023-9CF9-35C9-2E4B-DF93E150D5D5}"/>
                </a:ext>
              </a:extLst>
            </p:cNvPr>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9" name="TextBox 26">
            <a:extLst>
              <a:ext uri="{FF2B5EF4-FFF2-40B4-BE49-F238E27FC236}">
                <a16:creationId xmlns:a16="http://schemas.microsoft.com/office/drawing/2014/main" id="{E6EA2831-1680-312D-C5B5-5451E3391F69}"/>
              </a:ext>
            </a:extLst>
          </p:cNvPr>
          <p:cNvSpPr txBox="1"/>
          <p:nvPr/>
        </p:nvSpPr>
        <p:spPr>
          <a:xfrm>
            <a:off x="7162800" y="2069592"/>
            <a:ext cx="3948976" cy="787908"/>
          </a:xfrm>
          <a:prstGeom prst="rect">
            <a:avLst/>
          </a:prstGeom>
        </p:spPr>
        <p:txBody>
          <a:bodyPr lIns="0" tIns="0" rIns="0" bIns="0" rtlCol="0" anchor="t">
            <a:spAutoFit/>
          </a:bodyPr>
          <a:lstStyle/>
          <a:p>
            <a:pPr algn="ctr">
              <a:lnSpc>
                <a:spcPts val="6385"/>
              </a:lnSpc>
            </a:pPr>
            <a:r>
              <a:rPr lang="en-US" sz="4800" b="1" dirty="0">
                <a:solidFill>
                  <a:srgbClr val="3A6AD6"/>
                </a:solidFill>
                <a:latin typeface="Poppins Bold"/>
                <a:ea typeface="Poppins Bold"/>
                <a:cs typeface="Poppins Bold"/>
                <a:sym typeface="Poppins Bold"/>
              </a:rPr>
              <a:t>Tools</a:t>
            </a:r>
          </a:p>
        </p:txBody>
      </p:sp>
      <p:grpSp>
        <p:nvGrpSpPr>
          <p:cNvPr id="14" name="Group 14">
            <a:extLst>
              <a:ext uri="{FF2B5EF4-FFF2-40B4-BE49-F238E27FC236}">
                <a16:creationId xmlns:a16="http://schemas.microsoft.com/office/drawing/2014/main" id="{FCD96C75-1E11-0DFB-4098-CF17DAA6ED26}"/>
              </a:ext>
            </a:extLst>
          </p:cNvPr>
          <p:cNvGrpSpPr/>
          <p:nvPr/>
        </p:nvGrpSpPr>
        <p:grpSpPr>
          <a:xfrm>
            <a:off x="17491799" y="8458418"/>
            <a:ext cx="951769" cy="799882"/>
            <a:chOff x="0" y="0"/>
            <a:chExt cx="967140" cy="812800"/>
          </a:xfrm>
        </p:grpSpPr>
        <p:sp>
          <p:nvSpPr>
            <p:cNvPr id="15" name="Freeform 15">
              <a:extLst>
                <a:ext uri="{FF2B5EF4-FFF2-40B4-BE49-F238E27FC236}">
                  <a16:creationId xmlns:a16="http://schemas.microsoft.com/office/drawing/2014/main" id="{861ADAB4-09B7-4A48-ECF6-208A9CE93D04}"/>
                </a:ext>
              </a:extLst>
            </p:cNvPr>
            <p:cNvSpPr/>
            <p:nvPr/>
          </p:nvSpPr>
          <p:spPr>
            <a:xfrm>
              <a:off x="0" y="0"/>
              <a:ext cx="967140" cy="812800"/>
            </a:xfrm>
            <a:custGeom>
              <a:avLst/>
              <a:gdLst/>
              <a:ahLst/>
              <a:cxnLst/>
              <a:rect l="l" t="t" r="r" b="b"/>
              <a:pathLst>
                <a:path w="967140" h="812800">
                  <a:moveTo>
                    <a:pt x="81342" y="0"/>
                  </a:moveTo>
                  <a:lnTo>
                    <a:pt x="885798" y="0"/>
                  </a:lnTo>
                  <a:cubicBezTo>
                    <a:pt x="907371" y="0"/>
                    <a:pt x="928061" y="8570"/>
                    <a:pt x="943315" y="23825"/>
                  </a:cubicBezTo>
                  <a:cubicBezTo>
                    <a:pt x="958570" y="39079"/>
                    <a:pt x="967140" y="59769"/>
                    <a:pt x="967140" y="81342"/>
                  </a:cubicBezTo>
                  <a:lnTo>
                    <a:pt x="967140" y="731458"/>
                  </a:lnTo>
                  <a:cubicBezTo>
                    <a:pt x="967140" y="776382"/>
                    <a:pt x="930722" y="812800"/>
                    <a:pt x="885798" y="812800"/>
                  </a:cubicBezTo>
                  <a:lnTo>
                    <a:pt x="81342" y="812800"/>
                  </a:lnTo>
                  <a:cubicBezTo>
                    <a:pt x="59769" y="812800"/>
                    <a:pt x="39079" y="804230"/>
                    <a:pt x="23825" y="788975"/>
                  </a:cubicBezTo>
                  <a:cubicBezTo>
                    <a:pt x="8570" y="773721"/>
                    <a:pt x="0" y="753031"/>
                    <a:pt x="0" y="731458"/>
                  </a:cubicBezTo>
                  <a:lnTo>
                    <a:pt x="0" y="81342"/>
                  </a:lnTo>
                  <a:cubicBezTo>
                    <a:pt x="0" y="59769"/>
                    <a:pt x="8570" y="39079"/>
                    <a:pt x="23825" y="23825"/>
                  </a:cubicBezTo>
                  <a:cubicBezTo>
                    <a:pt x="39079" y="8570"/>
                    <a:pt x="59769" y="0"/>
                    <a:pt x="81342" y="0"/>
                  </a:cubicBezTo>
                  <a:close/>
                </a:path>
              </a:pathLst>
            </a:custGeom>
            <a:solidFill>
              <a:srgbClr val="3A6AD6"/>
            </a:solidFill>
          </p:spPr>
        </p:sp>
        <p:sp>
          <p:nvSpPr>
            <p:cNvPr id="16" name="TextBox 16">
              <a:extLst>
                <a:ext uri="{FF2B5EF4-FFF2-40B4-BE49-F238E27FC236}">
                  <a16:creationId xmlns:a16="http://schemas.microsoft.com/office/drawing/2014/main" id="{A75272A7-F63E-DAA1-CBD9-08BC1646D6BF}"/>
                </a:ext>
              </a:extLst>
            </p:cNvPr>
            <p:cNvSpPr txBox="1"/>
            <p:nvPr/>
          </p:nvSpPr>
          <p:spPr>
            <a:xfrm>
              <a:off x="0" y="-38100"/>
              <a:ext cx="967140" cy="850900"/>
            </a:xfrm>
            <a:prstGeom prst="rect">
              <a:avLst/>
            </a:prstGeom>
          </p:spPr>
          <p:txBody>
            <a:bodyPr lIns="50800" tIns="50800" rIns="50800" bIns="50800" rtlCol="0" anchor="ctr"/>
            <a:lstStyle/>
            <a:p>
              <a:pPr algn="ctr">
                <a:lnSpc>
                  <a:spcPts val="2659"/>
                </a:lnSpc>
              </a:pPr>
              <a:endParaRPr/>
            </a:p>
          </p:txBody>
        </p:sp>
      </p:grpSp>
      <p:sp>
        <p:nvSpPr>
          <p:cNvPr id="17" name="TextBox 17">
            <a:extLst>
              <a:ext uri="{FF2B5EF4-FFF2-40B4-BE49-F238E27FC236}">
                <a16:creationId xmlns:a16="http://schemas.microsoft.com/office/drawing/2014/main" id="{42DDFD0E-0D52-11F5-3D9D-8FE339CDD3FC}"/>
              </a:ext>
            </a:extLst>
          </p:cNvPr>
          <p:cNvSpPr txBox="1"/>
          <p:nvPr/>
        </p:nvSpPr>
        <p:spPr>
          <a:xfrm>
            <a:off x="17674380" y="8710688"/>
            <a:ext cx="442747" cy="257943"/>
          </a:xfrm>
          <a:prstGeom prst="rect">
            <a:avLst/>
          </a:prstGeom>
        </p:spPr>
        <p:txBody>
          <a:bodyPr lIns="0" tIns="0" rIns="0" bIns="0" rtlCol="0" anchor="t">
            <a:spAutoFit/>
          </a:bodyPr>
          <a:lstStyle/>
          <a:p>
            <a:pPr algn="ctr">
              <a:lnSpc>
                <a:spcPts val="2057"/>
              </a:lnSpc>
              <a:spcBef>
                <a:spcPct val="0"/>
              </a:spcBef>
            </a:pPr>
            <a:r>
              <a:rPr lang="en-GB" sz="1469" b="1" dirty="0">
                <a:solidFill>
                  <a:srgbClr val="FFFFFF"/>
                </a:solidFill>
                <a:latin typeface="Poppins Bold"/>
                <a:ea typeface="Poppins Bold"/>
                <a:cs typeface="Poppins Bold"/>
                <a:sym typeface="Poppins Bold"/>
              </a:rPr>
              <a:t>21</a:t>
            </a:r>
            <a:endParaRPr lang="en-US" sz="1469" b="1" dirty="0">
              <a:solidFill>
                <a:srgbClr val="FFFFFF"/>
              </a:solidFill>
              <a:latin typeface="Poppins Bold"/>
              <a:ea typeface="Poppins Bold"/>
              <a:cs typeface="Poppins Bold"/>
              <a:sym typeface="Poppins Bold"/>
            </a:endParaRPr>
          </a:p>
        </p:txBody>
      </p:sp>
      <p:grpSp>
        <p:nvGrpSpPr>
          <p:cNvPr id="18" name="Group 18">
            <a:extLst>
              <a:ext uri="{FF2B5EF4-FFF2-40B4-BE49-F238E27FC236}">
                <a16:creationId xmlns:a16="http://schemas.microsoft.com/office/drawing/2014/main" id="{75505A27-0B24-D4ED-5525-21D498770077}"/>
              </a:ext>
            </a:extLst>
          </p:cNvPr>
          <p:cNvGrpSpPr/>
          <p:nvPr/>
        </p:nvGrpSpPr>
        <p:grpSpPr>
          <a:xfrm>
            <a:off x="-77179" y="2619910"/>
            <a:ext cx="8306779" cy="3056990"/>
            <a:chOff x="0" y="0"/>
            <a:chExt cx="1013318" cy="260488"/>
          </a:xfrm>
        </p:grpSpPr>
        <p:sp>
          <p:nvSpPr>
            <p:cNvPr id="19" name="Freeform 19">
              <a:extLst>
                <a:ext uri="{FF2B5EF4-FFF2-40B4-BE49-F238E27FC236}">
                  <a16:creationId xmlns:a16="http://schemas.microsoft.com/office/drawing/2014/main" id="{88D8F832-2511-59CC-9F77-725A9FC53FD9}"/>
                </a:ext>
              </a:extLst>
            </p:cNvPr>
            <p:cNvSpPr/>
            <p:nvPr/>
          </p:nvSpPr>
          <p:spPr>
            <a:xfrm>
              <a:off x="0" y="0"/>
              <a:ext cx="1013318" cy="260488"/>
            </a:xfrm>
            <a:custGeom>
              <a:avLst/>
              <a:gdLst/>
              <a:ahLst/>
              <a:cxnLst/>
              <a:rect l="l" t="t" r="r" b="b"/>
              <a:pathLst>
                <a:path w="1013318" h="260488">
                  <a:moveTo>
                    <a:pt x="130244" y="0"/>
                  </a:moveTo>
                  <a:lnTo>
                    <a:pt x="883074" y="0"/>
                  </a:lnTo>
                  <a:cubicBezTo>
                    <a:pt x="917617" y="0"/>
                    <a:pt x="950745" y="13722"/>
                    <a:pt x="975171" y="38148"/>
                  </a:cubicBezTo>
                  <a:cubicBezTo>
                    <a:pt x="999596" y="62573"/>
                    <a:pt x="1013318" y="95701"/>
                    <a:pt x="1013318" y="130244"/>
                  </a:cubicBezTo>
                  <a:lnTo>
                    <a:pt x="1013318" y="130244"/>
                  </a:lnTo>
                  <a:cubicBezTo>
                    <a:pt x="1013318" y="202175"/>
                    <a:pt x="955006" y="260488"/>
                    <a:pt x="883074" y="260488"/>
                  </a:cubicBezTo>
                  <a:lnTo>
                    <a:pt x="130244" y="260488"/>
                  </a:lnTo>
                  <a:cubicBezTo>
                    <a:pt x="95701" y="260488"/>
                    <a:pt x="62573" y="246766"/>
                    <a:pt x="38148" y="222340"/>
                  </a:cubicBezTo>
                  <a:cubicBezTo>
                    <a:pt x="13722" y="197915"/>
                    <a:pt x="0" y="164787"/>
                    <a:pt x="0" y="130244"/>
                  </a:cubicBezTo>
                  <a:lnTo>
                    <a:pt x="0" y="130244"/>
                  </a:lnTo>
                  <a:cubicBezTo>
                    <a:pt x="0" y="95701"/>
                    <a:pt x="13722" y="62573"/>
                    <a:pt x="38148" y="38148"/>
                  </a:cubicBezTo>
                  <a:cubicBezTo>
                    <a:pt x="62573" y="13722"/>
                    <a:pt x="95701" y="0"/>
                    <a:pt x="130244" y="0"/>
                  </a:cubicBezTo>
                  <a:close/>
                </a:path>
              </a:pathLst>
            </a:custGeom>
            <a:solidFill>
              <a:srgbClr val="F8F8F8"/>
            </a:solidFill>
          </p:spPr>
        </p:sp>
        <p:sp>
          <p:nvSpPr>
            <p:cNvPr id="20" name="TextBox 20">
              <a:extLst>
                <a:ext uri="{FF2B5EF4-FFF2-40B4-BE49-F238E27FC236}">
                  <a16:creationId xmlns:a16="http://schemas.microsoft.com/office/drawing/2014/main" id="{0119173D-A3B2-9FD1-A097-D1BA8DC092FE}"/>
                </a:ext>
              </a:extLst>
            </p:cNvPr>
            <p:cNvSpPr txBox="1"/>
            <p:nvPr/>
          </p:nvSpPr>
          <p:spPr>
            <a:xfrm>
              <a:off x="0" y="-38100"/>
              <a:ext cx="1013318" cy="298588"/>
            </a:xfrm>
            <a:prstGeom prst="rect">
              <a:avLst/>
            </a:prstGeom>
          </p:spPr>
          <p:txBody>
            <a:bodyPr lIns="47086" tIns="47086" rIns="47086" bIns="47086" rtlCol="0" anchor="ctr"/>
            <a:lstStyle/>
            <a:p>
              <a:pPr algn="ctr">
                <a:lnSpc>
                  <a:spcPts val="2659"/>
                </a:lnSpc>
              </a:pPr>
              <a:endParaRPr/>
            </a:p>
          </p:txBody>
        </p:sp>
      </p:grpSp>
      <p:sp>
        <p:nvSpPr>
          <p:cNvPr id="21" name="Freeform 21">
            <a:extLst>
              <a:ext uri="{FF2B5EF4-FFF2-40B4-BE49-F238E27FC236}">
                <a16:creationId xmlns:a16="http://schemas.microsoft.com/office/drawing/2014/main" id="{3B13402E-12E0-39B9-3AF8-24F64E139EAE}"/>
              </a:ext>
            </a:extLst>
          </p:cNvPr>
          <p:cNvSpPr/>
          <p:nvPr/>
        </p:nvSpPr>
        <p:spPr>
          <a:xfrm>
            <a:off x="6517072" y="3507432"/>
            <a:ext cx="1026728" cy="1025445"/>
          </a:xfrm>
          <a:custGeom>
            <a:avLst/>
            <a:gdLst/>
            <a:ahLst/>
            <a:cxnLst/>
            <a:rect l="l" t="t" r="r" b="b"/>
            <a:pathLst>
              <a:path w="1026728" h="1025445">
                <a:moveTo>
                  <a:pt x="0" y="0"/>
                </a:moveTo>
                <a:lnTo>
                  <a:pt x="1026728" y="0"/>
                </a:lnTo>
                <a:lnTo>
                  <a:pt x="1026728" y="1025445"/>
                </a:lnTo>
                <a:lnTo>
                  <a:pt x="0" y="1025445"/>
                </a:lnTo>
                <a:lnTo>
                  <a:pt x="0" y="0"/>
                </a:lnTo>
                <a:close/>
              </a:path>
            </a:pathLst>
          </a:custGeom>
          <a:blipFill>
            <a:blip r:embed="rId2"/>
            <a:stretch>
              <a:fillRect/>
            </a:stretch>
          </a:blipFill>
        </p:spPr>
      </p:sp>
      <p:grpSp>
        <p:nvGrpSpPr>
          <p:cNvPr id="22" name="Group 22">
            <a:extLst>
              <a:ext uri="{FF2B5EF4-FFF2-40B4-BE49-F238E27FC236}">
                <a16:creationId xmlns:a16="http://schemas.microsoft.com/office/drawing/2014/main" id="{CF2EF767-3820-880F-7E61-37E2CE173B79}"/>
              </a:ext>
            </a:extLst>
          </p:cNvPr>
          <p:cNvGrpSpPr/>
          <p:nvPr/>
        </p:nvGrpSpPr>
        <p:grpSpPr>
          <a:xfrm>
            <a:off x="6493134" y="3466395"/>
            <a:ext cx="1011607" cy="1011607"/>
            <a:chOff x="0" y="0"/>
            <a:chExt cx="812800" cy="812800"/>
          </a:xfrm>
        </p:grpSpPr>
        <p:sp>
          <p:nvSpPr>
            <p:cNvPr id="23" name="Freeform 23">
              <a:extLst>
                <a:ext uri="{FF2B5EF4-FFF2-40B4-BE49-F238E27FC236}">
                  <a16:creationId xmlns:a16="http://schemas.microsoft.com/office/drawing/2014/main" id="{B1B241AE-5A15-BB21-9679-357224C72968}"/>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id="24" name="TextBox 24">
              <a:extLst>
                <a:ext uri="{FF2B5EF4-FFF2-40B4-BE49-F238E27FC236}">
                  <a16:creationId xmlns:a16="http://schemas.microsoft.com/office/drawing/2014/main" id="{9A057C42-0E08-9F3C-2194-BCACB520B796}"/>
                </a:ext>
              </a:extLst>
            </p:cNvPr>
            <p:cNvSpPr txBox="1"/>
            <p:nvPr/>
          </p:nvSpPr>
          <p:spPr>
            <a:xfrm>
              <a:off x="76200" y="38100"/>
              <a:ext cx="660400" cy="698500"/>
            </a:xfrm>
            <a:prstGeom prst="rect">
              <a:avLst/>
            </a:prstGeom>
          </p:spPr>
          <p:txBody>
            <a:bodyPr lIns="47086" tIns="47086" rIns="47086" bIns="47086" rtlCol="0" anchor="ctr"/>
            <a:lstStyle/>
            <a:p>
              <a:pPr algn="ctr">
                <a:lnSpc>
                  <a:spcPts val="2659"/>
                </a:lnSpc>
                <a:spcBef>
                  <a:spcPct val="0"/>
                </a:spcBef>
              </a:pPr>
              <a:endParaRPr/>
            </a:p>
          </p:txBody>
        </p:sp>
      </p:grpSp>
      <p:grpSp>
        <p:nvGrpSpPr>
          <p:cNvPr id="44" name="Group 18">
            <a:extLst>
              <a:ext uri="{FF2B5EF4-FFF2-40B4-BE49-F238E27FC236}">
                <a16:creationId xmlns:a16="http://schemas.microsoft.com/office/drawing/2014/main" id="{D97040C7-9681-0AAB-E817-F6588B92FB20}"/>
              </a:ext>
            </a:extLst>
          </p:cNvPr>
          <p:cNvGrpSpPr/>
          <p:nvPr/>
        </p:nvGrpSpPr>
        <p:grpSpPr>
          <a:xfrm>
            <a:off x="10760480" y="2912905"/>
            <a:ext cx="7436668" cy="2230595"/>
            <a:chOff x="0" y="0"/>
            <a:chExt cx="1013318" cy="260488"/>
          </a:xfrm>
        </p:grpSpPr>
        <p:sp>
          <p:nvSpPr>
            <p:cNvPr id="52" name="Freeform 19">
              <a:extLst>
                <a:ext uri="{FF2B5EF4-FFF2-40B4-BE49-F238E27FC236}">
                  <a16:creationId xmlns:a16="http://schemas.microsoft.com/office/drawing/2014/main" id="{1331CF1B-7FD1-D1FA-09C2-E0A40E38E107}"/>
                </a:ext>
              </a:extLst>
            </p:cNvPr>
            <p:cNvSpPr/>
            <p:nvPr/>
          </p:nvSpPr>
          <p:spPr>
            <a:xfrm>
              <a:off x="0" y="0"/>
              <a:ext cx="1013318" cy="260488"/>
            </a:xfrm>
            <a:custGeom>
              <a:avLst/>
              <a:gdLst/>
              <a:ahLst/>
              <a:cxnLst/>
              <a:rect l="l" t="t" r="r" b="b"/>
              <a:pathLst>
                <a:path w="1013318" h="260488">
                  <a:moveTo>
                    <a:pt x="130244" y="0"/>
                  </a:moveTo>
                  <a:lnTo>
                    <a:pt x="883074" y="0"/>
                  </a:lnTo>
                  <a:cubicBezTo>
                    <a:pt x="917617" y="0"/>
                    <a:pt x="950745" y="13722"/>
                    <a:pt x="975171" y="38148"/>
                  </a:cubicBezTo>
                  <a:cubicBezTo>
                    <a:pt x="999596" y="62573"/>
                    <a:pt x="1013318" y="95701"/>
                    <a:pt x="1013318" y="130244"/>
                  </a:cubicBezTo>
                  <a:lnTo>
                    <a:pt x="1013318" y="130244"/>
                  </a:lnTo>
                  <a:cubicBezTo>
                    <a:pt x="1013318" y="202175"/>
                    <a:pt x="955006" y="260488"/>
                    <a:pt x="883074" y="260488"/>
                  </a:cubicBezTo>
                  <a:lnTo>
                    <a:pt x="130244" y="260488"/>
                  </a:lnTo>
                  <a:cubicBezTo>
                    <a:pt x="95701" y="260488"/>
                    <a:pt x="62573" y="246766"/>
                    <a:pt x="38148" y="222340"/>
                  </a:cubicBezTo>
                  <a:cubicBezTo>
                    <a:pt x="13722" y="197915"/>
                    <a:pt x="0" y="164787"/>
                    <a:pt x="0" y="130244"/>
                  </a:cubicBezTo>
                  <a:lnTo>
                    <a:pt x="0" y="130244"/>
                  </a:lnTo>
                  <a:cubicBezTo>
                    <a:pt x="0" y="95701"/>
                    <a:pt x="13722" y="62573"/>
                    <a:pt x="38148" y="38148"/>
                  </a:cubicBezTo>
                  <a:cubicBezTo>
                    <a:pt x="62573" y="13722"/>
                    <a:pt x="95701" y="0"/>
                    <a:pt x="130244" y="0"/>
                  </a:cubicBezTo>
                  <a:close/>
                </a:path>
              </a:pathLst>
            </a:custGeom>
            <a:solidFill>
              <a:srgbClr val="F8F8F8"/>
            </a:solidFill>
          </p:spPr>
        </p:sp>
        <p:sp>
          <p:nvSpPr>
            <p:cNvPr id="61" name="TextBox 20">
              <a:extLst>
                <a:ext uri="{FF2B5EF4-FFF2-40B4-BE49-F238E27FC236}">
                  <a16:creationId xmlns:a16="http://schemas.microsoft.com/office/drawing/2014/main" id="{CC476F22-B8F2-815A-1BEC-4D6ECF99D81A}"/>
                </a:ext>
              </a:extLst>
            </p:cNvPr>
            <p:cNvSpPr txBox="1"/>
            <p:nvPr/>
          </p:nvSpPr>
          <p:spPr>
            <a:xfrm>
              <a:off x="0" y="-38100"/>
              <a:ext cx="1013318" cy="298588"/>
            </a:xfrm>
            <a:prstGeom prst="rect">
              <a:avLst/>
            </a:prstGeom>
          </p:spPr>
          <p:txBody>
            <a:bodyPr lIns="47086" tIns="47086" rIns="47086" bIns="47086" rtlCol="0" anchor="ctr"/>
            <a:lstStyle/>
            <a:p>
              <a:pPr algn="ctr">
                <a:lnSpc>
                  <a:spcPts val="2659"/>
                </a:lnSpc>
              </a:pPr>
              <a:endParaRPr/>
            </a:p>
          </p:txBody>
        </p:sp>
      </p:grpSp>
      <p:sp>
        <p:nvSpPr>
          <p:cNvPr id="25" name="TextBox 25">
            <a:extLst>
              <a:ext uri="{FF2B5EF4-FFF2-40B4-BE49-F238E27FC236}">
                <a16:creationId xmlns:a16="http://schemas.microsoft.com/office/drawing/2014/main" id="{F2C620AE-806D-9C10-D8AD-021A7E04A3F3}"/>
              </a:ext>
            </a:extLst>
          </p:cNvPr>
          <p:cNvSpPr txBox="1"/>
          <p:nvPr/>
        </p:nvSpPr>
        <p:spPr>
          <a:xfrm>
            <a:off x="534379" y="2986243"/>
            <a:ext cx="8304821" cy="2157257"/>
          </a:xfrm>
          <a:prstGeom prst="rect">
            <a:avLst/>
          </a:prstGeom>
        </p:spPr>
        <p:txBody>
          <a:bodyPr wrap="square" lIns="0" tIns="0" rIns="0" bIns="0" rtlCol="0" anchor="t">
            <a:spAutoFit/>
          </a:bodyPr>
          <a:lstStyle/>
          <a:p>
            <a:pPr>
              <a:lnSpc>
                <a:spcPts val="3422"/>
              </a:lnSpc>
              <a:spcBef>
                <a:spcPct val="0"/>
              </a:spcBef>
            </a:pPr>
            <a:r>
              <a:rPr lang="en-GB" sz="3200" b="1" dirty="0">
                <a:solidFill>
                  <a:schemeClr val="accent6">
                    <a:lumMod val="75000"/>
                  </a:schemeClr>
                </a:solidFill>
                <a:latin typeface="Poppins"/>
                <a:ea typeface="Poppins"/>
                <a:cs typeface="Poppins"/>
                <a:sym typeface="Poppins"/>
              </a:rPr>
              <a:t>Python libraries:</a:t>
            </a:r>
          </a:p>
          <a:p>
            <a:pPr marL="457200" indent="-457200">
              <a:lnSpc>
                <a:spcPts val="3422"/>
              </a:lnSpc>
              <a:spcBef>
                <a:spcPct val="0"/>
              </a:spcBef>
              <a:buFont typeface="Wingdings" panose="05000000000000000000" pitchFamily="2" charset="2"/>
              <a:buChar char="Ø"/>
            </a:pPr>
            <a:r>
              <a:rPr lang="en-GB" sz="2400" b="1" dirty="0">
                <a:solidFill>
                  <a:schemeClr val="bg1">
                    <a:lumMod val="50000"/>
                  </a:schemeClr>
                </a:solidFill>
                <a:latin typeface="Poppins"/>
                <a:ea typeface="Poppins"/>
                <a:cs typeface="Poppins"/>
                <a:sym typeface="Poppins"/>
              </a:rPr>
              <a:t> </a:t>
            </a:r>
            <a:r>
              <a:rPr lang="en-GB" sz="2400" b="1" dirty="0">
                <a:solidFill>
                  <a:schemeClr val="accent6">
                    <a:lumMod val="75000"/>
                  </a:schemeClr>
                </a:solidFill>
                <a:latin typeface="Poppins"/>
                <a:ea typeface="Poppins"/>
                <a:cs typeface="Poppins"/>
                <a:sym typeface="Poppins"/>
              </a:rPr>
              <a:t>pandas</a:t>
            </a:r>
            <a:r>
              <a:rPr lang="en-GB" sz="2400" b="1" dirty="0">
                <a:solidFill>
                  <a:schemeClr val="bg1">
                    <a:lumMod val="50000"/>
                  </a:schemeClr>
                </a:solidFill>
                <a:latin typeface="Poppins"/>
                <a:ea typeface="Poppins"/>
                <a:cs typeface="Poppins"/>
                <a:sym typeface="Poppins"/>
              </a:rPr>
              <a:t> (for data cleaning and manipulation)</a:t>
            </a:r>
          </a:p>
          <a:p>
            <a:pPr marL="457200" indent="-457200">
              <a:lnSpc>
                <a:spcPts val="3422"/>
              </a:lnSpc>
              <a:spcBef>
                <a:spcPct val="0"/>
              </a:spcBef>
              <a:buFont typeface="Wingdings" panose="05000000000000000000" pitchFamily="2" charset="2"/>
              <a:buChar char="Ø"/>
            </a:pPr>
            <a:r>
              <a:rPr lang="en-GB" sz="2400" b="1" dirty="0">
                <a:solidFill>
                  <a:schemeClr val="bg1">
                    <a:lumMod val="50000"/>
                  </a:schemeClr>
                </a:solidFill>
                <a:latin typeface="Poppins"/>
                <a:ea typeface="Poppins"/>
                <a:cs typeface="Poppins"/>
                <a:sym typeface="Poppins"/>
              </a:rPr>
              <a:t> </a:t>
            </a:r>
            <a:r>
              <a:rPr lang="en-GB" sz="2400" b="1" dirty="0">
                <a:solidFill>
                  <a:schemeClr val="accent6">
                    <a:lumMod val="75000"/>
                  </a:schemeClr>
                </a:solidFill>
                <a:latin typeface="Poppins"/>
                <a:ea typeface="Poppins"/>
                <a:cs typeface="Poppins"/>
                <a:sym typeface="Poppins"/>
              </a:rPr>
              <a:t>matplotlib</a:t>
            </a:r>
            <a:r>
              <a:rPr lang="en-GB" sz="2400" b="1" dirty="0">
                <a:solidFill>
                  <a:schemeClr val="bg1">
                    <a:lumMod val="50000"/>
                  </a:schemeClr>
                </a:solidFill>
                <a:latin typeface="Poppins"/>
                <a:ea typeface="Poppins"/>
                <a:cs typeface="Poppins"/>
                <a:sym typeface="Poppins"/>
              </a:rPr>
              <a:t> and </a:t>
            </a:r>
            <a:r>
              <a:rPr lang="en-GB" sz="2400" b="1" dirty="0">
                <a:solidFill>
                  <a:schemeClr val="accent6">
                    <a:lumMod val="75000"/>
                  </a:schemeClr>
                </a:solidFill>
                <a:latin typeface="Poppins"/>
                <a:ea typeface="Poppins"/>
                <a:cs typeface="Poppins"/>
                <a:sym typeface="Poppins"/>
              </a:rPr>
              <a:t>seaborn</a:t>
            </a:r>
            <a:r>
              <a:rPr lang="en-GB" sz="2400" b="1" dirty="0">
                <a:solidFill>
                  <a:schemeClr val="bg1">
                    <a:lumMod val="50000"/>
                  </a:schemeClr>
                </a:solidFill>
                <a:latin typeface="Poppins"/>
                <a:ea typeface="Poppins"/>
                <a:cs typeface="Poppins"/>
                <a:sym typeface="Poppins"/>
              </a:rPr>
              <a:t> (for visualization)</a:t>
            </a:r>
          </a:p>
          <a:p>
            <a:pPr marL="457200" indent="-457200">
              <a:lnSpc>
                <a:spcPts val="3422"/>
              </a:lnSpc>
              <a:spcBef>
                <a:spcPct val="0"/>
              </a:spcBef>
              <a:buFont typeface="Wingdings" panose="05000000000000000000" pitchFamily="2" charset="2"/>
              <a:buChar char="Ø"/>
            </a:pPr>
            <a:r>
              <a:rPr lang="en-GB" sz="2400" b="1" dirty="0">
                <a:solidFill>
                  <a:schemeClr val="bg1">
                    <a:lumMod val="50000"/>
                  </a:schemeClr>
                </a:solidFill>
                <a:latin typeface="Poppins"/>
                <a:ea typeface="Poppins"/>
                <a:cs typeface="Poppins"/>
                <a:sym typeface="Poppins"/>
              </a:rPr>
              <a:t> </a:t>
            </a:r>
            <a:r>
              <a:rPr lang="en-GB" sz="2400" b="1" dirty="0" err="1">
                <a:solidFill>
                  <a:schemeClr val="accent6">
                    <a:lumMod val="75000"/>
                  </a:schemeClr>
                </a:solidFill>
                <a:latin typeface="Poppins"/>
                <a:ea typeface="Poppins"/>
                <a:cs typeface="Poppins"/>
                <a:sym typeface="Poppins"/>
              </a:rPr>
              <a:t>scipy.stats</a:t>
            </a:r>
            <a:r>
              <a:rPr lang="en-GB" sz="2400" b="1" dirty="0">
                <a:solidFill>
                  <a:schemeClr val="bg1">
                    <a:lumMod val="50000"/>
                  </a:schemeClr>
                </a:solidFill>
                <a:latin typeface="Poppins"/>
                <a:ea typeface="Poppins"/>
                <a:cs typeface="Poppins"/>
                <a:sym typeface="Poppins"/>
              </a:rPr>
              <a:t> and </a:t>
            </a:r>
            <a:r>
              <a:rPr lang="en-GB" sz="2400" b="1" dirty="0" err="1">
                <a:solidFill>
                  <a:schemeClr val="accent6">
                    <a:lumMod val="75000"/>
                  </a:schemeClr>
                </a:solidFill>
                <a:latin typeface="Poppins"/>
                <a:ea typeface="Poppins"/>
                <a:cs typeface="Poppins"/>
                <a:sym typeface="Poppins"/>
              </a:rPr>
              <a:t>statsmodels</a:t>
            </a:r>
            <a:r>
              <a:rPr lang="en-GB" sz="2400" b="1" dirty="0">
                <a:solidFill>
                  <a:schemeClr val="bg1">
                    <a:lumMod val="50000"/>
                  </a:schemeClr>
                </a:solidFill>
                <a:latin typeface="Poppins"/>
                <a:ea typeface="Poppins"/>
                <a:cs typeface="Poppins"/>
                <a:sym typeface="Poppins"/>
              </a:rPr>
              <a:t> (for statistical analysis)</a:t>
            </a:r>
          </a:p>
        </p:txBody>
      </p:sp>
      <p:sp>
        <p:nvSpPr>
          <p:cNvPr id="48" name="Freeform 48">
            <a:extLst>
              <a:ext uri="{FF2B5EF4-FFF2-40B4-BE49-F238E27FC236}">
                <a16:creationId xmlns:a16="http://schemas.microsoft.com/office/drawing/2014/main" id="{CBC177F6-4EB5-5E19-9A7F-6072CB5AA104}"/>
              </a:ext>
            </a:extLst>
          </p:cNvPr>
          <p:cNvSpPr/>
          <p:nvPr/>
        </p:nvSpPr>
        <p:spPr>
          <a:xfrm>
            <a:off x="11100568" y="3507432"/>
            <a:ext cx="1026728" cy="1025445"/>
          </a:xfrm>
          <a:custGeom>
            <a:avLst/>
            <a:gdLst/>
            <a:ahLst/>
            <a:cxnLst/>
            <a:rect l="l" t="t" r="r" b="b"/>
            <a:pathLst>
              <a:path w="1026728" h="1025445">
                <a:moveTo>
                  <a:pt x="0" y="0"/>
                </a:moveTo>
                <a:lnTo>
                  <a:pt x="1026728" y="0"/>
                </a:lnTo>
                <a:lnTo>
                  <a:pt x="1026728" y="1025445"/>
                </a:lnTo>
                <a:lnTo>
                  <a:pt x="0" y="1025445"/>
                </a:lnTo>
                <a:lnTo>
                  <a:pt x="0" y="0"/>
                </a:lnTo>
                <a:close/>
              </a:path>
            </a:pathLst>
          </a:custGeom>
          <a:blipFill>
            <a:blip r:embed="rId2"/>
            <a:stretch>
              <a:fillRect/>
            </a:stretch>
          </a:blipFill>
        </p:spPr>
      </p:sp>
      <p:grpSp>
        <p:nvGrpSpPr>
          <p:cNvPr id="49" name="Group 49">
            <a:extLst>
              <a:ext uri="{FF2B5EF4-FFF2-40B4-BE49-F238E27FC236}">
                <a16:creationId xmlns:a16="http://schemas.microsoft.com/office/drawing/2014/main" id="{DDF1C424-2CA6-9B3C-AD09-1A600F8220E5}"/>
              </a:ext>
            </a:extLst>
          </p:cNvPr>
          <p:cNvGrpSpPr/>
          <p:nvPr/>
        </p:nvGrpSpPr>
        <p:grpSpPr>
          <a:xfrm>
            <a:off x="11076630" y="3466395"/>
            <a:ext cx="1011607" cy="1011607"/>
            <a:chOff x="0" y="0"/>
            <a:chExt cx="812800" cy="812800"/>
          </a:xfrm>
        </p:grpSpPr>
        <p:sp>
          <p:nvSpPr>
            <p:cNvPr id="50" name="Freeform 50">
              <a:extLst>
                <a:ext uri="{FF2B5EF4-FFF2-40B4-BE49-F238E27FC236}">
                  <a16:creationId xmlns:a16="http://schemas.microsoft.com/office/drawing/2014/main" id="{924E313A-2003-89A9-6B32-98EAF38CE7F4}"/>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id="51" name="TextBox 51">
              <a:extLst>
                <a:ext uri="{FF2B5EF4-FFF2-40B4-BE49-F238E27FC236}">
                  <a16:creationId xmlns:a16="http://schemas.microsoft.com/office/drawing/2014/main" id="{BCBC56E8-C702-1B80-ACA1-918858EFB205}"/>
                </a:ext>
              </a:extLst>
            </p:cNvPr>
            <p:cNvSpPr txBox="1"/>
            <p:nvPr/>
          </p:nvSpPr>
          <p:spPr>
            <a:xfrm>
              <a:off x="76200" y="38100"/>
              <a:ext cx="660400" cy="698500"/>
            </a:xfrm>
            <a:prstGeom prst="rect">
              <a:avLst/>
            </a:prstGeom>
          </p:spPr>
          <p:txBody>
            <a:bodyPr lIns="47086" tIns="47086" rIns="47086" bIns="47086" rtlCol="0" anchor="ctr"/>
            <a:lstStyle/>
            <a:p>
              <a:pPr algn="ctr">
                <a:lnSpc>
                  <a:spcPts val="2659"/>
                </a:lnSpc>
                <a:spcBef>
                  <a:spcPct val="0"/>
                </a:spcBef>
              </a:pPr>
              <a:endParaRPr/>
            </a:p>
          </p:txBody>
        </p:sp>
      </p:grpSp>
      <p:sp>
        <p:nvSpPr>
          <p:cNvPr id="57" name="Freeform 57">
            <a:extLst>
              <a:ext uri="{FF2B5EF4-FFF2-40B4-BE49-F238E27FC236}">
                <a16:creationId xmlns:a16="http://schemas.microsoft.com/office/drawing/2014/main" id="{435084E8-D75F-C158-698D-892C1306BA53}"/>
              </a:ext>
            </a:extLst>
          </p:cNvPr>
          <p:cNvSpPr/>
          <p:nvPr/>
        </p:nvSpPr>
        <p:spPr>
          <a:xfrm>
            <a:off x="11100568" y="7105032"/>
            <a:ext cx="1026728" cy="1025445"/>
          </a:xfrm>
          <a:custGeom>
            <a:avLst/>
            <a:gdLst/>
            <a:ahLst/>
            <a:cxnLst/>
            <a:rect l="l" t="t" r="r" b="b"/>
            <a:pathLst>
              <a:path w="1026728" h="1025445">
                <a:moveTo>
                  <a:pt x="0" y="0"/>
                </a:moveTo>
                <a:lnTo>
                  <a:pt x="1026728" y="0"/>
                </a:lnTo>
                <a:lnTo>
                  <a:pt x="1026728" y="1025445"/>
                </a:lnTo>
                <a:lnTo>
                  <a:pt x="0" y="1025445"/>
                </a:lnTo>
                <a:lnTo>
                  <a:pt x="0" y="0"/>
                </a:lnTo>
                <a:close/>
              </a:path>
            </a:pathLst>
          </a:custGeom>
          <a:blipFill>
            <a:blip r:embed="rId2"/>
            <a:stretch>
              <a:fillRect/>
            </a:stretch>
          </a:blipFill>
        </p:spPr>
      </p:sp>
      <p:grpSp>
        <p:nvGrpSpPr>
          <p:cNvPr id="58" name="Group 58">
            <a:extLst>
              <a:ext uri="{FF2B5EF4-FFF2-40B4-BE49-F238E27FC236}">
                <a16:creationId xmlns:a16="http://schemas.microsoft.com/office/drawing/2014/main" id="{521BBE8D-74E0-466A-BD26-C6DD13EEA0E3}"/>
              </a:ext>
            </a:extLst>
          </p:cNvPr>
          <p:cNvGrpSpPr/>
          <p:nvPr/>
        </p:nvGrpSpPr>
        <p:grpSpPr>
          <a:xfrm>
            <a:off x="11076630" y="7063996"/>
            <a:ext cx="1011607" cy="1011607"/>
            <a:chOff x="0" y="0"/>
            <a:chExt cx="812800" cy="812800"/>
          </a:xfrm>
        </p:grpSpPr>
        <p:sp>
          <p:nvSpPr>
            <p:cNvPr id="59" name="Freeform 59">
              <a:extLst>
                <a:ext uri="{FF2B5EF4-FFF2-40B4-BE49-F238E27FC236}">
                  <a16:creationId xmlns:a16="http://schemas.microsoft.com/office/drawing/2014/main" id="{87D1C6A4-35B8-B8E4-E17B-C67C04021BAD}"/>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id="60" name="TextBox 60">
              <a:extLst>
                <a:ext uri="{FF2B5EF4-FFF2-40B4-BE49-F238E27FC236}">
                  <a16:creationId xmlns:a16="http://schemas.microsoft.com/office/drawing/2014/main" id="{EDA0A6D3-9D47-ADBC-A398-3D44BB21C4A3}"/>
                </a:ext>
              </a:extLst>
            </p:cNvPr>
            <p:cNvSpPr txBox="1"/>
            <p:nvPr/>
          </p:nvSpPr>
          <p:spPr>
            <a:xfrm>
              <a:off x="76200" y="38100"/>
              <a:ext cx="660400" cy="698500"/>
            </a:xfrm>
            <a:prstGeom prst="rect">
              <a:avLst/>
            </a:prstGeom>
          </p:spPr>
          <p:txBody>
            <a:bodyPr lIns="47086" tIns="47086" rIns="47086" bIns="47086" rtlCol="0" anchor="ctr"/>
            <a:lstStyle/>
            <a:p>
              <a:pPr algn="ctr">
                <a:lnSpc>
                  <a:spcPts val="2659"/>
                </a:lnSpc>
                <a:spcBef>
                  <a:spcPct val="0"/>
                </a:spcBef>
              </a:pPr>
              <a:endParaRPr/>
            </a:p>
          </p:txBody>
        </p:sp>
      </p:grpSp>
      <p:sp>
        <p:nvSpPr>
          <p:cNvPr id="73" name="AutoShape 73">
            <a:extLst>
              <a:ext uri="{FF2B5EF4-FFF2-40B4-BE49-F238E27FC236}">
                <a16:creationId xmlns:a16="http://schemas.microsoft.com/office/drawing/2014/main" id="{70B75DF9-8A50-198A-42BA-CC2DB5F03231}"/>
              </a:ext>
            </a:extLst>
          </p:cNvPr>
          <p:cNvSpPr/>
          <p:nvPr/>
        </p:nvSpPr>
        <p:spPr>
          <a:xfrm>
            <a:off x="7766528" y="3987380"/>
            <a:ext cx="2754945" cy="0"/>
          </a:xfrm>
          <a:prstGeom prst="line">
            <a:avLst/>
          </a:prstGeom>
          <a:ln w="28575" cap="flat">
            <a:solidFill>
              <a:srgbClr val="F8F8F8"/>
            </a:solidFill>
            <a:prstDash val="solid"/>
            <a:headEnd type="none" w="sm" len="sm"/>
            <a:tailEnd type="none" w="sm" len="sm"/>
          </a:ln>
        </p:spPr>
      </p:sp>
      <p:sp>
        <p:nvSpPr>
          <p:cNvPr id="74" name="AutoShape 74">
            <a:extLst>
              <a:ext uri="{FF2B5EF4-FFF2-40B4-BE49-F238E27FC236}">
                <a16:creationId xmlns:a16="http://schemas.microsoft.com/office/drawing/2014/main" id="{6CA06DDC-6EC8-671F-0284-B49F441A5492}"/>
              </a:ext>
            </a:extLst>
          </p:cNvPr>
          <p:cNvSpPr/>
          <p:nvPr/>
        </p:nvSpPr>
        <p:spPr>
          <a:xfrm>
            <a:off x="7803885" y="7565054"/>
            <a:ext cx="2754945" cy="0"/>
          </a:xfrm>
          <a:prstGeom prst="line">
            <a:avLst/>
          </a:prstGeom>
          <a:ln w="28575" cap="flat">
            <a:solidFill>
              <a:srgbClr val="F8F8F8"/>
            </a:solidFill>
            <a:prstDash val="solid"/>
            <a:headEnd type="none" w="sm" len="sm"/>
            <a:tailEnd type="none" w="sm" len="sm"/>
          </a:ln>
        </p:spPr>
      </p:sp>
      <p:grpSp>
        <p:nvGrpSpPr>
          <p:cNvPr id="76" name="Group 76">
            <a:extLst>
              <a:ext uri="{FF2B5EF4-FFF2-40B4-BE49-F238E27FC236}">
                <a16:creationId xmlns:a16="http://schemas.microsoft.com/office/drawing/2014/main" id="{58D03707-2BA9-17D5-5D14-DE19E5AC1F7E}"/>
              </a:ext>
            </a:extLst>
          </p:cNvPr>
          <p:cNvGrpSpPr/>
          <p:nvPr/>
        </p:nvGrpSpPr>
        <p:grpSpPr>
          <a:xfrm>
            <a:off x="7657357" y="3878209"/>
            <a:ext cx="218342" cy="218342"/>
            <a:chOff x="0" y="0"/>
            <a:chExt cx="812800" cy="812800"/>
          </a:xfrm>
        </p:grpSpPr>
        <p:sp>
          <p:nvSpPr>
            <p:cNvPr id="77" name="Freeform 77">
              <a:extLst>
                <a:ext uri="{FF2B5EF4-FFF2-40B4-BE49-F238E27FC236}">
                  <a16:creationId xmlns:a16="http://schemas.microsoft.com/office/drawing/2014/main" id="{07E747EB-1CE4-D7CE-C7EF-F1154F8BA39F}"/>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A6AD6"/>
            </a:solidFill>
          </p:spPr>
        </p:sp>
        <p:sp>
          <p:nvSpPr>
            <p:cNvPr id="78" name="TextBox 78">
              <a:extLst>
                <a:ext uri="{FF2B5EF4-FFF2-40B4-BE49-F238E27FC236}">
                  <a16:creationId xmlns:a16="http://schemas.microsoft.com/office/drawing/2014/main" id="{7AC06BD2-DCE3-4FEB-6D56-100B71CEAE60}"/>
                </a:ext>
              </a:extLst>
            </p:cNvPr>
            <p:cNvSpPr txBox="1"/>
            <p:nvPr/>
          </p:nvSpPr>
          <p:spPr>
            <a:xfrm>
              <a:off x="76200" y="38100"/>
              <a:ext cx="660400" cy="698500"/>
            </a:xfrm>
            <a:prstGeom prst="rect">
              <a:avLst/>
            </a:prstGeom>
          </p:spPr>
          <p:txBody>
            <a:bodyPr lIns="47086" tIns="47086" rIns="47086" bIns="47086" rtlCol="0" anchor="ctr"/>
            <a:lstStyle/>
            <a:p>
              <a:pPr algn="ctr">
                <a:lnSpc>
                  <a:spcPts val="2659"/>
                </a:lnSpc>
                <a:spcBef>
                  <a:spcPct val="0"/>
                </a:spcBef>
              </a:pPr>
              <a:endParaRPr/>
            </a:p>
          </p:txBody>
        </p:sp>
      </p:grpSp>
      <p:grpSp>
        <p:nvGrpSpPr>
          <p:cNvPr id="79" name="Group 79">
            <a:extLst>
              <a:ext uri="{FF2B5EF4-FFF2-40B4-BE49-F238E27FC236}">
                <a16:creationId xmlns:a16="http://schemas.microsoft.com/office/drawing/2014/main" id="{AA63290E-702C-E0F9-4B7C-074B2F7C07BD}"/>
              </a:ext>
            </a:extLst>
          </p:cNvPr>
          <p:cNvGrpSpPr/>
          <p:nvPr/>
        </p:nvGrpSpPr>
        <p:grpSpPr>
          <a:xfrm>
            <a:off x="10412301" y="3878209"/>
            <a:ext cx="218342" cy="218342"/>
            <a:chOff x="0" y="0"/>
            <a:chExt cx="812800" cy="812800"/>
          </a:xfrm>
        </p:grpSpPr>
        <p:sp>
          <p:nvSpPr>
            <p:cNvPr id="80" name="Freeform 80">
              <a:extLst>
                <a:ext uri="{FF2B5EF4-FFF2-40B4-BE49-F238E27FC236}">
                  <a16:creationId xmlns:a16="http://schemas.microsoft.com/office/drawing/2014/main" id="{BE8CE2F9-6001-6F1D-EDBB-C6A7042C8005}"/>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A6AD6"/>
            </a:solidFill>
          </p:spPr>
        </p:sp>
        <p:sp>
          <p:nvSpPr>
            <p:cNvPr id="81" name="TextBox 81">
              <a:extLst>
                <a:ext uri="{FF2B5EF4-FFF2-40B4-BE49-F238E27FC236}">
                  <a16:creationId xmlns:a16="http://schemas.microsoft.com/office/drawing/2014/main" id="{970DC8DD-5C33-5927-54FE-005392BCE459}"/>
                </a:ext>
              </a:extLst>
            </p:cNvPr>
            <p:cNvSpPr txBox="1"/>
            <p:nvPr/>
          </p:nvSpPr>
          <p:spPr>
            <a:xfrm>
              <a:off x="76200" y="38100"/>
              <a:ext cx="660400" cy="698500"/>
            </a:xfrm>
            <a:prstGeom prst="rect">
              <a:avLst/>
            </a:prstGeom>
          </p:spPr>
          <p:txBody>
            <a:bodyPr lIns="47086" tIns="47086" rIns="47086" bIns="47086" rtlCol="0" anchor="ctr"/>
            <a:lstStyle/>
            <a:p>
              <a:pPr algn="ctr">
                <a:lnSpc>
                  <a:spcPts val="2659"/>
                </a:lnSpc>
                <a:spcBef>
                  <a:spcPct val="0"/>
                </a:spcBef>
              </a:pPr>
              <a:endParaRPr/>
            </a:p>
          </p:txBody>
        </p:sp>
      </p:grpSp>
      <p:grpSp>
        <p:nvGrpSpPr>
          <p:cNvPr id="82" name="Group 82">
            <a:extLst>
              <a:ext uri="{FF2B5EF4-FFF2-40B4-BE49-F238E27FC236}">
                <a16:creationId xmlns:a16="http://schemas.microsoft.com/office/drawing/2014/main" id="{AFEC3986-8B05-8317-E186-241BEAC45DBD}"/>
              </a:ext>
            </a:extLst>
          </p:cNvPr>
          <p:cNvGrpSpPr/>
          <p:nvPr/>
        </p:nvGrpSpPr>
        <p:grpSpPr>
          <a:xfrm>
            <a:off x="7706458" y="7459684"/>
            <a:ext cx="218342" cy="218342"/>
            <a:chOff x="0" y="0"/>
            <a:chExt cx="812800" cy="812800"/>
          </a:xfrm>
        </p:grpSpPr>
        <p:sp>
          <p:nvSpPr>
            <p:cNvPr id="83" name="Freeform 83">
              <a:extLst>
                <a:ext uri="{FF2B5EF4-FFF2-40B4-BE49-F238E27FC236}">
                  <a16:creationId xmlns:a16="http://schemas.microsoft.com/office/drawing/2014/main" id="{31622B5E-13A7-CAB0-92C2-B5C99839A75E}"/>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A6AD6"/>
            </a:solidFill>
          </p:spPr>
        </p:sp>
        <p:sp>
          <p:nvSpPr>
            <p:cNvPr id="84" name="TextBox 84">
              <a:extLst>
                <a:ext uri="{FF2B5EF4-FFF2-40B4-BE49-F238E27FC236}">
                  <a16:creationId xmlns:a16="http://schemas.microsoft.com/office/drawing/2014/main" id="{ECA8C86B-696D-A7FF-1EA8-97F8A01A65CA}"/>
                </a:ext>
              </a:extLst>
            </p:cNvPr>
            <p:cNvSpPr txBox="1"/>
            <p:nvPr/>
          </p:nvSpPr>
          <p:spPr>
            <a:xfrm>
              <a:off x="76200" y="38100"/>
              <a:ext cx="660400" cy="698500"/>
            </a:xfrm>
            <a:prstGeom prst="rect">
              <a:avLst/>
            </a:prstGeom>
          </p:spPr>
          <p:txBody>
            <a:bodyPr lIns="47086" tIns="47086" rIns="47086" bIns="47086" rtlCol="0" anchor="ctr"/>
            <a:lstStyle/>
            <a:p>
              <a:pPr algn="ctr">
                <a:lnSpc>
                  <a:spcPts val="2659"/>
                </a:lnSpc>
                <a:spcBef>
                  <a:spcPct val="0"/>
                </a:spcBef>
              </a:pPr>
              <a:endParaRPr/>
            </a:p>
          </p:txBody>
        </p:sp>
      </p:grpSp>
      <p:grpSp>
        <p:nvGrpSpPr>
          <p:cNvPr id="85" name="Group 85">
            <a:extLst>
              <a:ext uri="{FF2B5EF4-FFF2-40B4-BE49-F238E27FC236}">
                <a16:creationId xmlns:a16="http://schemas.microsoft.com/office/drawing/2014/main" id="{EE4556F6-14FA-84FE-958B-75575F034540}"/>
              </a:ext>
            </a:extLst>
          </p:cNvPr>
          <p:cNvGrpSpPr/>
          <p:nvPr/>
        </p:nvGrpSpPr>
        <p:grpSpPr>
          <a:xfrm>
            <a:off x="10449658" y="7439758"/>
            <a:ext cx="218342" cy="218342"/>
            <a:chOff x="0" y="0"/>
            <a:chExt cx="812800" cy="812800"/>
          </a:xfrm>
        </p:grpSpPr>
        <p:sp>
          <p:nvSpPr>
            <p:cNvPr id="86" name="Freeform 86">
              <a:extLst>
                <a:ext uri="{FF2B5EF4-FFF2-40B4-BE49-F238E27FC236}">
                  <a16:creationId xmlns:a16="http://schemas.microsoft.com/office/drawing/2014/main" id="{6B85AAA5-0A10-1465-86A4-AA880B2BD694}"/>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A6AD6"/>
            </a:solidFill>
          </p:spPr>
        </p:sp>
        <p:sp>
          <p:nvSpPr>
            <p:cNvPr id="87" name="TextBox 87">
              <a:extLst>
                <a:ext uri="{FF2B5EF4-FFF2-40B4-BE49-F238E27FC236}">
                  <a16:creationId xmlns:a16="http://schemas.microsoft.com/office/drawing/2014/main" id="{5332C674-C5DC-BFBE-FE4C-E0D547044F42}"/>
                </a:ext>
              </a:extLst>
            </p:cNvPr>
            <p:cNvSpPr txBox="1"/>
            <p:nvPr/>
          </p:nvSpPr>
          <p:spPr>
            <a:xfrm>
              <a:off x="76200" y="38100"/>
              <a:ext cx="660400" cy="698500"/>
            </a:xfrm>
            <a:prstGeom prst="rect">
              <a:avLst/>
            </a:prstGeom>
          </p:spPr>
          <p:txBody>
            <a:bodyPr lIns="47086" tIns="47086" rIns="47086" bIns="47086" rtlCol="0" anchor="ctr"/>
            <a:lstStyle/>
            <a:p>
              <a:pPr algn="ctr">
                <a:lnSpc>
                  <a:spcPts val="2659"/>
                </a:lnSpc>
                <a:spcBef>
                  <a:spcPct val="0"/>
                </a:spcBef>
              </a:pPr>
              <a:endParaRPr/>
            </a:p>
          </p:txBody>
        </p:sp>
      </p:grpSp>
      <p:sp>
        <p:nvSpPr>
          <p:cNvPr id="94" name="AutoShape 94">
            <a:extLst>
              <a:ext uri="{FF2B5EF4-FFF2-40B4-BE49-F238E27FC236}">
                <a16:creationId xmlns:a16="http://schemas.microsoft.com/office/drawing/2014/main" id="{8CF6FAE6-A4C1-7EAF-8298-AF4BCFEE09E0}"/>
              </a:ext>
            </a:extLst>
          </p:cNvPr>
          <p:cNvSpPr/>
          <p:nvPr/>
        </p:nvSpPr>
        <p:spPr>
          <a:xfrm>
            <a:off x="9144000" y="4001667"/>
            <a:ext cx="0" cy="6285333"/>
          </a:xfrm>
          <a:prstGeom prst="line">
            <a:avLst/>
          </a:prstGeom>
          <a:ln w="28575" cap="flat">
            <a:solidFill>
              <a:srgbClr val="F8F8F8"/>
            </a:solidFill>
            <a:prstDash val="solid"/>
            <a:headEnd type="none" w="sm" len="sm"/>
            <a:tailEnd type="none" w="sm" len="sm"/>
          </a:ln>
        </p:spPr>
      </p:sp>
      <p:grpSp>
        <p:nvGrpSpPr>
          <p:cNvPr id="10" name="Group 18">
            <a:extLst>
              <a:ext uri="{FF2B5EF4-FFF2-40B4-BE49-F238E27FC236}">
                <a16:creationId xmlns:a16="http://schemas.microsoft.com/office/drawing/2014/main" id="{04FB8B3A-FCCB-5150-0CFA-DE89506CEEB8}"/>
              </a:ext>
            </a:extLst>
          </p:cNvPr>
          <p:cNvGrpSpPr/>
          <p:nvPr/>
        </p:nvGrpSpPr>
        <p:grpSpPr>
          <a:xfrm>
            <a:off x="-45631" y="6438900"/>
            <a:ext cx="7436668" cy="2018545"/>
            <a:chOff x="0" y="0"/>
            <a:chExt cx="1013318" cy="260488"/>
          </a:xfrm>
        </p:grpSpPr>
        <p:sp>
          <p:nvSpPr>
            <p:cNvPr id="11" name="Freeform 19">
              <a:extLst>
                <a:ext uri="{FF2B5EF4-FFF2-40B4-BE49-F238E27FC236}">
                  <a16:creationId xmlns:a16="http://schemas.microsoft.com/office/drawing/2014/main" id="{53ECC65E-EF86-02A3-285B-527D94EDA4F7}"/>
                </a:ext>
              </a:extLst>
            </p:cNvPr>
            <p:cNvSpPr/>
            <p:nvPr/>
          </p:nvSpPr>
          <p:spPr>
            <a:xfrm>
              <a:off x="0" y="0"/>
              <a:ext cx="1013318" cy="260488"/>
            </a:xfrm>
            <a:custGeom>
              <a:avLst/>
              <a:gdLst/>
              <a:ahLst/>
              <a:cxnLst/>
              <a:rect l="l" t="t" r="r" b="b"/>
              <a:pathLst>
                <a:path w="1013318" h="260488">
                  <a:moveTo>
                    <a:pt x="130244" y="0"/>
                  </a:moveTo>
                  <a:lnTo>
                    <a:pt x="883074" y="0"/>
                  </a:lnTo>
                  <a:cubicBezTo>
                    <a:pt x="917617" y="0"/>
                    <a:pt x="950745" y="13722"/>
                    <a:pt x="975171" y="38148"/>
                  </a:cubicBezTo>
                  <a:cubicBezTo>
                    <a:pt x="999596" y="62573"/>
                    <a:pt x="1013318" y="95701"/>
                    <a:pt x="1013318" y="130244"/>
                  </a:cubicBezTo>
                  <a:lnTo>
                    <a:pt x="1013318" y="130244"/>
                  </a:lnTo>
                  <a:cubicBezTo>
                    <a:pt x="1013318" y="202175"/>
                    <a:pt x="955006" y="260488"/>
                    <a:pt x="883074" y="260488"/>
                  </a:cubicBezTo>
                  <a:lnTo>
                    <a:pt x="130244" y="260488"/>
                  </a:lnTo>
                  <a:cubicBezTo>
                    <a:pt x="95701" y="260488"/>
                    <a:pt x="62573" y="246766"/>
                    <a:pt x="38148" y="222340"/>
                  </a:cubicBezTo>
                  <a:cubicBezTo>
                    <a:pt x="13722" y="197915"/>
                    <a:pt x="0" y="164787"/>
                    <a:pt x="0" y="130244"/>
                  </a:cubicBezTo>
                  <a:lnTo>
                    <a:pt x="0" y="130244"/>
                  </a:lnTo>
                  <a:cubicBezTo>
                    <a:pt x="0" y="95701"/>
                    <a:pt x="13722" y="62573"/>
                    <a:pt x="38148" y="38148"/>
                  </a:cubicBezTo>
                  <a:cubicBezTo>
                    <a:pt x="62573" y="13722"/>
                    <a:pt x="95701" y="0"/>
                    <a:pt x="130244" y="0"/>
                  </a:cubicBezTo>
                  <a:close/>
                </a:path>
              </a:pathLst>
            </a:custGeom>
            <a:solidFill>
              <a:srgbClr val="F8F8F8"/>
            </a:solidFill>
          </p:spPr>
        </p:sp>
        <p:sp>
          <p:nvSpPr>
            <p:cNvPr id="12" name="TextBox 20">
              <a:extLst>
                <a:ext uri="{FF2B5EF4-FFF2-40B4-BE49-F238E27FC236}">
                  <a16:creationId xmlns:a16="http://schemas.microsoft.com/office/drawing/2014/main" id="{DFF92040-2672-0A43-7212-55EC9F242239}"/>
                </a:ext>
              </a:extLst>
            </p:cNvPr>
            <p:cNvSpPr txBox="1"/>
            <p:nvPr/>
          </p:nvSpPr>
          <p:spPr>
            <a:xfrm>
              <a:off x="0" y="-38100"/>
              <a:ext cx="1013318" cy="298588"/>
            </a:xfrm>
            <a:prstGeom prst="rect">
              <a:avLst/>
            </a:prstGeom>
          </p:spPr>
          <p:txBody>
            <a:bodyPr lIns="47086" tIns="47086" rIns="47086" bIns="47086" rtlCol="0" anchor="ctr"/>
            <a:lstStyle/>
            <a:p>
              <a:pPr algn="ctr">
                <a:lnSpc>
                  <a:spcPts val="2659"/>
                </a:lnSpc>
              </a:pPr>
              <a:endParaRPr/>
            </a:p>
          </p:txBody>
        </p:sp>
      </p:grpSp>
      <p:sp>
        <p:nvSpPr>
          <p:cNvPr id="13" name="Freeform 21">
            <a:extLst>
              <a:ext uri="{FF2B5EF4-FFF2-40B4-BE49-F238E27FC236}">
                <a16:creationId xmlns:a16="http://schemas.microsoft.com/office/drawing/2014/main" id="{632610F3-6B0B-8636-78AB-5FFD6BF3AB84}"/>
              </a:ext>
            </a:extLst>
          </p:cNvPr>
          <p:cNvSpPr/>
          <p:nvPr/>
        </p:nvSpPr>
        <p:spPr>
          <a:xfrm>
            <a:off x="6235272" y="6970483"/>
            <a:ext cx="1026728" cy="1025445"/>
          </a:xfrm>
          <a:custGeom>
            <a:avLst/>
            <a:gdLst/>
            <a:ahLst/>
            <a:cxnLst/>
            <a:rect l="l" t="t" r="r" b="b"/>
            <a:pathLst>
              <a:path w="1026728" h="1025445">
                <a:moveTo>
                  <a:pt x="0" y="0"/>
                </a:moveTo>
                <a:lnTo>
                  <a:pt x="1026728" y="0"/>
                </a:lnTo>
                <a:lnTo>
                  <a:pt x="1026728" y="1025445"/>
                </a:lnTo>
                <a:lnTo>
                  <a:pt x="0" y="1025445"/>
                </a:lnTo>
                <a:lnTo>
                  <a:pt x="0" y="0"/>
                </a:lnTo>
                <a:close/>
              </a:path>
            </a:pathLst>
          </a:custGeom>
          <a:blipFill>
            <a:blip r:embed="rId2"/>
            <a:stretch>
              <a:fillRect/>
            </a:stretch>
          </a:blipFill>
        </p:spPr>
      </p:sp>
      <p:grpSp>
        <p:nvGrpSpPr>
          <p:cNvPr id="34" name="Group 22">
            <a:extLst>
              <a:ext uri="{FF2B5EF4-FFF2-40B4-BE49-F238E27FC236}">
                <a16:creationId xmlns:a16="http://schemas.microsoft.com/office/drawing/2014/main" id="{A1C06986-4E59-96B8-5B72-C8453351AA2E}"/>
              </a:ext>
            </a:extLst>
          </p:cNvPr>
          <p:cNvGrpSpPr/>
          <p:nvPr/>
        </p:nvGrpSpPr>
        <p:grpSpPr>
          <a:xfrm>
            <a:off x="6211334" y="6929446"/>
            <a:ext cx="1011607" cy="1011607"/>
            <a:chOff x="0" y="0"/>
            <a:chExt cx="812800" cy="812800"/>
          </a:xfrm>
        </p:grpSpPr>
        <p:sp>
          <p:nvSpPr>
            <p:cNvPr id="36" name="Freeform 23">
              <a:extLst>
                <a:ext uri="{FF2B5EF4-FFF2-40B4-BE49-F238E27FC236}">
                  <a16:creationId xmlns:a16="http://schemas.microsoft.com/office/drawing/2014/main" id="{3C352E25-6ABB-C5D2-28C3-970BE47768EF}"/>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id="37" name="TextBox 24">
              <a:extLst>
                <a:ext uri="{FF2B5EF4-FFF2-40B4-BE49-F238E27FC236}">
                  <a16:creationId xmlns:a16="http://schemas.microsoft.com/office/drawing/2014/main" id="{261BD6A7-F17B-5D6E-9667-C3569A5BDB13}"/>
                </a:ext>
              </a:extLst>
            </p:cNvPr>
            <p:cNvSpPr txBox="1"/>
            <p:nvPr/>
          </p:nvSpPr>
          <p:spPr>
            <a:xfrm>
              <a:off x="76200" y="38100"/>
              <a:ext cx="660400" cy="698500"/>
            </a:xfrm>
            <a:prstGeom prst="rect">
              <a:avLst/>
            </a:prstGeom>
          </p:spPr>
          <p:txBody>
            <a:bodyPr lIns="47086" tIns="47086" rIns="47086" bIns="47086" rtlCol="0" anchor="ctr"/>
            <a:lstStyle/>
            <a:p>
              <a:pPr algn="ctr">
                <a:lnSpc>
                  <a:spcPts val="2659"/>
                </a:lnSpc>
                <a:spcBef>
                  <a:spcPct val="0"/>
                </a:spcBef>
              </a:pPr>
              <a:endParaRPr/>
            </a:p>
          </p:txBody>
        </p:sp>
      </p:grpSp>
      <p:sp>
        <p:nvSpPr>
          <p:cNvPr id="38" name="TextBox 25">
            <a:extLst>
              <a:ext uri="{FF2B5EF4-FFF2-40B4-BE49-F238E27FC236}">
                <a16:creationId xmlns:a16="http://schemas.microsoft.com/office/drawing/2014/main" id="{5E863D2A-0B1D-E187-2ABD-44B3FC611063}"/>
              </a:ext>
            </a:extLst>
          </p:cNvPr>
          <p:cNvSpPr txBox="1"/>
          <p:nvPr/>
        </p:nvSpPr>
        <p:spPr>
          <a:xfrm>
            <a:off x="833357" y="7048500"/>
            <a:ext cx="6481843" cy="849207"/>
          </a:xfrm>
          <a:prstGeom prst="rect">
            <a:avLst/>
          </a:prstGeom>
        </p:spPr>
        <p:txBody>
          <a:bodyPr wrap="square" lIns="0" tIns="0" rIns="0" bIns="0" rtlCol="0" anchor="t">
            <a:spAutoFit/>
          </a:bodyPr>
          <a:lstStyle/>
          <a:p>
            <a:pPr>
              <a:lnSpc>
                <a:spcPts val="3422"/>
              </a:lnSpc>
              <a:spcBef>
                <a:spcPct val="0"/>
              </a:spcBef>
            </a:pPr>
            <a:r>
              <a:rPr lang="en-GB" sz="2400" b="1" dirty="0">
                <a:solidFill>
                  <a:schemeClr val="accent6">
                    <a:lumMod val="75000"/>
                  </a:schemeClr>
                </a:solidFill>
                <a:latin typeface="Poppins"/>
                <a:ea typeface="Poppins"/>
                <a:cs typeface="Poppins"/>
                <a:sym typeface="Poppins"/>
              </a:rPr>
              <a:t> </a:t>
            </a:r>
            <a:r>
              <a:rPr lang="en-GB" sz="3200" b="1" dirty="0" err="1">
                <a:solidFill>
                  <a:schemeClr val="accent6">
                    <a:lumMod val="75000"/>
                  </a:schemeClr>
                </a:solidFill>
                <a:latin typeface="Poppins"/>
                <a:ea typeface="Poppins"/>
                <a:cs typeface="Poppins"/>
                <a:sym typeface="Poppins"/>
              </a:rPr>
              <a:t>CodeCarbon</a:t>
            </a:r>
            <a:r>
              <a:rPr lang="en-GB" sz="3200" b="1" dirty="0">
                <a:solidFill>
                  <a:schemeClr val="accent6">
                    <a:lumMod val="75000"/>
                  </a:schemeClr>
                </a:solidFill>
                <a:latin typeface="Poppins"/>
                <a:ea typeface="Poppins"/>
                <a:cs typeface="Poppins"/>
                <a:sym typeface="Poppins"/>
              </a:rPr>
              <a:t>:  </a:t>
            </a:r>
            <a:r>
              <a:rPr lang="en-GB" sz="2400" b="1" dirty="0">
                <a:solidFill>
                  <a:schemeClr val="bg1">
                    <a:lumMod val="50000"/>
                  </a:schemeClr>
                </a:solidFill>
                <a:latin typeface="Poppins"/>
                <a:ea typeface="Poppins"/>
                <a:cs typeface="Poppins"/>
                <a:sym typeface="Poppins"/>
              </a:rPr>
              <a:t>To measure energy consumption and emissions</a:t>
            </a:r>
          </a:p>
        </p:txBody>
      </p:sp>
      <p:sp>
        <p:nvSpPr>
          <p:cNvPr id="40" name="TextBox 25">
            <a:extLst>
              <a:ext uri="{FF2B5EF4-FFF2-40B4-BE49-F238E27FC236}">
                <a16:creationId xmlns:a16="http://schemas.microsoft.com/office/drawing/2014/main" id="{A11D36EF-092E-E6DE-A48E-93719F896B30}"/>
              </a:ext>
            </a:extLst>
          </p:cNvPr>
          <p:cNvSpPr txBox="1"/>
          <p:nvPr/>
        </p:nvSpPr>
        <p:spPr>
          <a:xfrm>
            <a:off x="12192000" y="3401076"/>
            <a:ext cx="6178845" cy="1285224"/>
          </a:xfrm>
          <a:prstGeom prst="rect">
            <a:avLst/>
          </a:prstGeom>
        </p:spPr>
        <p:txBody>
          <a:bodyPr wrap="square" lIns="0" tIns="0" rIns="0" bIns="0" rtlCol="0" anchor="t">
            <a:spAutoFit/>
          </a:bodyPr>
          <a:lstStyle/>
          <a:p>
            <a:pPr>
              <a:lnSpc>
                <a:spcPts val="3422"/>
              </a:lnSpc>
              <a:spcBef>
                <a:spcPct val="0"/>
              </a:spcBef>
            </a:pPr>
            <a:r>
              <a:rPr lang="en-GB" sz="3200" b="1" dirty="0">
                <a:solidFill>
                  <a:schemeClr val="accent6">
                    <a:lumMod val="75000"/>
                  </a:schemeClr>
                </a:solidFill>
                <a:latin typeface="Poppins"/>
                <a:ea typeface="Poppins"/>
                <a:cs typeface="Poppins"/>
                <a:sym typeface="Poppins"/>
              </a:rPr>
              <a:t>Google </a:t>
            </a:r>
            <a:r>
              <a:rPr lang="en-GB" sz="3200" b="1" dirty="0" err="1">
                <a:solidFill>
                  <a:schemeClr val="accent6">
                    <a:lumMod val="75000"/>
                  </a:schemeClr>
                </a:solidFill>
                <a:latin typeface="Poppins"/>
                <a:ea typeface="Poppins"/>
                <a:cs typeface="Poppins"/>
                <a:sym typeface="Poppins"/>
              </a:rPr>
              <a:t>Colab</a:t>
            </a:r>
            <a:endParaRPr lang="en-GB" sz="3200" b="1" dirty="0">
              <a:solidFill>
                <a:schemeClr val="accent6">
                  <a:lumMod val="75000"/>
                </a:schemeClr>
              </a:solidFill>
              <a:latin typeface="Poppins"/>
              <a:ea typeface="Poppins"/>
              <a:cs typeface="Poppins"/>
              <a:sym typeface="Poppins"/>
            </a:endParaRPr>
          </a:p>
          <a:p>
            <a:pPr>
              <a:lnSpc>
                <a:spcPts val="3422"/>
              </a:lnSpc>
              <a:spcBef>
                <a:spcPct val="0"/>
              </a:spcBef>
            </a:pPr>
            <a:r>
              <a:rPr lang="en-GB" sz="3100" b="1" dirty="0">
                <a:solidFill>
                  <a:schemeClr val="bg1">
                    <a:lumMod val="50000"/>
                  </a:schemeClr>
                </a:solidFill>
                <a:latin typeface="Poppins"/>
                <a:ea typeface="Poppins"/>
                <a:cs typeface="Poppins"/>
                <a:sym typeface="Poppins"/>
              </a:rPr>
              <a:t> </a:t>
            </a:r>
            <a:r>
              <a:rPr lang="en-GB" sz="2400" b="1" dirty="0">
                <a:solidFill>
                  <a:schemeClr val="bg1">
                    <a:lumMod val="50000"/>
                  </a:schemeClr>
                </a:solidFill>
                <a:latin typeface="Poppins"/>
                <a:ea typeface="Poppins"/>
                <a:cs typeface="Poppins"/>
                <a:sym typeface="Poppins"/>
              </a:rPr>
              <a:t>To run Python notebooks and share screenshots</a:t>
            </a:r>
            <a:endParaRPr lang="en-GB" sz="3100" b="1" dirty="0">
              <a:solidFill>
                <a:schemeClr val="bg1">
                  <a:lumMod val="50000"/>
                </a:schemeClr>
              </a:solidFill>
              <a:latin typeface="Poppins"/>
              <a:ea typeface="Poppins"/>
              <a:cs typeface="Poppins"/>
              <a:sym typeface="Poppins"/>
            </a:endParaRPr>
          </a:p>
        </p:txBody>
      </p:sp>
      <p:sp>
        <p:nvSpPr>
          <p:cNvPr id="66" name="TextBox 25">
            <a:extLst>
              <a:ext uri="{FF2B5EF4-FFF2-40B4-BE49-F238E27FC236}">
                <a16:creationId xmlns:a16="http://schemas.microsoft.com/office/drawing/2014/main" id="{BE4AF335-1502-7CE6-8672-49525FBC846A}"/>
              </a:ext>
            </a:extLst>
          </p:cNvPr>
          <p:cNvSpPr txBox="1"/>
          <p:nvPr/>
        </p:nvSpPr>
        <p:spPr>
          <a:xfrm>
            <a:off x="11963400" y="7088558"/>
            <a:ext cx="6178845" cy="874342"/>
          </a:xfrm>
          <a:prstGeom prst="rect">
            <a:avLst/>
          </a:prstGeom>
        </p:spPr>
        <p:txBody>
          <a:bodyPr wrap="square" lIns="0" tIns="0" rIns="0" bIns="0" rtlCol="0" anchor="t">
            <a:spAutoFit/>
          </a:bodyPr>
          <a:lstStyle/>
          <a:p>
            <a:pPr>
              <a:lnSpc>
                <a:spcPts val="3422"/>
              </a:lnSpc>
              <a:spcBef>
                <a:spcPct val="0"/>
              </a:spcBef>
            </a:pPr>
            <a:r>
              <a:rPr lang="en-GB" sz="3100" b="1" dirty="0">
                <a:solidFill>
                  <a:schemeClr val="bg1">
                    <a:lumMod val="50000"/>
                  </a:schemeClr>
                </a:solidFill>
                <a:latin typeface="Poppins"/>
                <a:ea typeface="Poppins"/>
                <a:cs typeface="Poppins"/>
                <a:sym typeface="Poppins"/>
              </a:rPr>
              <a:t> </a:t>
            </a:r>
            <a:r>
              <a:rPr lang="en-GB" sz="3200" b="1" dirty="0" err="1">
                <a:solidFill>
                  <a:schemeClr val="accent6">
                    <a:lumMod val="75000"/>
                  </a:schemeClr>
                </a:solidFill>
                <a:latin typeface="Poppins"/>
                <a:ea typeface="Poppins"/>
                <a:cs typeface="Poppins"/>
                <a:sym typeface="Poppins"/>
              </a:rPr>
              <a:t>Jupyter</a:t>
            </a:r>
            <a:r>
              <a:rPr lang="en-GB" sz="3200" b="1" dirty="0">
                <a:solidFill>
                  <a:schemeClr val="accent6">
                    <a:lumMod val="75000"/>
                  </a:schemeClr>
                </a:solidFill>
                <a:latin typeface="Poppins"/>
                <a:ea typeface="Poppins"/>
                <a:cs typeface="Poppins"/>
                <a:sym typeface="Poppins"/>
              </a:rPr>
              <a:t> Notebook</a:t>
            </a:r>
          </a:p>
          <a:p>
            <a:pPr>
              <a:lnSpc>
                <a:spcPts val="3422"/>
              </a:lnSpc>
              <a:spcBef>
                <a:spcPct val="0"/>
              </a:spcBef>
            </a:pPr>
            <a:r>
              <a:rPr lang="en-GB" sz="3100" b="1" dirty="0">
                <a:solidFill>
                  <a:schemeClr val="bg1">
                    <a:lumMod val="50000"/>
                  </a:schemeClr>
                </a:solidFill>
                <a:latin typeface="Poppins"/>
                <a:ea typeface="Poppins"/>
                <a:cs typeface="Poppins"/>
                <a:sym typeface="Poppins"/>
              </a:rPr>
              <a:t> </a:t>
            </a:r>
            <a:r>
              <a:rPr lang="en-GB" sz="2400" b="1" dirty="0">
                <a:solidFill>
                  <a:schemeClr val="bg1">
                    <a:lumMod val="50000"/>
                  </a:schemeClr>
                </a:solidFill>
                <a:latin typeface="Poppins"/>
                <a:ea typeface="Poppins"/>
                <a:cs typeface="Poppins"/>
                <a:sym typeface="Poppins"/>
              </a:rPr>
              <a:t>For offline tracking and reproducibility</a:t>
            </a:r>
            <a:endParaRPr lang="en-GB" sz="3100" b="1" dirty="0">
              <a:solidFill>
                <a:schemeClr val="bg1">
                  <a:lumMod val="50000"/>
                </a:schemeClr>
              </a:solidFill>
              <a:latin typeface="Poppins"/>
              <a:ea typeface="Poppins"/>
              <a:cs typeface="Poppins"/>
              <a:sym typeface="Poppins"/>
            </a:endParaRPr>
          </a:p>
        </p:txBody>
      </p:sp>
      <p:pic>
        <p:nvPicPr>
          <p:cNvPr id="16386" name="Picture 2" descr="Tools - Free computer icons">
            <a:extLst>
              <a:ext uri="{FF2B5EF4-FFF2-40B4-BE49-F238E27FC236}">
                <a16:creationId xmlns:a16="http://schemas.microsoft.com/office/drawing/2014/main" id="{B3D71CAE-608A-8695-D551-4B61803B33DC}"/>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602566" y="1096866"/>
            <a:ext cx="1074834" cy="107483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8998964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Click="0">
        <p159:morph option="byObject"/>
      </p:transition>
    </mc:Choice>
    <mc:Fallback xmlns="">
      <p:transition spd="slow" advClick="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2" presetClass="emph" presetSubtype="0" fill="hold" grpId="0" nodeType="afterEffect">
                                  <p:stCondLst>
                                    <p:cond delay="0"/>
                                  </p:stCondLst>
                                  <p:childTnLst>
                                    <p:animRot by="120000">
                                      <p:cBhvr>
                                        <p:cTn id="6" dur="200" fill="hold">
                                          <p:stCondLst>
                                            <p:cond delay="0"/>
                                          </p:stCondLst>
                                        </p:cTn>
                                        <p:tgtEl>
                                          <p:spTgt spid="9"/>
                                        </p:tgtEl>
                                        <p:attrNameLst>
                                          <p:attrName>r</p:attrName>
                                        </p:attrNameLst>
                                      </p:cBhvr>
                                    </p:animRot>
                                    <p:animRot by="-240000">
                                      <p:cBhvr>
                                        <p:cTn id="7" dur="400" fill="hold">
                                          <p:stCondLst>
                                            <p:cond delay="400"/>
                                          </p:stCondLst>
                                        </p:cTn>
                                        <p:tgtEl>
                                          <p:spTgt spid="9"/>
                                        </p:tgtEl>
                                        <p:attrNameLst>
                                          <p:attrName>r</p:attrName>
                                        </p:attrNameLst>
                                      </p:cBhvr>
                                    </p:animRot>
                                    <p:animRot by="240000">
                                      <p:cBhvr>
                                        <p:cTn id="8" dur="400" fill="hold">
                                          <p:stCondLst>
                                            <p:cond delay="800"/>
                                          </p:stCondLst>
                                        </p:cTn>
                                        <p:tgtEl>
                                          <p:spTgt spid="9"/>
                                        </p:tgtEl>
                                        <p:attrNameLst>
                                          <p:attrName>r</p:attrName>
                                        </p:attrNameLst>
                                      </p:cBhvr>
                                    </p:animRot>
                                    <p:animRot by="-240000">
                                      <p:cBhvr>
                                        <p:cTn id="9" dur="400" fill="hold">
                                          <p:stCondLst>
                                            <p:cond delay="1200"/>
                                          </p:stCondLst>
                                        </p:cTn>
                                        <p:tgtEl>
                                          <p:spTgt spid="9"/>
                                        </p:tgtEl>
                                        <p:attrNameLst>
                                          <p:attrName>r</p:attrName>
                                        </p:attrNameLst>
                                      </p:cBhvr>
                                    </p:animRot>
                                    <p:animRot by="120000">
                                      <p:cBhvr>
                                        <p:cTn id="10" dur="400" fill="hold">
                                          <p:stCondLst>
                                            <p:cond delay="1600"/>
                                          </p:stCondLst>
                                        </p:cTn>
                                        <p:tgtEl>
                                          <p:spTgt spid="9"/>
                                        </p:tgtEl>
                                        <p:attrNameLst>
                                          <p:attrName>r</p:attrName>
                                        </p:attrNameLst>
                                      </p:cBhvr>
                                    </p:animRot>
                                  </p:childTnLst>
                                </p:cTn>
                              </p:par>
                            </p:childTnLst>
                          </p:cTn>
                        </p:par>
                        <p:par>
                          <p:cTn id="11" fill="hold">
                            <p:stCondLst>
                              <p:cond delay="2000"/>
                            </p:stCondLst>
                            <p:childTnLst>
                              <p:par>
                                <p:cTn id="12" presetID="45" presetClass="entr" presetSubtype="0" fill="hold" nodeType="afterEffect">
                                  <p:stCondLst>
                                    <p:cond delay="0"/>
                                  </p:stCondLst>
                                  <p:childTnLst>
                                    <p:set>
                                      <p:cBhvr>
                                        <p:cTn id="13" dur="1" fill="hold">
                                          <p:stCondLst>
                                            <p:cond delay="0"/>
                                          </p:stCondLst>
                                        </p:cTn>
                                        <p:tgtEl>
                                          <p:spTgt spid="16386"/>
                                        </p:tgtEl>
                                        <p:attrNameLst>
                                          <p:attrName>style.visibility</p:attrName>
                                        </p:attrNameLst>
                                      </p:cBhvr>
                                      <p:to>
                                        <p:strVal val="visible"/>
                                      </p:to>
                                    </p:set>
                                    <p:animEffect transition="in" filter="fade">
                                      <p:cBhvr>
                                        <p:cTn id="14" dur="2000"/>
                                        <p:tgtEl>
                                          <p:spTgt spid="16386"/>
                                        </p:tgtEl>
                                      </p:cBhvr>
                                    </p:animEffect>
                                    <p:anim calcmode="lin" valueType="num">
                                      <p:cBhvr>
                                        <p:cTn id="15" dur="2000" fill="hold"/>
                                        <p:tgtEl>
                                          <p:spTgt spid="16386"/>
                                        </p:tgtEl>
                                        <p:attrNameLst>
                                          <p:attrName>ppt_w</p:attrName>
                                        </p:attrNameLst>
                                      </p:cBhvr>
                                      <p:tavLst>
                                        <p:tav tm="0" fmla="#ppt_w*sin(2.5*pi*$)">
                                          <p:val>
                                            <p:fltVal val="0"/>
                                          </p:val>
                                        </p:tav>
                                        <p:tav tm="100000">
                                          <p:val>
                                            <p:fltVal val="1"/>
                                          </p:val>
                                        </p:tav>
                                      </p:tavLst>
                                    </p:anim>
                                    <p:anim calcmode="lin" valueType="num">
                                      <p:cBhvr>
                                        <p:cTn id="16" dur="2000" fill="hold"/>
                                        <p:tgtEl>
                                          <p:spTgt spid="16386"/>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8DFA7C-8506-0DE0-8E41-1653D0647231}"/>
            </a:ext>
          </a:extLst>
        </p:cNvPr>
        <p:cNvGrpSpPr/>
        <p:nvPr/>
      </p:nvGrpSpPr>
      <p:grpSpPr>
        <a:xfrm>
          <a:off x="0" y="0"/>
          <a:ext cx="0" cy="0"/>
          <a:chOff x="0" y="0"/>
          <a:chExt cx="0" cy="0"/>
        </a:xfrm>
      </p:grpSpPr>
      <p:sp>
        <p:nvSpPr>
          <p:cNvPr id="12315" name="Freeform 17">
            <a:extLst>
              <a:ext uri="{FF2B5EF4-FFF2-40B4-BE49-F238E27FC236}">
                <a16:creationId xmlns:a16="http://schemas.microsoft.com/office/drawing/2014/main" id="{B321A6A5-6E7D-370D-8C3B-1043D32B0F27}"/>
              </a:ext>
            </a:extLst>
          </p:cNvPr>
          <p:cNvSpPr/>
          <p:nvPr/>
        </p:nvSpPr>
        <p:spPr>
          <a:xfrm>
            <a:off x="14192927" y="2520377"/>
            <a:ext cx="1634041" cy="1634041"/>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id="12314" name="Freeform 17">
            <a:extLst>
              <a:ext uri="{FF2B5EF4-FFF2-40B4-BE49-F238E27FC236}">
                <a16:creationId xmlns:a16="http://schemas.microsoft.com/office/drawing/2014/main" id="{FFA0FA01-4B2D-9290-0DD8-A6E993CC447A}"/>
              </a:ext>
            </a:extLst>
          </p:cNvPr>
          <p:cNvSpPr/>
          <p:nvPr/>
        </p:nvSpPr>
        <p:spPr>
          <a:xfrm>
            <a:off x="2416873" y="2673122"/>
            <a:ext cx="1634041" cy="1634041"/>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grpSp>
        <p:nvGrpSpPr>
          <p:cNvPr id="9" name="Group 9">
            <a:extLst>
              <a:ext uri="{FF2B5EF4-FFF2-40B4-BE49-F238E27FC236}">
                <a16:creationId xmlns:a16="http://schemas.microsoft.com/office/drawing/2014/main" id="{0E1A6B5B-5CB9-EE66-C8D6-9BC6432FB57A}"/>
              </a:ext>
            </a:extLst>
          </p:cNvPr>
          <p:cNvGrpSpPr/>
          <p:nvPr/>
        </p:nvGrpSpPr>
        <p:grpSpPr>
          <a:xfrm>
            <a:off x="2702224" y="-6441776"/>
            <a:ext cx="12883553" cy="12883553"/>
            <a:chOff x="0" y="0"/>
            <a:chExt cx="812800" cy="812800"/>
          </a:xfrm>
        </p:grpSpPr>
        <p:sp>
          <p:nvSpPr>
            <p:cNvPr id="10" name="Freeform 10">
              <a:extLst>
                <a:ext uri="{FF2B5EF4-FFF2-40B4-BE49-F238E27FC236}">
                  <a16:creationId xmlns:a16="http://schemas.microsoft.com/office/drawing/2014/main" id="{5AD66C34-820D-A5E6-E173-EC81634864B5}"/>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8F8F8"/>
            </a:solidFill>
          </p:spPr>
        </p:sp>
        <p:sp>
          <p:nvSpPr>
            <p:cNvPr id="11" name="TextBox 11">
              <a:extLst>
                <a:ext uri="{FF2B5EF4-FFF2-40B4-BE49-F238E27FC236}">
                  <a16:creationId xmlns:a16="http://schemas.microsoft.com/office/drawing/2014/main" id="{4967360E-70AB-A82D-4C1B-45B55B15C504}"/>
                </a:ext>
              </a:extLst>
            </p:cNvPr>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12" name="Freeform 12">
            <a:extLst>
              <a:ext uri="{FF2B5EF4-FFF2-40B4-BE49-F238E27FC236}">
                <a16:creationId xmlns:a16="http://schemas.microsoft.com/office/drawing/2014/main" id="{80AB5FA1-8D8A-1AEC-3B9F-918DCB14150E}"/>
              </a:ext>
            </a:extLst>
          </p:cNvPr>
          <p:cNvSpPr/>
          <p:nvPr/>
        </p:nvSpPr>
        <p:spPr>
          <a:xfrm>
            <a:off x="2971800" y="-5010643"/>
            <a:ext cx="12046347" cy="11398704"/>
          </a:xfrm>
          <a:custGeom>
            <a:avLst/>
            <a:gdLst/>
            <a:ahLst/>
            <a:cxnLst/>
            <a:rect l="l" t="t" r="r" b="b"/>
            <a:pathLst>
              <a:path w="11069128" h="11055291">
                <a:moveTo>
                  <a:pt x="0" y="0"/>
                </a:moveTo>
                <a:lnTo>
                  <a:pt x="11069128" y="0"/>
                </a:lnTo>
                <a:lnTo>
                  <a:pt x="11069128" y="11055291"/>
                </a:lnTo>
                <a:lnTo>
                  <a:pt x="0" y="11055291"/>
                </a:lnTo>
                <a:lnTo>
                  <a:pt x="0" y="0"/>
                </a:lnTo>
                <a:close/>
              </a:path>
            </a:pathLst>
          </a:custGeom>
          <a:blipFill>
            <a:blip r:embed="rId3"/>
            <a:stretch>
              <a:fillRect/>
            </a:stretch>
          </a:blipFill>
        </p:spPr>
      </p:sp>
      <p:grpSp>
        <p:nvGrpSpPr>
          <p:cNvPr id="13" name="Group 13">
            <a:extLst>
              <a:ext uri="{FF2B5EF4-FFF2-40B4-BE49-F238E27FC236}">
                <a16:creationId xmlns:a16="http://schemas.microsoft.com/office/drawing/2014/main" id="{07979244-1041-1403-8A4F-76F31E37C362}"/>
              </a:ext>
            </a:extLst>
          </p:cNvPr>
          <p:cNvGrpSpPr/>
          <p:nvPr/>
        </p:nvGrpSpPr>
        <p:grpSpPr>
          <a:xfrm>
            <a:off x="3690946" y="-5453054"/>
            <a:ext cx="10906108" cy="10906108"/>
            <a:chOff x="0" y="0"/>
            <a:chExt cx="812800" cy="812800"/>
          </a:xfrm>
        </p:grpSpPr>
        <p:sp>
          <p:nvSpPr>
            <p:cNvPr id="14" name="Freeform 14">
              <a:extLst>
                <a:ext uri="{FF2B5EF4-FFF2-40B4-BE49-F238E27FC236}">
                  <a16:creationId xmlns:a16="http://schemas.microsoft.com/office/drawing/2014/main" id="{C195B93E-CFEA-6474-32F3-0B6AF7633FEE}"/>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id="15" name="TextBox 15">
              <a:extLst>
                <a:ext uri="{FF2B5EF4-FFF2-40B4-BE49-F238E27FC236}">
                  <a16:creationId xmlns:a16="http://schemas.microsoft.com/office/drawing/2014/main" id="{3F01B540-C9FD-8452-C15B-B67C25E14E96}"/>
                </a:ext>
              </a:extLst>
            </p:cNvPr>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29" name="TextBox 29">
            <a:extLst>
              <a:ext uri="{FF2B5EF4-FFF2-40B4-BE49-F238E27FC236}">
                <a16:creationId xmlns:a16="http://schemas.microsoft.com/office/drawing/2014/main" id="{7D1B4F47-D81F-CD2C-1B6F-9BF2DDE02BE5}"/>
              </a:ext>
            </a:extLst>
          </p:cNvPr>
          <p:cNvSpPr txBox="1"/>
          <p:nvPr/>
        </p:nvSpPr>
        <p:spPr>
          <a:xfrm>
            <a:off x="1001628" y="5462158"/>
            <a:ext cx="5139841" cy="3006061"/>
          </a:xfrm>
          <a:prstGeom prst="rect">
            <a:avLst/>
          </a:prstGeom>
        </p:spPr>
        <p:txBody>
          <a:bodyPr lIns="47086" tIns="47086" rIns="47086" bIns="47086" rtlCol="0" anchor="ctr"/>
          <a:lstStyle/>
          <a:p>
            <a:pPr algn="ctr">
              <a:lnSpc>
                <a:spcPts val="2659"/>
              </a:lnSpc>
            </a:pPr>
            <a:endParaRPr/>
          </a:p>
        </p:txBody>
      </p:sp>
      <p:sp>
        <p:nvSpPr>
          <p:cNvPr id="57" name="Text 0">
            <a:extLst>
              <a:ext uri="{FF2B5EF4-FFF2-40B4-BE49-F238E27FC236}">
                <a16:creationId xmlns:a16="http://schemas.microsoft.com/office/drawing/2014/main" id="{B69DD87C-0713-BA36-4096-B0460940B301}"/>
              </a:ext>
            </a:extLst>
          </p:cNvPr>
          <p:cNvSpPr/>
          <p:nvPr/>
        </p:nvSpPr>
        <p:spPr>
          <a:xfrm>
            <a:off x="6946130" y="2059778"/>
            <a:ext cx="9404546" cy="890885"/>
          </a:xfrm>
          <a:prstGeom prst="rect">
            <a:avLst/>
          </a:prstGeom>
          <a:noFill/>
          <a:ln/>
        </p:spPr>
        <p:txBody>
          <a:bodyPr wrap="none" lIns="0" tIns="0" rIns="0" bIns="0" rtlCol="0" anchor="t"/>
          <a:lstStyle/>
          <a:p>
            <a:pPr>
              <a:lnSpc>
                <a:spcPts val="7000"/>
              </a:lnSpc>
            </a:pPr>
            <a:r>
              <a:rPr lang="en-US" sz="5563" b="1" dirty="0">
                <a:solidFill>
                  <a:srgbClr val="7068F4"/>
                </a:solidFill>
                <a:latin typeface="Barlow Bold" pitchFamily="34" charset="0"/>
                <a:ea typeface="Barlow Bold" pitchFamily="34" charset="-122"/>
                <a:cs typeface="Barlow Bold" pitchFamily="34" charset="-120"/>
              </a:rPr>
              <a:t>Expected Results</a:t>
            </a:r>
          </a:p>
        </p:txBody>
      </p:sp>
      <p:grpSp>
        <p:nvGrpSpPr>
          <p:cNvPr id="12298" name="Group 27">
            <a:extLst>
              <a:ext uri="{FF2B5EF4-FFF2-40B4-BE49-F238E27FC236}">
                <a16:creationId xmlns:a16="http://schemas.microsoft.com/office/drawing/2014/main" id="{1A8BE486-803D-200E-462F-53009237CA88}"/>
              </a:ext>
            </a:extLst>
          </p:cNvPr>
          <p:cNvGrpSpPr/>
          <p:nvPr/>
        </p:nvGrpSpPr>
        <p:grpSpPr>
          <a:xfrm>
            <a:off x="198291" y="3771900"/>
            <a:ext cx="5474950" cy="2819922"/>
            <a:chOff x="0" y="0"/>
            <a:chExt cx="1052050" cy="577197"/>
          </a:xfrm>
        </p:grpSpPr>
        <p:sp>
          <p:nvSpPr>
            <p:cNvPr id="12299" name="Freeform 28">
              <a:extLst>
                <a:ext uri="{FF2B5EF4-FFF2-40B4-BE49-F238E27FC236}">
                  <a16:creationId xmlns:a16="http://schemas.microsoft.com/office/drawing/2014/main" id="{2388F9AC-85DA-C227-93CE-ECE16D0243B8}"/>
                </a:ext>
              </a:extLst>
            </p:cNvPr>
            <p:cNvSpPr/>
            <p:nvPr/>
          </p:nvSpPr>
          <p:spPr>
            <a:xfrm>
              <a:off x="0" y="0"/>
              <a:ext cx="1052050" cy="577197"/>
            </a:xfrm>
            <a:custGeom>
              <a:avLst/>
              <a:gdLst/>
              <a:ahLst/>
              <a:cxnLst/>
              <a:rect l="l" t="t" r="r" b="b"/>
              <a:pathLst>
                <a:path w="1052050" h="577197">
                  <a:moveTo>
                    <a:pt x="75313" y="0"/>
                  </a:moveTo>
                  <a:lnTo>
                    <a:pt x="976737" y="0"/>
                  </a:lnTo>
                  <a:cubicBezTo>
                    <a:pt x="1018332" y="0"/>
                    <a:pt x="1052050" y="33719"/>
                    <a:pt x="1052050" y="75313"/>
                  </a:cubicBezTo>
                  <a:lnTo>
                    <a:pt x="1052050" y="501884"/>
                  </a:lnTo>
                  <a:cubicBezTo>
                    <a:pt x="1052050" y="543478"/>
                    <a:pt x="1018332" y="577197"/>
                    <a:pt x="976737" y="577197"/>
                  </a:cubicBezTo>
                  <a:lnTo>
                    <a:pt x="75313" y="577197"/>
                  </a:lnTo>
                  <a:cubicBezTo>
                    <a:pt x="33719" y="577197"/>
                    <a:pt x="0" y="543478"/>
                    <a:pt x="0" y="501884"/>
                  </a:cubicBezTo>
                  <a:lnTo>
                    <a:pt x="0" y="75313"/>
                  </a:lnTo>
                  <a:cubicBezTo>
                    <a:pt x="0" y="33719"/>
                    <a:pt x="33719" y="0"/>
                    <a:pt x="75313" y="0"/>
                  </a:cubicBezTo>
                  <a:close/>
                </a:path>
              </a:pathLst>
            </a:custGeom>
            <a:solidFill>
              <a:srgbClr val="F8F8F8"/>
            </a:solidFill>
          </p:spPr>
          <p:txBody>
            <a:bodyPr/>
            <a:lstStyle/>
            <a:p>
              <a:endParaRPr lang="en-US" dirty="0"/>
            </a:p>
          </p:txBody>
        </p:sp>
        <p:sp>
          <p:nvSpPr>
            <p:cNvPr id="12300" name="TextBox 29">
              <a:extLst>
                <a:ext uri="{FF2B5EF4-FFF2-40B4-BE49-F238E27FC236}">
                  <a16:creationId xmlns:a16="http://schemas.microsoft.com/office/drawing/2014/main" id="{F6B9E73C-20D1-21CB-373B-C5F6D5AA033A}"/>
                </a:ext>
              </a:extLst>
            </p:cNvPr>
            <p:cNvSpPr txBox="1"/>
            <p:nvPr/>
          </p:nvSpPr>
          <p:spPr>
            <a:xfrm>
              <a:off x="0" y="-38100"/>
              <a:ext cx="1052050" cy="615297"/>
            </a:xfrm>
            <a:prstGeom prst="rect">
              <a:avLst/>
            </a:prstGeom>
          </p:spPr>
          <p:txBody>
            <a:bodyPr lIns="47086" tIns="47086" rIns="47086" bIns="47086" rtlCol="0" anchor="ctr"/>
            <a:lstStyle/>
            <a:p>
              <a:pPr algn="ctr">
                <a:lnSpc>
                  <a:spcPts val="2659"/>
                </a:lnSpc>
              </a:pPr>
              <a:endParaRPr/>
            </a:p>
          </p:txBody>
        </p:sp>
      </p:grpSp>
      <p:grpSp>
        <p:nvGrpSpPr>
          <p:cNvPr id="21" name="Group 21">
            <a:extLst>
              <a:ext uri="{FF2B5EF4-FFF2-40B4-BE49-F238E27FC236}">
                <a16:creationId xmlns:a16="http://schemas.microsoft.com/office/drawing/2014/main" id="{9B4B2635-86B8-2CEB-0AE1-C2C55EAF7C54}"/>
              </a:ext>
            </a:extLst>
          </p:cNvPr>
          <p:cNvGrpSpPr/>
          <p:nvPr/>
        </p:nvGrpSpPr>
        <p:grpSpPr>
          <a:xfrm>
            <a:off x="17491799" y="8458418"/>
            <a:ext cx="951769" cy="799882"/>
            <a:chOff x="0" y="0"/>
            <a:chExt cx="967140" cy="812800"/>
          </a:xfrm>
        </p:grpSpPr>
        <p:sp>
          <p:nvSpPr>
            <p:cNvPr id="22" name="Freeform 22">
              <a:extLst>
                <a:ext uri="{FF2B5EF4-FFF2-40B4-BE49-F238E27FC236}">
                  <a16:creationId xmlns:a16="http://schemas.microsoft.com/office/drawing/2014/main" id="{EF7A7E4C-ED77-19A3-4B25-23CD84A8F49B}"/>
                </a:ext>
              </a:extLst>
            </p:cNvPr>
            <p:cNvSpPr/>
            <p:nvPr/>
          </p:nvSpPr>
          <p:spPr>
            <a:xfrm>
              <a:off x="0" y="0"/>
              <a:ext cx="967140" cy="812800"/>
            </a:xfrm>
            <a:custGeom>
              <a:avLst/>
              <a:gdLst/>
              <a:ahLst/>
              <a:cxnLst/>
              <a:rect l="l" t="t" r="r" b="b"/>
              <a:pathLst>
                <a:path w="967140" h="812800">
                  <a:moveTo>
                    <a:pt x="81342" y="0"/>
                  </a:moveTo>
                  <a:lnTo>
                    <a:pt x="885798" y="0"/>
                  </a:lnTo>
                  <a:cubicBezTo>
                    <a:pt x="907371" y="0"/>
                    <a:pt x="928061" y="8570"/>
                    <a:pt x="943315" y="23825"/>
                  </a:cubicBezTo>
                  <a:cubicBezTo>
                    <a:pt x="958570" y="39079"/>
                    <a:pt x="967140" y="59769"/>
                    <a:pt x="967140" y="81342"/>
                  </a:cubicBezTo>
                  <a:lnTo>
                    <a:pt x="967140" y="731458"/>
                  </a:lnTo>
                  <a:cubicBezTo>
                    <a:pt x="967140" y="776382"/>
                    <a:pt x="930722" y="812800"/>
                    <a:pt x="885798" y="812800"/>
                  </a:cubicBezTo>
                  <a:lnTo>
                    <a:pt x="81342" y="812800"/>
                  </a:lnTo>
                  <a:cubicBezTo>
                    <a:pt x="59769" y="812800"/>
                    <a:pt x="39079" y="804230"/>
                    <a:pt x="23825" y="788975"/>
                  </a:cubicBezTo>
                  <a:cubicBezTo>
                    <a:pt x="8570" y="773721"/>
                    <a:pt x="0" y="753031"/>
                    <a:pt x="0" y="731458"/>
                  </a:cubicBezTo>
                  <a:lnTo>
                    <a:pt x="0" y="81342"/>
                  </a:lnTo>
                  <a:cubicBezTo>
                    <a:pt x="0" y="59769"/>
                    <a:pt x="8570" y="39079"/>
                    <a:pt x="23825" y="23825"/>
                  </a:cubicBezTo>
                  <a:cubicBezTo>
                    <a:pt x="39079" y="8570"/>
                    <a:pt x="59769" y="0"/>
                    <a:pt x="81342" y="0"/>
                  </a:cubicBezTo>
                  <a:close/>
                </a:path>
              </a:pathLst>
            </a:custGeom>
            <a:solidFill>
              <a:srgbClr val="3A6AD6"/>
            </a:solidFill>
          </p:spPr>
        </p:sp>
        <p:sp>
          <p:nvSpPr>
            <p:cNvPr id="23" name="TextBox 23">
              <a:extLst>
                <a:ext uri="{FF2B5EF4-FFF2-40B4-BE49-F238E27FC236}">
                  <a16:creationId xmlns:a16="http://schemas.microsoft.com/office/drawing/2014/main" id="{199FB85E-48FF-771F-B110-B5FC7650A651}"/>
                </a:ext>
              </a:extLst>
            </p:cNvPr>
            <p:cNvSpPr txBox="1"/>
            <p:nvPr/>
          </p:nvSpPr>
          <p:spPr>
            <a:xfrm>
              <a:off x="0" y="-38100"/>
              <a:ext cx="967140" cy="850900"/>
            </a:xfrm>
            <a:prstGeom prst="rect">
              <a:avLst/>
            </a:prstGeom>
          </p:spPr>
          <p:txBody>
            <a:bodyPr lIns="50800" tIns="50800" rIns="50800" bIns="50800" rtlCol="0" anchor="ctr"/>
            <a:lstStyle/>
            <a:p>
              <a:pPr algn="ctr">
                <a:lnSpc>
                  <a:spcPts val="2659"/>
                </a:lnSpc>
              </a:pPr>
              <a:endParaRPr/>
            </a:p>
          </p:txBody>
        </p:sp>
      </p:grpSp>
      <p:sp>
        <p:nvSpPr>
          <p:cNvPr id="24" name="TextBox 24">
            <a:extLst>
              <a:ext uri="{FF2B5EF4-FFF2-40B4-BE49-F238E27FC236}">
                <a16:creationId xmlns:a16="http://schemas.microsoft.com/office/drawing/2014/main" id="{D99411CE-3BEA-C6E1-4F37-1466B99CAF72}"/>
              </a:ext>
            </a:extLst>
          </p:cNvPr>
          <p:cNvSpPr txBox="1"/>
          <p:nvPr/>
        </p:nvSpPr>
        <p:spPr>
          <a:xfrm>
            <a:off x="17674380" y="8710688"/>
            <a:ext cx="442747" cy="257943"/>
          </a:xfrm>
          <a:prstGeom prst="rect">
            <a:avLst/>
          </a:prstGeom>
        </p:spPr>
        <p:txBody>
          <a:bodyPr lIns="0" tIns="0" rIns="0" bIns="0" rtlCol="0" anchor="t">
            <a:spAutoFit/>
          </a:bodyPr>
          <a:lstStyle/>
          <a:p>
            <a:pPr algn="ctr">
              <a:lnSpc>
                <a:spcPts val="2057"/>
              </a:lnSpc>
              <a:spcBef>
                <a:spcPct val="0"/>
              </a:spcBef>
            </a:pPr>
            <a:r>
              <a:rPr lang="en-GB" sz="1469" b="1" dirty="0">
                <a:solidFill>
                  <a:srgbClr val="FFFFFF"/>
                </a:solidFill>
                <a:latin typeface="Poppins Bold"/>
                <a:ea typeface="Poppins Bold"/>
                <a:cs typeface="Poppins Bold"/>
                <a:sym typeface="Poppins Bold"/>
              </a:rPr>
              <a:t>22</a:t>
            </a:r>
            <a:endParaRPr lang="en-US" sz="1469" b="1" dirty="0">
              <a:solidFill>
                <a:srgbClr val="FFFFFF"/>
              </a:solidFill>
              <a:latin typeface="Poppins Bold"/>
              <a:ea typeface="Poppins Bold"/>
              <a:cs typeface="Poppins Bold"/>
              <a:sym typeface="Poppins Bold"/>
            </a:endParaRPr>
          </a:p>
        </p:txBody>
      </p:sp>
      <p:sp>
        <p:nvSpPr>
          <p:cNvPr id="2" name="TextBox 25">
            <a:extLst>
              <a:ext uri="{FF2B5EF4-FFF2-40B4-BE49-F238E27FC236}">
                <a16:creationId xmlns:a16="http://schemas.microsoft.com/office/drawing/2014/main" id="{AB2D41E5-0A89-CE98-21BA-19B7CEEB1B9F}"/>
              </a:ext>
            </a:extLst>
          </p:cNvPr>
          <p:cNvSpPr txBox="1"/>
          <p:nvPr/>
        </p:nvSpPr>
        <p:spPr>
          <a:xfrm>
            <a:off x="304800" y="4381500"/>
            <a:ext cx="5310596" cy="1706878"/>
          </a:xfrm>
          <a:prstGeom prst="rect">
            <a:avLst/>
          </a:prstGeom>
        </p:spPr>
        <p:txBody>
          <a:bodyPr wrap="square" lIns="0" tIns="0" rIns="0" bIns="0" rtlCol="0" anchor="t">
            <a:spAutoFit/>
          </a:bodyPr>
          <a:lstStyle/>
          <a:p>
            <a:pPr>
              <a:lnSpc>
                <a:spcPts val="3422"/>
              </a:lnSpc>
              <a:spcBef>
                <a:spcPct val="0"/>
              </a:spcBef>
            </a:pPr>
            <a:r>
              <a:rPr lang="en-GB" sz="2400" b="1" dirty="0">
                <a:solidFill>
                  <a:schemeClr val="accent6">
                    <a:lumMod val="75000"/>
                  </a:schemeClr>
                </a:solidFill>
                <a:latin typeface="Poppins"/>
                <a:ea typeface="Poppins"/>
                <a:cs typeface="Poppins"/>
                <a:sym typeface="Poppins"/>
              </a:rPr>
              <a:t> Empirical Benchmarks: </a:t>
            </a:r>
            <a:r>
              <a:rPr lang="en-GB" sz="2000" b="1" dirty="0">
                <a:solidFill>
                  <a:schemeClr val="bg1">
                    <a:lumMod val="50000"/>
                  </a:schemeClr>
                </a:solidFill>
                <a:latin typeface="Poppins"/>
                <a:ea typeface="Poppins"/>
                <a:cs typeface="Poppins"/>
                <a:sym typeface="Poppins"/>
              </a:rPr>
              <a:t>Comprehensive metrics including kWh consumption, CO₂ emissions, run-time, and accuracy/F1-score.</a:t>
            </a:r>
          </a:p>
        </p:txBody>
      </p:sp>
      <p:pic>
        <p:nvPicPr>
          <p:cNvPr id="17410" name="Picture 2" descr="Achievement - Free education icons">
            <a:extLst>
              <a:ext uri="{FF2B5EF4-FFF2-40B4-BE49-F238E27FC236}">
                <a16:creationId xmlns:a16="http://schemas.microsoft.com/office/drawing/2014/main" id="{3CBD3046-D349-B1FC-26B8-3CAB7428C5C1}"/>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458200" y="465390"/>
            <a:ext cx="1600200" cy="1600200"/>
          </a:xfrm>
          <a:prstGeom prst="rect">
            <a:avLst/>
          </a:prstGeom>
          <a:noFill/>
          <a:extLst>
            <a:ext uri="{909E8E84-426E-40DD-AFC4-6F175D3DCCD1}">
              <a14:hiddenFill xmlns:a14="http://schemas.microsoft.com/office/drawing/2010/main">
                <a:solidFill>
                  <a:srgbClr val="FFFFFF"/>
                </a:solidFill>
              </a14:hiddenFill>
            </a:ext>
          </a:extLst>
        </p:spPr>
      </p:pic>
      <p:grpSp>
        <p:nvGrpSpPr>
          <p:cNvPr id="8" name="Group 27">
            <a:extLst>
              <a:ext uri="{FF2B5EF4-FFF2-40B4-BE49-F238E27FC236}">
                <a16:creationId xmlns:a16="http://schemas.microsoft.com/office/drawing/2014/main" id="{00A516E6-C2AA-49CE-0F7C-EB59CF5FFCAB}"/>
              </a:ext>
            </a:extLst>
          </p:cNvPr>
          <p:cNvGrpSpPr/>
          <p:nvPr/>
        </p:nvGrpSpPr>
        <p:grpSpPr>
          <a:xfrm>
            <a:off x="350691" y="7124178"/>
            <a:ext cx="5474950" cy="2819922"/>
            <a:chOff x="0" y="0"/>
            <a:chExt cx="1052050" cy="577197"/>
          </a:xfrm>
        </p:grpSpPr>
        <p:sp>
          <p:nvSpPr>
            <p:cNvPr id="16" name="Freeform 28">
              <a:extLst>
                <a:ext uri="{FF2B5EF4-FFF2-40B4-BE49-F238E27FC236}">
                  <a16:creationId xmlns:a16="http://schemas.microsoft.com/office/drawing/2014/main" id="{063E514D-B9F1-5273-CFCB-ADFBBCC316FA}"/>
                </a:ext>
              </a:extLst>
            </p:cNvPr>
            <p:cNvSpPr/>
            <p:nvPr/>
          </p:nvSpPr>
          <p:spPr>
            <a:xfrm>
              <a:off x="0" y="0"/>
              <a:ext cx="1052050" cy="577197"/>
            </a:xfrm>
            <a:custGeom>
              <a:avLst/>
              <a:gdLst/>
              <a:ahLst/>
              <a:cxnLst/>
              <a:rect l="l" t="t" r="r" b="b"/>
              <a:pathLst>
                <a:path w="1052050" h="577197">
                  <a:moveTo>
                    <a:pt x="75313" y="0"/>
                  </a:moveTo>
                  <a:lnTo>
                    <a:pt x="976737" y="0"/>
                  </a:lnTo>
                  <a:cubicBezTo>
                    <a:pt x="1018332" y="0"/>
                    <a:pt x="1052050" y="33719"/>
                    <a:pt x="1052050" y="75313"/>
                  </a:cubicBezTo>
                  <a:lnTo>
                    <a:pt x="1052050" y="501884"/>
                  </a:lnTo>
                  <a:cubicBezTo>
                    <a:pt x="1052050" y="543478"/>
                    <a:pt x="1018332" y="577197"/>
                    <a:pt x="976737" y="577197"/>
                  </a:cubicBezTo>
                  <a:lnTo>
                    <a:pt x="75313" y="577197"/>
                  </a:lnTo>
                  <a:cubicBezTo>
                    <a:pt x="33719" y="577197"/>
                    <a:pt x="0" y="543478"/>
                    <a:pt x="0" y="501884"/>
                  </a:cubicBezTo>
                  <a:lnTo>
                    <a:pt x="0" y="75313"/>
                  </a:lnTo>
                  <a:cubicBezTo>
                    <a:pt x="0" y="33719"/>
                    <a:pt x="33719" y="0"/>
                    <a:pt x="75313" y="0"/>
                  </a:cubicBezTo>
                  <a:close/>
                </a:path>
              </a:pathLst>
            </a:custGeom>
            <a:solidFill>
              <a:srgbClr val="F8F8F8"/>
            </a:solidFill>
          </p:spPr>
          <p:txBody>
            <a:bodyPr/>
            <a:lstStyle/>
            <a:p>
              <a:endParaRPr lang="en-US" dirty="0"/>
            </a:p>
          </p:txBody>
        </p:sp>
        <p:sp>
          <p:nvSpPr>
            <p:cNvPr id="17" name="TextBox 29">
              <a:extLst>
                <a:ext uri="{FF2B5EF4-FFF2-40B4-BE49-F238E27FC236}">
                  <a16:creationId xmlns:a16="http://schemas.microsoft.com/office/drawing/2014/main" id="{7385C60C-9DD6-F6C0-E22D-3BB9523B0A87}"/>
                </a:ext>
              </a:extLst>
            </p:cNvPr>
            <p:cNvSpPr txBox="1"/>
            <p:nvPr/>
          </p:nvSpPr>
          <p:spPr>
            <a:xfrm>
              <a:off x="0" y="-38100"/>
              <a:ext cx="1052050" cy="615297"/>
            </a:xfrm>
            <a:prstGeom prst="rect">
              <a:avLst/>
            </a:prstGeom>
          </p:spPr>
          <p:txBody>
            <a:bodyPr lIns="47086" tIns="47086" rIns="47086" bIns="47086" rtlCol="0" anchor="ctr"/>
            <a:lstStyle/>
            <a:p>
              <a:pPr algn="ctr">
                <a:lnSpc>
                  <a:spcPts val="2659"/>
                </a:lnSpc>
              </a:pPr>
              <a:endParaRPr/>
            </a:p>
          </p:txBody>
        </p:sp>
      </p:grpSp>
      <p:sp>
        <p:nvSpPr>
          <p:cNvPr id="18" name="TextBox 25">
            <a:extLst>
              <a:ext uri="{FF2B5EF4-FFF2-40B4-BE49-F238E27FC236}">
                <a16:creationId xmlns:a16="http://schemas.microsoft.com/office/drawing/2014/main" id="{FDE27EDA-18E0-DD70-805A-CF0DF847829D}"/>
              </a:ext>
            </a:extLst>
          </p:cNvPr>
          <p:cNvSpPr txBox="1"/>
          <p:nvPr/>
        </p:nvSpPr>
        <p:spPr>
          <a:xfrm>
            <a:off x="380999" y="7420206"/>
            <a:ext cx="5638801" cy="2142894"/>
          </a:xfrm>
          <a:prstGeom prst="rect">
            <a:avLst/>
          </a:prstGeom>
        </p:spPr>
        <p:txBody>
          <a:bodyPr wrap="square" lIns="0" tIns="0" rIns="0" bIns="0" rtlCol="0" anchor="t">
            <a:spAutoFit/>
          </a:bodyPr>
          <a:lstStyle/>
          <a:p>
            <a:pPr>
              <a:lnSpc>
                <a:spcPts val="3422"/>
              </a:lnSpc>
              <a:spcBef>
                <a:spcPct val="0"/>
              </a:spcBef>
            </a:pPr>
            <a:r>
              <a:rPr lang="en-GB" sz="2400" b="1" dirty="0">
                <a:solidFill>
                  <a:schemeClr val="accent6">
                    <a:lumMod val="75000"/>
                  </a:schemeClr>
                </a:solidFill>
                <a:latin typeface="Poppins"/>
                <a:ea typeface="Poppins"/>
                <a:cs typeface="Poppins"/>
                <a:sym typeface="Poppins"/>
              </a:rPr>
              <a:t> Optimal Configurations: </a:t>
            </a:r>
            <a:r>
              <a:rPr lang="en-GB" sz="2000" b="1" dirty="0">
                <a:solidFill>
                  <a:schemeClr val="bg1">
                    <a:lumMod val="50000"/>
                  </a:schemeClr>
                </a:solidFill>
                <a:latin typeface="Poppins"/>
                <a:ea typeface="Poppins"/>
                <a:cs typeface="Poppins"/>
                <a:sym typeface="Poppins"/>
              </a:rPr>
              <a:t>Identification of model–hyperparameter combinations (batch size, epochs, depth) that significantly reduce emissions while maintaining competitive accuracy.</a:t>
            </a:r>
          </a:p>
        </p:txBody>
      </p:sp>
      <p:grpSp>
        <p:nvGrpSpPr>
          <p:cNvPr id="19" name="Group 27">
            <a:extLst>
              <a:ext uri="{FF2B5EF4-FFF2-40B4-BE49-F238E27FC236}">
                <a16:creationId xmlns:a16="http://schemas.microsoft.com/office/drawing/2014/main" id="{01AFA758-5EBF-7959-94E2-EE168B52D131}"/>
              </a:ext>
            </a:extLst>
          </p:cNvPr>
          <p:cNvGrpSpPr/>
          <p:nvPr/>
        </p:nvGrpSpPr>
        <p:grpSpPr>
          <a:xfrm>
            <a:off x="12115800" y="3695700"/>
            <a:ext cx="5474950" cy="2819922"/>
            <a:chOff x="0" y="0"/>
            <a:chExt cx="1052050" cy="577197"/>
          </a:xfrm>
        </p:grpSpPr>
        <p:sp>
          <p:nvSpPr>
            <p:cNvPr id="20" name="Freeform 28">
              <a:extLst>
                <a:ext uri="{FF2B5EF4-FFF2-40B4-BE49-F238E27FC236}">
                  <a16:creationId xmlns:a16="http://schemas.microsoft.com/office/drawing/2014/main" id="{CE9E9E61-6FF1-2708-ADC5-8EBAE9895F33}"/>
                </a:ext>
              </a:extLst>
            </p:cNvPr>
            <p:cNvSpPr/>
            <p:nvPr/>
          </p:nvSpPr>
          <p:spPr>
            <a:xfrm>
              <a:off x="0" y="0"/>
              <a:ext cx="1052050" cy="577197"/>
            </a:xfrm>
            <a:custGeom>
              <a:avLst/>
              <a:gdLst/>
              <a:ahLst/>
              <a:cxnLst/>
              <a:rect l="l" t="t" r="r" b="b"/>
              <a:pathLst>
                <a:path w="1052050" h="577197">
                  <a:moveTo>
                    <a:pt x="75313" y="0"/>
                  </a:moveTo>
                  <a:lnTo>
                    <a:pt x="976737" y="0"/>
                  </a:lnTo>
                  <a:cubicBezTo>
                    <a:pt x="1018332" y="0"/>
                    <a:pt x="1052050" y="33719"/>
                    <a:pt x="1052050" y="75313"/>
                  </a:cubicBezTo>
                  <a:lnTo>
                    <a:pt x="1052050" y="501884"/>
                  </a:lnTo>
                  <a:cubicBezTo>
                    <a:pt x="1052050" y="543478"/>
                    <a:pt x="1018332" y="577197"/>
                    <a:pt x="976737" y="577197"/>
                  </a:cubicBezTo>
                  <a:lnTo>
                    <a:pt x="75313" y="577197"/>
                  </a:lnTo>
                  <a:cubicBezTo>
                    <a:pt x="33719" y="577197"/>
                    <a:pt x="0" y="543478"/>
                    <a:pt x="0" y="501884"/>
                  </a:cubicBezTo>
                  <a:lnTo>
                    <a:pt x="0" y="75313"/>
                  </a:lnTo>
                  <a:cubicBezTo>
                    <a:pt x="0" y="33719"/>
                    <a:pt x="33719" y="0"/>
                    <a:pt x="75313" y="0"/>
                  </a:cubicBezTo>
                  <a:close/>
                </a:path>
              </a:pathLst>
            </a:custGeom>
            <a:solidFill>
              <a:srgbClr val="F8F8F8"/>
            </a:solidFill>
          </p:spPr>
          <p:txBody>
            <a:bodyPr/>
            <a:lstStyle/>
            <a:p>
              <a:endParaRPr lang="en-US" dirty="0"/>
            </a:p>
          </p:txBody>
        </p:sp>
        <p:sp>
          <p:nvSpPr>
            <p:cNvPr id="25" name="TextBox 29">
              <a:extLst>
                <a:ext uri="{FF2B5EF4-FFF2-40B4-BE49-F238E27FC236}">
                  <a16:creationId xmlns:a16="http://schemas.microsoft.com/office/drawing/2014/main" id="{770786E5-044F-4E70-A30E-0684A2DD8294}"/>
                </a:ext>
              </a:extLst>
            </p:cNvPr>
            <p:cNvSpPr txBox="1"/>
            <p:nvPr/>
          </p:nvSpPr>
          <p:spPr>
            <a:xfrm>
              <a:off x="0" y="-38100"/>
              <a:ext cx="1052050" cy="615297"/>
            </a:xfrm>
            <a:prstGeom prst="rect">
              <a:avLst/>
            </a:prstGeom>
          </p:spPr>
          <p:txBody>
            <a:bodyPr lIns="47086" tIns="47086" rIns="47086" bIns="47086" rtlCol="0" anchor="ctr"/>
            <a:lstStyle/>
            <a:p>
              <a:pPr algn="ctr">
                <a:lnSpc>
                  <a:spcPts val="2659"/>
                </a:lnSpc>
              </a:pPr>
              <a:endParaRPr/>
            </a:p>
          </p:txBody>
        </p:sp>
      </p:grpSp>
      <p:sp>
        <p:nvSpPr>
          <p:cNvPr id="26" name="TextBox 25">
            <a:extLst>
              <a:ext uri="{FF2B5EF4-FFF2-40B4-BE49-F238E27FC236}">
                <a16:creationId xmlns:a16="http://schemas.microsoft.com/office/drawing/2014/main" id="{8821EE88-3062-0EEF-69ED-46E7EDA5F266}"/>
              </a:ext>
            </a:extLst>
          </p:cNvPr>
          <p:cNvSpPr txBox="1"/>
          <p:nvPr/>
        </p:nvSpPr>
        <p:spPr>
          <a:xfrm>
            <a:off x="12222309" y="4305300"/>
            <a:ext cx="5444641" cy="1706878"/>
          </a:xfrm>
          <a:prstGeom prst="rect">
            <a:avLst/>
          </a:prstGeom>
        </p:spPr>
        <p:txBody>
          <a:bodyPr wrap="square" lIns="0" tIns="0" rIns="0" bIns="0" rtlCol="0" anchor="t">
            <a:spAutoFit/>
          </a:bodyPr>
          <a:lstStyle/>
          <a:p>
            <a:pPr>
              <a:lnSpc>
                <a:spcPts val="3422"/>
              </a:lnSpc>
              <a:spcBef>
                <a:spcPct val="0"/>
              </a:spcBef>
            </a:pPr>
            <a:r>
              <a:rPr lang="en-GB" sz="2400" b="1" dirty="0">
                <a:solidFill>
                  <a:schemeClr val="accent6">
                    <a:lumMod val="75000"/>
                  </a:schemeClr>
                </a:solidFill>
                <a:latin typeface="Poppins"/>
                <a:ea typeface="Poppins"/>
                <a:cs typeface="Poppins"/>
                <a:sym typeface="Poppins"/>
              </a:rPr>
              <a:t> Practical Guidelines: </a:t>
            </a:r>
            <a:r>
              <a:rPr lang="en-GB" sz="2000" b="1" dirty="0">
                <a:solidFill>
                  <a:schemeClr val="bg1">
                    <a:lumMod val="50000"/>
                  </a:schemeClr>
                </a:solidFill>
                <a:latin typeface="Poppins"/>
                <a:ea typeface="Poppins"/>
                <a:cs typeface="Poppins"/>
                <a:sym typeface="Poppins"/>
              </a:rPr>
              <a:t>Concrete, actionable recommendations for model and hyperparameter choices aligned with Green Computing principles.</a:t>
            </a:r>
          </a:p>
        </p:txBody>
      </p:sp>
      <p:grpSp>
        <p:nvGrpSpPr>
          <p:cNvPr id="27" name="Group 27">
            <a:extLst>
              <a:ext uri="{FF2B5EF4-FFF2-40B4-BE49-F238E27FC236}">
                <a16:creationId xmlns:a16="http://schemas.microsoft.com/office/drawing/2014/main" id="{9D80073F-4973-A166-26C6-283BBC6BA712}"/>
              </a:ext>
            </a:extLst>
          </p:cNvPr>
          <p:cNvGrpSpPr/>
          <p:nvPr/>
        </p:nvGrpSpPr>
        <p:grpSpPr>
          <a:xfrm>
            <a:off x="6324600" y="5829300"/>
            <a:ext cx="5474950" cy="2819922"/>
            <a:chOff x="0" y="0"/>
            <a:chExt cx="1052050" cy="577197"/>
          </a:xfrm>
        </p:grpSpPr>
        <p:sp>
          <p:nvSpPr>
            <p:cNvPr id="28" name="Freeform 28">
              <a:extLst>
                <a:ext uri="{FF2B5EF4-FFF2-40B4-BE49-F238E27FC236}">
                  <a16:creationId xmlns:a16="http://schemas.microsoft.com/office/drawing/2014/main" id="{8F624736-5587-6E55-E3A1-EBC9902F2B45}"/>
                </a:ext>
              </a:extLst>
            </p:cNvPr>
            <p:cNvSpPr/>
            <p:nvPr/>
          </p:nvSpPr>
          <p:spPr>
            <a:xfrm>
              <a:off x="0" y="0"/>
              <a:ext cx="1052050" cy="577197"/>
            </a:xfrm>
            <a:custGeom>
              <a:avLst/>
              <a:gdLst/>
              <a:ahLst/>
              <a:cxnLst/>
              <a:rect l="l" t="t" r="r" b="b"/>
              <a:pathLst>
                <a:path w="1052050" h="577197">
                  <a:moveTo>
                    <a:pt x="75313" y="0"/>
                  </a:moveTo>
                  <a:lnTo>
                    <a:pt x="976737" y="0"/>
                  </a:lnTo>
                  <a:cubicBezTo>
                    <a:pt x="1018332" y="0"/>
                    <a:pt x="1052050" y="33719"/>
                    <a:pt x="1052050" y="75313"/>
                  </a:cubicBezTo>
                  <a:lnTo>
                    <a:pt x="1052050" y="501884"/>
                  </a:lnTo>
                  <a:cubicBezTo>
                    <a:pt x="1052050" y="543478"/>
                    <a:pt x="1018332" y="577197"/>
                    <a:pt x="976737" y="577197"/>
                  </a:cubicBezTo>
                  <a:lnTo>
                    <a:pt x="75313" y="577197"/>
                  </a:lnTo>
                  <a:cubicBezTo>
                    <a:pt x="33719" y="577197"/>
                    <a:pt x="0" y="543478"/>
                    <a:pt x="0" y="501884"/>
                  </a:cubicBezTo>
                  <a:lnTo>
                    <a:pt x="0" y="75313"/>
                  </a:lnTo>
                  <a:cubicBezTo>
                    <a:pt x="0" y="33719"/>
                    <a:pt x="33719" y="0"/>
                    <a:pt x="75313" y="0"/>
                  </a:cubicBezTo>
                  <a:close/>
                </a:path>
              </a:pathLst>
            </a:custGeom>
            <a:solidFill>
              <a:srgbClr val="F8F8F8"/>
            </a:solidFill>
          </p:spPr>
          <p:txBody>
            <a:bodyPr/>
            <a:lstStyle/>
            <a:p>
              <a:endParaRPr lang="en-US" dirty="0"/>
            </a:p>
          </p:txBody>
        </p:sp>
        <p:sp>
          <p:nvSpPr>
            <p:cNvPr id="30" name="TextBox 29">
              <a:extLst>
                <a:ext uri="{FF2B5EF4-FFF2-40B4-BE49-F238E27FC236}">
                  <a16:creationId xmlns:a16="http://schemas.microsoft.com/office/drawing/2014/main" id="{E22BA7E5-62F9-BC7B-2BB5-88D54D91FDC1}"/>
                </a:ext>
              </a:extLst>
            </p:cNvPr>
            <p:cNvSpPr txBox="1"/>
            <p:nvPr/>
          </p:nvSpPr>
          <p:spPr>
            <a:xfrm>
              <a:off x="0" y="-38100"/>
              <a:ext cx="1052050" cy="615297"/>
            </a:xfrm>
            <a:prstGeom prst="rect">
              <a:avLst/>
            </a:prstGeom>
          </p:spPr>
          <p:txBody>
            <a:bodyPr lIns="47086" tIns="47086" rIns="47086" bIns="47086" rtlCol="0" anchor="ctr"/>
            <a:lstStyle/>
            <a:p>
              <a:pPr algn="ctr">
                <a:lnSpc>
                  <a:spcPts val="2659"/>
                </a:lnSpc>
              </a:pPr>
              <a:endParaRPr/>
            </a:p>
          </p:txBody>
        </p:sp>
      </p:grpSp>
      <p:sp>
        <p:nvSpPr>
          <p:cNvPr id="31" name="TextBox 25">
            <a:extLst>
              <a:ext uri="{FF2B5EF4-FFF2-40B4-BE49-F238E27FC236}">
                <a16:creationId xmlns:a16="http://schemas.microsoft.com/office/drawing/2014/main" id="{B42E7879-6C11-8109-EF27-90BD7049203F}"/>
              </a:ext>
            </a:extLst>
          </p:cNvPr>
          <p:cNvSpPr txBox="1"/>
          <p:nvPr/>
        </p:nvSpPr>
        <p:spPr>
          <a:xfrm>
            <a:off x="6556098" y="6438900"/>
            <a:ext cx="5102502" cy="1706878"/>
          </a:xfrm>
          <a:prstGeom prst="rect">
            <a:avLst/>
          </a:prstGeom>
        </p:spPr>
        <p:txBody>
          <a:bodyPr wrap="square" lIns="0" tIns="0" rIns="0" bIns="0" rtlCol="0" anchor="t">
            <a:spAutoFit/>
          </a:bodyPr>
          <a:lstStyle/>
          <a:p>
            <a:pPr>
              <a:lnSpc>
                <a:spcPts val="3422"/>
              </a:lnSpc>
              <a:spcBef>
                <a:spcPct val="0"/>
              </a:spcBef>
            </a:pPr>
            <a:r>
              <a:rPr lang="en-GB" sz="2400" b="1" dirty="0">
                <a:solidFill>
                  <a:schemeClr val="accent6">
                    <a:lumMod val="75000"/>
                  </a:schemeClr>
                </a:solidFill>
                <a:latin typeface="Poppins"/>
                <a:ea typeface="Poppins"/>
                <a:cs typeface="Poppins"/>
                <a:sym typeface="Poppins"/>
              </a:rPr>
              <a:t> Trade-off Analysis: </a:t>
            </a:r>
          </a:p>
          <a:p>
            <a:pPr>
              <a:lnSpc>
                <a:spcPts val="3422"/>
              </a:lnSpc>
              <a:spcBef>
                <a:spcPct val="0"/>
              </a:spcBef>
            </a:pPr>
            <a:r>
              <a:rPr lang="en-GB" sz="2000" b="1" dirty="0">
                <a:solidFill>
                  <a:schemeClr val="bg1">
                    <a:lumMod val="50000"/>
                  </a:schemeClr>
                </a:solidFill>
                <a:latin typeface="Poppins"/>
                <a:ea typeface="Poppins"/>
                <a:cs typeface="Poppins"/>
                <a:sym typeface="Poppins"/>
              </a:rPr>
              <a:t>Clear visualizations (accuracy vs. carbon footprint curves) to enable informed, balanced model selection.</a:t>
            </a:r>
          </a:p>
        </p:txBody>
      </p:sp>
      <p:grpSp>
        <p:nvGrpSpPr>
          <p:cNvPr id="32" name="Group 27">
            <a:extLst>
              <a:ext uri="{FF2B5EF4-FFF2-40B4-BE49-F238E27FC236}">
                <a16:creationId xmlns:a16="http://schemas.microsoft.com/office/drawing/2014/main" id="{12743F27-476E-82E0-A359-0A2C12F66CC8}"/>
              </a:ext>
            </a:extLst>
          </p:cNvPr>
          <p:cNvGrpSpPr/>
          <p:nvPr/>
        </p:nvGrpSpPr>
        <p:grpSpPr>
          <a:xfrm>
            <a:off x="12192000" y="6819378"/>
            <a:ext cx="5474950" cy="2819922"/>
            <a:chOff x="0" y="0"/>
            <a:chExt cx="1052050" cy="577197"/>
          </a:xfrm>
        </p:grpSpPr>
        <p:sp>
          <p:nvSpPr>
            <p:cNvPr id="33" name="Freeform 28">
              <a:extLst>
                <a:ext uri="{FF2B5EF4-FFF2-40B4-BE49-F238E27FC236}">
                  <a16:creationId xmlns:a16="http://schemas.microsoft.com/office/drawing/2014/main" id="{2680E36D-A520-FA6F-9550-BEC4305E0913}"/>
                </a:ext>
              </a:extLst>
            </p:cNvPr>
            <p:cNvSpPr/>
            <p:nvPr/>
          </p:nvSpPr>
          <p:spPr>
            <a:xfrm>
              <a:off x="0" y="0"/>
              <a:ext cx="1052050" cy="577197"/>
            </a:xfrm>
            <a:custGeom>
              <a:avLst/>
              <a:gdLst/>
              <a:ahLst/>
              <a:cxnLst/>
              <a:rect l="l" t="t" r="r" b="b"/>
              <a:pathLst>
                <a:path w="1052050" h="577197">
                  <a:moveTo>
                    <a:pt x="75313" y="0"/>
                  </a:moveTo>
                  <a:lnTo>
                    <a:pt x="976737" y="0"/>
                  </a:lnTo>
                  <a:cubicBezTo>
                    <a:pt x="1018332" y="0"/>
                    <a:pt x="1052050" y="33719"/>
                    <a:pt x="1052050" y="75313"/>
                  </a:cubicBezTo>
                  <a:lnTo>
                    <a:pt x="1052050" y="501884"/>
                  </a:lnTo>
                  <a:cubicBezTo>
                    <a:pt x="1052050" y="543478"/>
                    <a:pt x="1018332" y="577197"/>
                    <a:pt x="976737" y="577197"/>
                  </a:cubicBezTo>
                  <a:lnTo>
                    <a:pt x="75313" y="577197"/>
                  </a:lnTo>
                  <a:cubicBezTo>
                    <a:pt x="33719" y="577197"/>
                    <a:pt x="0" y="543478"/>
                    <a:pt x="0" y="501884"/>
                  </a:cubicBezTo>
                  <a:lnTo>
                    <a:pt x="0" y="75313"/>
                  </a:lnTo>
                  <a:cubicBezTo>
                    <a:pt x="0" y="33719"/>
                    <a:pt x="33719" y="0"/>
                    <a:pt x="75313" y="0"/>
                  </a:cubicBezTo>
                  <a:close/>
                </a:path>
              </a:pathLst>
            </a:custGeom>
            <a:solidFill>
              <a:srgbClr val="F8F8F8"/>
            </a:solidFill>
          </p:spPr>
          <p:txBody>
            <a:bodyPr/>
            <a:lstStyle/>
            <a:p>
              <a:endParaRPr lang="en-US" dirty="0"/>
            </a:p>
          </p:txBody>
        </p:sp>
        <p:sp>
          <p:nvSpPr>
            <p:cNvPr id="34" name="TextBox 29">
              <a:extLst>
                <a:ext uri="{FF2B5EF4-FFF2-40B4-BE49-F238E27FC236}">
                  <a16:creationId xmlns:a16="http://schemas.microsoft.com/office/drawing/2014/main" id="{FD0BD6DD-94A4-0FA1-FDD1-01692934E2DB}"/>
                </a:ext>
              </a:extLst>
            </p:cNvPr>
            <p:cNvSpPr txBox="1"/>
            <p:nvPr/>
          </p:nvSpPr>
          <p:spPr>
            <a:xfrm>
              <a:off x="0" y="-38100"/>
              <a:ext cx="1052050" cy="615297"/>
            </a:xfrm>
            <a:prstGeom prst="rect">
              <a:avLst/>
            </a:prstGeom>
          </p:spPr>
          <p:txBody>
            <a:bodyPr lIns="47086" tIns="47086" rIns="47086" bIns="47086" rtlCol="0" anchor="ctr"/>
            <a:lstStyle/>
            <a:p>
              <a:pPr algn="ctr">
                <a:lnSpc>
                  <a:spcPts val="2659"/>
                </a:lnSpc>
              </a:pPr>
              <a:endParaRPr/>
            </a:p>
          </p:txBody>
        </p:sp>
      </p:grpSp>
      <p:sp>
        <p:nvSpPr>
          <p:cNvPr id="35" name="TextBox 25">
            <a:extLst>
              <a:ext uri="{FF2B5EF4-FFF2-40B4-BE49-F238E27FC236}">
                <a16:creationId xmlns:a16="http://schemas.microsoft.com/office/drawing/2014/main" id="{5A68FF41-3478-E439-696E-DC8A7323FCF8}"/>
              </a:ext>
            </a:extLst>
          </p:cNvPr>
          <p:cNvSpPr txBox="1"/>
          <p:nvPr/>
        </p:nvSpPr>
        <p:spPr>
          <a:xfrm>
            <a:off x="12367804" y="7191606"/>
            <a:ext cx="5310596" cy="2142894"/>
          </a:xfrm>
          <a:prstGeom prst="rect">
            <a:avLst/>
          </a:prstGeom>
        </p:spPr>
        <p:txBody>
          <a:bodyPr wrap="square" lIns="0" tIns="0" rIns="0" bIns="0" rtlCol="0" anchor="t">
            <a:spAutoFit/>
          </a:bodyPr>
          <a:lstStyle/>
          <a:p>
            <a:pPr>
              <a:lnSpc>
                <a:spcPts val="3422"/>
              </a:lnSpc>
              <a:spcBef>
                <a:spcPct val="0"/>
              </a:spcBef>
            </a:pPr>
            <a:r>
              <a:rPr lang="en-GB" sz="2400" b="1" dirty="0">
                <a:solidFill>
                  <a:schemeClr val="accent6">
                    <a:lumMod val="75000"/>
                  </a:schemeClr>
                </a:solidFill>
                <a:latin typeface="Poppins"/>
                <a:ea typeface="Poppins"/>
                <a:cs typeface="Poppins"/>
                <a:sym typeface="Poppins"/>
              </a:rPr>
              <a:t> Reproducible Framework: </a:t>
            </a:r>
            <a:r>
              <a:rPr lang="en-GB" sz="2000" b="1" dirty="0">
                <a:solidFill>
                  <a:schemeClr val="bg1">
                    <a:lumMod val="50000"/>
                  </a:schemeClr>
                </a:solidFill>
                <a:latin typeface="Poppins"/>
                <a:ea typeface="Poppins"/>
                <a:cs typeface="Poppins"/>
                <a:sym typeface="Poppins"/>
              </a:rPr>
              <a:t>Publicly available, reusable methodology and </a:t>
            </a:r>
            <a:r>
              <a:rPr lang="en-GB" sz="2000" b="1" dirty="0" err="1">
                <a:solidFill>
                  <a:schemeClr val="bg1">
                    <a:lumMod val="50000"/>
                  </a:schemeClr>
                </a:solidFill>
                <a:latin typeface="Poppins"/>
                <a:ea typeface="Poppins"/>
                <a:cs typeface="Poppins"/>
                <a:sym typeface="Poppins"/>
              </a:rPr>
              <a:t>CodeCarbon</a:t>
            </a:r>
            <a:r>
              <a:rPr lang="en-GB" sz="2000" b="1" dirty="0">
                <a:solidFill>
                  <a:schemeClr val="bg1">
                    <a:lumMod val="50000"/>
                  </a:schemeClr>
                </a:solidFill>
                <a:latin typeface="Poppins"/>
                <a:ea typeface="Poppins"/>
                <a:cs typeface="Poppins"/>
                <a:sym typeface="Poppins"/>
              </a:rPr>
              <a:t>-based benchmarking code for future NLP and AI sustainability research.</a:t>
            </a:r>
          </a:p>
        </p:txBody>
      </p:sp>
    </p:spTree>
    <p:extLst>
      <p:ext uri="{BB962C8B-B14F-4D97-AF65-F5344CB8AC3E}">
        <p14:creationId xmlns:p14="http://schemas.microsoft.com/office/powerpoint/2010/main" val="268529021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Click="0">
        <p159:morph option="byObject"/>
      </p:transition>
    </mc:Choice>
    <mc:Fallback xmlns="">
      <p:transition spd="slow" advClick="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2" presetClass="emph" presetSubtype="0" fill="hold" grpId="0" nodeType="afterEffect">
                                  <p:stCondLst>
                                    <p:cond delay="0"/>
                                  </p:stCondLst>
                                  <p:childTnLst>
                                    <p:animRot by="120000">
                                      <p:cBhvr>
                                        <p:cTn id="6" dur="100" fill="hold">
                                          <p:stCondLst>
                                            <p:cond delay="0"/>
                                          </p:stCondLst>
                                        </p:cTn>
                                        <p:tgtEl>
                                          <p:spTgt spid="57"/>
                                        </p:tgtEl>
                                        <p:attrNameLst>
                                          <p:attrName>r</p:attrName>
                                        </p:attrNameLst>
                                      </p:cBhvr>
                                    </p:animRot>
                                    <p:animRot by="-240000">
                                      <p:cBhvr>
                                        <p:cTn id="7" dur="200" fill="hold">
                                          <p:stCondLst>
                                            <p:cond delay="200"/>
                                          </p:stCondLst>
                                        </p:cTn>
                                        <p:tgtEl>
                                          <p:spTgt spid="57"/>
                                        </p:tgtEl>
                                        <p:attrNameLst>
                                          <p:attrName>r</p:attrName>
                                        </p:attrNameLst>
                                      </p:cBhvr>
                                    </p:animRot>
                                    <p:animRot by="240000">
                                      <p:cBhvr>
                                        <p:cTn id="8" dur="200" fill="hold">
                                          <p:stCondLst>
                                            <p:cond delay="400"/>
                                          </p:stCondLst>
                                        </p:cTn>
                                        <p:tgtEl>
                                          <p:spTgt spid="57"/>
                                        </p:tgtEl>
                                        <p:attrNameLst>
                                          <p:attrName>r</p:attrName>
                                        </p:attrNameLst>
                                      </p:cBhvr>
                                    </p:animRot>
                                    <p:animRot by="-240000">
                                      <p:cBhvr>
                                        <p:cTn id="9" dur="200" fill="hold">
                                          <p:stCondLst>
                                            <p:cond delay="600"/>
                                          </p:stCondLst>
                                        </p:cTn>
                                        <p:tgtEl>
                                          <p:spTgt spid="57"/>
                                        </p:tgtEl>
                                        <p:attrNameLst>
                                          <p:attrName>r</p:attrName>
                                        </p:attrNameLst>
                                      </p:cBhvr>
                                    </p:animRot>
                                    <p:animRot by="120000">
                                      <p:cBhvr>
                                        <p:cTn id="10" dur="200" fill="hold">
                                          <p:stCondLst>
                                            <p:cond delay="800"/>
                                          </p:stCondLst>
                                        </p:cTn>
                                        <p:tgtEl>
                                          <p:spTgt spid="57"/>
                                        </p:tgtEl>
                                        <p:attrNameLst>
                                          <p:attrName>r</p:attrName>
                                        </p:attrNameLst>
                                      </p:cBhvr>
                                    </p:animRot>
                                  </p:childTnLst>
                                </p:cTn>
                              </p:par>
                            </p:childTnLst>
                          </p:cTn>
                        </p:par>
                        <p:par>
                          <p:cTn id="11" fill="hold">
                            <p:stCondLst>
                              <p:cond delay="1000"/>
                            </p:stCondLst>
                            <p:childTnLst>
                              <p:par>
                                <p:cTn id="12" presetID="45" presetClass="entr" presetSubtype="0" fill="hold" nodeType="afterEffect">
                                  <p:stCondLst>
                                    <p:cond delay="0"/>
                                  </p:stCondLst>
                                  <p:childTnLst>
                                    <p:set>
                                      <p:cBhvr>
                                        <p:cTn id="13" dur="1" fill="hold">
                                          <p:stCondLst>
                                            <p:cond delay="0"/>
                                          </p:stCondLst>
                                        </p:cTn>
                                        <p:tgtEl>
                                          <p:spTgt spid="17410"/>
                                        </p:tgtEl>
                                        <p:attrNameLst>
                                          <p:attrName>style.visibility</p:attrName>
                                        </p:attrNameLst>
                                      </p:cBhvr>
                                      <p:to>
                                        <p:strVal val="visible"/>
                                      </p:to>
                                    </p:set>
                                    <p:animEffect transition="in" filter="fade">
                                      <p:cBhvr>
                                        <p:cTn id="14" dur="2000"/>
                                        <p:tgtEl>
                                          <p:spTgt spid="17410"/>
                                        </p:tgtEl>
                                      </p:cBhvr>
                                    </p:animEffect>
                                    <p:anim calcmode="lin" valueType="num">
                                      <p:cBhvr>
                                        <p:cTn id="15" dur="2000" fill="hold"/>
                                        <p:tgtEl>
                                          <p:spTgt spid="17410"/>
                                        </p:tgtEl>
                                        <p:attrNameLst>
                                          <p:attrName>ppt_w</p:attrName>
                                        </p:attrNameLst>
                                      </p:cBhvr>
                                      <p:tavLst>
                                        <p:tav tm="0" fmla="#ppt_w*sin(2.5*pi*$)">
                                          <p:val>
                                            <p:fltVal val="0"/>
                                          </p:val>
                                        </p:tav>
                                        <p:tav tm="100000">
                                          <p:val>
                                            <p:fltVal val="1"/>
                                          </p:val>
                                        </p:tav>
                                      </p:tavLst>
                                    </p:anim>
                                    <p:anim calcmode="lin" valueType="num">
                                      <p:cBhvr>
                                        <p:cTn id="16" dur="2000" fill="hold"/>
                                        <p:tgtEl>
                                          <p:spTgt spid="17410"/>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7"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714C6E-19EA-4EB4-B0A2-8698BAC1D028}"/>
            </a:ext>
          </a:extLst>
        </p:cNvPr>
        <p:cNvGrpSpPr/>
        <p:nvPr/>
      </p:nvGrpSpPr>
      <p:grpSpPr>
        <a:xfrm>
          <a:off x="0" y="0"/>
          <a:ext cx="0" cy="0"/>
          <a:chOff x="0" y="0"/>
          <a:chExt cx="0" cy="0"/>
        </a:xfrm>
      </p:grpSpPr>
      <p:sp>
        <p:nvSpPr>
          <p:cNvPr id="61" name="TextBox 29">
            <a:extLst>
              <a:ext uri="{FF2B5EF4-FFF2-40B4-BE49-F238E27FC236}">
                <a16:creationId xmlns:a16="http://schemas.microsoft.com/office/drawing/2014/main" id="{C04ABDC4-0CAD-681D-EDC0-A092AD62E02B}"/>
              </a:ext>
            </a:extLst>
          </p:cNvPr>
          <p:cNvSpPr txBox="1"/>
          <p:nvPr/>
        </p:nvSpPr>
        <p:spPr>
          <a:xfrm>
            <a:off x="6518759" y="6404639"/>
            <a:ext cx="5139841" cy="3006061"/>
          </a:xfrm>
          <a:prstGeom prst="rect">
            <a:avLst/>
          </a:prstGeom>
        </p:spPr>
        <p:txBody>
          <a:bodyPr lIns="47086" tIns="47086" rIns="47086" bIns="47086" rtlCol="0" anchor="ctr"/>
          <a:lstStyle/>
          <a:p>
            <a:pPr algn="ctr">
              <a:lnSpc>
                <a:spcPts val="2659"/>
              </a:lnSpc>
            </a:pPr>
            <a:endParaRPr/>
          </a:p>
        </p:txBody>
      </p:sp>
      <p:grpSp>
        <p:nvGrpSpPr>
          <p:cNvPr id="9" name="Group 9">
            <a:extLst>
              <a:ext uri="{FF2B5EF4-FFF2-40B4-BE49-F238E27FC236}">
                <a16:creationId xmlns:a16="http://schemas.microsoft.com/office/drawing/2014/main" id="{5EF37FF1-D087-572D-B365-B91C7D232AFB}"/>
              </a:ext>
            </a:extLst>
          </p:cNvPr>
          <p:cNvGrpSpPr/>
          <p:nvPr/>
        </p:nvGrpSpPr>
        <p:grpSpPr>
          <a:xfrm>
            <a:off x="2702224" y="-6441776"/>
            <a:ext cx="12883553" cy="12883553"/>
            <a:chOff x="0" y="0"/>
            <a:chExt cx="812800" cy="812800"/>
          </a:xfrm>
        </p:grpSpPr>
        <p:sp>
          <p:nvSpPr>
            <p:cNvPr id="10" name="Freeform 10">
              <a:extLst>
                <a:ext uri="{FF2B5EF4-FFF2-40B4-BE49-F238E27FC236}">
                  <a16:creationId xmlns:a16="http://schemas.microsoft.com/office/drawing/2014/main" id="{738D278D-2B45-6D16-EFF0-5A160FCA60AC}"/>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8F8F8"/>
            </a:solidFill>
          </p:spPr>
        </p:sp>
        <p:sp>
          <p:nvSpPr>
            <p:cNvPr id="11" name="TextBox 11">
              <a:extLst>
                <a:ext uri="{FF2B5EF4-FFF2-40B4-BE49-F238E27FC236}">
                  <a16:creationId xmlns:a16="http://schemas.microsoft.com/office/drawing/2014/main" id="{32CC4985-BC7F-C77A-352F-4B05BC3A4EEB}"/>
                </a:ext>
              </a:extLst>
            </p:cNvPr>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12" name="Freeform 12">
            <a:extLst>
              <a:ext uri="{FF2B5EF4-FFF2-40B4-BE49-F238E27FC236}">
                <a16:creationId xmlns:a16="http://schemas.microsoft.com/office/drawing/2014/main" id="{6238EA66-FA58-D696-F699-5594A1577060}"/>
              </a:ext>
            </a:extLst>
          </p:cNvPr>
          <p:cNvSpPr/>
          <p:nvPr/>
        </p:nvSpPr>
        <p:spPr>
          <a:xfrm>
            <a:off x="3124200" y="-4838700"/>
            <a:ext cx="11970147" cy="11415282"/>
          </a:xfrm>
          <a:custGeom>
            <a:avLst/>
            <a:gdLst/>
            <a:ahLst/>
            <a:cxnLst/>
            <a:rect l="l" t="t" r="r" b="b"/>
            <a:pathLst>
              <a:path w="11069128" h="11055291">
                <a:moveTo>
                  <a:pt x="0" y="0"/>
                </a:moveTo>
                <a:lnTo>
                  <a:pt x="11069128" y="0"/>
                </a:lnTo>
                <a:lnTo>
                  <a:pt x="11069128" y="11055291"/>
                </a:lnTo>
                <a:lnTo>
                  <a:pt x="0" y="11055291"/>
                </a:lnTo>
                <a:lnTo>
                  <a:pt x="0" y="0"/>
                </a:lnTo>
                <a:close/>
              </a:path>
            </a:pathLst>
          </a:custGeom>
          <a:blipFill>
            <a:blip r:embed="rId2"/>
            <a:stretch>
              <a:fillRect/>
            </a:stretch>
          </a:blipFill>
        </p:spPr>
      </p:sp>
      <p:grpSp>
        <p:nvGrpSpPr>
          <p:cNvPr id="13" name="Group 13">
            <a:extLst>
              <a:ext uri="{FF2B5EF4-FFF2-40B4-BE49-F238E27FC236}">
                <a16:creationId xmlns:a16="http://schemas.microsoft.com/office/drawing/2014/main" id="{5E60F7AC-17E6-92D9-2ECC-17272DBA6923}"/>
              </a:ext>
            </a:extLst>
          </p:cNvPr>
          <p:cNvGrpSpPr/>
          <p:nvPr/>
        </p:nvGrpSpPr>
        <p:grpSpPr>
          <a:xfrm>
            <a:off x="3690946" y="-5453054"/>
            <a:ext cx="10906108" cy="10906108"/>
            <a:chOff x="0" y="0"/>
            <a:chExt cx="812800" cy="812800"/>
          </a:xfrm>
        </p:grpSpPr>
        <p:sp>
          <p:nvSpPr>
            <p:cNvPr id="14" name="Freeform 14">
              <a:extLst>
                <a:ext uri="{FF2B5EF4-FFF2-40B4-BE49-F238E27FC236}">
                  <a16:creationId xmlns:a16="http://schemas.microsoft.com/office/drawing/2014/main" id="{85B5CF97-3F51-CEA5-7FCE-0A617D01D708}"/>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id="15" name="TextBox 15">
              <a:extLst>
                <a:ext uri="{FF2B5EF4-FFF2-40B4-BE49-F238E27FC236}">
                  <a16:creationId xmlns:a16="http://schemas.microsoft.com/office/drawing/2014/main" id="{FFCD4C3F-8F61-10F4-9D0E-5B56AC621522}"/>
                </a:ext>
              </a:extLst>
            </p:cNvPr>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grpSp>
        <p:nvGrpSpPr>
          <p:cNvPr id="21" name="Group 21">
            <a:extLst>
              <a:ext uri="{FF2B5EF4-FFF2-40B4-BE49-F238E27FC236}">
                <a16:creationId xmlns:a16="http://schemas.microsoft.com/office/drawing/2014/main" id="{656686CC-CD6F-9242-E42F-F9996C35CA44}"/>
              </a:ext>
            </a:extLst>
          </p:cNvPr>
          <p:cNvGrpSpPr/>
          <p:nvPr/>
        </p:nvGrpSpPr>
        <p:grpSpPr>
          <a:xfrm>
            <a:off x="17491799" y="8458418"/>
            <a:ext cx="951769" cy="799882"/>
            <a:chOff x="0" y="0"/>
            <a:chExt cx="967140" cy="812800"/>
          </a:xfrm>
        </p:grpSpPr>
        <p:sp>
          <p:nvSpPr>
            <p:cNvPr id="22" name="Freeform 22">
              <a:extLst>
                <a:ext uri="{FF2B5EF4-FFF2-40B4-BE49-F238E27FC236}">
                  <a16:creationId xmlns:a16="http://schemas.microsoft.com/office/drawing/2014/main" id="{DCCCA640-5D8C-9F47-580C-D3D5D886F5EA}"/>
                </a:ext>
              </a:extLst>
            </p:cNvPr>
            <p:cNvSpPr/>
            <p:nvPr/>
          </p:nvSpPr>
          <p:spPr>
            <a:xfrm>
              <a:off x="0" y="0"/>
              <a:ext cx="967140" cy="812800"/>
            </a:xfrm>
            <a:custGeom>
              <a:avLst/>
              <a:gdLst/>
              <a:ahLst/>
              <a:cxnLst/>
              <a:rect l="l" t="t" r="r" b="b"/>
              <a:pathLst>
                <a:path w="967140" h="812800">
                  <a:moveTo>
                    <a:pt x="81342" y="0"/>
                  </a:moveTo>
                  <a:lnTo>
                    <a:pt x="885798" y="0"/>
                  </a:lnTo>
                  <a:cubicBezTo>
                    <a:pt x="907371" y="0"/>
                    <a:pt x="928061" y="8570"/>
                    <a:pt x="943315" y="23825"/>
                  </a:cubicBezTo>
                  <a:cubicBezTo>
                    <a:pt x="958570" y="39079"/>
                    <a:pt x="967140" y="59769"/>
                    <a:pt x="967140" y="81342"/>
                  </a:cubicBezTo>
                  <a:lnTo>
                    <a:pt x="967140" y="731458"/>
                  </a:lnTo>
                  <a:cubicBezTo>
                    <a:pt x="967140" y="776382"/>
                    <a:pt x="930722" y="812800"/>
                    <a:pt x="885798" y="812800"/>
                  </a:cubicBezTo>
                  <a:lnTo>
                    <a:pt x="81342" y="812800"/>
                  </a:lnTo>
                  <a:cubicBezTo>
                    <a:pt x="59769" y="812800"/>
                    <a:pt x="39079" y="804230"/>
                    <a:pt x="23825" y="788975"/>
                  </a:cubicBezTo>
                  <a:cubicBezTo>
                    <a:pt x="8570" y="773721"/>
                    <a:pt x="0" y="753031"/>
                    <a:pt x="0" y="731458"/>
                  </a:cubicBezTo>
                  <a:lnTo>
                    <a:pt x="0" y="81342"/>
                  </a:lnTo>
                  <a:cubicBezTo>
                    <a:pt x="0" y="59769"/>
                    <a:pt x="8570" y="39079"/>
                    <a:pt x="23825" y="23825"/>
                  </a:cubicBezTo>
                  <a:cubicBezTo>
                    <a:pt x="39079" y="8570"/>
                    <a:pt x="59769" y="0"/>
                    <a:pt x="81342" y="0"/>
                  </a:cubicBezTo>
                  <a:close/>
                </a:path>
              </a:pathLst>
            </a:custGeom>
            <a:solidFill>
              <a:srgbClr val="3A6AD6"/>
            </a:solidFill>
          </p:spPr>
        </p:sp>
        <p:sp>
          <p:nvSpPr>
            <p:cNvPr id="23" name="TextBox 23">
              <a:extLst>
                <a:ext uri="{FF2B5EF4-FFF2-40B4-BE49-F238E27FC236}">
                  <a16:creationId xmlns:a16="http://schemas.microsoft.com/office/drawing/2014/main" id="{35064C98-595F-627C-CBDE-9EFC332C4040}"/>
                </a:ext>
              </a:extLst>
            </p:cNvPr>
            <p:cNvSpPr txBox="1"/>
            <p:nvPr/>
          </p:nvSpPr>
          <p:spPr>
            <a:xfrm>
              <a:off x="0" y="-38100"/>
              <a:ext cx="967140" cy="850900"/>
            </a:xfrm>
            <a:prstGeom prst="rect">
              <a:avLst/>
            </a:prstGeom>
          </p:spPr>
          <p:txBody>
            <a:bodyPr lIns="50800" tIns="50800" rIns="50800" bIns="50800" rtlCol="0" anchor="ctr"/>
            <a:lstStyle/>
            <a:p>
              <a:pPr algn="ctr">
                <a:lnSpc>
                  <a:spcPts val="2659"/>
                </a:lnSpc>
              </a:pPr>
              <a:endParaRPr/>
            </a:p>
          </p:txBody>
        </p:sp>
      </p:grpSp>
      <p:sp>
        <p:nvSpPr>
          <p:cNvPr id="24" name="TextBox 24">
            <a:extLst>
              <a:ext uri="{FF2B5EF4-FFF2-40B4-BE49-F238E27FC236}">
                <a16:creationId xmlns:a16="http://schemas.microsoft.com/office/drawing/2014/main" id="{336B2229-784D-C64A-84E3-DC8EF8221C36}"/>
              </a:ext>
            </a:extLst>
          </p:cNvPr>
          <p:cNvSpPr txBox="1"/>
          <p:nvPr/>
        </p:nvSpPr>
        <p:spPr>
          <a:xfrm>
            <a:off x="17674380" y="8710688"/>
            <a:ext cx="442747" cy="257943"/>
          </a:xfrm>
          <a:prstGeom prst="rect">
            <a:avLst/>
          </a:prstGeom>
        </p:spPr>
        <p:txBody>
          <a:bodyPr lIns="0" tIns="0" rIns="0" bIns="0" rtlCol="0" anchor="t">
            <a:spAutoFit/>
          </a:bodyPr>
          <a:lstStyle/>
          <a:p>
            <a:pPr algn="ctr">
              <a:lnSpc>
                <a:spcPts val="2057"/>
              </a:lnSpc>
              <a:spcBef>
                <a:spcPct val="0"/>
              </a:spcBef>
            </a:pPr>
            <a:r>
              <a:rPr lang="en-US" sz="1469" b="1" dirty="0">
                <a:solidFill>
                  <a:srgbClr val="FFFFFF"/>
                </a:solidFill>
                <a:latin typeface="Poppins Bold"/>
                <a:ea typeface="Poppins Bold"/>
                <a:cs typeface="Poppins Bold"/>
                <a:sym typeface="Poppins Bold"/>
              </a:rPr>
              <a:t>10</a:t>
            </a:r>
          </a:p>
        </p:txBody>
      </p:sp>
      <p:sp>
        <p:nvSpPr>
          <p:cNvPr id="25" name="TextBox 25">
            <a:extLst>
              <a:ext uri="{FF2B5EF4-FFF2-40B4-BE49-F238E27FC236}">
                <a16:creationId xmlns:a16="http://schemas.microsoft.com/office/drawing/2014/main" id="{785AB21D-B9DC-645C-5C73-01D4CA7F23B0}"/>
              </a:ext>
            </a:extLst>
          </p:cNvPr>
          <p:cNvSpPr txBox="1"/>
          <p:nvPr/>
        </p:nvSpPr>
        <p:spPr>
          <a:xfrm>
            <a:off x="4682199" y="-156215"/>
            <a:ext cx="6783933" cy="786113"/>
          </a:xfrm>
          <a:prstGeom prst="rect">
            <a:avLst/>
          </a:prstGeom>
        </p:spPr>
        <p:txBody>
          <a:bodyPr wrap="square" lIns="0" tIns="0" rIns="0" bIns="0" rtlCol="0" anchor="t">
            <a:spAutoFit/>
          </a:bodyPr>
          <a:lstStyle/>
          <a:p>
            <a:pPr>
              <a:lnSpc>
                <a:spcPts val="7000"/>
              </a:lnSpc>
            </a:pPr>
            <a:r>
              <a:rPr lang="en-US" sz="4400" b="1" dirty="0">
                <a:solidFill>
                  <a:srgbClr val="7068F4"/>
                </a:solidFill>
                <a:latin typeface="Barlow Bold" pitchFamily="34" charset="0"/>
                <a:ea typeface="Barlow Bold" pitchFamily="34" charset="-122"/>
                <a:cs typeface="Barlow Bold" pitchFamily="34" charset="-120"/>
              </a:rPr>
              <a:t>References</a:t>
            </a:r>
          </a:p>
        </p:txBody>
      </p:sp>
      <p:sp>
        <p:nvSpPr>
          <p:cNvPr id="57" name="Freeform 17">
            <a:extLst>
              <a:ext uri="{FF2B5EF4-FFF2-40B4-BE49-F238E27FC236}">
                <a16:creationId xmlns:a16="http://schemas.microsoft.com/office/drawing/2014/main" id="{083693C6-F7F0-DCAD-23EB-D11B6D067080}"/>
              </a:ext>
            </a:extLst>
          </p:cNvPr>
          <p:cNvSpPr/>
          <p:nvPr/>
        </p:nvSpPr>
        <p:spPr>
          <a:xfrm>
            <a:off x="2489120" y="2084798"/>
            <a:ext cx="1634041" cy="1634041"/>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txBody>
          <a:bodyPr/>
          <a:lstStyle/>
          <a:p>
            <a:endParaRPr lang="en-US" dirty="0"/>
          </a:p>
        </p:txBody>
      </p:sp>
      <p:sp>
        <p:nvSpPr>
          <p:cNvPr id="58" name="Freeform 17">
            <a:extLst>
              <a:ext uri="{FF2B5EF4-FFF2-40B4-BE49-F238E27FC236}">
                <a16:creationId xmlns:a16="http://schemas.microsoft.com/office/drawing/2014/main" id="{73ABDFFB-EEB8-1BD5-94DB-6DA7FF51D3B0}"/>
              </a:ext>
            </a:extLst>
          </p:cNvPr>
          <p:cNvSpPr/>
          <p:nvPr/>
        </p:nvSpPr>
        <p:spPr>
          <a:xfrm>
            <a:off x="15313458" y="766259"/>
            <a:ext cx="1634041" cy="1634041"/>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id="75" name="TextBox 29">
            <a:extLst>
              <a:ext uri="{FF2B5EF4-FFF2-40B4-BE49-F238E27FC236}">
                <a16:creationId xmlns:a16="http://schemas.microsoft.com/office/drawing/2014/main" id="{78046004-F276-06D3-B9E6-5103A28D2DFC}"/>
              </a:ext>
            </a:extLst>
          </p:cNvPr>
          <p:cNvSpPr txBox="1"/>
          <p:nvPr/>
        </p:nvSpPr>
        <p:spPr>
          <a:xfrm>
            <a:off x="4049439" y="4803055"/>
            <a:ext cx="3052956" cy="4632909"/>
          </a:xfrm>
          <a:prstGeom prst="rect">
            <a:avLst/>
          </a:prstGeom>
        </p:spPr>
        <p:txBody>
          <a:bodyPr lIns="47086" tIns="47086" rIns="47086" bIns="47086" rtlCol="0" anchor="ctr"/>
          <a:lstStyle/>
          <a:p>
            <a:pPr algn="ctr">
              <a:lnSpc>
                <a:spcPts val="2659"/>
              </a:lnSpc>
            </a:pPr>
            <a:endParaRPr/>
          </a:p>
        </p:txBody>
      </p:sp>
      <p:sp>
        <p:nvSpPr>
          <p:cNvPr id="80" name="TextBox 29">
            <a:extLst>
              <a:ext uri="{FF2B5EF4-FFF2-40B4-BE49-F238E27FC236}">
                <a16:creationId xmlns:a16="http://schemas.microsoft.com/office/drawing/2014/main" id="{5EEA76D6-BA26-4C15-4FD7-D185AD55470E}"/>
              </a:ext>
            </a:extLst>
          </p:cNvPr>
          <p:cNvSpPr txBox="1"/>
          <p:nvPr/>
        </p:nvSpPr>
        <p:spPr>
          <a:xfrm>
            <a:off x="7063239" y="3579841"/>
            <a:ext cx="4122367" cy="5562854"/>
          </a:xfrm>
          <a:prstGeom prst="rect">
            <a:avLst/>
          </a:prstGeom>
        </p:spPr>
        <p:txBody>
          <a:bodyPr lIns="47086" tIns="47086" rIns="47086" bIns="47086" rtlCol="0" anchor="ctr"/>
          <a:lstStyle/>
          <a:p>
            <a:pPr algn="ctr">
              <a:lnSpc>
                <a:spcPts val="2659"/>
              </a:lnSpc>
            </a:pPr>
            <a:endParaRPr/>
          </a:p>
        </p:txBody>
      </p:sp>
      <p:grpSp>
        <p:nvGrpSpPr>
          <p:cNvPr id="4" name="Group 22">
            <a:extLst>
              <a:ext uri="{FF2B5EF4-FFF2-40B4-BE49-F238E27FC236}">
                <a16:creationId xmlns:a16="http://schemas.microsoft.com/office/drawing/2014/main" id="{99907DF5-0DB0-2F6D-D793-20ADD5330AF2}"/>
              </a:ext>
            </a:extLst>
          </p:cNvPr>
          <p:cNvGrpSpPr/>
          <p:nvPr/>
        </p:nvGrpSpPr>
        <p:grpSpPr>
          <a:xfrm>
            <a:off x="13854517" y="1164273"/>
            <a:ext cx="1011607" cy="1011607"/>
            <a:chOff x="0" y="0"/>
            <a:chExt cx="812800" cy="812800"/>
          </a:xfrm>
        </p:grpSpPr>
        <p:sp>
          <p:nvSpPr>
            <p:cNvPr id="5" name="Freeform 23">
              <a:extLst>
                <a:ext uri="{FF2B5EF4-FFF2-40B4-BE49-F238E27FC236}">
                  <a16:creationId xmlns:a16="http://schemas.microsoft.com/office/drawing/2014/main" id="{AAB8AF06-7932-F18A-C5E5-1A0E58B991F8}"/>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txBody>
            <a:bodyPr/>
            <a:lstStyle/>
            <a:p>
              <a:endParaRPr lang="en-US" dirty="0"/>
            </a:p>
          </p:txBody>
        </p:sp>
        <p:sp>
          <p:nvSpPr>
            <p:cNvPr id="6" name="TextBox 24">
              <a:extLst>
                <a:ext uri="{FF2B5EF4-FFF2-40B4-BE49-F238E27FC236}">
                  <a16:creationId xmlns:a16="http://schemas.microsoft.com/office/drawing/2014/main" id="{8939B2B2-CFD0-0584-147E-099413DAE48A}"/>
                </a:ext>
              </a:extLst>
            </p:cNvPr>
            <p:cNvSpPr txBox="1"/>
            <p:nvPr/>
          </p:nvSpPr>
          <p:spPr>
            <a:xfrm>
              <a:off x="76200" y="38100"/>
              <a:ext cx="660400" cy="698500"/>
            </a:xfrm>
            <a:prstGeom prst="rect">
              <a:avLst/>
            </a:prstGeom>
          </p:spPr>
          <p:txBody>
            <a:bodyPr lIns="47086" tIns="47086" rIns="47086" bIns="47086" rtlCol="0" anchor="ctr"/>
            <a:lstStyle/>
            <a:p>
              <a:pPr algn="ctr">
                <a:lnSpc>
                  <a:spcPts val="2659"/>
                </a:lnSpc>
                <a:spcBef>
                  <a:spcPct val="0"/>
                </a:spcBef>
              </a:pPr>
              <a:endParaRPr/>
            </a:p>
          </p:txBody>
        </p:sp>
      </p:grpSp>
      <p:graphicFrame>
        <p:nvGraphicFramePr>
          <p:cNvPr id="7" name="Table 6">
            <a:extLst>
              <a:ext uri="{FF2B5EF4-FFF2-40B4-BE49-F238E27FC236}">
                <a16:creationId xmlns:a16="http://schemas.microsoft.com/office/drawing/2014/main" id="{B628765A-A12D-5E2E-FA14-364F7A36DC6D}"/>
              </a:ext>
            </a:extLst>
          </p:cNvPr>
          <p:cNvGraphicFramePr>
            <a:graphicFrameLocks noGrp="1"/>
          </p:cNvGraphicFramePr>
          <p:nvPr>
            <p:extLst>
              <p:ext uri="{D42A27DB-BD31-4B8C-83A1-F6EECF244321}">
                <p14:modId xmlns:p14="http://schemas.microsoft.com/office/powerpoint/2010/main" val="766673892"/>
              </p:ext>
            </p:extLst>
          </p:nvPr>
        </p:nvGraphicFramePr>
        <p:xfrm>
          <a:off x="228600" y="556571"/>
          <a:ext cx="17526000" cy="9173858"/>
        </p:xfrm>
        <a:graphic>
          <a:graphicData uri="http://schemas.openxmlformats.org/drawingml/2006/table">
            <a:tbl>
              <a:tblPr>
                <a:tableStyleId>{35758FB7-9AC5-4552-8A53-C91805E547FA}</a:tableStyleId>
              </a:tblPr>
              <a:tblGrid>
                <a:gridCol w="609599">
                  <a:extLst>
                    <a:ext uri="{9D8B030D-6E8A-4147-A177-3AD203B41FA5}">
                      <a16:colId xmlns:a16="http://schemas.microsoft.com/office/drawing/2014/main" val="2821897959"/>
                    </a:ext>
                  </a:extLst>
                </a:gridCol>
                <a:gridCol w="16916401">
                  <a:extLst>
                    <a:ext uri="{9D8B030D-6E8A-4147-A177-3AD203B41FA5}">
                      <a16:colId xmlns:a16="http://schemas.microsoft.com/office/drawing/2014/main" val="3448442544"/>
                    </a:ext>
                  </a:extLst>
                </a:gridCol>
              </a:tblGrid>
              <a:tr h="0">
                <a:tc>
                  <a:txBody>
                    <a:bodyPr/>
                    <a:lstStyle/>
                    <a:p>
                      <a:pPr algn="ctr">
                        <a:buNone/>
                      </a:pPr>
                      <a:r>
                        <a:rPr lang="en-US" sz="3200" b="1">
                          <a:solidFill>
                            <a:schemeClr val="accent6">
                              <a:lumMod val="75000"/>
                            </a:schemeClr>
                          </a:solidFill>
                        </a:rPr>
                        <a:t>#</a:t>
                      </a:r>
                    </a:p>
                  </a:txBody>
                  <a:tcPr marL="13799" marR="13799" marT="6899" marB="6899" anchor="ctr"/>
                </a:tc>
                <a:tc>
                  <a:txBody>
                    <a:bodyPr/>
                    <a:lstStyle/>
                    <a:p>
                      <a:pPr>
                        <a:buNone/>
                      </a:pPr>
                      <a:r>
                        <a:rPr lang="en-US" sz="3200" b="1" dirty="0">
                          <a:solidFill>
                            <a:schemeClr val="accent6">
                              <a:lumMod val="75000"/>
                            </a:schemeClr>
                          </a:solidFill>
                        </a:rPr>
                        <a:t>Reference</a:t>
                      </a:r>
                    </a:p>
                  </a:txBody>
                  <a:tcPr marL="13799" marR="13799" marT="6899" marB="6899" anchor="ctr"/>
                </a:tc>
                <a:extLst>
                  <a:ext uri="{0D108BD9-81ED-4DB2-BD59-A6C34878D82A}">
                    <a16:rowId xmlns:a16="http://schemas.microsoft.com/office/drawing/2014/main" val="724302966"/>
                  </a:ext>
                </a:extLst>
              </a:tr>
              <a:tr h="345285">
                <a:tc>
                  <a:txBody>
                    <a:bodyPr/>
                    <a:lstStyle/>
                    <a:p>
                      <a:pPr algn="ctr">
                        <a:buNone/>
                      </a:pPr>
                      <a:r>
                        <a:rPr lang="en-US" sz="2800"/>
                        <a:t>1</a:t>
                      </a:r>
                    </a:p>
                  </a:txBody>
                  <a:tcPr marL="13799" marR="13799" marT="6899" marB="6899" anchor="ctr"/>
                </a:tc>
                <a:tc>
                  <a:txBody>
                    <a:bodyPr/>
                    <a:lstStyle/>
                    <a:p>
                      <a:pPr>
                        <a:buNone/>
                      </a:pPr>
                      <a:r>
                        <a:rPr lang="en-GB" sz="2800"/>
                        <a:t>Różycki, R., Solarska, D. A., and Waligóra, G. (2025). Energy-Aware Machine Learning Models—A Review of Recent Techniques and Perspectives. Energies, 18(11), 2810.</a:t>
                      </a:r>
                    </a:p>
                  </a:txBody>
                  <a:tcPr marL="13799" marR="13799" marT="6899" marB="6899" anchor="ctr"/>
                </a:tc>
                <a:extLst>
                  <a:ext uri="{0D108BD9-81ED-4DB2-BD59-A6C34878D82A}">
                    <a16:rowId xmlns:a16="http://schemas.microsoft.com/office/drawing/2014/main" val="3383944528"/>
                  </a:ext>
                </a:extLst>
              </a:tr>
              <a:tr h="345285">
                <a:tc>
                  <a:txBody>
                    <a:bodyPr/>
                    <a:lstStyle/>
                    <a:p>
                      <a:pPr algn="ctr">
                        <a:buNone/>
                      </a:pPr>
                      <a:r>
                        <a:rPr lang="en-US" sz="2800"/>
                        <a:t>2</a:t>
                      </a:r>
                    </a:p>
                  </a:txBody>
                  <a:tcPr marL="13799" marR="13799" marT="6899" marB="6899" anchor="ctr"/>
                </a:tc>
                <a:tc>
                  <a:txBody>
                    <a:bodyPr/>
                    <a:lstStyle/>
                    <a:p>
                      <a:pPr>
                        <a:buNone/>
                      </a:pPr>
                      <a:r>
                        <a:rPr lang="en-GB" sz="2800"/>
                        <a:t>Stolen, S., Kumar, A., and Smith, J. (2024). Review of carbon emission prediction models using machine learning. Environmental Science &amp; Technology, 58(12), 5234-5245.</a:t>
                      </a:r>
                    </a:p>
                  </a:txBody>
                  <a:tcPr marL="13799" marR="13799" marT="6899" marB="6899" anchor="ctr"/>
                </a:tc>
                <a:extLst>
                  <a:ext uri="{0D108BD9-81ED-4DB2-BD59-A6C34878D82A}">
                    <a16:rowId xmlns:a16="http://schemas.microsoft.com/office/drawing/2014/main" val="509258829"/>
                  </a:ext>
                </a:extLst>
              </a:tr>
              <a:tr h="474766">
                <a:tc>
                  <a:txBody>
                    <a:bodyPr/>
                    <a:lstStyle/>
                    <a:p>
                      <a:pPr algn="ctr">
                        <a:buNone/>
                      </a:pPr>
                      <a:r>
                        <a:rPr lang="en-US" sz="2800"/>
                        <a:t>3</a:t>
                      </a:r>
                    </a:p>
                  </a:txBody>
                  <a:tcPr marL="13799" marR="13799" marT="6899" marB="6899" anchor="ctr"/>
                </a:tc>
                <a:tc>
                  <a:txBody>
                    <a:bodyPr/>
                    <a:lstStyle/>
                    <a:p>
                      <a:pPr>
                        <a:buNone/>
                      </a:pPr>
                      <a:r>
                        <a:rPr lang="en-GB" sz="2800" dirty="0"/>
                        <a:t>Sundaram, A., Varghese, I. K., and </a:t>
                      </a:r>
                      <a:r>
                        <a:rPr lang="en-GB" sz="2800" dirty="0" err="1"/>
                        <a:t>RejiKumar</a:t>
                      </a:r>
                      <a:r>
                        <a:rPr lang="en-GB" sz="2800" dirty="0"/>
                        <a:t>, G. (2023). Machine Learning Approaches for Real-time Carbon Emission Prediction and Mitigation. In 2023 IEEE Technology &amp; Engineering Management Conference - Asia Pacific (TEMSCON-ASPAC) (pp. 1-7).</a:t>
                      </a:r>
                    </a:p>
                  </a:txBody>
                  <a:tcPr marL="13799" marR="13799" marT="6899" marB="6899" anchor="ctr"/>
                </a:tc>
                <a:extLst>
                  <a:ext uri="{0D108BD9-81ED-4DB2-BD59-A6C34878D82A}">
                    <a16:rowId xmlns:a16="http://schemas.microsoft.com/office/drawing/2014/main" val="2013203933"/>
                  </a:ext>
                </a:extLst>
              </a:tr>
              <a:tr h="215803">
                <a:tc>
                  <a:txBody>
                    <a:bodyPr/>
                    <a:lstStyle/>
                    <a:p>
                      <a:pPr algn="ctr">
                        <a:buNone/>
                      </a:pPr>
                      <a:r>
                        <a:rPr lang="en-US" sz="2800"/>
                        <a:t>4</a:t>
                      </a:r>
                    </a:p>
                  </a:txBody>
                  <a:tcPr marL="13799" marR="13799" marT="6899" marB="6899" anchor="ctr"/>
                </a:tc>
                <a:tc>
                  <a:txBody>
                    <a:bodyPr/>
                    <a:lstStyle/>
                    <a:p>
                      <a:pPr>
                        <a:buNone/>
                      </a:pPr>
                      <a:r>
                        <a:rPr lang="en-GB" sz="2800"/>
                        <a:t>Johannesson, P., and Perjons, E. (2012). A Design Science Primer. CreateSpace Independent Publishing.</a:t>
                      </a:r>
                    </a:p>
                  </a:txBody>
                  <a:tcPr marL="13799" marR="13799" marT="6899" marB="6899" anchor="ctr"/>
                </a:tc>
                <a:extLst>
                  <a:ext uri="{0D108BD9-81ED-4DB2-BD59-A6C34878D82A}">
                    <a16:rowId xmlns:a16="http://schemas.microsoft.com/office/drawing/2014/main" val="2970811799"/>
                  </a:ext>
                </a:extLst>
              </a:tr>
              <a:tr h="345285">
                <a:tc>
                  <a:txBody>
                    <a:bodyPr/>
                    <a:lstStyle/>
                    <a:p>
                      <a:pPr algn="ctr">
                        <a:buNone/>
                      </a:pPr>
                      <a:r>
                        <a:rPr lang="en-US" sz="2800"/>
                        <a:t>5</a:t>
                      </a:r>
                    </a:p>
                  </a:txBody>
                  <a:tcPr marL="13799" marR="13799" marT="6899" marB="6899" anchor="ctr"/>
                </a:tc>
                <a:tc>
                  <a:txBody>
                    <a:bodyPr/>
                    <a:lstStyle/>
                    <a:p>
                      <a:pPr>
                        <a:buNone/>
                      </a:pPr>
                      <a:r>
                        <a:rPr lang="en-US" sz="2800"/>
                        <a:t>Patterson, D., Gonzalez, J., Le, Q., Liang, C., Munguia, L. M., Rothchild, D., So, D. R., Texier, M., and Dean, J. (2021). Carbon Emissions and Large Neural Network Training. arXiv preprint arXiv:2104.10350.</a:t>
                      </a:r>
                    </a:p>
                  </a:txBody>
                  <a:tcPr marL="13799" marR="13799" marT="6899" marB="6899" anchor="ctr"/>
                </a:tc>
                <a:extLst>
                  <a:ext uri="{0D108BD9-81ED-4DB2-BD59-A6C34878D82A}">
                    <a16:rowId xmlns:a16="http://schemas.microsoft.com/office/drawing/2014/main" val="2088833161"/>
                  </a:ext>
                </a:extLst>
              </a:tr>
              <a:tr h="280544">
                <a:tc>
                  <a:txBody>
                    <a:bodyPr/>
                    <a:lstStyle/>
                    <a:p>
                      <a:pPr algn="ctr">
                        <a:buNone/>
                      </a:pPr>
                      <a:r>
                        <a:rPr lang="en-US" sz="2800"/>
                        <a:t>6</a:t>
                      </a:r>
                    </a:p>
                  </a:txBody>
                  <a:tcPr marL="13799" marR="13799" marT="6899" marB="6899" anchor="ctr"/>
                </a:tc>
                <a:tc>
                  <a:txBody>
                    <a:bodyPr/>
                    <a:lstStyle/>
                    <a:p>
                      <a:pPr>
                        <a:buNone/>
                      </a:pPr>
                      <a:r>
                        <a:rPr lang="en-US" sz="2800"/>
                        <a:t>Lacoste, A., Luccioni, A., Schmidt, V., and Dandres, T. (2019). Quantifying the Carbon Emissions of Machine Learning. arXiv preprint arXiv:1910.09700.</a:t>
                      </a:r>
                    </a:p>
                  </a:txBody>
                  <a:tcPr marL="13799" marR="13799" marT="6899" marB="6899" anchor="ctr"/>
                </a:tc>
                <a:extLst>
                  <a:ext uri="{0D108BD9-81ED-4DB2-BD59-A6C34878D82A}">
                    <a16:rowId xmlns:a16="http://schemas.microsoft.com/office/drawing/2014/main" val="1143140345"/>
                  </a:ext>
                </a:extLst>
              </a:tr>
              <a:tr h="280544">
                <a:tc>
                  <a:txBody>
                    <a:bodyPr/>
                    <a:lstStyle/>
                    <a:p>
                      <a:pPr algn="ctr">
                        <a:buNone/>
                      </a:pPr>
                      <a:r>
                        <a:rPr lang="en-US" sz="2800"/>
                        <a:t>7</a:t>
                      </a:r>
                    </a:p>
                  </a:txBody>
                  <a:tcPr marL="13799" marR="13799" marT="6899" marB="6899" anchor="ctr"/>
                </a:tc>
                <a:tc>
                  <a:txBody>
                    <a:bodyPr/>
                    <a:lstStyle/>
                    <a:p>
                      <a:pPr>
                        <a:buNone/>
                      </a:pPr>
                      <a:r>
                        <a:rPr lang="en-GB" sz="2800"/>
                        <a:t>CodeCarbon. (2023). CodeCarbon: Track and Reduce CO2 Emissions from Your Computing. Retrieved from </a:t>
                      </a:r>
                      <a:r>
                        <a:rPr lang="en-GB" sz="2800">
                          <a:hlinkClick r:id="rId3"/>
                        </a:rPr>
                        <a:t>https://codecarbon.io</a:t>
                      </a:r>
                      <a:r>
                        <a:rPr lang="en-GB" sz="2800"/>
                        <a:t>.</a:t>
                      </a:r>
                    </a:p>
                  </a:txBody>
                  <a:tcPr marL="13799" marR="13799" marT="6899" marB="6899" anchor="ctr"/>
                </a:tc>
                <a:extLst>
                  <a:ext uri="{0D108BD9-81ED-4DB2-BD59-A6C34878D82A}">
                    <a16:rowId xmlns:a16="http://schemas.microsoft.com/office/drawing/2014/main" val="2980182180"/>
                  </a:ext>
                </a:extLst>
              </a:tr>
              <a:tr h="345285">
                <a:tc>
                  <a:txBody>
                    <a:bodyPr/>
                    <a:lstStyle/>
                    <a:p>
                      <a:pPr algn="ctr">
                        <a:buNone/>
                      </a:pPr>
                      <a:r>
                        <a:rPr lang="en-US" sz="2800"/>
                        <a:t>8</a:t>
                      </a:r>
                    </a:p>
                  </a:txBody>
                  <a:tcPr marL="13799" marR="13799" marT="6899" marB="6899" anchor="ctr"/>
                </a:tc>
                <a:tc>
                  <a:txBody>
                    <a:bodyPr/>
                    <a:lstStyle/>
                    <a:p>
                      <a:pPr>
                        <a:buNone/>
                      </a:pPr>
                      <a:r>
                        <a:rPr lang="en-US" sz="2800"/>
                        <a:t>Al Nuaimi, H. S., Acquaye, A., and Mayyas, A. (2025). Machine learning applications for carbon emission estimation. Resources, Conservation &amp; Recycling Advances, 17, 200263.</a:t>
                      </a:r>
                    </a:p>
                  </a:txBody>
                  <a:tcPr marL="13799" marR="13799" marT="6899" marB="6899" anchor="ctr"/>
                </a:tc>
                <a:extLst>
                  <a:ext uri="{0D108BD9-81ED-4DB2-BD59-A6C34878D82A}">
                    <a16:rowId xmlns:a16="http://schemas.microsoft.com/office/drawing/2014/main" val="3138947820"/>
                  </a:ext>
                </a:extLst>
              </a:tr>
              <a:tr h="345285">
                <a:tc>
                  <a:txBody>
                    <a:bodyPr/>
                    <a:lstStyle/>
                    <a:p>
                      <a:pPr algn="ctr">
                        <a:buNone/>
                      </a:pPr>
                      <a:r>
                        <a:rPr lang="en-US" sz="2800"/>
                        <a:t>9</a:t>
                      </a:r>
                    </a:p>
                  </a:txBody>
                  <a:tcPr marL="13799" marR="13799" marT="6899" marB="6899" anchor="ctr"/>
                </a:tc>
                <a:tc>
                  <a:txBody>
                    <a:bodyPr/>
                    <a:lstStyle/>
                    <a:p>
                      <a:pPr>
                        <a:buNone/>
                      </a:pPr>
                      <a:r>
                        <a:rPr lang="en-GB" sz="2800" dirty="0"/>
                        <a:t>Environmental Science and Pollution Research. (2025). Comparative analysis: ML vs DL vs statistical models for CO2 prediction. Environmental Science and Pollution Research, 32(8), 12345-12360.</a:t>
                      </a:r>
                    </a:p>
                  </a:txBody>
                  <a:tcPr marL="13799" marR="13799" marT="6899" marB="6899" anchor="ctr"/>
                </a:tc>
                <a:extLst>
                  <a:ext uri="{0D108BD9-81ED-4DB2-BD59-A6C34878D82A}">
                    <a16:rowId xmlns:a16="http://schemas.microsoft.com/office/drawing/2014/main" val="1424702123"/>
                  </a:ext>
                </a:extLst>
              </a:tr>
              <a:tr h="280544">
                <a:tc>
                  <a:txBody>
                    <a:bodyPr/>
                    <a:lstStyle/>
                    <a:p>
                      <a:pPr algn="ctr">
                        <a:buNone/>
                      </a:pPr>
                      <a:r>
                        <a:rPr lang="en-US" sz="2800" dirty="0"/>
                        <a:t>10</a:t>
                      </a:r>
                    </a:p>
                  </a:txBody>
                  <a:tcPr marL="13799" marR="13799" marT="6899" marB="6899" anchor="ctr"/>
                </a:tc>
                <a:tc>
                  <a:txBody>
                    <a:bodyPr/>
                    <a:lstStyle/>
                    <a:p>
                      <a:pPr>
                        <a:buNone/>
                      </a:pPr>
                      <a:r>
                        <a:rPr lang="en-GB" sz="2800" dirty="0"/>
                        <a:t>Denscombe, M. (2010). The Good Research Guide: For Small-Scale Social Research Projects (4th ed.). McGraw-Hill Education.</a:t>
                      </a:r>
                    </a:p>
                  </a:txBody>
                  <a:tcPr marL="13799" marR="13799" marT="6899" marB="6899" anchor="ctr"/>
                </a:tc>
                <a:extLst>
                  <a:ext uri="{0D108BD9-81ED-4DB2-BD59-A6C34878D82A}">
                    <a16:rowId xmlns:a16="http://schemas.microsoft.com/office/drawing/2014/main" val="3631466580"/>
                  </a:ext>
                </a:extLst>
              </a:tr>
            </a:tbl>
          </a:graphicData>
        </a:graphic>
      </p:graphicFrame>
    </p:spTree>
    <p:extLst>
      <p:ext uri="{BB962C8B-B14F-4D97-AF65-F5344CB8AC3E}">
        <p14:creationId xmlns:p14="http://schemas.microsoft.com/office/powerpoint/2010/main" val="311108928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Click="0">
        <p159:morph option="byObject"/>
      </p:transition>
    </mc:Choice>
    <mc:Fallback xmlns="">
      <p:transition spd="slow" advClick="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6" presetClass="entr" presetSubtype="0" fill="hold" grpId="0" nodeType="afterEffect">
                                  <p:stCondLst>
                                    <p:cond delay="0"/>
                                  </p:stCondLst>
                                  <p:childTnLst>
                                    <p:set>
                                      <p:cBhvr>
                                        <p:cTn id="6" dur="1" fill="hold">
                                          <p:stCondLst>
                                            <p:cond delay="0"/>
                                          </p:stCondLst>
                                        </p:cTn>
                                        <p:tgtEl>
                                          <p:spTgt spid="25"/>
                                        </p:tgtEl>
                                        <p:attrNameLst>
                                          <p:attrName>style.visibility</p:attrName>
                                        </p:attrNameLst>
                                      </p:cBhvr>
                                      <p:to>
                                        <p:strVal val="visible"/>
                                      </p:to>
                                    </p:set>
                                    <p:animEffect transition="in" filter="wipe(down)">
                                      <p:cBhvr>
                                        <p:cTn id="7" dur="363">
                                          <p:stCondLst>
                                            <p:cond delay="0"/>
                                          </p:stCondLst>
                                        </p:cTn>
                                        <p:tgtEl>
                                          <p:spTgt spid="25"/>
                                        </p:tgtEl>
                                      </p:cBhvr>
                                    </p:animEffect>
                                    <p:anim calcmode="lin" valueType="num">
                                      <p:cBhvr>
                                        <p:cTn id="8" dur="1139" tmFilter="0,0; 0.14,0.36; 0.43,0.73; 0.71,0.91; 1.0,1.0">
                                          <p:stCondLst>
                                            <p:cond delay="0"/>
                                          </p:stCondLst>
                                        </p:cTn>
                                        <p:tgtEl>
                                          <p:spTgt spid="25"/>
                                        </p:tgtEl>
                                        <p:attrNameLst>
                                          <p:attrName>ppt_x</p:attrName>
                                        </p:attrNameLst>
                                      </p:cBhvr>
                                      <p:tavLst>
                                        <p:tav tm="0">
                                          <p:val>
                                            <p:strVal val="#ppt_x-0.25"/>
                                          </p:val>
                                        </p:tav>
                                        <p:tav tm="100000">
                                          <p:val>
                                            <p:strVal val="#ppt_x"/>
                                          </p:val>
                                        </p:tav>
                                      </p:tavLst>
                                    </p:anim>
                                    <p:anim calcmode="lin" valueType="num">
                                      <p:cBhvr>
                                        <p:cTn id="9" dur="415" tmFilter="0.0,0.0; 0.25,0.07; 0.50,0.2; 0.75,0.467; 1.0,1.0">
                                          <p:stCondLst>
                                            <p:cond delay="0"/>
                                          </p:stCondLst>
                                        </p:cTn>
                                        <p:tgtEl>
                                          <p:spTgt spid="25"/>
                                        </p:tgtEl>
                                        <p:attrNameLst>
                                          <p:attrName>ppt_y</p:attrName>
                                        </p:attrNameLst>
                                      </p:cBhvr>
                                      <p:tavLst>
                                        <p:tav tm="0" fmla="#ppt_y-sin(pi*$)/3">
                                          <p:val>
                                            <p:fltVal val="0.5"/>
                                          </p:val>
                                        </p:tav>
                                        <p:tav tm="100000">
                                          <p:val>
                                            <p:fltVal val="1"/>
                                          </p:val>
                                        </p:tav>
                                      </p:tavLst>
                                    </p:anim>
                                    <p:anim calcmode="lin" valueType="num">
                                      <p:cBhvr>
                                        <p:cTn id="10" dur="415" tmFilter="0, 0; 0.125,0.2665; 0.25,0.4; 0.375,0.465; 0.5,0.5;  0.625,0.535; 0.75,0.6; 0.875,0.7335; 1,1">
                                          <p:stCondLst>
                                            <p:cond delay="415"/>
                                          </p:stCondLst>
                                        </p:cTn>
                                        <p:tgtEl>
                                          <p:spTgt spid="25"/>
                                        </p:tgtEl>
                                        <p:attrNameLst>
                                          <p:attrName>ppt_y</p:attrName>
                                        </p:attrNameLst>
                                      </p:cBhvr>
                                      <p:tavLst>
                                        <p:tav tm="0" fmla="#ppt_y-sin(pi*$)/9">
                                          <p:val>
                                            <p:fltVal val="0"/>
                                          </p:val>
                                        </p:tav>
                                        <p:tav tm="100000">
                                          <p:val>
                                            <p:fltVal val="1"/>
                                          </p:val>
                                        </p:tav>
                                      </p:tavLst>
                                    </p:anim>
                                    <p:anim calcmode="lin" valueType="num">
                                      <p:cBhvr>
                                        <p:cTn id="11" dur="208" tmFilter="0, 0; 0.125,0.2665; 0.25,0.4; 0.375,0.465; 0.5,0.5;  0.625,0.535; 0.75,0.6; 0.875,0.7335; 1,1">
                                          <p:stCondLst>
                                            <p:cond delay="828"/>
                                          </p:stCondLst>
                                        </p:cTn>
                                        <p:tgtEl>
                                          <p:spTgt spid="25"/>
                                        </p:tgtEl>
                                        <p:attrNameLst>
                                          <p:attrName>ppt_y</p:attrName>
                                        </p:attrNameLst>
                                      </p:cBhvr>
                                      <p:tavLst>
                                        <p:tav tm="0" fmla="#ppt_y-sin(pi*$)/27">
                                          <p:val>
                                            <p:fltVal val="0"/>
                                          </p:val>
                                        </p:tav>
                                        <p:tav tm="100000">
                                          <p:val>
                                            <p:fltVal val="1"/>
                                          </p:val>
                                        </p:tav>
                                      </p:tavLst>
                                    </p:anim>
                                    <p:anim calcmode="lin" valueType="num">
                                      <p:cBhvr>
                                        <p:cTn id="12" dur="103" tmFilter="0, 0; 0.125,0.2665; 0.25,0.4; 0.375,0.465; 0.5,0.5;  0.625,0.535; 0.75,0.6; 0.875,0.7335; 1,1">
                                          <p:stCondLst>
                                            <p:cond delay="1035"/>
                                          </p:stCondLst>
                                        </p:cTn>
                                        <p:tgtEl>
                                          <p:spTgt spid="25"/>
                                        </p:tgtEl>
                                        <p:attrNameLst>
                                          <p:attrName>ppt_y</p:attrName>
                                        </p:attrNameLst>
                                      </p:cBhvr>
                                      <p:tavLst>
                                        <p:tav tm="0" fmla="#ppt_y-sin(pi*$)/81">
                                          <p:val>
                                            <p:fltVal val="0"/>
                                          </p:val>
                                        </p:tav>
                                        <p:tav tm="100000">
                                          <p:val>
                                            <p:fltVal val="1"/>
                                          </p:val>
                                        </p:tav>
                                      </p:tavLst>
                                    </p:anim>
                                    <p:animScale>
                                      <p:cBhvr>
                                        <p:cTn id="13" dur="17">
                                          <p:stCondLst>
                                            <p:cond delay="406"/>
                                          </p:stCondLst>
                                        </p:cTn>
                                        <p:tgtEl>
                                          <p:spTgt spid="25"/>
                                        </p:tgtEl>
                                      </p:cBhvr>
                                      <p:to x="100000" y="60000"/>
                                    </p:animScale>
                                    <p:animScale>
                                      <p:cBhvr>
                                        <p:cTn id="14" dur="103" decel="50000">
                                          <p:stCondLst>
                                            <p:cond delay="423"/>
                                          </p:stCondLst>
                                        </p:cTn>
                                        <p:tgtEl>
                                          <p:spTgt spid="25"/>
                                        </p:tgtEl>
                                      </p:cBhvr>
                                      <p:to x="100000" y="100000"/>
                                    </p:animScale>
                                    <p:animScale>
                                      <p:cBhvr>
                                        <p:cTn id="15" dur="17">
                                          <p:stCondLst>
                                            <p:cond delay="820"/>
                                          </p:stCondLst>
                                        </p:cTn>
                                        <p:tgtEl>
                                          <p:spTgt spid="25"/>
                                        </p:tgtEl>
                                      </p:cBhvr>
                                      <p:to x="100000" y="80000"/>
                                    </p:animScale>
                                    <p:animScale>
                                      <p:cBhvr>
                                        <p:cTn id="16" dur="103" decel="50000">
                                          <p:stCondLst>
                                            <p:cond delay="837"/>
                                          </p:stCondLst>
                                        </p:cTn>
                                        <p:tgtEl>
                                          <p:spTgt spid="25"/>
                                        </p:tgtEl>
                                      </p:cBhvr>
                                      <p:to x="100000" y="100000"/>
                                    </p:animScale>
                                    <p:animScale>
                                      <p:cBhvr>
                                        <p:cTn id="17" dur="17">
                                          <p:stCondLst>
                                            <p:cond delay="1026"/>
                                          </p:stCondLst>
                                        </p:cTn>
                                        <p:tgtEl>
                                          <p:spTgt spid="25"/>
                                        </p:tgtEl>
                                      </p:cBhvr>
                                      <p:to x="100000" y="90000"/>
                                    </p:animScale>
                                    <p:animScale>
                                      <p:cBhvr>
                                        <p:cTn id="18" dur="103" decel="50000">
                                          <p:stCondLst>
                                            <p:cond delay="1043"/>
                                          </p:stCondLst>
                                        </p:cTn>
                                        <p:tgtEl>
                                          <p:spTgt spid="25"/>
                                        </p:tgtEl>
                                      </p:cBhvr>
                                      <p:to x="100000" y="100000"/>
                                    </p:animScale>
                                    <p:animScale>
                                      <p:cBhvr>
                                        <p:cTn id="19" dur="17">
                                          <p:stCondLst>
                                            <p:cond delay="1130"/>
                                          </p:stCondLst>
                                        </p:cTn>
                                        <p:tgtEl>
                                          <p:spTgt spid="25"/>
                                        </p:tgtEl>
                                      </p:cBhvr>
                                      <p:to x="100000" y="95000"/>
                                    </p:animScale>
                                    <p:animScale>
                                      <p:cBhvr>
                                        <p:cTn id="20" dur="103" decel="50000">
                                          <p:stCondLst>
                                            <p:cond delay="1147"/>
                                          </p:stCondLst>
                                        </p:cTn>
                                        <p:tgtEl>
                                          <p:spTgt spid="25"/>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4085E1-0BDA-3C23-4B84-D9EA0E997058}"/>
            </a:ext>
          </a:extLst>
        </p:cNvPr>
        <p:cNvGrpSpPr/>
        <p:nvPr/>
      </p:nvGrpSpPr>
      <p:grpSpPr>
        <a:xfrm>
          <a:off x="0" y="0"/>
          <a:ext cx="0" cy="0"/>
          <a:chOff x="0" y="0"/>
          <a:chExt cx="0" cy="0"/>
        </a:xfrm>
      </p:grpSpPr>
      <p:sp>
        <p:nvSpPr>
          <p:cNvPr id="61" name="TextBox 29">
            <a:extLst>
              <a:ext uri="{FF2B5EF4-FFF2-40B4-BE49-F238E27FC236}">
                <a16:creationId xmlns:a16="http://schemas.microsoft.com/office/drawing/2014/main" id="{9FB27BAE-4519-77D9-39AC-94E99EA49A10}"/>
              </a:ext>
            </a:extLst>
          </p:cNvPr>
          <p:cNvSpPr txBox="1"/>
          <p:nvPr/>
        </p:nvSpPr>
        <p:spPr>
          <a:xfrm>
            <a:off x="6518759" y="6404639"/>
            <a:ext cx="5139841" cy="3006061"/>
          </a:xfrm>
          <a:prstGeom prst="rect">
            <a:avLst/>
          </a:prstGeom>
        </p:spPr>
        <p:txBody>
          <a:bodyPr lIns="47086" tIns="47086" rIns="47086" bIns="47086" rtlCol="0" anchor="ctr"/>
          <a:lstStyle/>
          <a:p>
            <a:pPr algn="ctr">
              <a:lnSpc>
                <a:spcPts val="2659"/>
              </a:lnSpc>
            </a:pPr>
            <a:endParaRPr/>
          </a:p>
        </p:txBody>
      </p:sp>
      <p:grpSp>
        <p:nvGrpSpPr>
          <p:cNvPr id="9" name="Group 9">
            <a:extLst>
              <a:ext uri="{FF2B5EF4-FFF2-40B4-BE49-F238E27FC236}">
                <a16:creationId xmlns:a16="http://schemas.microsoft.com/office/drawing/2014/main" id="{BCAFEC5F-F3D0-B02F-809E-A1F30EC6DCC4}"/>
              </a:ext>
            </a:extLst>
          </p:cNvPr>
          <p:cNvGrpSpPr/>
          <p:nvPr/>
        </p:nvGrpSpPr>
        <p:grpSpPr>
          <a:xfrm>
            <a:off x="2702224" y="-6441776"/>
            <a:ext cx="12883553" cy="12883553"/>
            <a:chOff x="0" y="0"/>
            <a:chExt cx="812800" cy="812800"/>
          </a:xfrm>
        </p:grpSpPr>
        <p:sp>
          <p:nvSpPr>
            <p:cNvPr id="10" name="Freeform 10">
              <a:extLst>
                <a:ext uri="{FF2B5EF4-FFF2-40B4-BE49-F238E27FC236}">
                  <a16:creationId xmlns:a16="http://schemas.microsoft.com/office/drawing/2014/main" id="{1F706F7B-5F72-AB58-76F4-3B29E2D2216C}"/>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8F8F8"/>
            </a:solidFill>
          </p:spPr>
        </p:sp>
        <p:sp>
          <p:nvSpPr>
            <p:cNvPr id="11" name="TextBox 11">
              <a:extLst>
                <a:ext uri="{FF2B5EF4-FFF2-40B4-BE49-F238E27FC236}">
                  <a16:creationId xmlns:a16="http://schemas.microsoft.com/office/drawing/2014/main" id="{B21BE60B-D105-4C30-8AEC-1D37654F8AF3}"/>
                </a:ext>
              </a:extLst>
            </p:cNvPr>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12" name="Freeform 12">
            <a:extLst>
              <a:ext uri="{FF2B5EF4-FFF2-40B4-BE49-F238E27FC236}">
                <a16:creationId xmlns:a16="http://schemas.microsoft.com/office/drawing/2014/main" id="{8471A9E8-0B48-A0A4-C703-B161CA6CD01A}"/>
              </a:ext>
            </a:extLst>
          </p:cNvPr>
          <p:cNvSpPr/>
          <p:nvPr/>
        </p:nvSpPr>
        <p:spPr>
          <a:xfrm>
            <a:off x="3124200" y="-4838700"/>
            <a:ext cx="11970147" cy="11415282"/>
          </a:xfrm>
          <a:custGeom>
            <a:avLst/>
            <a:gdLst/>
            <a:ahLst/>
            <a:cxnLst/>
            <a:rect l="l" t="t" r="r" b="b"/>
            <a:pathLst>
              <a:path w="11069128" h="11055291">
                <a:moveTo>
                  <a:pt x="0" y="0"/>
                </a:moveTo>
                <a:lnTo>
                  <a:pt x="11069128" y="0"/>
                </a:lnTo>
                <a:lnTo>
                  <a:pt x="11069128" y="11055291"/>
                </a:lnTo>
                <a:lnTo>
                  <a:pt x="0" y="11055291"/>
                </a:lnTo>
                <a:lnTo>
                  <a:pt x="0" y="0"/>
                </a:lnTo>
                <a:close/>
              </a:path>
            </a:pathLst>
          </a:custGeom>
          <a:blipFill>
            <a:blip r:embed="rId2"/>
            <a:stretch>
              <a:fillRect/>
            </a:stretch>
          </a:blipFill>
        </p:spPr>
      </p:sp>
      <p:grpSp>
        <p:nvGrpSpPr>
          <p:cNvPr id="13" name="Group 13">
            <a:extLst>
              <a:ext uri="{FF2B5EF4-FFF2-40B4-BE49-F238E27FC236}">
                <a16:creationId xmlns:a16="http://schemas.microsoft.com/office/drawing/2014/main" id="{C22FE325-2148-3133-DFF9-2E878D934BAC}"/>
              </a:ext>
            </a:extLst>
          </p:cNvPr>
          <p:cNvGrpSpPr/>
          <p:nvPr/>
        </p:nvGrpSpPr>
        <p:grpSpPr>
          <a:xfrm>
            <a:off x="3690946" y="-5453054"/>
            <a:ext cx="10906108" cy="10906108"/>
            <a:chOff x="0" y="0"/>
            <a:chExt cx="812800" cy="812800"/>
          </a:xfrm>
        </p:grpSpPr>
        <p:sp>
          <p:nvSpPr>
            <p:cNvPr id="14" name="Freeform 14">
              <a:extLst>
                <a:ext uri="{FF2B5EF4-FFF2-40B4-BE49-F238E27FC236}">
                  <a16:creationId xmlns:a16="http://schemas.microsoft.com/office/drawing/2014/main" id="{CE173DD7-347C-9C41-9471-C489ACFBF1D2}"/>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id="15" name="TextBox 15">
              <a:extLst>
                <a:ext uri="{FF2B5EF4-FFF2-40B4-BE49-F238E27FC236}">
                  <a16:creationId xmlns:a16="http://schemas.microsoft.com/office/drawing/2014/main" id="{AC748474-B78F-D263-39FA-32EB0639C484}"/>
                </a:ext>
              </a:extLst>
            </p:cNvPr>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grpSp>
        <p:nvGrpSpPr>
          <p:cNvPr id="21" name="Group 21">
            <a:extLst>
              <a:ext uri="{FF2B5EF4-FFF2-40B4-BE49-F238E27FC236}">
                <a16:creationId xmlns:a16="http://schemas.microsoft.com/office/drawing/2014/main" id="{884CFCBD-594A-931F-71C5-BAD04B8BA687}"/>
              </a:ext>
            </a:extLst>
          </p:cNvPr>
          <p:cNvGrpSpPr/>
          <p:nvPr/>
        </p:nvGrpSpPr>
        <p:grpSpPr>
          <a:xfrm>
            <a:off x="17491799" y="8458418"/>
            <a:ext cx="951769" cy="799882"/>
            <a:chOff x="0" y="0"/>
            <a:chExt cx="967140" cy="812800"/>
          </a:xfrm>
        </p:grpSpPr>
        <p:sp>
          <p:nvSpPr>
            <p:cNvPr id="22" name="Freeform 22">
              <a:extLst>
                <a:ext uri="{FF2B5EF4-FFF2-40B4-BE49-F238E27FC236}">
                  <a16:creationId xmlns:a16="http://schemas.microsoft.com/office/drawing/2014/main" id="{372013EA-CDDC-F9E1-52A7-F9887B79401E}"/>
                </a:ext>
              </a:extLst>
            </p:cNvPr>
            <p:cNvSpPr/>
            <p:nvPr/>
          </p:nvSpPr>
          <p:spPr>
            <a:xfrm>
              <a:off x="0" y="0"/>
              <a:ext cx="967140" cy="812800"/>
            </a:xfrm>
            <a:custGeom>
              <a:avLst/>
              <a:gdLst/>
              <a:ahLst/>
              <a:cxnLst/>
              <a:rect l="l" t="t" r="r" b="b"/>
              <a:pathLst>
                <a:path w="967140" h="812800">
                  <a:moveTo>
                    <a:pt x="81342" y="0"/>
                  </a:moveTo>
                  <a:lnTo>
                    <a:pt x="885798" y="0"/>
                  </a:lnTo>
                  <a:cubicBezTo>
                    <a:pt x="907371" y="0"/>
                    <a:pt x="928061" y="8570"/>
                    <a:pt x="943315" y="23825"/>
                  </a:cubicBezTo>
                  <a:cubicBezTo>
                    <a:pt x="958570" y="39079"/>
                    <a:pt x="967140" y="59769"/>
                    <a:pt x="967140" y="81342"/>
                  </a:cubicBezTo>
                  <a:lnTo>
                    <a:pt x="967140" y="731458"/>
                  </a:lnTo>
                  <a:cubicBezTo>
                    <a:pt x="967140" y="776382"/>
                    <a:pt x="930722" y="812800"/>
                    <a:pt x="885798" y="812800"/>
                  </a:cubicBezTo>
                  <a:lnTo>
                    <a:pt x="81342" y="812800"/>
                  </a:lnTo>
                  <a:cubicBezTo>
                    <a:pt x="59769" y="812800"/>
                    <a:pt x="39079" y="804230"/>
                    <a:pt x="23825" y="788975"/>
                  </a:cubicBezTo>
                  <a:cubicBezTo>
                    <a:pt x="8570" y="773721"/>
                    <a:pt x="0" y="753031"/>
                    <a:pt x="0" y="731458"/>
                  </a:cubicBezTo>
                  <a:lnTo>
                    <a:pt x="0" y="81342"/>
                  </a:lnTo>
                  <a:cubicBezTo>
                    <a:pt x="0" y="59769"/>
                    <a:pt x="8570" y="39079"/>
                    <a:pt x="23825" y="23825"/>
                  </a:cubicBezTo>
                  <a:cubicBezTo>
                    <a:pt x="39079" y="8570"/>
                    <a:pt x="59769" y="0"/>
                    <a:pt x="81342" y="0"/>
                  </a:cubicBezTo>
                  <a:close/>
                </a:path>
              </a:pathLst>
            </a:custGeom>
            <a:solidFill>
              <a:srgbClr val="3A6AD6"/>
            </a:solidFill>
          </p:spPr>
        </p:sp>
        <p:sp>
          <p:nvSpPr>
            <p:cNvPr id="23" name="TextBox 23">
              <a:extLst>
                <a:ext uri="{FF2B5EF4-FFF2-40B4-BE49-F238E27FC236}">
                  <a16:creationId xmlns:a16="http://schemas.microsoft.com/office/drawing/2014/main" id="{382E684E-B2F0-BF78-21B3-0519CA70E640}"/>
                </a:ext>
              </a:extLst>
            </p:cNvPr>
            <p:cNvSpPr txBox="1"/>
            <p:nvPr/>
          </p:nvSpPr>
          <p:spPr>
            <a:xfrm>
              <a:off x="0" y="-38100"/>
              <a:ext cx="967140" cy="850900"/>
            </a:xfrm>
            <a:prstGeom prst="rect">
              <a:avLst/>
            </a:prstGeom>
          </p:spPr>
          <p:txBody>
            <a:bodyPr lIns="50800" tIns="50800" rIns="50800" bIns="50800" rtlCol="0" anchor="ctr"/>
            <a:lstStyle/>
            <a:p>
              <a:pPr algn="ctr">
                <a:lnSpc>
                  <a:spcPts val="2659"/>
                </a:lnSpc>
              </a:pPr>
              <a:endParaRPr/>
            </a:p>
          </p:txBody>
        </p:sp>
      </p:grpSp>
      <p:sp>
        <p:nvSpPr>
          <p:cNvPr id="24" name="TextBox 24">
            <a:extLst>
              <a:ext uri="{FF2B5EF4-FFF2-40B4-BE49-F238E27FC236}">
                <a16:creationId xmlns:a16="http://schemas.microsoft.com/office/drawing/2014/main" id="{10D2200C-79A5-1914-D1A3-1B6F4B8A61B7}"/>
              </a:ext>
            </a:extLst>
          </p:cNvPr>
          <p:cNvSpPr txBox="1"/>
          <p:nvPr/>
        </p:nvSpPr>
        <p:spPr>
          <a:xfrm>
            <a:off x="17674380" y="8710688"/>
            <a:ext cx="442747" cy="257943"/>
          </a:xfrm>
          <a:prstGeom prst="rect">
            <a:avLst/>
          </a:prstGeom>
        </p:spPr>
        <p:txBody>
          <a:bodyPr lIns="0" tIns="0" rIns="0" bIns="0" rtlCol="0" anchor="t">
            <a:spAutoFit/>
          </a:bodyPr>
          <a:lstStyle/>
          <a:p>
            <a:pPr algn="ctr">
              <a:lnSpc>
                <a:spcPts val="2057"/>
              </a:lnSpc>
              <a:spcBef>
                <a:spcPct val="0"/>
              </a:spcBef>
            </a:pPr>
            <a:r>
              <a:rPr lang="en-US" sz="1469" b="1" dirty="0">
                <a:solidFill>
                  <a:srgbClr val="FFFFFF"/>
                </a:solidFill>
                <a:latin typeface="Poppins Bold"/>
                <a:ea typeface="Poppins Bold"/>
                <a:cs typeface="Poppins Bold"/>
                <a:sym typeface="Poppins Bold"/>
              </a:rPr>
              <a:t>10</a:t>
            </a:r>
          </a:p>
        </p:txBody>
      </p:sp>
      <p:sp>
        <p:nvSpPr>
          <p:cNvPr id="25" name="TextBox 25">
            <a:extLst>
              <a:ext uri="{FF2B5EF4-FFF2-40B4-BE49-F238E27FC236}">
                <a16:creationId xmlns:a16="http://schemas.microsoft.com/office/drawing/2014/main" id="{CF07062A-4460-47C6-4EFD-7E8FE0A9FD1F}"/>
              </a:ext>
            </a:extLst>
          </p:cNvPr>
          <p:cNvSpPr txBox="1"/>
          <p:nvPr/>
        </p:nvSpPr>
        <p:spPr>
          <a:xfrm>
            <a:off x="4682199" y="-156215"/>
            <a:ext cx="6783933" cy="786113"/>
          </a:xfrm>
          <a:prstGeom prst="rect">
            <a:avLst/>
          </a:prstGeom>
        </p:spPr>
        <p:txBody>
          <a:bodyPr wrap="square" lIns="0" tIns="0" rIns="0" bIns="0" rtlCol="0" anchor="t">
            <a:spAutoFit/>
          </a:bodyPr>
          <a:lstStyle/>
          <a:p>
            <a:pPr>
              <a:lnSpc>
                <a:spcPts val="7000"/>
              </a:lnSpc>
            </a:pPr>
            <a:r>
              <a:rPr lang="en-US" sz="4400" b="1" dirty="0">
                <a:solidFill>
                  <a:srgbClr val="7068F4"/>
                </a:solidFill>
                <a:latin typeface="Barlow Bold" pitchFamily="34" charset="0"/>
                <a:ea typeface="Barlow Bold" pitchFamily="34" charset="-122"/>
                <a:cs typeface="Barlow Bold" pitchFamily="34" charset="-120"/>
              </a:rPr>
              <a:t>References</a:t>
            </a:r>
          </a:p>
        </p:txBody>
      </p:sp>
      <p:sp>
        <p:nvSpPr>
          <p:cNvPr id="57" name="Freeform 17">
            <a:extLst>
              <a:ext uri="{FF2B5EF4-FFF2-40B4-BE49-F238E27FC236}">
                <a16:creationId xmlns:a16="http://schemas.microsoft.com/office/drawing/2014/main" id="{2810E735-A49D-9DC8-62E9-9CE2FDCA2F74}"/>
              </a:ext>
            </a:extLst>
          </p:cNvPr>
          <p:cNvSpPr/>
          <p:nvPr/>
        </p:nvSpPr>
        <p:spPr>
          <a:xfrm>
            <a:off x="2489120" y="2084798"/>
            <a:ext cx="1634041" cy="1634041"/>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txBody>
          <a:bodyPr/>
          <a:lstStyle/>
          <a:p>
            <a:endParaRPr lang="en-US" dirty="0"/>
          </a:p>
        </p:txBody>
      </p:sp>
      <p:sp>
        <p:nvSpPr>
          <p:cNvPr id="58" name="Freeform 17">
            <a:extLst>
              <a:ext uri="{FF2B5EF4-FFF2-40B4-BE49-F238E27FC236}">
                <a16:creationId xmlns:a16="http://schemas.microsoft.com/office/drawing/2014/main" id="{B6C6F9B4-CC48-2FA8-D585-70445B784C67}"/>
              </a:ext>
            </a:extLst>
          </p:cNvPr>
          <p:cNvSpPr/>
          <p:nvPr/>
        </p:nvSpPr>
        <p:spPr>
          <a:xfrm>
            <a:off x="15313458" y="766259"/>
            <a:ext cx="1634041" cy="1634041"/>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id="75" name="TextBox 29">
            <a:extLst>
              <a:ext uri="{FF2B5EF4-FFF2-40B4-BE49-F238E27FC236}">
                <a16:creationId xmlns:a16="http://schemas.microsoft.com/office/drawing/2014/main" id="{7D5EB853-8FAA-CD82-ECE1-F7F0DAD98949}"/>
              </a:ext>
            </a:extLst>
          </p:cNvPr>
          <p:cNvSpPr txBox="1"/>
          <p:nvPr/>
        </p:nvSpPr>
        <p:spPr>
          <a:xfrm>
            <a:off x="4049439" y="4803055"/>
            <a:ext cx="3052956" cy="4632909"/>
          </a:xfrm>
          <a:prstGeom prst="rect">
            <a:avLst/>
          </a:prstGeom>
        </p:spPr>
        <p:txBody>
          <a:bodyPr lIns="47086" tIns="47086" rIns="47086" bIns="47086" rtlCol="0" anchor="ctr"/>
          <a:lstStyle/>
          <a:p>
            <a:pPr algn="ctr">
              <a:lnSpc>
                <a:spcPts val="2659"/>
              </a:lnSpc>
            </a:pPr>
            <a:endParaRPr/>
          </a:p>
        </p:txBody>
      </p:sp>
      <p:sp>
        <p:nvSpPr>
          <p:cNvPr id="80" name="TextBox 29">
            <a:extLst>
              <a:ext uri="{FF2B5EF4-FFF2-40B4-BE49-F238E27FC236}">
                <a16:creationId xmlns:a16="http://schemas.microsoft.com/office/drawing/2014/main" id="{6893C5EA-9C4D-DAD1-B5BC-066A5C5119F0}"/>
              </a:ext>
            </a:extLst>
          </p:cNvPr>
          <p:cNvSpPr txBox="1"/>
          <p:nvPr/>
        </p:nvSpPr>
        <p:spPr>
          <a:xfrm>
            <a:off x="7063239" y="3579841"/>
            <a:ext cx="4122367" cy="5562854"/>
          </a:xfrm>
          <a:prstGeom prst="rect">
            <a:avLst/>
          </a:prstGeom>
        </p:spPr>
        <p:txBody>
          <a:bodyPr lIns="47086" tIns="47086" rIns="47086" bIns="47086" rtlCol="0" anchor="ctr"/>
          <a:lstStyle/>
          <a:p>
            <a:pPr algn="ctr">
              <a:lnSpc>
                <a:spcPts val="2659"/>
              </a:lnSpc>
            </a:pPr>
            <a:endParaRPr/>
          </a:p>
        </p:txBody>
      </p:sp>
      <p:grpSp>
        <p:nvGrpSpPr>
          <p:cNvPr id="4" name="Group 22">
            <a:extLst>
              <a:ext uri="{FF2B5EF4-FFF2-40B4-BE49-F238E27FC236}">
                <a16:creationId xmlns:a16="http://schemas.microsoft.com/office/drawing/2014/main" id="{C5A6C5D7-5849-11F3-37BC-03EC0894EF00}"/>
              </a:ext>
            </a:extLst>
          </p:cNvPr>
          <p:cNvGrpSpPr/>
          <p:nvPr/>
        </p:nvGrpSpPr>
        <p:grpSpPr>
          <a:xfrm>
            <a:off x="13854517" y="1164273"/>
            <a:ext cx="1011607" cy="1011607"/>
            <a:chOff x="0" y="0"/>
            <a:chExt cx="812800" cy="812800"/>
          </a:xfrm>
        </p:grpSpPr>
        <p:sp>
          <p:nvSpPr>
            <p:cNvPr id="5" name="Freeform 23">
              <a:extLst>
                <a:ext uri="{FF2B5EF4-FFF2-40B4-BE49-F238E27FC236}">
                  <a16:creationId xmlns:a16="http://schemas.microsoft.com/office/drawing/2014/main" id="{A3C53C87-3894-CB74-B471-F3AFBA3242D2}"/>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txBody>
            <a:bodyPr/>
            <a:lstStyle/>
            <a:p>
              <a:endParaRPr lang="en-US" dirty="0"/>
            </a:p>
          </p:txBody>
        </p:sp>
        <p:sp>
          <p:nvSpPr>
            <p:cNvPr id="6" name="TextBox 24">
              <a:extLst>
                <a:ext uri="{FF2B5EF4-FFF2-40B4-BE49-F238E27FC236}">
                  <a16:creationId xmlns:a16="http://schemas.microsoft.com/office/drawing/2014/main" id="{EC89B734-4FB4-3D8E-25A3-2F6CB259F358}"/>
                </a:ext>
              </a:extLst>
            </p:cNvPr>
            <p:cNvSpPr txBox="1"/>
            <p:nvPr/>
          </p:nvSpPr>
          <p:spPr>
            <a:xfrm>
              <a:off x="76200" y="38100"/>
              <a:ext cx="660400" cy="698500"/>
            </a:xfrm>
            <a:prstGeom prst="rect">
              <a:avLst/>
            </a:prstGeom>
          </p:spPr>
          <p:txBody>
            <a:bodyPr lIns="47086" tIns="47086" rIns="47086" bIns="47086" rtlCol="0" anchor="ctr"/>
            <a:lstStyle/>
            <a:p>
              <a:pPr algn="ctr">
                <a:lnSpc>
                  <a:spcPts val="2659"/>
                </a:lnSpc>
                <a:spcBef>
                  <a:spcPct val="0"/>
                </a:spcBef>
              </a:pPr>
              <a:endParaRPr/>
            </a:p>
          </p:txBody>
        </p:sp>
      </p:grpSp>
      <p:graphicFrame>
        <p:nvGraphicFramePr>
          <p:cNvPr id="2" name="Table 1">
            <a:extLst>
              <a:ext uri="{FF2B5EF4-FFF2-40B4-BE49-F238E27FC236}">
                <a16:creationId xmlns:a16="http://schemas.microsoft.com/office/drawing/2014/main" id="{9CD23B82-7427-3987-E64F-0577D62D9EB1}"/>
              </a:ext>
            </a:extLst>
          </p:cNvPr>
          <p:cNvGraphicFramePr>
            <a:graphicFrameLocks noGrp="1"/>
          </p:cNvGraphicFramePr>
          <p:nvPr>
            <p:extLst>
              <p:ext uri="{D42A27DB-BD31-4B8C-83A1-F6EECF244321}">
                <p14:modId xmlns:p14="http://schemas.microsoft.com/office/powerpoint/2010/main" val="3193088777"/>
              </p:ext>
            </p:extLst>
          </p:nvPr>
        </p:nvGraphicFramePr>
        <p:xfrm>
          <a:off x="228600" y="634523"/>
          <a:ext cx="17602200" cy="9178546"/>
        </p:xfrm>
        <a:graphic>
          <a:graphicData uri="http://schemas.openxmlformats.org/drawingml/2006/table">
            <a:tbl>
              <a:tblPr>
                <a:tableStyleId>{35758FB7-9AC5-4552-8A53-C91805E547FA}</a:tableStyleId>
              </a:tblPr>
              <a:tblGrid>
                <a:gridCol w="833758">
                  <a:extLst>
                    <a:ext uri="{9D8B030D-6E8A-4147-A177-3AD203B41FA5}">
                      <a16:colId xmlns:a16="http://schemas.microsoft.com/office/drawing/2014/main" val="255828276"/>
                    </a:ext>
                  </a:extLst>
                </a:gridCol>
                <a:gridCol w="16768442">
                  <a:extLst>
                    <a:ext uri="{9D8B030D-6E8A-4147-A177-3AD203B41FA5}">
                      <a16:colId xmlns:a16="http://schemas.microsoft.com/office/drawing/2014/main" val="1398365037"/>
                    </a:ext>
                  </a:extLst>
                </a:gridCol>
              </a:tblGrid>
              <a:tr h="452988">
                <a:tc>
                  <a:txBody>
                    <a:bodyPr/>
                    <a:lstStyle/>
                    <a:p>
                      <a:pPr algn="ctr">
                        <a:buNone/>
                      </a:pPr>
                      <a:r>
                        <a:rPr lang="en-US" sz="2400"/>
                        <a:t>#</a:t>
                      </a:r>
                    </a:p>
                  </a:txBody>
                  <a:tcPr marL="13799" marR="13799" marT="6899" marB="6899" anchor="ctr"/>
                </a:tc>
                <a:tc>
                  <a:txBody>
                    <a:bodyPr/>
                    <a:lstStyle/>
                    <a:p>
                      <a:pPr>
                        <a:buNone/>
                      </a:pPr>
                      <a:r>
                        <a:rPr lang="en-US" sz="2400" dirty="0"/>
                        <a:t>Reference</a:t>
                      </a:r>
                    </a:p>
                  </a:txBody>
                  <a:tcPr marL="13799" marR="13799" marT="6899" marB="6899" anchor="ctr"/>
                </a:tc>
                <a:extLst>
                  <a:ext uri="{0D108BD9-81ED-4DB2-BD59-A6C34878D82A}">
                    <a16:rowId xmlns:a16="http://schemas.microsoft.com/office/drawing/2014/main" val="962448426"/>
                  </a:ext>
                </a:extLst>
              </a:tr>
              <a:tr h="884283">
                <a:tc>
                  <a:txBody>
                    <a:bodyPr/>
                    <a:lstStyle/>
                    <a:p>
                      <a:pPr algn="ctr">
                        <a:buNone/>
                      </a:pPr>
                      <a:r>
                        <a:rPr lang="en-US" sz="2400" dirty="0"/>
                        <a:t>11</a:t>
                      </a:r>
                    </a:p>
                  </a:txBody>
                  <a:tcPr marL="13799" marR="13799" marT="6899" marB="6899" anchor="ctr"/>
                </a:tc>
                <a:tc>
                  <a:txBody>
                    <a:bodyPr/>
                    <a:lstStyle/>
                    <a:p>
                      <a:pPr>
                        <a:buNone/>
                      </a:pPr>
                      <a:r>
                        <a:rPr lang="en-GB" sz="2400" dirty="0" err="1"/>
                        <a:t>Strubell</a:t>
                      </a:r>
                      <a:r>
                        <a:rPr lang="en-GB" sz="2400" dirty="0"/>
                        <a:t>, E., Ganesh, A., and McCallum, A. (2019). Energy and Policy Considerations for Deep Learning in NLP. In Proceedings of the 57th Annual Meeting of the Association for Computational Linguistics, 3645–3650.</a:t>
                      </a:r>
                    </a:p>
                  </a:txBody>
                  <a:tcPr marL="13799" marR="13799" marT="6899" marB="6899" anchor="ctr"/>
                </a:tc>
                <a:extLst>
                  <a:ext uri="{0D108BD9-81ED-4DB2-BD59-A6C34878D82A}">
                    <a16:rowId xmlns:a16="http://schemas.microsoft.com/office/drawing/2014/main" val="3742538066"/>
                  </a:ext>
                </a:extLst>
              </a:tr>
              <a:tr h="452988">
                <a:tc>
                  <a:txBody>
                    <a:bodyPr/>
                    <a:lstStyle/>
                    <a:p>
                      <a:pPr algn="ctr">
                        <a:buNone/>
                      </a:pPr>
                      <a:r>
                        <a:rPr lang="en-US" sz="2400" dirty="0"/>
                        <a:t>12</a:t>
                      </a:r>
                    </a:p>
                  </a:txBody>
                  <a:tcPr marL="13799" marR="13799" marT="6899" marB="6899" anchor="ctr"/>
                </a:tc>
                <a:tc>
                  <a:txBody>
                    <a:bodyPr/>
                    <a:lstStyle/>
                    <a:p>
                      <a:pPr>
                        <a:buNone/>
                      </a:pPr>
                      <a:r>
                        <a:rPr lang="en-GB" sz="2400" dirty="0"/>
                        <a:t>Schwartz, R., Dodge, J., Smith, N. A., and Etzioni, O. (2020). Green AI. Communications of the ACM, 63(12), 54–63.</a:t>
                      </a:r>
                    </a:p>
                  </a:txBody>
                  <a:tcPr marL="13799" marR="13799" marT="6899" marB="6899" anchor="ctr"/>
                </a:tc>
                <a:extLst>
                  <a:ext uri="{0D108BD9-81ED-4DB2-BD59-A6C34878D82A}">
                    <a16:rowId xmlns:a16="http://schemas.microsoft.com/office/drawing/2014/main" val="3207009182"/>
                  </a:ext>
                </a:extLst>
              </a:tr>
              <a:tr h="884283">
                <a:tc>
                  <a:txBody>
                    <a:bodyPr/>
                    <a:lstStyle/>
                    <a:p>
                      <a:pPr algn="ctr">
                        <a:buNone/>
                      </a:pPr>
                      <a:r>
                        <a:rPr lang="en-US" sz="2400" dirty="0"/>
                        <a:t>13</a:t>
                      </a:r>
                    </a:p>
                  </a:txBody>
                  <a:tcPr marL="13799" marR="13799" marT="6899" marB="6899" anchor="ctr"/>
                </a:tc>
                <a:tc>
                  <a:txBody>
                    <a:bodyPr/>
                    <a:lstStyle/>
                    <a:p>
                      <a:pPr>
                        <a:buNone/>
                      </a:pPr>
                      <a:r>
                        <a:rPr lang="en-US" sz="2400"/>
                        <a:t>Luccioni, A. S., Viguier, S., and Lacoste, A. (2022). Estimating the Carbon Footprint of BLOOM, a 176B Parameter Language Model. arXiv preprint arXiv:2211.02001.</a:t>
                      </a:r>
                    </a:p>
                  </a:txBody>
                  <a:tcPr marL="13799" marR="13799" marT="6899" marB="6899" anchor="ctr"/>
                </a:tc>
                <a:extLst>
                  <a:ext uri="{0D108BD9-81ED-4DB2-BD59-A6C34878D82A}">
                    <a16:rowId xmlns:a16="http://schemas.microsoft.com/office/drawing/2014/main" val="3386714617"/>
                  </a:ext>
                </a:extLst>
              </a:tr>
              <a:tr h="884283">
                <a:tc>
                  <a:txBody>
                    <a:bodyPr/>
                    <a:lstStyle/>
                    <a:p>
                      <a:pPr algn="ctr">
                        <a:buNone/>
                      </a:pPr>
                      <a:r>
                        <a:rPr lang="en-US" sz="2400"/>
                        <a:t>14</a:t>
                      </a:r>
                    </a:p>
                  </a:txBody>
                  <a:tcPr marL="13799" marR="13799" marT="6899" marB="6899" anchor="ctr"/>
                </a:tc>
                <a:tc>
                  <a:txBody>
                    <a:bodyPr/>
                    <a:lstStyle/>
                    <a:p>
                      <a:pPr>
                        <a:buNone/>
                      </a:pPr>
                      <a:r>
                        <a:rPr lang="en-GB" sz="2400"/>
                        <a:t>Maas, A. L., Daly, R. E., Pham, P. T., Huang, D., Ng, A. Y., and Potts, C. (2011). Learning Word Vectors for Sentiment Analysis. In Proceedings of the 49th Annual Meeting of the Association for Computational Linguistics: Human Language Technologies, 142–150.</a:t>
                      </a:r>
                    </a:p>
                  </a:txBody>
                  <a:tcPr marL="13799" marR="13799" marT="6899" marB="6899" anchor="ctr"/>
                </a:tc>
                <a:extLst>
                  <a:ext uri="{0D108BD9-81ED-4DB2-BD59-A6C34878D82A}">
                    <a16:rowId xmlns:a16="http://schemas.microsoft.com/office/drawing/2014/main" val="1649389387"/>
                  </a:ext>
                </a:extLst>
              </a:tr>
              <a:tr h="884283">
                <a:tc>
                  <a:txBody>
                    <a:bodyPr/>
                    <a:lstStyle/>
                    <a:p>
                      <a:pPr algn="ctr">
                        <a:buNone/>
                      </a:pPr>
                      <a:r>
                        <a:rPr lang="en-US" sz="2400"/>
                        <a:t>15</a:t>
                      </a:r>
                    </a:p>
                  </a:txBody>
                  <a:tcPr marL="13799" marR="13799" marT="6899" marB="6899" anchor="ctr"/>
                </a:tc>
                <a:tc>
                  <a:txBody>
                    <a:bodyPr/>
                    <a:lstStyle/>
                    <a:p>
                      <a:pPr>
                        <a:buNone/>
                      </a:pPr>
                      <a:r>
                        <a:rPr lang="en-GB" sz="2400"/>
                        <a:t>Delanoë, P., Tchuente, D., and Colin, G. (2023). Method and evaluations of the effective gain of artificial intelligence models for reducing CO2 emissions. Journal of Environmental Management, 328, 117261.</a:t>
                      </a:r>
                    </a:p>
                  </a:txBody>
                  <a:tcPr marL="13799" marR="13799" marT="6899" marB="6899" anchor="ctr"/>
                </a:tc>
                <a:extLst>
                  <a:ext uri="{0D108BD9-81ED-4DB2-BD59-A6C34878D82A}">
                    <a16:rowId xmlns:a16="http://schemas.microsoft.com/office/drawing/2014/main" val="1169029699"/>
                  </a:ext>
                </a:extLst>
              </a:tr>
              <a:tr h="884283">
                <a:tc>
                  <a:txBody>
                    <a:bodyPr/>
                    <a:lstStyle/>
                    <a:p>
                      <a:pPr algn="ctr">
                        <a:buNone/>
                      </a:pPr>
                      <a:r>
                        <a:rPr lang="en-US" sz="2400"/>
                        <a:t>16</a:t>
                      </a:r>
                    </a:p>
                  </a:txBody>
                  <a:tcPr marL="13799" marR="13799" marT="6899" marB="6899" anchor="ctr"/>
                </a:tc>
                <a:tc>
                  <a:txBody>
                    <a:bodyPr/>
                    <a:lstStyle/>
                    <a:p>
                      <a:pPr>
                        <a:buNone/>
                      </a:pPr>
                      <a:r>
                        <a:rPr lang="en-GB" sz="2400"/>
                        <a:t>Nature Scientific Reports. (2025). Hybrid ML approach for carbon footprint analysis: Feature selection and ensemble methods. Scientific Reports, 15, 8765.</a:t>
                      </a:r>
                    </a:p>
                  </a:txBody>
                  <a:tcPr marL="13799" marR="13799" marT="6899" marB="6899" anchor="ctr"/>
                </a:tc>
                <a:extLst>
                  <a:ext uri="{0D108BD9-81ED-4DB2-BD59-A6C34878D82A}">
                    <a16:rowId xmlns:a16="http://schemas.microsoft.com/office/drawing/2014/main" val="2866330270"/>
                  </a:ext>
                </a:extLst>
              </a:tr>
              <a:tr h="452988">
                <a:tc>
                  <a:txBody>
                    <a:bodyPr/>
                    <a:lstStyle/>
                    <a:p>
                      <a:pPr algn="ctr">
                        <a:buNone/>
                      </a:pPr>
                      <a:r>
                        <a:rPr lang="en-US" sz="2400"/>
                        <a:t>17</a:t>
                      </a:r>
                    </a:p>
                  </a:txBody>
                  <a:tcPr marL="13799" marR="13799" marT="6899" marB="6899" anchor="ctr"/>
                </a:tc>
                <a:tc>
                  <a:txBody>
                    <a:bodyPr/>
                    <a:lstStyle/>
                    <a:p>
                      <a:pPr>
                        <a:buNone/>
                      </a:pPr>
                      <a:r>
                        <a:rPr lang="en-GB" sz="2400"/>
                        <a:t>Randolph, J. J. (2008). A Guide to Writing the Dissertation Literature Review. Practical Assessment, Research &amp; Evaluation, 14(13), 1–13.</a:t>
                      </a:r>
                    </a:p>
                  </a:txBody>
                  <a:tcPr marL="13799" marR="13799" marT="6899" marB="6899" anchor="ctr"/>
                </a:tc>
                <a:extLst>
                  <a:ext uri="{0D108BD9-81ED-4DB2-BD59-A6C34878D82A}">
                    <a16:rowId xmlns:a16="http://schemas.microsoft.com/office/drawing/2014/main" val="2069179578"/>
                  </a:ext>
                </a:extLst>
              </a:tr>
              <a:tr h="452988">
                <a:tc>
                  <a:txBody>
                    <a:bodyPr/>
                    <a:lstStyle/>
                    <a:p>
                      <a:pPr algn="ctr">
                        <a:buNone/>
                      </a:pPr>
                      <a:r>
                        <a:rPr lang="en-US" sz="2400"/>
                        <a:t>18</a:t>
                      </a:r>
                    </a:p>
                  </a:txBody>
                  <a:tcPr marL="13799" marR="13799" marT="6899" marB="6899" anchor="ctr"/>
                </a:tc>
                <a:tc>
                  <a:txBody>
                    <a:bodyPr/>
                    <a:lstStyle/>
                    <a:p>
                      <a:pPr>
                        <a:buNone/>
                      </a:pPr>
                      <a:r>
                        <a:rPr lang="en-GB" sz="2400"/>
                        <a:t>Verma, P., Singh, A., and Gupta, R. (2024). Towards Green AI: Energy Efficient NLP Model Design. Journal of Sustainable Computing, 38, 100765.</a:t>
                      </a:r>
                    </a:p>
                  </a:txBody>
                  <a:tcPr marL="13799" marR="13799" marT="6899" marB="6899" anchor="ctr"/>
                </a:tc>
                <a:extLst>
                  <a:ext uri="{0D108BD9-81ED-4DB2-BD59-A6C34878D82A}">
                    <a16:rowId xmlns:a16="http://schemas.microsoft.com/office/drawing/2014/main" val="2247431237"/>
                  </a:ext>
                </a:extLst>
              </a:tr>
              <a:tr h="884283">
                <a:tc>
                  <a:txBody>
                    <a:bodyPr/>
                    <a:lstStyle/>
                    <a:p>
                      <a:pPr algn="ctr">
                        <a:buNone/>
                      </a:pPr>
                      <a:r>
                        <a:rPr lang="en-US" sz="2400"/>
                        <a:t>19</a:t>
                      </a:r>
                    </a:p>
                  </a:txBody>
                  <a:tcPr marL="13799" marR="13799" marT="6899" marB="6899" anchor="ctr"/>
                </a:tc>
                <a:tc>
                  <a:txBody>
                    <a:bodyPr/>
                    <a:lstStyle/>
                    <a:p>
                      <a:pPr>
                        <a:buNone/>
                      </a:pPr>
                      <a:r>
                        <a:rPr lang="en-GB" sz="2400" dirty="0"/>
                        <a:t>Henderson, P., Hu, J., </a:t>
                      </a:r>
                      <a:r>
                        <a:rPr lang="en-GB" sz="2400" dirty="0" err="1"/>
                        <a:t>Romoff</a:t>
                      </a:r>
                      <a:r>
                        <a:rPr lang="en-GB" sz="2400" dirty="0"/>
                        <a:t>, J., Brunskill, E., </a:t>
                      </a:r>
                      <a:r>
                        <a:rPr lang="en-GB" sz="2400" dirty="0" err="1"/>
                        <a:t>Jurafsky</a:t>
                      </a:r>
                      <a:r>
                        <a:rPr lang="en-GB" sz="2400" dirty="0"/>
                        <a:t>, D., and Pineau, J. (2020). Towards the Systematic Reporting of the Energy and Carbon Footprints of Machine Learning. Journal of Machine Learning Research, 21(248), 1–43.</a:t>
                      </a:r>
                    </a:p>
                  </a:txBody>
                  <a:tcPr marL="13799" marR="13799" marT="6899" marB="6899" anchor="ctr"/>
                </a:tc>
                <a:extLst>
                  <a:ext uri="{0D108BD9-81ED-4DB2-BD59-A6C34878D82A}">
                    <a16:rowId xmlns:a16="http://schemas.microsoft.com/office/drawing/2014/main" val="1290637287"/>
                  </a:ext>
                </a:extLst>
              </a:tr>
              <a:tr h="884283">
                <a:tc>
                  <a:txBody>
                    <a:bodyPr/>
                    <a:lstStyle/>
                    <a:p>
                      <a:pPr algn="ctr">
                        <a:buNone/>
                      </a:pPr>
                      <a:r>
                        <a:rPr lang="en-US" sz="2400"/>
                        <a:t>20</a:t>
                      </a:r>
                    </a:p>
                  </a:txBody>
                  <a:tcPr marL="13799" marR="13799" marT="6899" marB="6899" anchor="ctr"/>
                </a:tc>
                <a:tc>
                  <a:txBody>
                    <a:bodyPr/>
                    <a:lstStyle/>
                    <a:p>
                      <a:pPr>
                        <a:buNone/>
                      </a:pPr>
                      <a:r>
                        <a:rPr lang="en-GB" sz="2400" dirty="0"/>
                        <a:t>Patterson, D., Le, Q., Liang, C., Munguia, L. M., Rothchild, D., So, D. R., Texier, M., and Dean, J. (2022). The Carbon Footprint of Machine Learning Training Will Plateau, Then Shrink. IEEE Computer, 55(7), 18–28.</a:t>
                      </a:r>
                    </a:p>
                  </a:txBody>
                  <a:tcPr marL="13799" marR="13799" marT="6899" marB="6899" anchor="ctr"/>
                </a:tc>
                <a:extLst>
                  <a:ext uri="{0D108BD9-81ED-4DB2-BD59-A6C34878D82A}">
                    <a16:rowId xmlns:a16="http://schemas.microsoft.com/office/drawing/2014/main" val="3170965168"/>
                  </a:ext>
                </a:extLst>
              </a:tr>
              <a:tr h="884283">
                <a:tc>
                  <a:txBody>
                    <a:bodyPr/>
                    <a:lstStyle/>
                    <a:p>
                      <a:pPr algn="ctr">
                        <a:buNone/>
                      </a:pPr>
                      <a:r>
                        <a:rPr lang="en-US" sz="2400" dirty="0"/>
                        <a:t>21</a:t>
                      </a:r>
                    </a:p>
                  </a:txBody>
                  <a:tcPr marL="13799" marR="13799" marT="6899" marB="6899" anchor="ctr"/>
                </a:tc>
                <a:tc>
                  <a:txBody>
                    <a:bodyPr/>
                    <a:lstStyle/>
                    <a:p>
                      <a:pPr>
                        <a:buNone/>
                      </a:pPr>
                      <a:r>
                        <a:rPr lang="en-GB" sz="2400" dirty="0"/>
                        <a:t>Zhang, X., Zhao, J., and LeCun, Y. (2015). Character-level Convolutional Networks for Text Classification. Advances in Neural Information Processing Systems, 28.</a:t>
                      </a:r>
                    </a:p>
                  </a:txBody>
                  <a:tcPr marL="13799" marR="13799" marT="6899" marB="6899" anchor="ctr"/>
                </a:tc>
                <a:extLst>
                  <a:ext uri="{0D108BD9-81ED-4DB2-BD59-A6C34878D82A}">
                    <a16:rowId xmlns:a16="http://schemas.microsoft.com/office/drawing/2014/main" val="2702780861"/>
                  </a:ext>
                </a:extLst>
              </a:tr>
            </a:tbl>
          </a:graphicData>
        </a:graphic>
      </p:graphicFrame>
    </p:spTree>
    <p:extLst>
      <p:ext uri="{BB962C8B-B14F-4D97-AF65-F5344CB8AC3E}">
        <p14:creationId xmlns:p14="http://schemas.microsoft.com/office/powerpoint/2010/main" val="362210751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Click="0">
        <p159:morph option="byObject"/>
      </p:transition>
    </mc:Choice>
    <mc:Fallback xmlns="">
      <p:transition spd="slow" advClick="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6" presetClass="entr" presetSubtype="0" fill="hold" grpId="0" nodeType="afterEffect">
                                  <p:stCondLst>
                                    <p:cond delay="0"/>
                                  </p:stCondLst>
                                  <p:childTnLst>
                                    <p:set>
                                      <p:cBhvr>
                                        <p:cTn id="6" dur="1" fill="hold">
                                          <p:stCondLst>
                                            <p:cond delay="0"/>
                                          </p:stCondLst>
                                        </p:cTn>
                                        <p:tgtEl>
                                          <p:spTgt spid="25"/>
                                        </p:tgtEl>
                                        <p:attrNameLst>
                                          <p:attrName>style.visibility</p:attrName>
                                        </p:attrNameLst>
                                      </p:cBhvr>
                                      <p:to>
                                        <p:strVal val="visible"/>
                                      </p:to>
                                    </p:set>
                                    <p:animEffect transition="in" filter="wipe(down)">
                                      <p:cBhvr>
                                        <p:cTn id="7" dur="363">
                                          <p:stCondLst>
                                            <p:cond delay="0"/>
                                          </p:stCondLst>
                                        </p:cTn>
                                        <p:tgtEl>
                                          <p:spTgt spid="25"/>
                                        </p:tgtEl>
                                      </p:cBhvr>
                                    </p:animEffect>
                                    <p:anim calcmode="lin" valueType="num">
                                      <p:cBhvr>
                                        <p:cTn id="8" dur="1139" tmFilter="0,0; 0.14,0.36; 0.43,0.73; 0.71,0.91; 1.0,1.0">
                                          <p:stCondLst>
                                            <p:cond delay="0"/>
                                          </p:stCondLst>
                                        </p:cTn>
                                        <p:tgtEl>
                                          <p:spTgt spid="25"/>
                                        </p:tgtEl>
                                        <p:attrNameLst>
                                          <p:attrName>ppt_x</p:attrName>
                                        </p:attrNameLst>
                                      </p:cBhvr>
                                      <p:tavLst>
                                        <p:tav tm="0">
                                          <p:val>
                                            <p:strVal val="#ppt_x-0.25"/>
                                          </p:val>
                                        </p:tav>
                                        <p:tav tm="100000">
                                          <p:val>
                                            <p:strVal val="#ppt_x"/>
                                          </p:val>
                                        </p:tav>
                                      </p:tavLst>
                                    </p:anim>
                                    <p:anim calcmode="lin" valueType="num">
                                      <p:cBhvr>
                                        <p:cTn id="9" dur="415" tmFilter="0.0,0.0; 0.25,0.07; 0.50,0.2; 0.75,0.467; 1.0,1.0">
                                          <p:stCondLst>
                                            <p:cond delay="0"/>
                                          </p:stCondLst>
                                        </p:cTn>
                                        <p:tgtEl>
                                          <p:spTgt spid="25"/>
                                        </p:tgtEl>
                                        <p:attrNameLst>
                                          <p:attrName>ppt_y</p:attrName>
                                        </p:attrNameLst>
                                      </p:cBhvr>
                                      <p:tavLst>
                                        <p:tav tm="0" fmla="#ppt_y-sin(pi*$)/3">
                                          <p:val>
                                            <p:fltVal val="0.5"/>
                                          </p:val>
                                        </p:tav>
                                        <p:tav tm="100000">
                                          <p:val>
                                            <p:fltVal val="1"/>
                                          </p:val>
                                        </p:tav>
                                      </p:tavLst>
                                    </p:anim>
                                    <p:anim calcmode="lin" valueType="num">
                                      <p:cBhvr>
                                        <p:cTn id="10" dur="415" tmFilter="0, 0; 0.125,0.2665; 0.25,0.4; 0.375,0.465; 0.5,0.5;  0.625,0.535; 0.75,0.6; 0.875,0.7335; 1,1">
                                          <p:stCondLst>
                                            <p:cond delay="415"/>
                                          </p:stCondLst>
                                        </p:cTn>
                                        <p:tgtEl>
                                          <p:spTgt spid="25"/>
                                        </p:tgtEl>
                                        <p:attrNameLst>
                                          <p:attrName>ppt_y</p:attrName>
                                        </p:attrNameLst>
                                      </p:cBhvr>
                                      <p:tavLst>
                                        <p:tav tm="0" fmla="#ppt_y-sin(pi*$)/9">
                                          <p:val>
                                            <p:fltVal val="0"/>
                                          </p:val>
                                        </p:tav>
                                        <p:tav tm="100000">
                                          <p:val>
                                            <p:fltVal val="1"/>
                                          </p:val>
                                        </p:tav>
                                      </p:tavLst>
                                    </p:anim>
                                    <p:anim calcmode="lin" valueType="num">
                                      <p:cBhvr>
                                        <p:cTn id="11" dur="208" tmFilter="0, 0; 0.125,0.2665; 0.25,0.4; 0.375,0.465; 0.5,0.5;  0.625,0.535; 0.75,0.6; 0.875,0.7335; 1,1">
                                          <p:stCondLst>
                                            <p:cond delay="828"/>
                                          </p:stCondLst>
                                        </p:cTn>
                                        <p:tgtEl>
                                          <p:spTgt spid="25"/>
                                        </p:tgtEl>
                                        <p:attrNameLst>
                                          <p:attrName>ppt_y</p:attrName>
                                        </p:attrNameLst>
                                      </p:cBhvr>
                                      <p:tavLst>
                                        <p:tav tm="0" fmla="#ppt_y-sin(pi*$)/27">
                                          <p:val>
                                            <p:fltVal val="0"/>
                                          </p:val>
                                        </p:tav>
                                        <p:tav tm="100000">
                                          <p:val>
                                            <p:fltVal val="1"/>
                                          </p:val>
                                        </p:tav>
                                      </p:tavLst>
                                    </p:anim>
                                    <p:anim calcmode="lin" valueType="num">
                                      <p:cBhvr>
                                        <p:cTn id="12" dur="103" tmFilter="0, 0; 0.125,0.2665; 0.25,0.4; 0.375,0.465; 0.5,0.5;  0.625,0.535; 0.75,0.6; 0.875,0.7335; 1,1">
                                          <p:stCondLst>
                                            <p:cond delay="1035"/>
                                          </p:stCondLst>
                                        </p:cTn>
                                        <p:tgtEl>
                                          <p:spTgt spid="25"/>
                                        </p:tgtEl>
                                        <p:attrNameLst>
                                          <p:attrName>ppt_y</p:attrName>
                                        </p:attrNameLst>
                                      </p:cBhvr>
                                      <p:tavLst>
                                        <p:tav tm="0" fmla="#ppt_y-sin(pi*$)/81">
                                          <p:val>
                                            <p:fltVal val="0"/>
                                          </p:val>
                                        </p:tav>
                                        <p:tav tm="100000">
                                          <p:val>
                                            <p:fltVal val="1"/>
                                          </p:val>
                                        </p:tav>
                                      </p:tavLst>
                                    </p:anim>
                                    <p:animScale>
                                      <p:cBhvr>
                                        <p:cTn id="13" dur="17">
                                          <p:stCondLst>
                                            <p:cond delay="406"/>
                                          </p:stCondLst>
                                        </p:cTn>
                                        <p:tgtEl>
                                          <p:spTgt spid="25"/>
                                        </p:tgtEl>
                                      </p:cBhvr>
                                      <p:to x="100000" y="60000"/>
                                    </p:animScale>
                                    <p:animScale>
                                      <p:cBhvr>
                                        <p:cTn id="14" dur="103" decel="50000">
                                          <p:stCondLst>
                                            <p:cond delay="423"/>
                                          </p:stCondLst>
                                        </p:cTn>
                                        <p:tgtEl>
                                          <p:spTgt spid="25"/>
                                        </p:tgtEl>
                                      </p:cBhvr>
                                      <p:to x="100000" y="100000"/>
                                    </p:animScale>
                                    <p:animScale>
                                      <p:cBhvr>
                                        <p:cTn id="15" dur="17">
                                          <p:stCondLst>
                                            <p:cond delay="820"/>
                                          </p:stCondLst>
                                        </p:cTn>
                                        <p:tgtEl>
                                          <p:spTgt spid="25"/>
                                        </p:tgtEl>
                                      </p:cBhvr>
                                      <p:to x="100000" y="80000"/>
                                    </p:animScale>
                                    <p:animScale>
                                      <p:cBhvr>
                                        <p:cTn id="16" dur="103" decel="50000">
                                          <p:stCondLst>
                                            <p:cond delay="837"/>
                                          </p:stCondLst>
                                        </p:cTn>
                                        <p:tgtEl>
                                          <p:spTgt spid="25"/>
                                        </p:tgtEl>
                                      </p:cBhvr>
                                      <p:to x="100000" y="100000"/>
                                    </p:animScale>
                                    <p:animScale>
                                      <p:cBhvr>
                                        <p:cTn id="17" dur="17">
                                          <p:stCondLst>
                                            <p:cond delay="1026"/>
                                          </p:stCondLst>
                                        </p:cTn>
                                        <p:tgtEl>
                                          <p:spTgt spid="25"/>
                                        </p:tgtEl>
                                      </p:cBhvr>
                                      <p:to x="100000" y="90000"/>
                                    </p:animScale>
                                    <p:animScale>
                                      <p:cBhvr>
                                        <p:cTn id="18" dur="103" decel="50000">
                                          <p:stCondLst>
                                            <p:cond delay="1043"/>
                                          </p:stCondLst>
                                        </p:cTn>
                                        <p:tgtEl>
                                          <p:spTgt spid="25"/>
                                        </p:tgtEl>
                                      </p:cBhvr>
                                      <p:to x="100000" y="100000"/>
                                    </p:animScale>
                                    <p:animScale>
                                      <p:cBhvr>
                                        <p:cTn id="19" dur="17">
                                          <p:stCondLst>
                                            <p:cond delay="1130"/>
                                          </p:stCondLst>
                                        </p:cTn>
                                        <p:tgtEl>
                                          <p:spTgt spid="25"/>
                                        </p:tgtEl>
                                      </p:cBhvr>
                                      <p:to x="100000" y="95000"/>
                                    </p:animScale>
                                    <p:animScale>
                                      <p:cBhvr>
                                        <p:cTn id="20" dur="103" decel="50000">
                                          <p:stCondLst>
                                            <p:cond delay="1147"/>
                                          </p:stCondLst>
                                        </p:cTn>
                                        <p:tgtEl>
                                          <p:spTgt spid="25"/>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4" name="Group 14"/>
          <p:cNvGrpSpPr/>
          <p:nvPr/>
        </p:nvGrpSpPr>
        <p:grpSpPr>
          <a:xfrm>
            <a:off x="17491799" y="8458418"/>
            <a:ext cx="951769" cy="799882"/>
            <a:chOff x="0" y="0"/>
            <a:chExt cx="967140" cy="812800"/>
          </a:xfrm>
        </p:grpSpPr>
        <p:sp>
          <p:nvSpPr>
            <p:cNvPr id="15" name="Freeform 15"/>
            <p:cNvSpPr/>
            <p:nvPr/>
          </p:nvSpPr>
          <p:spPr>
            <a:xfrm>
              <a:off x="0" y="0"/>
              <a:ext cx="967140" cy="812800"/>
            </a:xfrm>
            <a:custGeom>
              <a:avLst/>
              <a:gdLst/>
              <a:ahLst/>
              <a:cxnLst/>
              <a:rect l="l" t="t" r="r" b="b"/>
              <a:pathLst>
                <a:path w="967140" h="812800">
                  <a:moveTo>
                    <a:pt x="81342" y="0"/>
                  </a:moveTo>
                  <a:lnTo>
                    <a:pt x="885798" y="0"/>
                  </a:lnTo>
                  <a:cubicBezTo>
                    <a:pt x="907371" y="0"/>
                    <a:pt x="928061" y="8570"/>
                    <a:pt x="943315" y="23825"/>
                  </a:cubicBezTo>
                  <a:cubicBezTo>
                    <a:pt x="958570" y="39079"/>
                    <a:pt x="967140" y="59769"/>
                    <a:pt x="967140" y="81342"/>
                  </a:cubicBezTo>
                  <a:lnTo>
                    <a:pt x="967140" y="731458"/>
                  </a:lnTo>
                  <a:cubicBezTo>
                    <a:pt x="967140" y="776382"/>
                    <a:pt x="930722" y="812800"/>
                    <a:pt x="885798" y="812800"/>
                  </a:cubicBezTo>
                  <a:lnTo>
                    <a:pt x="81342" y="812800"/>
                  </a:lnTo>
                  <a:cubicBezTo>
                    <a:pt x="59769" y="812800"/>
                    <a:pt x="39079" y="804230"/>
                    <a:pt x="23825" y="788975"/>
                  </a:cubicBezTo>
                  <a:cubicBezTo>
                    <a:pt x="8570" y="773721"/>
                    <a:pt x="0" y="753031"/>
                    <a:pt x="0" y="731458"/>
                  </a:cubicBezTo>
                  <a:lnTo>
                    <a:pt x="0" y="81342"/>
                  </a:lnTo>
                  <a:cubicBezTo>
                    <a:pt x="0" y="59769"/>
                    <a:pt x="8570" y="39079"/>
                    <a:pt x="23825" y="23825"/>
                  </a:cubicBezTo>
                  <a:cubicBezTo>
                    <a:pt x="39079" y="8570"/>
                    <a:pt x="59769" y="0"/>
                    <a:pt x="81342" y="0"/>
                  </a:cubicBezTo>
                  <a:close/>
                </a:path>
              </a:pathLst>
            </a:custGeom>
            <a:solidFill>
              <a:srgbClr val="3A6AD6"/>
            </a:solidFill>
          </p:spPr>
        </p:sp>
        <p:sp>
          <p:nvSpPr>
            <p:cNvPr id="16" name="TextBox 16"/>
            <p:cNvSpPr txBox="1"/>
            <p:nvPr/>
          </p:nvSpPr>
          <p:spPr>
            <a:xfrm>
              <a:off x="0" y="-38100"/>
              <a:ext cx="967140" cy="850900"/>
            </a:xfrm>
            <a:prstGeom prst="rect">
              <a:avLst/>
            </a:prstGeom>
          </p:spPr>
          <p:txBody>
            <a:bodyPr lIns="50800" tIns="50800" rIns="50800" bIns="50800" rtlCol="0" anchor="ctr"/>
            <a:lstStyle/>
            <a:p>
              <a:pPr algn="ctr">
                <a:lnSpc>
                  <a:spcPts val="2659"/>
                </a:lnSpc>
              </a:pPr>
              <a:endParaRPr/>
            </a:p>
          </p:txBody>
        </p:sp>
      </p:grpSp>
      <p:sp>
        <p:nvSpPr>
          <p:cNvPr id="17" name="TextBox 17"/>
          <p:cNvSpPr txBox="1"/>
          <p:nvPr/>
        </p:nvSpPr>
        <p:spPr>
          <a:xfrm>
            <a:off x="17674380" y="8710688"/>
            <a:ext cx="442747" cy="257943"/>
          </a:xfrm>
          <a:prstGeom prst="rect">
            <a:avLst/>
          </a:prstGeom>
        </p:spPr>
        <p:txBody>
          <a:bodyPr lIns="0" tIns="0" rIns="0" bIns="0" rtlCol="0" anchor="t">
            <a:spAutoFit/>
          </a:bodyPr>
          <a:lstStyle/>
          <a:p>
            <a:pPr algn="ctr">
              <a:lnSpc>
                <a:spcPts val="2057"/>
              </a:lnSpc>
              <a:spcBef>
                <a:spcPct val="0"/>
              </a:spcBef>
            </a:pPr>
            <a:r>
              <a:rPr lang="en-GB" sz="1469" b="1" dirty="0">
                <a:solidFill>
                  <a:srgbClr val="FFFFFF"/>
                </a:solidFill>
                <a:latin typeface="Poppins Bold"/>
                <a:ea typeface="Poppins Bold"/>
                <a:cs typeface="Poppins Bold"/>
                <a:sym typeface="Poppins Bold"/>
              </a:rPr>
              <a:t>2</a:t>
            </a:r>
            <a:r>
              <a:rPr lang="en-US" sz="1469" b="1" dirty="0">
                <a:solidFill>
                  <a:srgbClr val="FFFFFF"/>
                </a:solidFill>
                <a:latin typeface="Poppins Bold"/>
                <a:ea typeface="Poppins Bold"/>
                <a:cs typeface="Poppins Bold"/>
                <a:sym typeface="Poppins Bold"/>
              </a:rPr>
              <a:t>5</a:t>
            </a:r>
          </a:p>
        </p:txBody>
      </p:sp>
      <p:grpSp>
        <p:nvGrpSpPr>
          <p:cNvPr id="18" name="Group 18"/>
          <p:cNvGrpSpPr/>
          <p:nvPr/>
        </p:nvGrpSpPr>
        <p:grpSpPr>
          <a:xfrm>
            <a:off x="2309804" y="190500"/>
            <a:ext cx="13648016" cy="13648016"/>
            <a:chOff x="0" y="0"/>
            <a:chExt cx="812800" cy="812800"/>
          </a:xfrm>
        </p:grpSpPr>
        <p:sp>
          <p:nvSpPr>
            <p:cNvPr id="19" name="Freeform 1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8F8F8"/>
            </a:solidFill>
          </p:spPr>
        </p:sp>
        <p:sp>
          <p:nvSpPr>
            <p:cNvPr id="20" name="TextBox 20"/>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21" name="Freeform 21"/>
          <p:cNvSpPr/>
          <p:nvPr/>
        </p:nvSpPr>
        <p:spPr>
          <a:xfrm>
            <a:off x="2330180" y="0"/>
            <a:ext cx="13742164" cy="14256024"/>
          </a:xfrm>
          <a:custGeom>
            <a:avLst/>
            <a:gdLst/>
            <a:ahLst/>
            <a:cxnLst/>
            <a:rect l="l" t="t" r="r" b="b"/>
            <a:pathLst>
              <a:path w="11725929" h="11711272">
                <a:moveTo>
                  <a:pt x="0" y="0"/>
                </a:moveTo>
                <a:lnTo>
                  <a:pt x="11725930" y="0"/>
                </a:lnTo>
                <a:lnTo>
                  <a:pt x="11725930" y="11711272"/>
                </a:lnTo>
                <a:lnTo>
                  <a:pt x="0" y="11711272"/>
                </a:lnTo>
                <a:lnTo>
                  <a:pt x="0" y="0"/>
                </a:lnTo>
                <a:close/>
              </a:path>
            </a:pathLst>
          </a:custGeom>
          <a:blipFill>
            <a:blip r:embed="rId2"/>
            <a:stretch>
              <a:fillRect/>
            </a:stretch>
          </a:blipFill>
        </p:spPr>
      </p:sp>
      <p:grpSp>
        <p:nvGrpSpPr>
          <p:cNvPr id="22" name="Group 22"/>
          <p:cNvGrpSpPr/>
          <p:nvPr/>
        </p:nvGrpSpPr>
        <p:grpSpPr>
          <a:xfrm>
            <a:off x="3357194" y="1237889"/>
            <a:ext cx="11553237" cy="11553237"/>
            <a:chOff x="0" y="0"/>
            <a:chExt cx="812800" cy="812800"/>
          </a:xfrm>
        </p:grpSpPr>
        <p:sp>
          <p:nvSpPr>
            <p:cNvPr id="23" name="Freeform 2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id="24" name="TextBox 24"/>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25" name="Freeform 25"/>
          <p:cNvSpPr/>
          <p:nvPr/>
        </p:nvSpPr>
        <p:spPr>
          <a:xfrm>
            <a:off x="1449114" y="6435106"/>
            <a:ext cx="1658466" cy="1656393"/>
          </a:xfrm>
          <a:custGeom>
            <a:avLst/>
            <a:gdLst/>
            <a:ahLst/>
            <a:cxnLst/>
            <a:rect l="l" t="t" r="r" b="b"/>
            <a:pathLst>
              <a:path w="1658466" h="1656393">
                <a:moveTo>
                  <a:pt x="0" y="0"/>
                </a:moveTo>
                <a:lnTo>
                  <a:pt x="1658466" y="0"/>
                </a:lnTo>
                <a:lnTo>
                  <a:pt x="1658466" y="1656393"/>
                </a:lnTo>
                <a:lnTo>
                  <a:pt x="0" y="1656393"/>
                </a:lnTo>
                <a:lnTo>
                  <a:pt x="0" y="0"/>
                </a:lnTo>
                <a:close/>
              </a:path>
            </a:pathLst>
          </a:custGeom>
          <a:blipFill>
            <a:blip r:embed="rId2"/>
            <a:stretch>
              <a:fillRect/>
            </a:stretch>
          </a:blipFill>
        </p:spPr>
      </p:sp>
      <p:grpSp>
        <p:nvGrpSpPr>
          <p:cNvPr id="26" name="Group 26"/>
          <p:cNvGrpSpPr/>
          <p:nvPr/>
        </p:nvGrpSpPr>
        <p:grpSpPr>
          <a:xfrm>
            <a:off x="1410448" y="6368821"/>
            <a:ext cx="1634041" cy="1634041"/>
            <a:chOff x="0" y="0"/>
            <a:chExt cx="812800" cy="812800"/>
          </a:xfrm>
        </p:grpSpPr>
        <p:sp>
          <p:nvSpPr>
            <p:cNvPr id="27" name="Freeform 2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id="28" name="TextBox 28"/>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30" name="Freeform 30"/>
          <p:cNvSpPr/>
          <p:nvPr/>
        </p:nvSpPr>
        <p:spPr>
          <a:xfrm>
            <a:off x="15181734" y="5596906"/>
            <a:ext cx="1658466" cy="1656393"/>
          </a:xfrm>
          <a:custGeom>
            <a:avLst/>
            <a:gdLst/>
            <a:ahLst/>
            <a:cxnLst/>
            <a:rect l="l" t="t" r="r" b="b"/>
            <a:pathLst>
              <a:path w="1658466" h="1656393">
                <a:moveTo>
                  <a:pt x="0" y="0"/>
                </a:moveTo>
                <a:lnTo>
                  <a:pt x="1658465" y="0"/>
                </a:lnTo>
                <a:lnTo>
                  <a:pt x="1658465" y="1656393"/>
                </a:lnTo>
                <a:lnTo>
                  <a:pt x="0" y="1656393"/>
                </a:lnTo>
                <a:lnTo>
                  <a:pt x="0" y="0"/>
                </a:lnTo>
                <a:close/>
              </a:path>
            </a:pathLst>
          </a:custGeom>
          <a:blipFill>
            <a:blip r:embed="rId2"/>
            <a:stretch>
              <a:fillRect/>
            </a:stretch>
          </a:blipFill>
        </p:spPr>
      </p:sp>
      <p:grpSp>
        <p:nvGrpSpPr>
          <p:cNvPr id="31" name="Group 31"/>
          <p:cNvGrpSpPr/>
          <p:nvPr/>
        </p:nvGrpSpPr>
        <p:grpSpPr>
          <a:xfrm>
            <a:off x="15143067" y="5530621"/>
            <a:ext cx="1634041" cy="1634041"/>
            <a:chOff x="0" y="0"/>
            <a:chExt cx="812800" cy="812800"/>
          </a:xfrm>
        </p:grpSpPr>
        <p:sp>
          <p:nvSpPr>
            <p:cNvPr id="32" name="Freeform 3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id="33" name="TextBox 33"/>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35" name="TextBox 35"/>
          <p:cNvSpPr txBox="1"/>
          <p:nvPr/>
        </p:nvSpPr>
        <p:spPr>
          <a:xfrm>
            <a:off x="5972458" y="2909694"/>
            <a:ext cx="6322709" cy="3205131"/>
          </a:xfrm>
          <a:prstGeom prst="rect">
            <a:avLst/>
          </a:prstGeom>
        </p:spPr>
        <p:txBody>
          <a:bodyPr lIns="0" tIns="0" rIns="0" bIns="0" rtlCol="0" anchor="t">
            <a:spAutoFit/>
          </a:bodyPr>
          <a:lstStyle/>
          <a:p>
            <a:pPr algn="ctr">
              <a:lnSpc>
                <a:spcPts val="11950"/>
              </a:lnSpc>
            </a:pPr>
            <a:r>
              <a:rPr lang="en-US" sz="11602" b="1" dirty="0">
                <a:solidFill>
                  <a:srgbClr val="3A6AD6"/>
                </a:solidFill>
                <a:latin typeface="Poppins Bold"/>
                <a:ea typeface="Poppins Bold"/>
                <a:cs typeface="Poppins Bold"/>
                <a:sym typeface="Poppins Bold"/>
              </a:rPr>
              <a:t>Thank</a:t>
            </a:r>
          </a:p>
          <a:p>
            <a:pPr algn="ctr">
              <a:lnSpc>
                <a:spcPts val="11950"/>
              </a:lnSpc>
            </a:pPr>
            <a:r>
              <a:rPr lang="en-US" sz="11602" b="1" dirty="0">
                <a:solidFill>
                  <a:srgbClr val="3A6AD6"/>
                </a:solidFill>
                <a:latin typeface="Poppins Bold"/>
                <a:ea typeface="Poppins Bold"/>
                <a:cs typeface="Poppins Bold"/>
                <a:sym typeface="Poppins Bold"/>
              </a:rPr>
              <a:t>You</a:t>
            </a:r>
          </a:p>
        </p:txBody>
      </p:sp>
      <p:sp>
        <p:nvSpPr>
          <p:cNvPr id="38" name="Google Shape;2657;p37">
            <a:extLst>
              <a:ext uri="{FF2B5EF4-FFF2-40B4-BE49-F238E27FC236}">
                <a16:creationId xmlns:a16="http://schemas.microsoft.com/office/drawing/2014/main" id="{877CC537-E4D2-8733-2E3B-3D182B064416}"/>
              </a:ext>
            </a:extLst>
          </p:cNvPr>
          <p:cNvSpPr txBox="1">
            <a:spLocks/>
          </p:cNvSpPr>
          <p:nvPr/>
        </p:nvSpPr>
        <p:spPr>
          <a:xfrm>
            <a:off x="3141178" y="5219700"/>
            <a:ext cx="12168860" cy="2464037"/>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2"/>
              </a:buClr>
              <a:buSzPts val="1800"/>
              <a:buFont typeface="Poppins ExtraBold"/>
              <a:buNone/>
              <a:defRPr sz="1800" b="1" i="0" u="none" strike="noStrike" cap="none">
                <a:solidFill>
                  <a:schemeClr val="dk2"/>
                </a:solidFill>
                <a:latin typeface="Poppins ExtraBold"/>
                <a:ea typeface="Poppins ExtraBold"/>
                <a:cs typeface="Poppins ExtraBold"/>
                <a:sym typeface="Poppins ExtraBold"/>
              </a:defRPr>
            </a:lvl1pPr>
            <a:lvl2pPr marR="0" lvl="1" algn="l"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2pPr>
            <a:lvl3pPr marR="0" lvl="2" algn="l"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3pPr>
            <a:lvl4pPr marR="0" lvl="3" algn="l"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4pPr>
            <a:lvl5pPr marR="0" lvl="4" algn="l"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5pPr>
            <a:lvl6pPr marR="0" lvl="5" algn="l"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6pPr>
            <a:lvl7pPr marR="0" lvl="6" algn="l"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7pPr>
            <a:lvl8pPr marR="0" lvl="7" algn="l"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8pPr>
            <a:lvl9pPr marR="0" lvl="8" algn="l"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9pPr>
          </a:lstStyle>
          <a:p>
            <a:pPr algn="ctr"/>
            <a:r>
              <a:rPr lang="en-GB" sz="5400" dirty="0"/>
              <a:t>Feel free to ask any questions!</a:t>
            </a:r>
            <a:endParaRPr lang="en-US" sz="440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Click="0">
        <p159:morph option="byObject"/>
      </p:transition>
    </mc:Choice>
    <mc:Fallback xmlns="">
      <p:transition spd="slow" advClick="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2" presetClass="emph" presetSubtype="0" fill="hold" grpId="0" nodeType="afterEffect">
                                  <p:stCondLst>
                                    <p:cond delay="0"/>
                                  </p:stCondLst>
                                  <p:childTnLst>
                                    <p:animRot by="120000">
                                      <p:cBhvr>
                                        <p:cTn id="6" dur="200" fill="hold">
                                          <p:stCondLst>
                                            <p:cond delay="0"/>
                                          </p:stCondLst>
                                        </p:cTn>
                                        <p:tgtEl>
                                          <p:spTgt spid="38"/>
                                        </p:tgtEl>
                                        <p:attrNameLst>
                                          <p:attrName>r</p:attrName>
                                        </p:attrNameLst>
                                      </p:cBhvr>
                                    </p:animRot>
                                    <p:animRot by="-240000">
                                      <p:cBhvr>
                                        <p:cTn id="7" dur="400" fill="hold">
                                          <p:stCondLst>
                                            <p:cond delay="400"/>
                                          </p:stCondLst>
                                        </p:cTn>
                                        <p:tgtEl>
                                          <p:spTgt spid="38"/>
                                        </p:tgtEl>
                                        <p:attrNameLst>
                                          <p:attrName>r</p:attrName>
                                        </p:attrNameLst>
                                      </p:cBhvr>
                                    </p:animRot>
                                    <p:animRot by="240000">
                                      <p:cBhvr>
                                        <p:cTn id="8" dur="400" fill="hold">
                                          <p:stCondLst>
                                            <p:cond delay="800"/>
                                          </p:stCondLst>
                                        </p:cTn>
                                        <p:tgtEl>
                                          <p:spTgt spid="38"/>
                                        </p:tgtEl>
                                        <p:attrNameLst>
                                          <p:attrName>r</p:attrName>
                                        </p:attrNameLst>
                                      </p:cBhvr>
                                    </p:animRot>
                                    <p:animRot by="-240000">
                                      <p:cBhvr>
                                        <p:cTn id="9" dur="400" fill="hold">
                                          <p:stCondLst>
                                            <p:cond delay="1200"/>
                                          </p:stCondLst>
                                        </p:cTn>
                                        <p:tgtEl>
                                          <p:spTgt spid="38"/>
                                        </p:tgtEl>
                                        <p:attrNameLst>
                                          <p:attrName>r</p:attrName>
                                        </p:attrNameLst>
                                      </p:cBhvr>
                                    </p:animRot>
                                    <p:animRot by="120000">
                                      <p:cBhvr>
                                        <p:cTn id="10" dur="400" fill="hold">
                                          <p:stCondLst>
                                            <p:cond delay="1600"/>
                                          </p:stCondLst>
                                        </p:cTn>
                                        <p:tgtEl>
                                          <p:spTgt spid="38"/>
                                        </p:tgtEl>
                                        <p:attrNameLst>
                                          <p:attrName>r</p:attrName>
                                        </p:attrNameLst>
                                      </p:cBhvr>
                                    </p:animRot>
                                  </p:childTnLst>
                                </p:cTn>
                              </p:par>
                            </p:childTnLst>
                          </p:cTn>
                        </p:par>
                        <p:par>
                          <p:cTn id="11" fill="hold">
                            <p:stCondLst>
                              <p:cond delay="2000"/>
                            </p:stCondLst>
                            <p:childTnLst>
                              <p:par>
                                <p:cTn id="12" presetID="32" presetClass="emph" presetSubtype="0" fill="hold" grpId="0" nodeType="afterEffect">
                                  <p:stCondLst>
                                    <p:cond delay="0"/>
                                  </p:stCondLst>
                                  <p:childTnLst>
                                    <p:animRot by="120000">
                                      <p:cBhvr>
                                        <p:cTn id="13" dur="200" fill="hold">
                                          <p:stCondLst>
                                            <p:cond delay="0"/>
                                          </p:stCondLst>
                                        </p:cTn>
                                        <p:tgtEl>
                                          <p:spTgt spid="35"/>
                                        </p:tgtEl>
                                        <p:attrNameLst>
                                          <p:attrName>r</p:attrName>
                                        </p:attrNameLst>
                                      </p:cBhvr>
                                    </p:animRot>
                                    <p:animRot by="-240000">
                                      <p:cBhvr>
                                        <p:cTn id="14" dur="400" fill="hold">
                                          <p:stCondLst>
                                            <p:cond delay="400"/>
                                          </p:stCondLst>
                                        </p:cTn>
                                        <p:tgtEl>
                                          <p:spTgt spid="35"/>
                                        </p:tgtEl>
                                        <p:attrNameLst>
                                          <p:attrName>r</p:attrName>
                                        </p:attrNameLst>
                                      </p:cBhvr>
                                    </p:animRot>
                                    <p:animRot by="240000">
                                      <p:cBhvr>
                                        <p:cTn id="15" dur="400" fill="hold">
                                          <p:stCondLst>
                                            <p:cond delay="800"/>
                                          </p:stCondLst>
                                        </p:cTn>
                                        <p:tgtEl>
                                          <p:spTgt spid="35"/>
                                        </p:tgtEl>
                                        <p:attrNameLst>
                                          <p:attrName>r</p:attrName>
                                        </p:attrNameLst>
                                      </p:cBhvr>
                                    </p:animRot>
                                    <p:animRot by="-240000">
                                      <p:cBhvr>
                                        <p:cTn id="16" dur="400" fill="hold">
                                          <p:stCondLst>
                                            <p:cond delay="1200"/>
                                          </p:stCondLst>
                                        </p:cTn>
                                        <p:tgtEl>
                                          <p:spTgt spid="35"/>
                                        </p:tgtEl>
                                        <p:attrNameLst>
                                          <p:attrName>r</p:attrName>
                                        </p:attrNameLst>
                                      </p:cBhvr>
                                    </p:animRot>
                                    <p:animRot by="120000">
                                      <p:cBhvr>
                                        <p:cTn id="17" dur="400" fill="hold">
                                          <p:stCondLst>
                                            <p:cond delay="1600"/>
                                          </p:stCondLst>
                                        </p:cTn>
                                        <p:tgtEl>
                                          <p:spTgt spid="35"/>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 grpId="0"/>
      <p:bldP spid="38" grpId="0"/>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2945</TotalTime>
  <Words>2501</Words>
  <Application>Microsoft Office PowerPoint</Application>
  <PresentationFormat>Custom</PresentationFormat>
  <Paragraphs>255</Paragraphs>
  <Slides>24</Slides>
  <Notes>2</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24</vt:i4>
      </vt:variant>
    </vt:vector>
  </HeadingPairs>
  <TitlesOfParts>
    <vt:vector size="33" baseType="lpstr">
      <vt:lpstr>Poppins Bold</vt:lpstr>
      <vt:lpstr>Arial</vt:lpstr>
      <vt:lpstr>Barlow Bold</vt:lpstr>
      <vt:lpstr>Poppins</vt:lpstr>
      <vt:lpstr>Wingdings</vt:lpstr>
      <vt:lpstr>Source Serif Pro</vt:lpstr>
      <vt:lpstr>Poppins ExtraBold</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Blue White Modern Pitch Deck Presentation</dc:title>
  <dc:creator>Md. Maruf Hasan</dc:creator>
  <cp:lastModifiedBy>Md Maruf Hasan</cp:lastModifiedBy>
  <cp:revision>64</cp:revision>
  <dcterms:created xsi:type="dcterms:W3CDTF">2006-08-16T00:00:00Z</dcterms:created>
  <dcterms:modified xsi:type="dcterms:W3CDTF">2025-08-13T06:46:16Z</dcterms:modified>
  <dc:identifier>DAGnvcx82iM</dc:identifier>
</cp:coreProperties>
</file>